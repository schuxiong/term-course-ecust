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6"/>
  </p:notesMasterIdLst>
  <p:sldIdLst>
    <p:sldId id="312" r:id="rId2"/>
    <p:sldId id="339" r:id="rId3"/>
    <p:sldId id="338" r:id="rId4"/>
    <p:sldId id="340" r:id="rId5"/>
    <p:sldId id="341" r:id="rId6"/>
    <p:sldId id="342" r:id="rId7"/>
    <p:sldId id="447" r:id="rId8"/>
    <p:sldId id="445" r:id="rId9"/>
    <p:sldId id="481" r:id="rId10"/>
    <p:sldId id="446" r:id="rId11"/>
    <p:sldId id="448" r:id="rId12"/>
    <p:sldId id="290" r:id="rId13"/>
    <p:sldId id="482" r:id="rId14"/>
    <p:sldId id="291" r:id="rId15"/>
    <p:sldId id="456" r:id="rId16"/>
    <p:sldId id="320" r:id="rId17"/>
    <p:sldId id="289" r:id="rId18"/>
    <p:sldId id="292" r:id="rId19"/>
    <p:sldId id="459" r:id="rId20"/>
    <p:sldId id="462" r:id="rId21"/>
    <p:sldId id="466" r:id="rId22"/>
    <p:sldId id="474" r:id="rId23"/>
    <p:sldId id="467" r:id="rId24"/>
    <p:sldId id="468" r:id="rId25"/>
    <p:sldId id="469" r:id="rId26"/>
    <p:sldId id="470" r:id="rId27"/>
    <p:sldId id="471" r:id="rId28"/>
    <p:sldId id="475" r:id="rId29"/>
    <p:sldId id="476" r:id="rId30"/>
    <p:sldId id="477" r:id="rId31"/>
    <p:sldId id="478" r:id="rId32"/>
    <p:sldId id="479" r:id="rId33"/>
    <p:sldId id="480" r:id="rId34"/>
    <p:sldId id="465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301" autoAdjust="0"/>
  </p:normalViewPr>
  <p:slideViewPr>
    <p:cSldViewPr snapToGrid="0" snapToObjects="1">
      <p:cViewPr varScale="1">
        <p:scale>
          <a:sx n="73" d="100"/>
          <a:sy n="73" d="100"/>
        </p:scale>
        <p:origin x="582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B7A3B7-CFBD-F94B-9D76-43F785EDF11A}" type="datetimeFigureOut">
              <a:rPr lang="en-US" smtClean="0"/>
              <a:t>4/29/2021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45082-F0CD-7F40-B4D5-028C0594685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6F6292-CFE9-1B49-A9F3-08B94B8117A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E046D-5176-4C1C-AD60-7E8589A0FE6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890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E046D-5176-4C1C-AD60-7E8589A0FE6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874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E046D-5176-4C1C-AD60-7E8589A0FE6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9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E046D-5176-4C1C-AD60-7E8589A0FE63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E046D-5176-4C1C-AD60-7E8589A0FE63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E046D-5176-4C1C-AD60-7E8589A0FE63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E046D-5176-4C1C-AD60-7E8589A0FE63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E046D-5176-4C1C-AD60-7E8589A0FE6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0757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2B15-5333-9A44-8000-50B29337B0D5}" type="datetimeFigureOut">
              <a:rPr lang="en-US" smtClean="0"/>
              <a:t>4/29/2021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1DEE-55DF-9C4C-9E32-9432A9F8E9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2B15-5333-9A44-8000-50B29337B0D5}" type="datetimeFigureOut">
              <a:rPr lang="en-US" smtClean="0"/>
              <a:t>4/29/2021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1DEE-55DF-9C4C-9E32-9432A9F8E9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2B15-5333-9A44-8000-50B29337B0D5}" type="datetimeFigureOut">
              <a:rPr lang="en-US" smtClean="0"/>
              <a:t>4/29/2021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1DEE-55DF-9C4C-9E32-9432A9F8E9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2B15-5333-9A44-8000-50B29337B0D5}" type="datetimeFigureOut">
              <a:rPr lang="en-US" smtClean="0"/>
              <a:t>4/29/2021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1DEE-55DF-9C4C-9E32-9432A9F8E9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2B15-5333-9A44-8000-50B29337B0D5}" type="datetimeFigureOut">
              <a:rPr lang="en-US" smtClean="0"/>
              <a:t>4/29/2021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1DEE-55DF-9C4C-9E32-9432A9F8E9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2B15-5333-9A44-8000-50B29337B0D5}" type="datetimeFigureOut">
              <a:rPr lang="en-US" smtClean="0"/>
              <a:t>4/29/2021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1DEE-55DF-9C4C-9E32-9432A9F8E9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2B15-5333-9A44-8000-50B29337B0D5}" type="datetimeFigureOut">
              <a:rPr lang="en-US" smtClean="0"/>
              <a:t>4/29/2021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1DEE-55DF-9C4C-9E32-9432A9F8E9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2B15-5333-9A44-8000-50B29337B0D5}" type="datetimeFigureOut">
              <a:rPr lang="en-US" smtClean="0"/>
              <a:t>4/29/2021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1DEE-55DF-9C4C-9E32-9432A9F8E9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2B15-5333-9A44-8000-50B29337B0D5}" type="datetimeFigureOut">
              <a:rPr lang="en-US" smtClean="0"/>
              <a:t>4/29/2021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1DEE-55DF-9C4C-9E32-9432A9F8E9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2B15-5333-9A44-8000-50B29337B0D5}" type="datetimeFigureOut">
              <a:rPr lang="en-US" smtClean="0"/>
              <a:t>4/29/2021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1DEE-55DF-9C4C-9E32-9432A9F8E9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2B15-5333-9A44-8000-50B29337B0D5}" type="datetimeFigureOut">
              <a:rPr lang="en-US" smtClean="0"/>
              <a:t>4/29/2021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1DEE-55DF-9C4C-9E32-9432A9F8E9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B2B15-5333-9A44-8000-50B29337B0D5}" type="datetimeFigureOut">
              <a:rPr lang="en-US" smtClean="0"/>
              <a:t>4/29/2021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61DEE-55DF-9C4C-9E32-9432A9F8E9F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8.png"/><Relationship Id="rId9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29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9.png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gif"/><Relationship Id="rId2" Type="http://schemas.openxmlformats.org/officeDocument/2006/relationships/image" Target="../media/image68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528205" y="0"/>
            <a:ext cx="9144000" cy="2223458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TextBox 5"/>
          <p:cNvSpPr txBox="1"/>
          <p:nvPr/>
        </p:nvSpPr>
        <p:spPr>
          <a:xfrm>
            <a:off x="1867399" y="3600190"/>
            <a:ext cx="28312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2</a:t>
            </a:r>
            <a:r>
              <a:rPr lang="zh-CN" altLang="en-US" sz="3600" dirty="0" smtClean="0"/>
              <a:t>章 感知机</a:t>
            </a:r>
            <a:endParaRPr lang="zh-CN" altLang="en-US" sz="3600" dirty="0">
              <a:latin typeface="PingFang SC Light" charset="-122"/>
              <a:ea typeface="PingFang SC Light" charset="-122"/>
              <a:cs typeface="PingFang SC Light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181131" y="5523423"/>
            <a:ext cx="318257" cy="318257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7" name="直接连接符 6"/>
          <p:cNvCxnSpPr/>
          <p:nvPr/>
        </p:nvCxnSpPr>
        <p:spPr>
          <a:xfrm>
            <a:off x="6874960" y="5834491"/>
            <a:ext cx="3306170" cy="0"/>
          </a:xfrm>
          <a:prstGeom prst="line">
            <a:avLst/>
          </a:prstGeom>
          <a:ln w="19050">
            <a:solidFill>
              <a:srgbClr val="782C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1277248" y="2255492"/>
            <a:ext cx="7050146" cy="3851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0" name="矩形 29"/>
          <p:cNvSpPr/>
          <p:nvPr/>
        </p:nvSpPr>
        <p:spPr>
          <a:xfrm>
            <a:off x="8328711" y="2255408"/>
            <a:ext cx="2302809" cy="3859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449" y="2197110"/>
            <a:ext cx="6572250" cy="38862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97750" y="35545"/>
            <a:ext cx="19191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</a:rPr>
              <a:t> </a:t>
            </a:r>
            <a:r>
              <a:rPr lang="zh-CN" altLang="en-US" sz="3200" dirty="0" smtClean="0">
                <a:solidFill>
                  <a:schemeClr val="bg1"/>
                </a:solidFill>
              </a:rPr>
              <a:t>学习目标</a:t>
            </a:r>
            <a:endParaRPr lang="zh-CN" altLang="en-US" sz="3200" dirty="0">
              <a:solidFill>
                <a:schemeClr val="bg1"/>
              </a:solidFill>
              <a:latin typeface="PingFang SC Light" charset="-122"/>
              <a:ea typeface="PingFang SC Light" charset="-122"/>
              <a:cs typeface="PingFang SC Light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5217" y="964753"/>
            <a:ext cx="72539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/>
              <a:t> 如何正确</a:t>
            </a:r>
            <a:r>
              <a:rPr lang="zh-CN" altLang="en-US" sz="3200" dirty="0"/>
              <a:t>划分两类</a:t>
            </a:r>
            <a:r>
              <a:rPr lang="zh-CN" altLang="en-US" sz="3200" dirty="0">
                <a:solidFill>
                  <a:srgbClr val="7030A0"/>
                </a:solidFill>
              </a:rPr>
              <a:t>线性可分</a:t>
            </a:r>
            <a:r>
              <a:rPr lang="zh-CN" altLang="en-US" sz="3200" dirty="0"/>
              <a:t>的数据集？</a:t>
            </a:r>
          </a:p>
        </p:txBody>
      </p:sp>
    </p:spTree>
    <p:extLst>
      <p:ext uri="{BB962C8B-B14F-4D97-AF65-F5344CB8AC3E}">
        <p14:creationId xmlns:p14="http://schemas.microsoft.com/office/powerpoint/2010/main" val="2365285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 descr="https://images2018.cnblogs.com/blog/1362577/201804/1362577-20180427164316374-189435960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359" y="1661160"/>
            <a:ext cx="6563995" cy="388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697750" y="35545"/>
            <a:ext cx="19191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</a:rPr>
              <a:t> </a:t>
            </a:r>
            <a:r>
              <a:rPr lang="zh-CN" altLang="en-US" sz="3200" dirty="0" smtClean="0">
                <a:solidFill>
                  <a:schemeClr val="bg1"/>
                </a:solidFill>
              </a:rPr>
              <a:t>学习目标</a:t>
            </a:r>
            <a:endParaRPr lang="zh-CN" altLang="en-US" sz="3200" dirty="0">
              <a:solidFill>
                <a:schemeClr val="bg1"/>
              </a:solidFill>
              <a:latin typeface="PingFang SC Light" charset="-122"/>
              <a:ea typeface="PingFang SC Light" charset="-122"/>
              <a:cs typeface="PingFang SC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2344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835" y="1517841"/>
            <a:ext cx="6572250" cy="38862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5214938" y="1517841"/>
            <a:ext cx="157162" cy="426859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697750" y="35545"/>
            <a:ext cx="19191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</a:rPr>
              <a:t> </a:t>
            </a:r>
            <a:r>
              <a:rPr lang="zh-CN" altLang="en-US" sz="3200" dirty="0" smtClean="0">
                <a:solidFill>
                  <a:schemeClr val="bg1"/>
                </a:solidFill>
              </a:rPr>
              <a:t>学习目标</a:t>
            </a:r>
            <a:endParaRPr lang="zh-CN" altLang="en-US" sz="3200" dirty="0">
              <a:solidFill>
                <a:schemeClr val="bg1"/>
              </a:solidFill>
              <a:latin typeface="PingFang SC Light" charset="-122"/>
              <a:ea typeface="PingFang SC Light" charset="-122"/>
              <a:cs typeface="PingFang SC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70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865947" y="846822"/>
            <a:ext cx="6572250" cy="4268597"/>
            <a:chOff x="2108835" y="1517841"/>
            <a:chExt cx="6572250" cy="4268597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08835" y="1517841"/>
              <a:ext cx="6572250" cy="3886200"/>
            </a:xfrm>
            <a:prstGeom prst="rect">
              <a:avLst/>
            </a:prstGeom>
          </p:spPr>
        </p:pic>
        <p:cxnSp>
          <p:nvCxnSpPr>
            <p:cNvPr id="4" name="直接连接符 3"/>
            <p:cNvCxnSpPr>
              <a:stCxn id="2" idx="0"/>
            </p:cNvCxnSpPr>
            <p:nvPr/>
          </p:nvCxnSpPr>
          <p:spPr>
            <a:xfrm flipH="1">
              <a:off x="5372100" y="1517841"/>
              <a:ext cx="22860" cy="426859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0" y="4979613"/>
            <a:ext cx="10956846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 smtClean="0"/>
              <a:t> 如何正确划分两类线性可分的数据集？</a:t>
            </a:r>
            <a:endParaRPr lang="en-US" altLang="zh-CN" sz="2800" dirty="0" smtClean="0"/>
          </a:p>
          <a:p>
            <a:r>
              <a:rPr lang="en-US" altLang="zh-CN" sz="2800" dirty="0"/>
              <a:t> </a:t>
            </a:r>
            <a:r>
              <a:rPr lang="zh-CN" altLang="en-US" sz="2800" dirty="0" smtClean="0"/>
              <a:t>有很多模型（分类模型）可以解决该问题，感知机是其中的一种。</a:t>
            </a:r>
            <a:endParaRPr lang="en-US" altLang="zh-CN" sz="2800" dirty="0" smtClean="0"/>
          </a:p>
          <a:p>
            <a:r>
              <a:rPr lang="zh-CN" altLang="en-US" sz="2800" dirty="0" smtClean="0"/>
              <a:t>感知机模型认为上述三种划分都是正确的划分（实际有无穷种划分）</a:t>
            </a:r>
            <a:endParaRPr lang="zh-CN" altLang="en-US" sz="2800" dirty="0"/>
          </a:p>
        </p:txBody>
      </p:sp>
      <p:sp>
        <p:nvSpPr>
          <p:cNvPr id="9" name="矩形 8"/>
          <p:cNvSpPr/>
          <p:nvPr/>
        </p:nvSpPr>
        <p:spPr>
          <a:xfrm>
            <a:off x="697750" y="35545"/>
            <a:ext cx="19191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</a:rPr>
              <a:t> </a:t>
            </a:r>
            <a:r>
              <a:rPr lang="zh-CN" altLang="en-US" sz="3200" dirty="0" smtClean="0">
                <a:solidFill>
                  <a:schemeClr val="bg1"/>
                </a:solidFill>
              </a:rPr>
              <a:t>学习目标</a:t>
            </a:r>
            <a:endParaRPr lang="zh-CN" altLang="en-US" sz="3200" dirty="0">
              <a:solidFill>
                <a:schemeClr val="bg1"/>
              </a:solidFill>
              <a:latin typeface="PingFang SC Light" charset="-122"/>
              <a:ea typeface="PingFang SC Light" charset="-122"/>
              <a:cs typeface="PingFang SC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1591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" y="722278"/>
            <a:ext cx="1220564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4F4F4F"/>
                </a:solidFill>
                <a:latin typeface="+mn-ea"/>
              </a:rPr>
              <a:t>已知一个如图所示的训练数据集，其正例点是</a:t>
            </a:r>
            <a:r>
              <a:rPr lang="en-US" altLang="zh-CN" sz="2800" dirty="0">
                <a:solidFill>
                  <a:srgbClr val="4F4F4F"/>
                </a:solidFill>
                <a:latin typeface="+mn-ea"/>
              </a:rPr>
              <a:t>x</a:t>
            </a:r>
            <a:r>
              <a:rPr lang="en-US" altLang="zh-CN" sz="2800" baseline="-25000" dirty="0">
                <a:solidFill>
                  <a:srgbClr val="4F4F4F"/>
                </a:solidFill>
                <a:latin typeface="+mn-ea"/>
              </a:rPr>
              <a:t>1</a:t>
            </a:r>
            <a:r>
              <a:rPr lang="en-US" altLang="zh-CN" sz="2800" dirty="0">
                <a:solidFill>
                  <a:srgbClr val="4F4F4F"/>
                </a:solidFill>
                <a:latin typeface="+mn-ea"/>
              </a:rPr>
              <a:t>=(3,3)</a:t>
            </a:r>
            <a:r>
              <a:rPr lang="zh-CN" altLang="en-US" sz="2800" dirty="0">
                <a:solidFill>
                  <a:srgbClr val="4F4F4F"/>
                </a:solidFill>
                <a:latin typeface="+mn-ea"/>
              </a:rPr>
              <a:t>，</a:t>
            </a:r>
            <a:r>
              <a:rPr lang="en-US" altLang="zh-CN" sz="2800" dirty="0" smtClean="0">
                <a:solidFill>
                  <a:srgbClr val="4F4F4F"/>
                </a:solidFill>
                <a:latin typeface="+mn-ea"/>
              </a:rPr>
              <a:t>x</a:t>
            </a:r>
            <a:r>
              <a:rPr lang="en-US" altLang="zh-CN" sz="2800" baseline="-25000" dirty="0" smtClean="0">
                <a:solidFill>
                  <a:srgbClr val="4F4F4F"/>
                </a:solidFill>
                <a:latin typeface="+mn-ea"/>
              </a:rPr>
              <a:t>2</a:t>
            </a:r>
            <a:r>
              <a:rPr lang="en-US" altLang="zh-CN" sz="2800" dirty="0" smtClean="0">
                <a:solidFill>
                  <a:srgbClr val="4F4F4F"/>
                </a:solidFill>
                <a:latin typeface="+mn-ea"/>
              </a:rPr>
              <a:t>=(</a:t>
            </a:r>
            <a:r>
              <a:rPr lang="en-US" altLang="zh-CN" sz="2800" dirty="0">
                <a:solidFill>
                  <a:srgbClr val="4F4F4F"/>
                </a:solidFill>
                <a:latin typeface="+mn-ea"/>
              </a:rPr>
              <a:t>4,3),</a:t>
            </a:r>
            <a:r>
              <a:rPr lang="zh-CN" altLang="en-US" sz="2800" dirty="0">
                <a:solidFill>
                  <a:srgbClr val="4F4F4F"/>
                </a:solidFill>
                <a:latin typeface="+mn-ea"/>
              </a:rPr>
              <a:t>负例点是</a:t>
            </a:r>
            <a:r>
              <a:rPr lang="en-US" altLang="zh-CN" sz="2800" dirty="0">
                <a:solidFill>
                  <a:srgbClr val="4F4F4F"/>
                </a:solidFill>
                <a:latin typeface="+mn-ea"/>
              </a:rPr>
              <a:t>x</a:t>
            </a:r>
            <a:r>
              <a:rPr lang="en-US" altLang="zh-CN" sz="2800" baseline="-25000" dirty="0">
                <a:solidFill>
                  <a:srgbClr val="4F4F4F"/>
                </a:solidFill>
                <a:latin typeface="+mn-ea"/>
              </a:rPr>
              <a:t>3</a:t>
            </a:r>
            <a:r>
              <a:rPr lang="en-US" altLang="zh-CN" sz="2800" dirty="0">
                <a:solidFill>
                  <a:srgbClr val="4F4F4F"/>
                </a:solidFill>
                <a:latin typeface="+mn-ea"/>
              </a:rPr>
              <a:t>=(1,1)</a:t>
            </a:r>
            <a:r>
              <a:rPr lang="zh-CN" altLang="en-US" sz="2800" dirty="0" smtClean="0">
                <a:solidFill>
                  <a:srgbClr val="4F4F4F"/>
                </a:solidFill>
                <a:latin typeface="+mn-ea"/>
              </a:rPr>
              <a:t>，</a:t>
            </a:r>
            <a:r>
              <a:rPr lang="zh-CN" altLang="en-US" sz="2800" dirty="0">
                <a:solidFill>
                  <a:srgbClr val="4F4F4F"/>
                </a:solidFill>
                <a:latin typeface="+mn-ea"/>
              </a:rPr>
              <a:t>如何正确划分正例、负例两类点</a:t>
            </a:r>
            <a:r>
              <a:rPr lang="zh-CN" altLang="en-US" sz="2800" dirty="0" smtClean="0">
                <a:solidFill>
                  <a:srgbClr val="4F4F4F"/>
                </a:solidFill>
                <a:latin typeface="+mn-ea"/>
              </a:rPr>
              <a:t>？</a:t>
            </a:r>
            <a:endParaRPr lang="en-US" altLang="zh-CN" sz="2800" dirty="0">
              <a:solidFill>
                <a:srgbClr val="4F4F4F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856" y="2168827"/>
            <a:ext cx="6036469" cy="468261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49110" y="97984"/>
            <a:ext cx="19191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</a:rPr>
              <a:t> </a:t>
            </a:r>
            <a:r>
              <a:rPr lang="zh-CN" altLang="en-US" sz="3200" dirty="0" smtClean="0">
                <a:solidFill>
                  <a:schemeClr val="bg1"/>
                </a:solidFill>
              </a:rPr>
              <a:t>一个例子</a:t>
            </a:r>
            <a:endParaRPr lang="zh-CN" altLang="en-US" sz="3200" dirty="0">
              <a:solidFill>
                <a:schemeClr val="bg1"/>
              </a:solidFill>
              <a:latin typeface="PingFang SC Light" charset="-122"/>
              <a:ea typeface="PingFang SC Light" charset="-122"/>
              <a:cs typeface="PingFang SC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026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7887" y="1114357"/>
            <a:ext cx="10515600" cy="1325563"/>
          </a:xfrm>
        </p:spPr>
        <p:txBody>
          <a:bodyPr/>
          <a:lstStyle/>
          <a:p>
            <a:r>
              <a:rPr kumimoji="1" lang="zh-CN" altLang="en-US" dirty="0"/>
              <a:t>感知机</a:t>
            </a:r>
            <a:r>
              <a:rPr kumimoji="1" lang="en-US" altLang="zh-CN" dirty="0"/>
              <a:t>(Perceptron</a:t>
            </a:r>
            <a:r>
              <a:rPr kumimoji="1" lang="zh-CN" altLang="en-US" dirty="0"/>
              <a:t>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074" y="2199887"/>
            <a:ext cx="11760926" cy="3968683"/>
          </a:xfrm>
        </p:spPr>
        <p:txBody>
          <a:bodyPr>
            <a:noAutofit/>
          </a:bodyPr>
          <a:lstStyle/>
          <a:p>
            <a:r>
              <a:rPr kumimoji="1" lang="zh-CN" altLang="zh-CN" sz="2600" dirty="0" smtClean="0"/>
              <a:t>1</a:t>
            </a:r>
            <a:r>
              <a:rPr kumimoji="1" lang="en-US" altLang="zh-CN" sz="2600" dirty="0" smtClean="0"/>
              <a:t>957</a:t>
            </a:r>
            <a:r>
              <a:rPr kumimoji="1" lang="zh-CN" altLang="en-US" sz="2600" dirty="0"/>
              <a:t>年由</a:t>
            </a:r>
            <a:r>
              <a:rPr kumimoji="1" lang="en-US" altLang="zh-CN" sz="2600" dirty="0" err="1"/>
              <a:t>Rosenblatt</a:t>
            </a:r>
            <a:r>
              <a:rPr kumimoji="1" lang="en-US" altLang="en-US" sz="2600" dirty="0" err="1"/>
              <a:t>提出</a:t>
            </a:r>
            <a:r>
              <a:rPr kumimoji="1" lang="en-US" altLang="en-US" sz="2600" dirty="0" smtClean="0"/>
              <a:t>，</a:t>
            </a:r>
            <a:r>
              <a:rPr lang="zh-CN" altLang="en-US" sz="2600" dirty="0"/>
              <a:t>感知机模型是一个神经元</a:t>
            </a:r>
            <a:r>
              <a:rPr lang="zh-CN" altLang="en-US" sz="2600" dirty="0" smtClean="0"/>
              <a:t>模型。</a:t>
            </a:r>
            <a:endParaRPr lang="en-US" altLang="zh-CN" sz="2600" dirty="0" smtClean="0"/>
          </a:p>
          <a:p>
            <a:r>
              <a:rPr lang="zh-CN" altLang="en-US" dirty="0" smtClean="0"/>
              <a:t>感知机</a:t>
            </a:r>
            <a:r>
              <a:rPr lang="zh-CN" altLang="en-US" dirty="0"/>
              <a:t>任务是解决二分类</a:t>
            </a:r>
            <a:r>
              <a:rPr lang="zh-CN" altLang="en-US" dirty="0" smtClean="0"/>
              <a:t>问题。</a:t>
            </a:r>
            <a:endParaRPr lang="en-US" altLang="zh-CN" dirty="0"/>
          </a:p>
          <a:p>
            <a:r>
              <a:rPr kumimoji="1" lang="zh-CN" altLang="en-US" sz="2600" dirty="0">
                <a:solidFill>
                  <a:srgbClr val="FF0000"/>
                </a:solidFill>
              </a:rPr>
              <a:t>感知机</a:t>
            </a:r>
            <a:r>
              <a:rPr kumimoji="1" lang="zh-CN" altLang="en-US" sz="2600" dirty="0"/>
              <a:t>对应于输入空间中将实例划分为正负两类的</a:t>
            </a:r>
            <a:r>
              <a:rPr kumimoji="1" lang="zh-CN" altLang="en-US" sz="2600" dirty="0">
                <a:solidFill>
                  <a:srgbClr val="FF0000"/>
                </a:solidFill>
              </a:rPr>
              <a:t>分离超平面</a:t>
            </a:r>
            <a:r>
              <a:rPr kumimoji="1" lang="zh-CN" altLang="en-US" sz="2600" dirty="0"/>
              <a:t>，属于判别</a:t>
            </a:r>
            <a:r>
              <a:rPr kumimoji="1" lang="zh-CN" altLang="en-US" sz="2600" dirty="0" smtClean="0"/>
              <a:t>模型。</a:t>
            </a:r>
            <a:endParaRPr kumimoji="1" lang="en-US" altLang="zh-CN" sz="2600" dirty="0" smtClean="0"/>
          </a:p>
          <a:p>
            <a:r>
              <a:rPr kumimoji="1" lang="zh-CN" altLang="en-US" sz="2600" dirty="0"/>
              <a:t>导入基于误分类的</a:t>
            </a:r>
            <a:r>
              <a:rPr kumimoji="1" lang="zh-CN" altLang="en-US" sz="2600" dirty="0" smtClean="0"/>
              <a:t>损失函数。</a:t>
            </a:r>
            <a:endParaRPr kumimoji="1" lang="en-US" altLang="zh-CN" sz="2600" dirty="0" smtClean="0"/>
          </a:p>
          <a:p>
            <a:r>
              <a:rPr kumimoji="1" lang="zh-CN" altLang="en-US" sz="2600" dirty="0"/>
              <a:t>利用梯度下降法对损失函数进行极小化</a:t>
            </a:r>
            <a:r>
              <a:rPr kumimoji="1" lang="en-US" altLang="zh-CN" sz="2600" dirty="0"/>
              <a:t>, </a:t>
            </a:r>
            <a:r>
              <a:rPr kumimoji="1" lang="zh-CN" altLang="en-US" sz="2600" dirty="0"/>
              <a:t>求得感知机</a:t>
            </a:r>
            <a:r>
              <a:rPr kumimoji="1" lang="zh-CN" altLang="en-US" sz="2600" dirty="0" smtClean="0"/>
              <a:t>模型。</a:t>
            </a:r>
            <a:endParaRPr kumimoji="1" lang="en-US" altLang="zh-CN" sz="2600" dirty="0" smtClean="0"/>
          </a:p>
          <a:p>
            <a:r>
              <a:rPr kumimoji="1" lang="zh-CN" altLang="en-US" sz="2600" dirty="0"/>
              <a:t>感知机学习算法具有简单而易于实现的优点，分为</a:t>
            </a:r>
            <a:r>
              <a:rPr kumimoji="1" lang="zh-CN" altLang="en-US" sz="2600" b="1" dirty="0">
                <a:solidFill>
                  <a:schemeClr val="accent1"/>
                </a:solidFill>
              </a:rPr>
              <a:t>原始形式</a:t>
            </a:r>
            <a:r>
              <a:rPr kumimoji="1" lang="zh-CN" altLang="en-US" sz="2600" dirty="0"/>
              <a:t>和</a:t>
            </a:r>
            <a:r>
              <a:rPr kumimoji="1" lang="zh-CN" altLang="en-US" sz="2600" b="1" dirty="0">
                <a:solidFill>
                  <a:schemeClr val="accent1"/>
                </a:solidFill>
              </a:rPr>
              <a:t>对偶</a:t>
            </a:r>
            <a:r>
              <a:rPr kumimoji="1" lang="zh-CN" altLang="en-US" sz="2600" b="1" dirty="0" smtClean="0">
                <a:solidFill>
                  <a:schemeClr val="accent1"/>
                </a:solidFill>
              </a:rPr>
              <a:t>形式。</a:t>
            </a:r>
          </a:p>
          <a:p>
            <a:r>
              <a:rPr kumimoji="1" lang="zh-CN" altLang="en-US" sz="2600" dirty="0" smtClean="0"/>
              <a:t>输入为实例的特征向量，输出为实例的类别（取</a:t>
            </a:r>
            <a:r>
              <a:rPr kumimoji="1" lang="en-US" altLang="zh-CN" sz="2600" dirty="0" smtClean="0"/>
              <a:t>+1</a:t>
            </a:r>
            <a:r>
              <a:rPr kumimoji="1" lang="zh-CN" altLang="en-US" sz="2600" dirty="0" smtClean="0"/>
              <a:t>和</a:t>
            </a:r>
            <a:r>
              <a:rPr kumimoji="1" lang="en-US" altLang="zh-CN" sz="2600" dirty="0" smtClean="0"/>
              <a:t>-1</a:t>
            </a:r>
            <a:r>
              <a:rPr kumimoji="1" lang="zh-CN" altLang="en-US" sz="2600" dirty="0" smtClean="0"/>
              <a:t>）。</a:t>
            </a:r>
            <a:endParaRPr kumimoji="1" lang="en-US" altLang="zh-CN" sz="2600" dirty="0"/>
          </a:p>
        </p:txBody>
      </p:sp>
      <p:grpSp>
        <p:nvGrpSpPr>
          <p:cNvPr id="10" name="Group 9"/>
          <p:cNvGrpSpPr/>
          <p:nvPr/>
        </p:nvGrpSpPr>
        <p:grpSpPr>
          <a:xfrm>
            <a:off x="-13648" y="1"/>
            <a:ext cx="12205648" cy="1329863"/>
            <a:chOff x="-13648" y="1"/>
            <a:chExt cx="12205648" cy="1329863"/>
          </a:xfrm>
        </p:grpSpPr>
        <p:sp>
          <p:nvSpPr>
            <p:cNvPr id="6" name="矩形 10"/>
            <p:cNvSpPr/>
            <p:nvPr/>
          </p:nvSpPr>
          <p:spPr>
            <a:xfrm>
              <a:off x="-13648" y="1"/>
              <a:ext cx="12205648" cy="1202643"/>
            </a:xfrm>
            <a:prstGeom prst="rect">
              <a:avLst/>
            </a:prstGeom>
            <a:solidFill>
              <a:srgbClr val="782C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28"/>
            <p:cNvSpPr/>
            <p:nvPr/>
          </p:nvSpPr>
          <p:spPr>
            <a:xfrm>
              <a:off x="-1" y="1278399"/>
              <a:ext cx="9071191" cy="513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29"/>
            <p:cNvSpPr/>
            <p:nvPr/>
          </p:nvSpPr>
          <p:spPr>
            <a:xfrm>
              <a:off x="9121588" y="1278399"/>
              <a:ext cx="3070412" cy="51465"/>
            </a:xfrm>
            <a:prstGeom prst="rect">
              <a:avLst/>
            </a:prstGeom>
            <a:solidFill>
              <a:srgbClr val="782C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292640" y="144950"/>
            <a:ext cx="32399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4000" dirty="0" smtClean="0">
                <a:solidFill>
                  <a:schemeClr val="bg1"/>
                </a:solidFill>
              </a:rPr>
              <a:t>第</a:t>
            </a:r>
            <a:r>
              <a:rPr kumimoji="1" lang="en-US" altLang="zh-CN" sz="4000" dirty="0" smtClean="0">
                <a:solidFill>
                  <a:schemeClr val="bg1"/>
                </a:solidFill>
              </a:rPr>
              <a:t>2</a:t>
            </a:r>
            <a:r>
              <a:rPr kumimoji="1" lang="zh-CN" altLang="en-US" sz="4000" dirty="0" smtClean="0">
                <a:solidFill>
                  <a:schemeClr val="bg1"/>
                </a:solidFill>
              </a:rPr>
              <a:t>章  感知机</a:t>
            </a:r>
            <a:endParaRPr kumimoji="1" lang="zh-CN" alt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51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0"/>
          <p:cNvGrpSpPr/>
          <p:nvPr/>
        </p:nvGrpSpPr>
        <p:grpSpPr>
          <a:xfrm>
            <a:off x="-243575" y="-14678"/>
            <a:ext cx="12521003" cy="1329863"/>
            <a:chOff x="-329003" y="1"/>
            <a:chExt cx="12521003" cy="1329863"/>
          </a:xfrm>
        </p:grpSpPr>
        <p:sp>
          <p:nvSpPr>
            <p:cNvPr id="21" name="矩形 10"/>
            <p:cNvSpPr/>
            <p:nvPr/>
          </p:nvSpPr>
          <p:spPr>
            <a:xfrm>
              <a:off x="-13648" y="1"/>
              <a:ext cx="12205648" cy="1202643"/>
            </a:xfrm>
            <a:prstGeom prst="rect">
              <a:avLst/>
            </a:prstGeom>
            <a:solidFill>
              <a:srgbClr val="782C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8"/>
            <p:cNvSpPr/>
            <p:nvPr/>
          </p:nvSpPr>
          <p:spPr>
            <a:xfrm>
              <a:off x="-329003" y="1278393"/>
              <a:ext cx="9400194" cy="5135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9"/>
            <p:cNvSpPr/>
            <p:nvPr/>
          </p:nvSpPr>
          <p:spPr>
            <a:xfrm>
              <a:off x="9121588" y="1278399"/>
              <a:ext cx="3070412" cy="51465"/>
            </a:xfrm>
            <a:prstGeom prst="rect">
              <a:avLst/>
            </a:prstGeom>
            <a:solidFill>
              <a:srgbClr val="782C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矩形 24"/>
          <p:cNvSpPr/>
          <p:nvPr/>
        </p:nvSpPr>
        <p:spPr>
          <a:xfrm>
            <a:off x="292640" y="1296215"/>
            <a:ext cx="419057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600" dirty="0" smtClean="0"/>
              <a:t>   </a:t>
            </a:r>
            <a:r>
              <a:rPr kumimoji="1" lang="zh-CN" altLang="en-US" sz="3600" dirty="0" smtClean="0"/>
              <a:t>数据</a:t>
            </a:r>
            <a:r>
              <a:rPr kumimoji="1" lang="zh-CN" altLang="en-US" sz="3600" dirty="0"/>
              <a:t>集的线性可分</a:t>
            </a:r>
          </a:p>
        </p:txBody>
      </p:sp>
      <p:sp>
        <p:nvSpPr>
          <p:cNvPr id="27" name="矩形 26"/>
          <p:cNvSpPr/>
          <p:nvPr/>
        </p:nvSpPr>
        <p:spPr>
          <a:xfrm>
            <a:off x="847695" y="2081612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 smtClean="0"/>
              <a:t>定义：给定</a:t>
            </a:r>
            <a:r>
              <a:rPr kumimoji="1" lang="zh-CN" altLang="en-US" sz="2800" dirty="0"/>
              <a:t>数据集</a:t>
            </a:r>
          </a:p>
        </p:txBody>
      </p:sp>
      <p:sp>
        <p:nvSpPr>
          <p:cNvPr id="28" name="矩形 27"/>
          <p:cNvSpPr/>
          <p:nvPr/>
        </p:nvSpPr>
        <p:spPr>
          <a:xfrm>
            <a:off x="847695" y="3246432"/>
            <a:ext cx="11792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其中</a:t>
            </a:r>
            <a:endParaRPr lang="zh-CN" altLang="en-US" sz="2800" dirty="0"/>
          </a:p>
        </p:txBody>
      </p:sp>
      <p:sp>
        <p:nvSpPr>
          <p:cNvPr id="34" name="矩形 33"/>
          <p:cNvSpPr/>
          <p:nvPr/>
        </p:nvSpPr>
        <p:spPr>
          <a:xfrm>
            <a:off x="874248" y="6122215"/>
            <a:ext cx="106624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dirty="0"/>
              <a:t>则称数据集</a:t>
            </a:r>
            <a:r>
              <a:rPr kumimoji="1" lang="en-US" altLang="zh-CN" sz="2800" dirty="0"/>
              <a:t>T</a:t>
            </a:r>
            <a:r>
              <a:rPr kumimoji="1" lang="zh-CN" altLang="en-US" sz="2800" dirty="0"/>
              <a:t>为</a:t>
            </a:r>
            <a:r>
              <a:rPr lang="zh-CN" altLang="en-US" sz="2800" dirty="0">
                <a:solidFill>
                  <a:srgbClr val="FF0000"/>
                </a:solidFill>
                <a:latin typeface="-apple-system"/>
              </a:rPr>
              <a:t>线性可分数据集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；</a:t>
            </a:r>
            <a:r>
              <a:rPr kumimoji="1" lang="zh-CN" altLang="en-US" sz="2800" dirty="0"/>
              <a:t>否则，称数据集</a:t>
            </a:r>
            <a:r>
              <a:rPr kumimoji="1" lang="en-US" altLang="zh-CN" sz="2800" dirty="0"/>
              <a:t>T</a:t>
            </a:r>
            <a:r>
              <a:rPr kumimoji="1" lang="zh-CN" altLang="en-US" sz="2800" dirty="0"/>
              <a:t>线性不可分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1755792" y="4941201"/>
            <a:ext cx="7254873" cy="1063359"/>
            <a:chOff x="1755792" y="4941201"/>
            <a:chExt cx="7254873" cy="1063359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5792" y="4941201"/>
              <a:ext cx="7254873" cy="1063359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7545" y="5100710"/>
              <a:ext cx="276190" cy="219048"/>
            </a:xfrm>
            <a:prstGeom prst="rect">
              <a:avLst/>
            </a:prstGeom>
          </p:spPr>
        </p:pic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65481" y="5671061"/>
              <a:ext cx="276190" cy="219048"/>
            </a:xfrm>
            <a:prstGeom prst="rect">
              <a:avLst/>
            </a:prstGeom>
          </p:spPr>
        </p:pic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7925" y="2601824"/>
            <a:ext cx="5913177" cy="7009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4314" y="3262425"/>
            <a:ext cx="6833565" cy="560566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847694" y="3878373"/>
            <a:ext cx="11344305" cy="954107"/>
            <a:chOff x="847694" y="3878373"/>
            <a:chExt cx="11344305" cy="954107"/>
          </a:xfrm>
        </p:grpSpPr>
        <p:sp>
          <p:nvSpPr>
            <p:cNvPr id="26" name="矩形 25"/>
            <p:cNvSpPr/>
            <p:nvPr/>
          </p:nvSpPr>
          <p:spPr>
            <a:xfrm>
              <a:off x="847694" y="3878373"/>
              <a:ext cx="11344305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 smtClean="0"/>
                <a:t>        如果</a:t>
              </a:r>
              <a:r>
                <a:rPr kumimoji="1" lang="zh-CN" altLang="en-US" sz="2800" dirty="0"/>
                <a:t>存在某个超平面</a:t>
              </a:r>
              <a:r>
                <a:rPr kumimoji="1" lang="en-US" altLang="zh-CN" sz="2800" dirty="0" smtClean="0"/>
                <a:t>S</a:t>
              </a:r>
              <a:r>
                <a:rPr kumimoji="1" lang="zh-CN" altLang="en-US" sz="2800" dirty="0" smtClean="0"/>
                <a:t>：</a:t>
              </a:r>
              <a:r>
                <a:rPr kumimoji="1" lang="en-US" altLang="zh-CN" sz="2800" dirty="0" smtClean="0"/>
                <a:t>                           </a:t>
              </a:r>
              <a:r>
                <a:rPr kumimoji="1" lang="zh-CN" altLang="en-US" sz="2800" dirty="0" smtClean="0"/>
                <a:t>能够</a:t>
              </a:r>
              <a:r>
                <a:rPr kumimoji="1" lang="zh-CN" altLang="en-US" sz="2800" dirty="0"/>
                <a:t>将数据集的正实例点和负实例点完全正确地划分到超平面的</a:t>
              </a:r>
              <a:r>
                <a:rPr kumimoji="1" lang="zh-CN" altLang="en-US" sz="2800" dirty="0" smtClean="0"/>
                <a:t>两侧</a:t>
              </a:r>
              <a:r>
                <a:rPr kumimoji="1" lang="en-US" altLang="zh-CN" sz="2800" dirty="0" smtClean="0"/>
                <a:t> </a:t>
              </a:r>
              <a:r>
                <a:rPr kumimoji="1" lang="zh-CN" altLang="en-US" sz="2800" dirty="0" smtClean="0"/>
                <a:t>。</a:t>
              </a:r>
              <a:endParaRPr kumimoji="1" lang="zh-CN" altLang="en-US" sz="2800" dirty="0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80987" y="3920913"/>
              <a:ext cx="2248954" cy="4776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03948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 descr="https://images2018.cnblogs.com/blog/1362577/201804/1362577-20180427164316374-189435960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359" y="1661160"/>
            <a:ext cx="6563995" cy="388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09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0"/>
          <p:cNvGrpSpPr/>
          <p:nvPr/>
        </p:nvGrpSpPr>
        <p:grpSpPr>
          <a:xfrm>
            <a:off x="-329003" y="1"/>
            <a:ext cx="12521003" cy="1329863"/>
            <a:chOff x="-329003" y="1"/>
            <a:chExt cx="12521003" cy="1329863"/>
          </a:xfrm>
        </p:grpSpPr>
        <p:sp>
          <p:nvSpPr>
            <p:cNvPr id="19" name="矩形 10"/>
            <p:cNvSpPr/>
            <p:nvPr/>
          </p:nvSpPr>
          <p:spPr>
            <a:xfrm>
              <a:off x="-13648" y="1"/>
              <a:ext cx="12205648" cy="1202643"/>
            </a:xfrm>
            <a:prstGeom prst="rect">
              <a:avLst/>
            </a:prstGeom>
            <a:solidFill>
              <a:srgbClr val="782C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28"/>
            <p:cNvSpPr/>
            <p:nvPr/>
          </p:nvSpPr>
          <p:spPr>
            <a:xfrm>
              <a:off x="-329003" y="1278393"/>
              <a:ext cx="9400194" cy="5135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29"/>
            <p:cNvSpPr/>
            <p:nvPr/>
          </p:nvSpPr>
          <p:spPr>
            <a:xfrm>
              <a:off x="9121588" y="1278399"/>
              <a:ext cx="3070412" cy="51465"/>
            </a:xfrm>
            <a:prstGeom prst="rect">
              <a:avLst/>
            </a:prstGeom>
            <a:solidFill>
              <a:srgbClr val="782C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19" y="1329864"/>
            <a:ext cx="11277314" cy="366031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50519" y="4990175"/>
            <a:ext cx="1144974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solidFill>
                  <a:srgbClr val="333333"/>
                </a:solidFill>
                <a:latin typeface="PingFang SC"/>
              </a:rPr>
              <a:t>（</a:t>
            </a:r>
            <a:r>
              <a:rPr lang="en-US" altLang="zh-CN" sz="2800" dirty="0" smtClean="0">
                <a:solidFill>
                  <a:srgbClr val="333333"/>
                </a:solidFill>
                <a:latin typeface="PingFang SC"/>
              </a:rPr>
              <a:t>1</a:t>
            </a:r>
            <a:r>
              <a:rPr lang="zh-CN" altLang="en-US" sz="2800" dirty="0" smtClean="0">
                <a:solidFill>
                  <a:srgbClr val="333333"/>
                </a:solidFill>
                <a:latin typeface="PingFang SC"/>
              </a:rPr>
              <a:t>）假设</a:t>
            </a:r>
            <a:r>
              <a:rPr lang="zh-CN" altLang="en-US" sz="2800" dirty="0">
                <a:solidFill>
                  <a:srgbClr val="333333"/>
                </a:solidFill>
                <a:latin typeface="PingFang SC"/>
              </a:rPr>
              <a:t>训练数据集是线性可分的，感知机学习的目标是求得一个</a:t>
            </a:r>
            <a:r>
              <a:rPr lang="zh-CN" altLang="en-US" sz="2800" dirty="0" smtClean="0">
                <a:solidFill>
                  <a:srgbClr val="333333"/>
                </a:solidFill>
                <a:latin typeface="PingFang SC"/>
              </a:rPr>
              <a:t>能够  </a:t>
            </a:r>
            <a:endParaRPr lang="en-US" altLang="zh-CN" sz="2800" dirty="0" smtClean="0">
              <a:solidFill>
                <a:srgbClr val="333333"/>
              </a:solidFill>
              <a:latin typeface="PingFang SC"/>
            </a:endParaRPr>
          </a:p>
          <a:p>
            <a:r>
              <a:rPr lang="en-US" altLang="zh-CN" sz="2800" dirty="0">
                <a:solidFill>
                  <a:srgbClr val="333333"/>
                </a:solidFill>
                <a:latin typeface="PingFang SC"/>
              </a:rPr>
              <a:t> </a:t>
            </a:r>
            <a:r>
              <a:rPr lang="en-US" altLang="zh-CN" sz="2800" dirty="0" smtClean="0">
                <a:solidFill>
                  <a:srgbClr val="333333"/>
                </a:solidFill>
                <a:latin typeface="PingFang SC"/>
              </a:rPr>
              <a:t>    </a:t>
            </a:r>
            <a:r>
              <a:rPr lang="zh-CN" altLang="en-US" sz="2800" dirty="0" smtClean="0">
                <a:solidFill>
                  <a:srgbClr val="333333"/>
                </a:solidFill>
                <a:latin typeface="PingFang SC"/>
              </a:rPr>
              <a:t>将</a:t>
            </a:r>
            <a:r>
              <a:rPr lang="zh-CN" altLang="en-US" sz="2800" dirty="0">
                <a:solidFill>
                  <a:srgbClr val="333333"/>
                </a:solidFill>
                <a:latin typeface="PingFang SC"/>
              </a:rPr>
              <a:t>训练数据集正实例点和负实例点完全正确分开的分离超平面。</a:t>
            </a:r>
            <a:endParaRPr lang="en-US" altLang="zh-CN" sz="2800" dirty="0">
              <a:solidFill>
                <a:srgbClr val="333333"/>
              </a:solidFill>
              <a:latin typeface="PingFang SC"/>
            </a:endParaRPr>
          </a:p>
          <a:p>
            <a:r>
              <a:rPr lang="zh-CN" altLang="en-US" sz="2800" dirty="0" smtClean="0">
                <a:solidFill>
                  <a:srgbClr val="333333"/>
                </a:solidFill>
                <a:latin typeface="PingFang SC"/>
              </a:rPr>
              <a:t>（</a:t>
            </a:r>
            <a:r>
              <a:rPr lang="en-US" altLang="zh-CN" sz="2800" dirty="0" smtClean="0">
                <a:solidFill>
                  <a:srgbClr val="333333"/>
                </a:solidFill>
                <a:latin typeface="PingFang SC"/>
              </a:rPr>
              <a:t>2</a:t>
            </a:r>
            <a:r>
              <a:rPr lang="zh-CN" altLang="en-US" sz="2800" dirty="0" smtClean="0">
                <a:solidFill>
                  <a:srgbClr val="333333"/>
                </a:solidFill>
                <a:latin typeface="PingFang SC"/>
              </a:rPr>
              <a:t>）如果</a:t>
            </a:r>
            <a:r>
              <a:rPr lang="zh-CN" altLang="en-US" sz="2800" dirty="0">
                <a:solidFill>
                  <a:srgbClr val="333333"/>
                </a:solidFill>
                <a:latin typeface="PingFang SC"/>
              </a:rPr>
              <a:t>是非线性可分的数据，</a:t>
            </a:r>
            <a:r>
              <a:rPr lang="zh-CN" altLang="en-US" sz="2800" dirty="0" smtClean="0">
                <a:solidFill>
                  <a:srgbClr val="333333"/>
                </a:solidFill>
                <a:latin typeface="PingFang SC"/>
              </a:rPr>
              <a:t>则</a:t>
            </a:r>
            <a:r>
              <a:rPr lang="zh-CN" altLang="en-US" sz="2800" dirty="0">
                <a:solidFill>
                  <a:srgbClr val="333333"/>
                </a:solidFill>
                <a:latin typeface="PingFang SC"/>
              </a:rPr>
              <a:t>感知机学习</a:t>
            </a:r>
            <a:r>
              <a:rPr lang="zh-CN" altLang="en-US" sz="2800" dirty="0" smtClean="0">
                <a:solidFill>
                  <a:srgbClr val="333333"/>
                </a:solidFill>
                <a:latin typeface="PingFang SC"/>
              </a:rPr>
              <a:t>最后</a:t>
            </a:r>
            <a:r>
              <a:rPr lang="zh-CN" altLang="en-US" sz="2800" dirty="0">
                <a:solidFill>
                  <a:srgbClr val="333333"/>
                </a:solidFill>
                <a:latin typeface="PingFang SC"/>
              </a:rPr>
              <a:t>无法获得</a:t>
            </a:r>
            <a:r>
              <a:rPr lang="zh-CN" altLang="en-US" sz="2800" dirty="0" smtClean="0">
                <a:solidFill>
                  <a:srgbClr val="333333"/>
                </a:solidFill>
                <a:latin typeface="PingFang SC"/>
              </a:rPr>
              <a:t>超平面。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9018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160626" y="3047467"/>
            <a:ext cx="564373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dirty="0" smtClean="0">
                <a:solidFill>
                  <a:srgbClr val="4F4F4F"/>
                </a:solidFill>
                <a:latin typeface="+mn-ea"/>
              </a:rPr>
              <a:t> </a:t>
            </a:r>
            <a:r>
              <a:rPr lang="zh-CN" altLang="en-US" sz="4400" dirty="0" smtClean="0">
                <a:solidFill>
                  <a:srgbClr val="4F4F4F"/>
                </a:solidFill>
                <a:latin typeface="+mn-ea"/>
              </a:rPr>
              <a:t>模型</a:t>
            </a:r>
            <a:r>
              <a:rPr lang="en-US" altLang="zh-CN" sz="4400" dirty="0" smtClean="0">
                <a:solidFill>
                  <a:srgbClr val="4F4F4F"/>
                </a:solidFill>
                <a:latin typeface="+mn-ea"/>
              </a:rPr>
              <a:t>+</a:t>
            </a:r>
            <a:r>
              <a:rPr lang="zh-CN" altLang="en-US" sz="4400" dirty="0" smtClean="0">
                <a:solidFill>
                  <a:srgbClr val="4F4F4F"/>
                </a:solidFill>
                <a:latin typeface="+mn-ea"/>
              </a:rPr>
              <a:t>策略</a:t>
            </a:r>
            <a:r>
              <a:rPr lang="en-US" altLang="zh-CN" sz="4400" dirty="0" smtClean="0">
                <a:solidFill>
                  <a:srgbClr val="4F4F4F"/>
                </a:solidFill>
                <a:latin typeface="+mn-ea"/>
              </a:rPr>
              <a:t>+</a:t>
            </a:r>
            <a:r>
              <a:rPr lang="zh-CN" altLang="en-US" sz="4400" dirty="0" smtClean="0">
                <a:solidFill>
                  <a:srgbClr val="4F4F4F"/>
                </a:solidFill>
                <a:latin typeface="+mn-ea"/>
              </a:rPr>
              <a:t>算法</a:t>
            </a:r>
            <a:endParaRPr lang="en-US" altLang="zh-CN" sz="4400" dirty="0">
              <a:solidFill>
                <a:srgbClr val="4F4F4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90675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-329003" y="1"/>
            <a:ext cx="12521003" cy="1329863"/>
            <a:chOff x="-329003" y="1"/>
            <a:chExt cx="12521003" cy="1329863"/>
          </a:xfrm>
        </p:grpSpPr>
        <p:sp>
          <p:nvSpPr>
            <p:cNvPr id="12" name="矩形 10"/>
            <p:cNvSpPr/>
            <p:nvPr/>
          </p:nvSpPr>
          <p:spPr>
            <a:xfrm>
              <a:off x="-13648" y="1"/>
              <a:ext cx="12205648" cy="1202643"/>
            </a:xfrm>
            <a:prstGeom prst="rect">
              <a:avLst/>
            </a:prstGeom>
            <a:solidFill>
              <a:srgbClr val="782C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28"/>
            <p:cNvSpPr/>
            <p:nvPr/>
          </p:nvSpPr>
          <p:spPr>
            <a:xfrm>
              <a:off x="-329003" y="1278393"/>
              <a:ext cx="9400194" cy="5135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29"/>
            <p:cNvSpPr/>
            <p:nvPr/>
          </p:nvSpPr>
          <p:spPr>
            <a:xfrm>
              <a:off x="9121588" y="1278399"/>
              <a:ext cx="3070412" cy="51465"/>
            </a:xfrm>
            <a:prstGeom prst="rect">
              <a:avLst/>
            </a:prstGeom>
            <a:solidFill>
              <a:srgbClr val="782C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矩形 17"/>
          <p:cNvSpPr/>
          <p:nvPr/>
        </p:nvSpPr>
        <p:spPr>
          <a:xfrm>
            <a:off x="292640" y="144950"/>
            <a:ext cx="351410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4000" dirty="0">
                <a:solidFill>
                  <a:schemeClr val="bg1"/>
                </a:solidFill>
              </a:rPr>
              <a:t>2.1 </a:t>
            </a:r>
            <a:r>
              <a:rPr kumimoji="1" lang="zh-CN" altLang="en-US" sz="4000" dirty="0">
                <a:solidFill>
                  <a:schemeClr val="bg1"/>
                </a:solidFill>
              </a:rPr>
              <a:t>感知机模型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9634" y="1456817"/>
            <a:ext cx="11704078" cy="2857249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定义</a:t>
            </a:r>
            <a:r>
              <a:rPr kumimoji="1" lang="en-US" altLang="zh-CN" dirty="0"/>
              <a:t>(</a:t>
            </a:r>
            <a:r>
              <a:rPr kumimoji="1" lang="zh-CN" altLang="en-US" dirty="0"/>
              <a:t>感知机</a:t>
            </a:r>
            <a:r>
              <a:rPr kumimoji="1" lang="en-US" altLang="zh-CN" dirty="0"/>
              <a:t>):</a:t>
            </a:r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kumimoji="1" lang="zh-CN" altLang="en-US" dirty="0"/>
              <a:t>假设输入空间</a:t>
            </a:r>
            <a:r>
              <a:rPr kumimoji="1" lang="en-US" altLang="zh-CN" dirty="0"/>
              <a:t>(</a:t>
            </a:r>
            <a:r>
              <a:rPr kumimoji="1" lang="zh-CN" altLang="en-US" dirty="0"/>
              <a:t>特征空间</a:t>
            </a:r>
            <a:r>
              <a:rPr kumimoji="1" lang="en-US" altLang="zh-CN" dirty="0"/>
              <a:t>)</a:t>
            </a:r>
            <a:r>
              <a:rPr kumimoji="1" lang="zh-CN" altLang="en-US" dirty="0"/>
              <a:t>是 </a:t>
            </a:r>
            <a:r>
              <a:rPr kumimoji="1" lang="zh-CN" altLang="en-US" dirty="0" smtClean="0"/>
              <a:t>             </a:t>
            </a:r>
            <a:r>
              <a:rPr kumimoji="1" lang="zh-CN" altLang="en-US" dirty="0"/>
              <a:t>，输出空间是</a:t>
            </a:r>
            <a:endParaRPr kumimoji="1" lang="en-US" altLang="zh-CN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kumimoji="1" lang="zh-CN" altLang="en-US" dirty="0"/>
              <a:t>输入      </a:t>
            </a:r>
            <a:r>
              <a:rPr kumimoji="1" lang="en-GB" altLang="zh-CN" dirty="0"/>
              <a:t>	</a:t>
            </a:r>
            <a:r>
              <a:rPr kumimoji="1" lang="en-GB" altLang="zh-CN" dirty="0" smtClean="0"/>
              <a:t>     </a:t>
            </a:r>
            <a:r>
              <a:rPr kumimoji="1" lang="en-GB" altLang="zh-CN" dirty="0" smtClean="0"/>
              <a:t> </a:t>
            </a:r>
            <a:r>
              <a:rPr kumimoji="1" lang="zh-CN" altLang="en-US" dirty="0" smtClean="0"/>
              <a:t>表示</a:t>
            </a:r>
            <a:r>
              <a:rPr kumimoji="1" lang="zh-CN" altLang="en-US" dirty="0"/>
              <a:t>实例的</a:t>
            </a:r>
            <a:r>
              <a:rPr kumimoji="1" lang="zh-CN" altLang="en-US" dirty="0">
                <a:solidFill>
                  <a:srgbClr val="7030A0"/>
                </a:solidFill>
              </a:rPr>
              <a:t>特征</a:t>
            </a:r>
            <a:r>
              <a:rPr kumimoji="1" lang="zh-CN" altLang="en-US" dirty="0" smtClean="0">
                <a:solidFill>
                  <a:srgbClr val="7030A0"/>
                </a:solidFill>
              </a:rPr>
              <a:t>向量（列向量）</a:t>
            </a:r>
            <a:r>
              <a:rPr kumimoji="1" lang="zh-CN" altLang="en-US" dirty="0" smtClean="0"/>
              <a:t>，</a:t>
            </a:r>
            <a:r>
              <a:rPr kumimoji="1" lang="zh-CN" altLang="en-US" dirty="0"/>
              <a:t>对应于输入空间（特征空间）的点，</a:t>
            </a:r>
            <a:r>
              <a:rPr kumimoji="1" lang="zh-CN" altLang="en-US" dirty="0" smtClean="0"/>
              <a:t>输出</a:t>
            </a:r>
            <a:r>
              <a:rPr kumimoji="1" lang="en-US" altLang="zh-CN" dirty="0" smtClean="0"/>
              <a:t>            </a:t>
            </a:r>
            <a:r>
              <a:rPr kumimoji="1" lang="zh-CN" altLang="en-US" dirty="0" smtClean="0"/>
              <a:t>表示实例的类别，由输入空间到输出空间的</a:t>
            </a:r>
            <a:r>
              <a:rPr kumimoji="1" lang="zh-CN" altLang="en-US" dirty="0" smtClean="0">
                <a:solidFill>
                  <a:srgbClr val="FF0000"/>
                </a:solidFill>
              </a:rPr>
              <a:t>函数</a:t>
            </a:r>
            <a:r>
              <a:rPr kumimoji="1" lang="zh-CN" altLang="en-US" dirty="0" smtClean="0"/>
              <a:t>：</a:t>
            </a:r>
            <a:endParaRPr kumimoji="1" lang="en-US" altLang="zh-CN" dirty="0" smtClean="0"/>
          </a:p>
          <a:p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 smtClean="0">
                <a:solidFill>
                  <a:srgbClr val="FF0000"/>
                </a:solidFill>
              </a:rPr>
              <a:t>   称为感知机</a:t>
            </a:r>
            <a:r>
              <a:rPr kumimoji="1" lang="en-US" altLang="zh-CN" dirty="0" smtClean="0">
                <a:solidFill>
                  <a:srgbClr val="FF0000"/>
                </a:solidFill>
              </a:rPr>
              <a:t>.</a:t>
            </a:r>
            <a:endParaRPr kumimoji="1"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100" y="1922252"/>
            <a:ext cx="969990" cy="31112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011" y="1945349"/>
            <a:ext cx="1338502" cy="28803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730" y="2329563"/>
            <a:ext cx="864096" cy="21602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742" y="2739405"/>
            <a:ext cx="648072" cy="232207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627286" y="4402862"/>
            <a:ext cx="11433257" cy="524823"/>
            <a:chOff x="758743" y="5317564"/>
            <a:chExt cx="11433257" cy="524823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19186" y="5423105"/>
              <a:ext cx="938722" cy="386533"/>
            </a:xfrm>
            <a:prstGeom prst="rect">
              <a:avLst/>
            </a:prstGeom>
          </p:spPr>
        </p:pic>
        <p:grpSp>
          <p:nvGrpSpPr>
            <p:cNvPr id="30" name="组合 29"/>
            <p:cNvGrpSpPr/>
            <p:nvPr/>
          </p:nvGrpSpPr>
          <p:grpSpPr>
            <a:xfrm>
              <a:off x="758743" y="5317564"/>
              <a:ext cx="11433257" cy="524823"/>
              <a:chOff x="758743" y="5471243"/>
              <a:chExt cx="11433257" cy="524823"/>
            </a:xfrm>
          </p:grpSpPr>
          <p:grpSp>
            <p:nvGrpSpPr>
              <p:cNvPr id="29" name="组合 28"/>
              <p:cNvGrpSpPr/>
              <p:nvPr/>
            </p:nvGrpSpPr>
            <p:grpSpPr>
              <a:xfrm>
                <a:off x="758743" y="5471243"/>
                <a:ext cx="11433257" cy="523220"/>
                <a:chOff x="758743" y="5471243"/>
                <a:chExt cx="11433257" cy="523220"/>
              </a:xfrm>
            </p:grpSpPr>
            <p:sp>
              <p:nvSpPr>
                <p:cNvPr id="13" name="矩形 12"/>
                <p:cNvSpPr/>
                <p:nvPr/>
              </p:nvSpPr>
              <p:spPr>
                <a:xfrm>
                  <a:off x="758743" y="5471243"/>
                  <a:ext cx="11433257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457200" indent="-457200">
                    <a:buFont typeface="Arial" panose="020B0604020202020204" pitchFamily="34" charset="0"/>
                    <a:buChar char="•"/>
                  </a:pPr>
                  <a:r>
                    <a:rPr kumimoji="1" lang="zh-CN" altLang="en-US" sz="2800" dirty="0"/>
                    <a:t>模型参数：   </a:t>
                  </a:r>
                  <a:r>
                    <a:rPr kumimoji="1" lang="zh-CN" altLang="en-US" sz="2800" dirty="0" smtClean="0"/>
                    <a:t>和     ；内积            ；权</a:t>
                  </a:r>
                  <a:r>
                    <a:rPr kumimoji="1" lang="zh-CN" altLang="en-US" sz="2800" dirty="0"/>
                    <a:t>值</a:t>
                  </a:r>
                  <a:r>
                    <a:rPr kumimoji="1" lang="zh-CN" altLang="en-US" sz="2800" dirty="0">
                      <a:solidFill>
                        <a:srgbClr val="7030A0"/>
                      </a:solidFill>
                    </a:rPr>
                    <a:t>向量</a:t>
                  </a:r>
                  <a:r>
                    <a:rPr kumimoji="1" lang="en-US" altLang="zh-CN" sz="2800" dirty="0"/>
                    <a:t>:       </a:t>
                  </a:r>
                  <a:r>
                    <a:rPr kumimoji="1" lang="zh-CN" altLang="en-US" sz="2800" dirty="0" smtClean="0"/>
                    <a:t>； </a:t>
                  </a:r>
                  <a:r>
                    <a:rPr kumimoji="1" lang="zh-CN" altLang="en-US" sz="2800" dirty="0"/>
                    <a:t>偏置</a:t>
                  </a:r>
                  <a:r>
                    <a:rPr kumimoji="1" lang="en-US" altLang="zh-CN" sz="2800" dirty="0" smtClean="0"/>
                    <a:t>:</a:t>
                  </a:r>
                  <a:endParaRPr kumimoji="1" lang="en-US" altLang="zh-CN" sz="2800" dirty="0"/>
                </a:p>
              </p:txBody>
            </p:sp>
            <p:pic>
              <p:nvPicPr>
                <p:cNvPr id="23" name="图片 22"/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84191" y="5555559"/>
                  <a:ext cx="405852" cy="387403"/>
                </a:xfrm>
                <a:prstGeom prst="rect">
                  <a:avLst/>
                </a:prstGeom>
              </p:spPr>
            </p:pic>
          </p:grpSp>
          <p:pic>
            <p:nvPicPr>
              <p:cNvPr id="24" name="图片 23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84438" y="5504705"/>
                <a:ext cx="346784" cy="456295"/>
              </a:xfrm>
              <a:prstGeom prst="rect">
                <a:avLst/>
              </a:prstGeom>
            </p:spPr>
          </p:pic>
          <p:pic>
            <p:nvPicPr>
              <p:cNvPr id="25" name="图片 24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44380" y="5521112"/>
                <a:ext cx="346784" cy="456295"/>
              </a:xfrm>
              <a:prstGeom prst="rect">
                <a:avLst/>
              </a:prstGeom>
            </p:spPr>
          </p:pic>
          <p:pic>
            <p:nvPicPr>
              <p:cNvPr id="26" name="图片 25"/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31261" y="5608663"/>
                <a:ext cx="405852" cy="387403"/>
              </a:xfrm>
              <a:prstGeom prst="rect">
                <a:avLst/>
              </a:prstGeom>
            </p:spPr>
          </p:pic>
        </p:grpSp>
      </p:grpSp>
      <p:grpSp>
        <p:nvGrpSpPr>
          <p:cNvPr id="32" name="组合 31"/>
          <p:cNvGrpSpPr/>
          <p:nvPr/>
        </p:nvGrpSpPr>
        <p:grpSpPr>
          <a:xfrm>
            <a:off x="627286" y="5038687"/>
            <a:ext cx="5724387" cy="936105"/>
            <a:chOff x="758743" y="5993986"/>
            <a:chExt cx="5724387" cy="936105"/>
          </a:xfrm>
        </p:grpSpPr>
        <p:sp>
          <p:nvSpPr>
            <p:cNvPr id="27" name="矩形 26"/>
            <p:cNvSpPr/>
            <p:nvPr/>
          </p:nvSpPr>
          <p:spPr>
            <a:xfrm>
              <a:off x="758743" y="6158711"/>
              <a:ext cx="226857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indent="-285750">
                <a:buSzPct val="50000"/>
                <a:buFont typeface="Wingdings" panose="05000000000000000000" pitchFamily="2" charset="2"/>
                <a:buChar char="l"/>
              </a:pPr>
              <a:r>
                <a:rPr kumimoji="1" lang="zh-CN" altLang="en-US" sz="2800" dirty="0"/>
                <a:t>符号函数：</a:t>
              </a:r>
              <a:endParaRPr kumimoji="1" lang="en-US" altLang="zh-CN" sz="2800" dirty="0"/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1718" y="5993986"/>
              <a:ext cx="3461412" cy="936105"/>
            </a:xfrm>
            <a:prstGeom prst="rect">
              <a:avLst/>
            </a:prstGeom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47284" y="3055928"/>
            <a:ext cx="3847619" cy="5428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6824" y="1031353"/>
            <a:ext cx="121988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例</a:t>
            </a:r>
            <a:r>
              <a:rPr lang="en-US" altLang="zh-CN" sz="2800" dirty="0">
                <a:solidFill>
                  <a:srgbClr val="4D4D4D"/>
                </a:solidFill>
                <a:latin typeface="-apple-system"/>
              </a:rPr>
              <a:t>2.1 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如图</a:t>
            </a:r>
            <a:r>
              <a:rPr lang="en-US" altLang="zh-CN" sz="2800" dirty="0">
                <a:solidFill>
                  <a:srgbClr val="4D4D4D"/>
                </a:solidFill>
                <a:latin typeface="-apple-system"/>
              </a:rPr>
              <a:t>2.2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所示的训练数据集</a:t>
            </a: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，其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正实例点</a:t>
            </a: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是</a:t>
            </a:r>
            <a:r>
              <a:rPr lang="en-US" altLang="zh-CN" sz="2800" dirty="0" smtClean="0">
                <a:solidFill>
                  <a:srgbClr val="4D4D4D"/>
                </a:solidFill>
                <a:latin typeface="-apple-system"/>
              </a:rPr>
              <a:t>                      </a:t>
            </a: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，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负实例点</a:t>
            </a: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是</a:t>
            </a:r>
            <a:r>
              <a:rPr lang="en-US" altLang="zh-CN" sz="2800" dirty="0" smtClean="0">
                <a:solidFill>
                  <a:srgbClr val="4D4D4D"/>
                </a:solidFill>
                <a:latin typeface="-apple-system"/>
              </a:rPr>
              <a:t>          </a:t>
            </a: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，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试用感知机学习算法的原始形式求感知机</a:t>
            </a: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模型：</a:t>
            </a:r>
            <a:r>
              <a:rPr lang="en-US" altLang="zh-CN" sz="2800" dirty="0" smtClean="0">
                <a:solidFill>
                  <a:srgbClr val="4D4D4D"/>
                </a:solidFill>
                <a:latin typeface="-apple-system"/>
              </a:rPr>
              <a:t>   </a:t>
            </a: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   </a:t>
            </a:r>
            <a:endParaRPr lang="en-US" altLang="zh-CN" sz="2800" dirty="0" smtClean="0">
              <a:solidFill>
                <a:srgbClr val="4D4D4D"/>
              </a:solidFill>
              <a:latin typeface="-apple-system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513" y="3058246"/>
            <a:ext cx="6036469" cy="381377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7844" y="1043187"/>
            <a:ext cx="3772602" cy="42409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454" y="1466488"/>
            <a:ext cx="1866667" cy="51199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1323" y="2463302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4D4D4D"/>
                </a:solidFill>
                <a:latin typeface="-apple-system"/>
              </a:rPr>
              <a:t> 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这里</a:t>
            </a: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，</a:t>
            </a:r>
            <a:r>
              <a:rPr lang="en-US" altLang="zh-CN" sz="2800" dirty="0" smtClean="0">
                <a:solidFill>
                  <a:srgbClr val="4D4D4D"/>
                </a:solidFill>
                <a:latin typeface="-apple-system"/>
              </a:rPr>
              <a:t> </a:t>
            </a:r>
            <a:endParaRPr lang="zh-CN" altLang="en-US" sz="28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5513" y="2463302"/>
            <a:ext cx="5561905" cy="59494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9045" y="3840480"/>
            <a:ext cx="4752381" cy="39868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9045" y="4606634"/>
            <a:ext cx="4533333" cy="45495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0851" y="1920445"/>
            <a:ext cx="3847619" cy="5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048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261" y="1659401"/>
            <a:ext cx="10117016" cy="4389120"/>
          </a:xfrm>
        </p:spPr>
        <p:txBody>
          <a:bodyPr/>
          <a:lstStyle/>
          <a:p>
            <a:r>
              <a:rPr kumimoji="1" lang="zh-CN" altLang="en-US" dirty="0"/>
              <a:t>感知机几何解释：</a:t>
            </a:r>
            <a:endParaRPr kumimoji="1" lang="en-US" altLang="zh-CN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kumimoji="1" lang="zh-CN" altLang="en-US" dirty="0" smtClean="0"/>
              <a:t>线性方程：                         ，对应于超平面</a:t>
            </a:r>
            <a:r>
              <a:rPr kumimoji="1" lang="en-US" altLang="zh-CN" dirty="0" smtClean="0"/>
              <a:t>S</a:t>
            </a:r>
            <a:r>
              <a:rPr kumimoji="1" lang="zh-CN" altLang="en-US" dirty="0" smtClean="0"/>
              <a:t>，</a:t>
            </a:r>
            <a:r>
              <a:rPr kumimoji="1" lang="zh-CN" altLang="en-US" dirty="0"/>
              <a:t>分离正、负</a:t>
            </a:r>
            <a:r>
              <a:rPr kumimoji="1" lang="zh-CN" altLang="en-US" dirty="0" smtClean="0"/>
              <a:t>类。</a:t>
            </a:r>
            <a:endParaRPr kumimoji="1" lang="en-US" altLang="zh-CN" dirty="0" smtClean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kumimoji="1" lang="en-US" altLang="zh-CN" dirty="0" smtClean="0"/>
              <a:t>       </a:t>
            </a:r>
            <a:r>
              <a:rPr kumimoji="1" lang="zh-CN" altLang="en-US" dirty="0" smtClean="0"/>
              <a:t>为</a:t>
            </a:r>
            <a:r>
              <a:rPr kumimoji="1" lang="zh-CN" altLang="en-US" dirty="0">
                <a:solidFill>
                  <a:srgbClr val="FF0000"/>
                </a:solidFill>
              </a:rPr>
              <a:t>法向量 </a:t>
            </a:r>
            <a:r>
              <a:rPr kumimoji="1" lang="zh-CN" altLang="en-US" dirty="0" smtClean="0"/>
              <a:t>，    为截距。 </a:t>
            </a:r>
            <a:endParaRPr kumimoji="1" lang="en-US" altLang="zh-CN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kumimoji="1" lang="zh-CN" altLang="en-US" dirty="0" smtClean="0"/>
              <a:t>分离超平面</a:t>
            </a:r>
            <a:r>
              <a:rPr kumimoji="1" lang="en-US" altLang="zh-CN" dirty="0"/>
              <a:t>S </a:t>
            </a:r>
            <a:r>
              <a:rPr kumimoji="1" lang="zh-CN" altLang="en-US" dirty="0"/>
              <a:t>：分离正、负</a:t>
            </a:r>
            <a:r>
              <a:rPr kumimoji="1" lang="zh-CN" altLang="en-US" dirty="0" smtClean="0"/>
              <a:t>类。</a:t>
            </a:r>
            <a:endParaRPr kumimoji="1"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906" y="2032863"/>
            <a:ext cx="1878755" cy="50405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752" y="3374020"/>
            <a:ext cx="4032448" cy="3004038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-329003" y="1"/>
            <a:ext cx="12521003" cy="1329863"/>
            <a:chOff x="-329003" y="1"/>
            <a:chExt cx="12521003" cy="1329863"/>
          </a:xfrm>
        </p:grpSpPr>
        <p:sp>
          <p:nvSpPr>
            <p:cNvPr id="7" name="矩形 10"/>
            <p:cNvSpPr/>
            <p:nvPr/>
          </p:nvSpPr>
          <p:spPr>
            <a:xfrm>
              <a:off x="-13648" y="1"/>
              <a:ext cx="12205648" cy="1202643"/>
            </a:xfrm>
            <a:prstGeom prst="rect">
              <a:avLst/>
            </a:prstGeom>
            <a:solidFill>
              <a:srgbClr val="782C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28"/>
            <p:cNvSpPr/>
            <p:nvPr/>
          </p:nvSpPr>
          <p:spPr>
            <a:xfrm>
              <a:off x="-329003" y="1278393"/>
              <a:ext cx="9400194" cy="5135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29"/>
            <p:cNvSpPr/>
            <p:nvPr/>
          </p:nvSpPr>
          <p:spPr>
            <a:xfrm>
              <a:off x="9121588" y="1278399"/>
              <a:ext cx="3070412" cy="51465"/>
            </a:xfrm>
            <a:prstGeom prst="rect">
              <a:avLst/>
            </a:prstGeom>
            <a:solidFill>
              <a:srgbClr val="782C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854" y="2517315"/>
            <a:ext cx="405852" cy="38740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899" y="2502472"/>
            <a:ext cx="305707" cy="402246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292640" y="144950"/>
            <a:ext cx="351410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4000" dirty="0">
                <a:solidFill>
                  <a:schemeClr val="bg1"/>
                </a:solidFill>
              </a:rPr>
              <a:t>2.1 </a:t>
            </a:r>
            <a:r>
              <a:rPr kumimoji="1" lang="zh-CN" altLang="en-US" sz="4000" dirty="0">
                <a:solidFill>
                  <a:schemeClr val="bg1"/>
                </a:solidFill>
              </a:rPr>
              <a:t>感知机模型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AutoShape 2" descr="[公式]"/>
          <p:cNvSpPr>
            <a:spLocks noChangeAspect="1" noChangeArrowheads="1"/>
          </p:cNvSpPr>
          <p:nvPr/>
        </p:nvSpPr>
        <p:spPr bwMode="auto">
          <a:xfrm>
            <a:off x="14105487" y="1373377"/>
            <a:ext cx="156091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sp>
        <p:nvSpPr>
          <p:cNvPr id="2" name="矩形 1"/>
          <p:cNvSpPr/>
          <p:nvPr/>
        </p:nvSpPr>
        <p:spPr>
          <a:xfrm>
            <a:off x="173970" y="1419301"/>
            <a:ext cx="37753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感知机</a:t>
            </a:r>
            <a:r>
              <a:rPr lang="zh-CN" altLang="en-US" sz="2800" dirty="0" smtClean="0"/>
              <a:t>学习与预测系统</a:t>
            </a:r>
            <a:endParaRPr lang="zh-CN" altLang="en-US" sz="2800" dirty="0"/>
          </a:p>
        </p:txBody>
      </p:sp>
      <p:grpSp>
        <p:nvGrpSpPr>
          <p:cNvPr id="19" name="组合 18"/>
          <p:cNvGrpSpPr/>
          <p:nvPr/>
        </p:nvGrpSpPr>
        <p:grpSpPr>
          <a:xfrm>
            <a:off x="4382497" y="763066"/>
            <a:ext cx="6059883" cy="2091882"/>
            <a:chOff x="1286041" y="1018903"/>
            <a:chExt cx="10366028" cy="4776186"/>
          </a:xfrm>
        </p:grpSpPr>
        <p:grpSp>
          <p:nvGrpSpPr>
            <p:cNvPr id="28" name="组合 27"/>
            <p:cNvGrpSpPr/>
            <p:nvPr/>
          </p:nvGrpSpPr>
          <p:grpSpPr>
            <a:xfrm>
              <a:off x="1286041" y="1018903"/>
              <a:ext cx="10366028" cy="4323805"/>
              <a:chOff x="1178185" y="1690687"/>
              <a:chExt cx="8351577" cy="3476625"/>
            </a:xfrm>
          </p:grpSpPr>
          <p:pic>
            <p:nvPicPr>
              <p:cNvPr id="30" name="图片 2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662237" y="1690687"/>
                <a:ext cx="6867525" cy="3476625"/>
              </a:xfrm>
              <a:prstGeom prst="rect">
                <a:avLst/>
              </a:prstGeom>
            </p:spPr>
          </p:pic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8185" y="2335236"/>
                <a:ext cx="2968103" cy="395747"/>
              </a:xfrm>
              <a:prstGeom prst="rect">
                <a:avLst/>
              </a:prstGeom>
            </p:spPr>
          </p:pic>
        </p:grpSp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96180" y="4890327"/>
              <a:ext cx="2971429" cy="904762"/>
            </a:xfrm>
            <a:prstGeom prst="rect">
              <a:avLst/>
            </a:prstGeom>
          </p:spPr>
        </p:pic>
      </p:grpSp>
      <p:sp>
        <p:nvSpPr>
          <p:cNvPr id="38" name="矩形 37"/>
          <p:cNvSpPr/>
          <p:nvPr/>
        </p:nvSpPr>
        <p:spPr>
          <a:xfrm>
            <a:off x="191413" y="5281587"/>
            <a:ext cx="1192410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感知机预测</a:t>
            </a:r>
            <a:r>
              <a:rPr lang="zh-CN" altLang="en-US" sz="2800" dirty="0"/>
              <a:t>，通过学习得到感知机模型，对于新的输入实例，给出其</a:t>
            </a:r>
            <a:r>
              <a:rPr lang="zh-CN" altLang="en-US" sz="2800" dirty="0" smtClean="0"/>
              <a:t>对应的</a:t>
            </a:r>
            <a:r>
              <a:rPr lang="zh-CN" altLang="en-US" sz="2800" dirty="0"/>
              <a:t>输出类别。</a:t>
            </a:r>
            <a:r>
              <a:rPr lang="en-US" altLang="zh-CN" sz="2800" dirty="0"/>
              <a:t> </a:t>
            </a:r>
            <a:endParaRPr lang="zh-CN" altLang="en-US" sz="2800" dirty="0"/>
          </a:p>
        </p:txBody>
      </p:sp>
      <p:grpSp>
        <p:nvGrpSpPr>
          <p:cNvPr id="3" name="组合 2"/>
          <p:cNvGrpSpPr/>
          <p:nvPr/>
        </p:nvGrpSpPr>
        <p:grpSpPr>
          <a:xfrm>
            <a:off x="129079" y="3155840"/>
            <a:ext cx="9778593" cy="2171113"/>
            <a:chOff x="129079" y="3155840"/>
            <a:chExt cx="9778593" cy="2171113"/>
          </a:xfrm>
        </p:grpSpPr>
        <p:sp>
          <p:nvSpPr>
            <p:cNvPr id="32" name="矩形 31"/>
            <p:cNvSpPr/>
            <p:nvPr/>
          </p:nvSpPr>
          <p:spPr>
            <a:xfrm>
              <a:off x="129079" y="3155840"/>
              <a:ext cx="880241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solidFill>
                    <a:srgbClr val="FF0000"/>
                  </a:solidFill>
                </a:rPr>
                <a:t>感知机学习</a:t>
              </a:r>
              <a:r>
                <a:rPr lang="zh-CN" altLang="en-US" sz="2800" dirty="0"/>
                <a:t>，由训练数据集（实例的特征向量及类别）</a:t>
              </a:r>
            </a:p>
          </p:txBody>
        </p:sp>
        <p:sp>
          <p:nvSpPr>
            <p:cNvPr id="33" name="矩形 32"/>
            <p:cNvSpPr/>
            <p:nvPr/>
          </p:nvSpPr>
          <p:spPr>
            <a:xfrm>
              <a:off x="4399940" y="3768652"/>
              <a:ext cx="117922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dirty="0" smtClean="0"/>
                <a:t>其中：</a:t>
              </a:r>
              <a:endParaRPr lang="zh-CN" altLang="en-US" sz="2400" dirty="0"/>
            </a:p>
          </p:txBody>
        </p:sp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1413" y="3781185"/>
              <a:ext cx="4208527" cy="428942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79266" y="3839984"/>
              <a:ext cx="4428406" cy="350081"/>
            </a:xfrm>
            <a:prstGeom prst="rect">
              <a:avLst/>
            </a:prstGeom>
          </p:spPr>
        </p:pic>
        <p:sp>
          <p:nvSpPr>
            <p:cNvPr id="36" name="矩形 35"/>
            <p:cNvSpPr/>
            <p:nvPr/>
          </p:nvSpPr>
          <p:spPr>
            <a:xfrm>
              <a:off x="191413" y="4265475"/>
              <a:ext cx="922880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/>
                <a:t>求得感知机模型</a:t>
              </a:r>
              <a:r>
                <a:rPr lang="zh-CN" altLang="en-US" sz="2800" dirty="0" smtClean="0"/>
                <a:t>（</a:t>
              </a:r>
              <a:r>
                <a:rPr lang="zh-CN" altLang="en-US" sz="2800" dirty="0"/>
                <a:t>如下</a:t>
              </a:r>
              <a:r>
                <a:rPr lang="zh-CN" altLang="en-US" sz="2800" dirty="0" smtClean="0"/>
                <a:t>），</a:t>
              </a:r>
              <a:r>
                <a:rPr lang="zh-CN" altLang="en-US" sz="2800" dirty="0"/>
                <a:t>即求得模型的</a:t>
              </a:r>
              <a:r>
                <a:rPr lang="zh-CN" altLang="en-US" sz="2800" dirty="0" smtClean="0"/>
                <a:t>参数      和</a:t>
              </a:r>
              <a:r>
                <a:rPr lang="zh-CN" altLang="en-US" sz="2800" dirty="0"/>
                <a:t>  </a:t>
              </a:r>
              <a:r>
                <a:rPr lang="en-US" altLang="zh-CN" sz="2800" dirty="0" smtClean="0"/>
                <a:t>      </a:t>
              </a:r>
              <a:r>
                <a:rPr lang="zh-CN" altLang="en-US" sz="2800" dirty="0" smtClean="0"/>
                <a:t>。</a:t>
              </a:r>
              <a:endParaRPr lang="zh-CN" altLang="en-US" sz="2800" dirty="0"/>
            </a:p>
          </p:txBody>
        </p:sp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61465" y="4769761"/>
              <a:ext cx="3792002" cy="557192"/>
            </a:xfrm>
            <a:prstGeom prst="rect">
              <a:avLst/>
            </a:prstGeom>
          </p:spPr>
        </p:pic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1348" y="4399473"/>
            <a:ext cx="350060" cy="3500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0069" y="4248570"/>
            <a:ext cx="370323" cy="45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972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-329003" y="1"/>
            <a:ext cx="12521003" cy="1329863"/>
            <a:chOff x="-329003" y="1"/>
            <a:chExt cx="12521003" cy="1329863"/>
          </a:xfrm>
        </p:grpSpPr>
        <p:sp>
          <p:nvSpPr>
            <p:cNvPr id="11" name="矩形 10"/>
            <p:cNvSpPr/>
            <p:nvPr/>
          </p:nvSpPr>
          <p:spPr>
            <a:xfrm>
              <a:off x="-13648" y="1"/>
              <a:ext cx="12205648" cy="1202643"/>
            </a:xfrm>
            <a:prstGeom prst="rect">
              <a:avLst/>
            </a:prstGeom>
            <a:solidFill>
              <a:srgbClr val="782C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28"/>
            <p:cNvSpPr/>
            <p:nvPr/>
          </p:nvSpPr>
          <p:spPr>
            <a:xfrm>
              <a:off x="-329003" y="1278393"/>
              <a:ext cx="9400194" cy="5135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29"/>
            <p:cNvSpPr/>
            <p:nvPr/>
          </p:nvSpPr>
          <p:spPr>
            <a:xfrm>
              <a:off x="9121588" y="1278399"/>
              <a:ext cx="3070412" cy="51465"/>
            </a:xfrm>
            <a:prstGeom prst="rect">
              <a:avLst/>
            </a:prstGeom>
            <a:solidFill>
              <a:srgbClr val="782C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39781" y="1737009"/>
            <a:ext cx="11003280" cy="2677656"/>
            <a:chOff x="640080" y="2632925"/>
            <a:chExt cx="11003280" cy="2677656"/>
          </a:xfrm>
        </p:grpSpPr>
        <p:sp>
          <p:nvSpPr>
            <p:cNvPr id="16" name="矩形 15"/>
            <p:cNvSpPr/>
            <p:nvPr/>
          </p:nvSpPr>
          <p:spPr>
            <a:xfrm>
              <a:off x="640080" y="2632925"/>
              <a:ext cx="11003280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dirty="0" smtClean="0">
                  <a:solidFill>
                    <a:srgbClr val="444444"/>
                  </a:solidFill>
                  <a:latin typeface="Arial" panose="020B0604020202020204" pitchFamily="34" charset="0"/>
                </a:rPr>
                <a:t>       假设</a:t>
              </a:r>
              <a:r>
                <a:rPr lang="zh-CN" altLang="en-US" sz="2800" dirty="0">
                  <a:solidFill>
                    <a:srgbClr val="444444"/>
                  </a:solidFill>
                  <a:latin typeface="Arial" panose="020B0604020202020204" pitchFamily="34" charset="0"/>
                </a:rPr>
                <a:t>训练数据集是线性可分的</a:t>
              </a:r>
              <a:r>
                <a:rPr lang="en-US" altLang="zh-CN" sz="2800" dirty="0">
                  <a:solidFill>
                    <a:srgbClr val="444444"/>
                  </a:solidFill>
                  <a:latin typeface="Arial" panose="020B0604020202020204" pitchFamily="34" charset="0"/>
                </a:rPr>
                <a:t>(</a:t>
              </a:r>
              <a:r>
                <a:rPr lang="zh-CN" altLang="en-US" sz="2800" dirty="0">
                  <a:solidFill>
                    <a:srgbClr val="444444"/>
                  </a:solidFill>
                  <a:latin typeface="Arial" panose="020B0604020202020204" pitchFamily="34" charset="0"/>
                </a:rPr>
                <a:t>存在超平面将数据集的正负实例划分到超平面的两侧</a:t>
              </a:r>
              <a:r>
                <a:rPr lang="en-US" altLang="zh-CN" sz="2800" dirty="0">
                  <a:solidFill>
                    <a:srgbClr val="444444"/>
                  </a:solidFill>
                  <a:latin typeface="Arial" panose="020B0604020202020204" pitchFamily="34" charset="0"/>
                </a:rPr>
                <a:t>)</a:t>
              </a:r>
              <a:r>
                <a:rPr lang="zh-CN" altLang="en-US" sz="2800" dirty="0">
                  <a:solidFill>
                    <a:srgbClr val="444444"/>
                  </a:solidFill>
                  <a:latin typeface="Arial" panose="020B0604020202020204" pitchFamily="34" charset="0"/>
                </a:rPr>
                <a:t>，</a:t>
              </a:r>
              <a:r>
                <a:rPr lang="zh-CN" altLang="en-US" sz="2800" dirty="0">
                  <a:solidFill>
                    <a:srgbClr val="FF0000"/>
                  </a:solidFill>
                  <a:latin typeface="Arial" panose="020B0604020202020204" pitchFamily="34" charset="0"/>
                </a:rPr>
                <a:t>感知机的学习目标</a:t>
              </a:r>
              <a:r>
                <a:rPr lang="zh-CN" altLang="en-US" sz="2800" dirty="0">
                  <a:solidFill>
                    <a:srgbClr val="444444"/>
                  </a:solidFill>
                  <a:latin typeface="Arial" panose="020B0604020202020204" pitchFamily="34" charset="0"/>
                </a:rPr>
                <a:t>是求得一个能够将训练数据集</a:t>
              </a:r>
              <a:r>
                <a:rPr lang="zh-CN" altLang="en-US" sz="2800" dirty="0" smtClean="0">
                  <a:solidFill>
                    <a:srgbClr val="444444"/>
                  </a:solidFill>
                  <a:latin typeface="Arial" panose="020B0604020202020204" pitchFamily="34" charset="0"/>
                </a:rPr>
                <a:t>正</a:t>
              </a:r>
              <a:r>
                <a:rPr lang="zh-CN" altLang="en-US" sz="2800" dirty="0">
                  <a:solidFill>
                    <a:srgbClr val="444444"/>
                  </a:solidFill>
                  <a:latin typeface="Arial" panose="020B0604020202020204" pitchFamily="34" charset="0"/>
                </a:rPr>
                <a:t>实例</a:t>
              </a:r>
              <a:r>
                <a:rPr lang="zh-CN" altLang="en-US" sz="2800" dirty="0" smtClean="0">
                  <a:solidFill>
                    <a:srgbClr val="444444"/>
                  </a:solidFill>
                  <a:latin typeface="Arial" panose="020B0604020202020204" pitchFamily="34" charset="0"/>
                </a:rPr>
                <a:t>点和负</a:t>
              </a:r>
              <a:r>
                <a:rPr lang="zh-CN" altLang="en-US" sz="2800" dirty="0">
                  <a:solidFill>
                    <a:srgbClr val="444444"/>
                  </a:solidFill>
                  <a:latin typeface="Arial" panose="020B0604020202020204" pitchFamily="34" charset="0"/>
                </a:rPr>
                <a:t>实例点完全正确分开的</a:t>
              </a:r>
              <a:r>
                <a:rPr lang="zh-CN" altLang="en-US" sz="2800" dirty="0" smtClean="0">
                  <a:solidFill>
                    <a:srgbClr val="444444"/>
                  </a:solidFill>
                  <a:latin typeface="Arial" panose="020B0604020202020204" pitchFamily="34" charset="0"/>
                </a:rPr>
                <a:t>分离超平面。</a:t>
              </a:r>
              <a:endParaRPr lang="en-US" altLang="zh-CN" sz="2800" dirty="0" smtClean="0">
                <a:solidFill>
                  <a:srgbClr val="444444"/>
                </a:solidFill>
                <a:latin typeface="Arial" panose="020B0604020202020204" pitchFamily="34" charset="0"/>
              </a:endParaRPr>
            </a:p>
            <a:p>
              <a:r>
                <a:rPr lang="zh-CN" altLang="en-US" sz="2800" dirty="0" smtClean="0">
                  <a:solidFill>
                    <a:srgbClr val="444444"/>
                  </a:solidFill>
                  <a:latin typeface="Arial" panose="020B0604020202020204" pitchFamily="34" charset="0"/>
                </a:rPr>
                <a:t>       为了找出这样的超平面，即确定感知机模型参数      和       ，需要</a:t>
              </a:r>
              <a:r>
                <a:rPr lang="zh-CN" altLang="en-US" sz="2800" dirty="0">
                  <a:solidFill>
                    <a:srgbClr val="444444"/>
                  </a:solidFill>
                  <a:latin typeface="Arial" panose="020B0604020202020204" pitchFamily="34" charset="0"/>
                </a:rPr>
                <a:t>确定一个</a:t>
              </a:r>
              <a:r>
                <a:rPr lang="zh-CN" altLang="en-US" sz="2800" dirty="0" smtClean="0">
                  <a:solidFill>
                    <a:srgbClr val="7030A0"/>
                  </a:solidFill>
                  <a:latin typeface="Arial" panose="020B0604020202020204" pitchFamily="34" charset="0"/>
                </a:rPr>
                <a:t>学习策略</a:t>
              </a:r>
              <a:r>
                <a:rPr lang="zh-CN" altLang="en-US" sz="2800" dirty="0">
                  <a:solidFill>
                    <a:srgbClr val="444444"/>
                  </a:solidFill>
                  <a:latin typeface="Arial" panose="020B0604020202020204" pitchFamily="34" charset="0"/>
                </a:rPr>
                <a:t>（因为模型已经定了：                                 </a:t>
              </a:r>
              <a:r>
                <a:rPr lang="zh-CN" altLang="en-US" sz="2800" dirty="0" smtClean="0">
                  <a:solidFill>
                    <a:srgbClr val="7030A0"/>
                  </a:solidFill>
                  <a:latin typeface="Arial" panose="020B0604020202020204" pitchFamily="34" charset="0"/>
                </a:rPr>
                <a:t>））：</a:t>
              </a:r>
              <a:r>
                <a:rPr lang="zh-CN" altLang="en-US" sz="2800" dirty="0" smtClean="0">
                  <a:solidFill>
                    <a:srgbClr val="444444"/>
                  </a:solidFill>
                  <a:latin typeface="Arial" panose="020B0604020202020204" pitchFamily="34" charset="0"/>
                </a:rPr>
                <a:t>    </a:t>
              </a:r>
              <a:endParaRPr lang="en-US" altLang="zh-CN" sz="2800" dirty="0" smtClean="0">
                <a:solidFill>
                  <a:srgbClr val="444444"/>
                </a:solidFill>
                <a:latin typeface="Arial" panose="020B0604020202020204" pitchFamily="34" charset="0"/>
              </a:endParaRPr>
            </a:p>
            <a:p>
              <a:r>
                <a:rPr lang="en-US" altLang="zh-CN" sz="2800" dirty="0">
                  <a:solidFill>
                    <a:srgbClr val="444444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zh-CN" sz="2800" dirty="0" smtClean="0">
                  <a:solidFill>
                    <a:srgbClr val="444444"/>
                  </a:solidFill>
                  <a:latin typeface="Arial" panose="020B0604020202020204" pitchFamily="34" charset="0"/>
                </a:rPr>
                <a:t>      </a:t>
              </a:r>
              <a:r>
                <a:rPr lang="zh-CN" altLang="en-US" sz="2800" dirty="0" smtClean="0">
                  <a:solidFill>
                    <a:srgbClr val="444444"/>
                  </a:solidFill>
                  <a:latin typeface="Arial" panose="020B0604020202020204" pitchFamily="34" charset="0"/>
                </a:rPr>
                <a:t>即</a:t>
              </a:r>
              <a:r>
                <a:rPr lang="zh-CN" altLang="en-US" sz="2800" dirty="0">
                  <a:solidFill>
                    <a:srgbClr val="FF0000"/>
                  </a:solidFill>
                  <a:latin typeface="Arial" panose="020B0604020202020204" pitchFamily="34" charset="0"/>
                </a:rPr>
                <a:t>定义</a:t>
              </a:r>
              <a:r>
                <a:rPr lang="en-US" altLang="zh-CN" sz="2800" dirty="0">
                  <a:solidFill>
                    <a:srgbClr val="444444"/>
                  </a:solidFill>
                  <a:latin typeface="Arial" panose="020B0604020202020204" pitchFamily="34" charset="0"/>
                </a:rPr>
                <a:t>(</a:t>
              </a:r>
              <a:r>
                <a:rPr lang="zh-CN" altLang="en-US" sz="2800" dirty="0" smtClean="0">
                  <a:solidFill>
                    <a:srgbClr val="444444"/>
                  </a:solidFill>
                  <a:latin typeface="Arial" panose="020B0604020202020204" pitchFamily="34" charset="0"/>
                </a:rPr>
                <a:t>经验风险、结构风险</a:t>
              </a:r>
              <a:r>
                <a:rPr lang="en-US" altLang="zh-CN" sz="2800" dirty="0" smtClean="0">
                  <a:solidFill>
                    <a:srgbClr val="444444"/>
                  </a:solidFill>
                  <a:latin typeface="Arial" panose="020B0604020202020204" pitchFamily="34" charset="0"/>
                </a:rPr>
                <a:t>)</a:t>
              </a:r>
              <a:r>
                <a:rPr lang="zh-CN" altLang="en-US" sz="2800" dirty="0">
                  <a:solidFill>
                    <a:srgbClr val="FF0000"/>
                  </a:solidFill>
                  <a:latin typeface="Arial" panose="020B0604020202020204" pitchFamily="34" charset="0"/>
                </a:rPr>
                <a:t>损失函数</a:t>
              </a:r>
              <a:r>
                <a:rPr lang="zh-CN" altLang="en-US" sz="2800" dirty="0">
                  <a:solidFill>
                    <a:srgbClr val="444444"/>
                  </a:solidFill>
                  <a:latin typeface="Arial" panose="020B0604020202020204" pitchFamily="34" charset="0"/>
                </a:rPr>
                <a:t>并将其</a:t>
              </a:r>
              <a:r>
                <a:rPr lang="zh-CN" altLang="en-US" sz="2800" dirty="0">
                  <a:solidFill>
                    <a:srgbClr val="FF0000"/>
                  </a:solidFill>
                  <a:latin typeface="Arial" panose="020B0604020202020204" pitchFamily="34" charset="0"/>
                </a:rPr>
                <a:t>极小化</a:t>
              </a:r>
              <a:r>
                <a:rPr lang="zh-CN" altLang="en-US" sz="2800" dirty="0">
                  <a:solidFill>
                    <a:srgbClr val="444444"/>
                  </a:solidFill>
                  <a:latin typeface="Arial" panose="020B0604020202020204" pitchFamily="34" charset="0"/>
                </a:rPr>
                <a:t>。</a:t>
              </a:r>
              <a:endParaRPr lang="zh-CN" altLang="en-US" sz="2800" dirty="0"/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24437" y="4027262"/>
              <a:ext cx="405852" cy="387403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63761" y="3958370"/>
              <a:ext cx="346784" cy="456295"/>
            </a:xfrm>
            <a:prstGeom prst="rect">
              <a:avLst/>
            </a:prstGeom>
          </p:spPr>
        </p:pic>
      </p:grpSp>
      <p:sp>
        <p:nvSpPr>
          <p:cNvPr id="2" name="矩形 1"/>
          <p:cNvSpPr/>
          <p:nvPr/>
        </p:nvSpPr>
        <p:spPr>
          <a:xfrm>
            <a:off x="439781" y="307984"/>
            <a:ext cx="35782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solidFill>
                  <a:schemeClr val="bg1"/>
                </a:solidFill>
              </a:rPr>
              <a:t>2.2</a:t>
            </a:r>
            <a:r>
              <a:rPr kumimoji="1" lang="zh-CN" altLang="en-US" sz="3200" dirty="0">
                <a:solidFill>
                  <a:schemeClr val="bg1"/>
                </a:solidFill>
              </a:rPr>
              <a:t>感知机学习策略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1063" y="3518749"/>
            <a:ext cx="3792002" cy="44795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098305" y="5286782"/>
            <a:ext cx="68034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/>
              <a:t>（说明：从第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章开始不再区分损失函数和风险）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74361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499" y="137392"/>
            <a:ext cx="11939675" cy="489625"/>
          </a:xfrm>
        </p:spPr>
        <p:txBody>
          <a:bodyPr>
            <a:normAutofit/>
          </a:bodyPr>
          <a:lstStyle/>
          <a:p>
            <a:r>
              <a:rPr kumimoji="1" lang="zh-CN" altLang="en-US" dirty="0">
                <a:solidFill>
                  <a:srgbClr val="7030A0"/>
                </a:solidFill>
              </a:rPr>
              <a:t>感知机</a:t>
            </a:r>
            <a:r>
              <a:rPr kumimoji="1" lang="zh-CN" altLang="en-US" dirty="0" smtClean="0">
                <a:solidFill>
                  <a:srgbClr val="7030A0"/>
                </a:solidFill>
              </a:rPr>
              <a:t>学习策略：</a:t>
            </a:r>
            <a:r>
              <a:rPr kumimoji="1" lang="zh-CN" altLang="en-US" dirty="0" smtClean="0">
                <a:solidFill>
                  <a:srgbClr val="FF0000"/>
                </a:solidFill>
              </a:rPr>
              <a:t>定义（经验）损失函数并将损失函数极小化</a:t>
            </a:r>
            <a:r>
              <a:rPr kumimoji="1" lang="zh-CN" altLang="en-US" dirty="0" smtClean="0">
                <a:solidFill>
                  <a:srgbClr val="FF0000"/>
                </a:solidFill>
              </a:rPr>
              <a:t>。</a:t>
            </a:r>
            <a:endParaRPr kumimoji="1" lang="en-US" altLang="zh-CN" sz="2400" dirty="0"/>
          </a:p>
        </p:txBody>
      </p:sp>
      <p:grpSp>
        <p:nvGrpSpPr>
          <p:cNvPr id="5" name="组合 4"/>
          <p:cNvGrpSpPr/>
          <p:nvPr/>
        </p:nvGrpSpPr>
        <p:grpSpPr>
          <a:xfrm>
            <a:off x="15499" y="633268"/>
            <a:ext cx="11939675" cy="503201"/>
            <a:chOff x="15499" y="633268"/>
            <a:chExt cx="11939675" cy="503201"/>
          </a:xfrm>
        </p:grpSpPr>
        <p:sp>
          <p:nvSpPr>
            <p:cNvPr id="26" name="内容占位符 2"/>
            <p:cNvSpPr txBox="1">
              <a:spLocks/>
            </p:cNvSpPr>
            <p:nvPr/>
          </p:nvSpPr>
          <p:spPr>
            <a:xfrm>
              <a:off x="15499" y="633268"/>
              <a:ext cx="11939675" cy="50320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2400" dirty="0" smtClean="0"/>
                <a:t>如何定义损失函数？损失函数</a:t>
              </a:r>
              <a:r>
                <a:rPr lang="zh-CN" altLang="en-US" sz="2400" dirty="0" smtClean="0"/>
                <a:t>是预测值与真实值（</a:t>
              </a:r>
              <a:r>
                <a:rPr lang="en-US" altLang="zh-CN" sz="2400" dirty="0" smtClean="0"/>
                <a:t>      </a:t>
              </a:r>
              <a:r>
                <a:rPr lang="zh-CN" altLang="en-US" sz="2400" dirty="0" smtClean="0"/>
                <a:t>）之间的误差，并且是正值。</a:t>
              </a:r>
              <a:endParaRPr kumimoji="1" lang="en-US" altLang="zh-CN" sz="2400" dirty="0" smtClean="0"/>
            </a:p>
          </p:txBody>
        </p: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75617" y="640632"/>
              <a:ext cx="270787" cy="490168"/>
            </a:xfrm>
            <a:prstGeom prst="rect">
              <a:avLst/>
            </a:prstGeom>
          </p:spPr>
        </p:pic>
      </p:grpSp>
      <p:sp>
        <p:nvSpPr>
          <p:cNvPr id="40" name="内容占位符 2"/>
          <p:cNvSpPr txBox="1">
            <a:spLocks/>
          </p:cNvSpPr>
          <p:nvPr/>
        </p:nvSpPr>
        <p:spPr>
          <a:xfrm>
            <a:off x="15498" y="1138164"/>
            <a:ext cx="11939675" cy="5328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kumimoji="1" lang="zh-CN" altLang="en-US" dirty="0" smtClean="0"/>
              <a:t>自然选择：误分类点的数目，但损失函数不是参数</a:t>
            </a:r>
            <a:r>
              <a:rPr kumimoji="1" lang="en-US" altLang="zh-CN" dirty="0" smtClean="0"/>
              <a:t>w</a:t>
            </a:r>
            <a:r>
              <a:rPr kumimoji="1" lang="zh-CN" altLang="en-US" dirty="0" smtClean="0"/>
              <a:t>, </a:t>
            </a:r>
            <a:r>
              <a:rPr kumimoji="1" lang="en-US" altLang="zh-CN" dirty="0" smtClean="0"/>
              <a:t>b </a:t>
            </a:r>
            <a:r>
              <a:rPr kumimoji="1" lang="zh-CN" altLang="en-US" dirty="0" smtClean="0"/>
              <a:t>的连续可导函数，不宜优化。</a:t>
            </a:r>
            <a:endParaRPr kumimoji="1" lang="en-US" altLang="zh-CN" dirty="0" smtClean="0"/>
          </a:p>
        </p:txBody>
      </p:sp>
      <p:grpSp>
        <p:nvGrpSpPr>
          <p:cNvPr id="4" name="组合 3"/>
          <p:cNvGrpSpPr/>
          <p:nvPr/>
        </p:nvGrpSpPr>
        <p:grpSpPr>
          <a:xfrm>
            <a:off x="0" y="1673513"/>
            <a:ext cx="11939675" cy="548217"/>
            <a:chOff x="0" y="1673513"/>
            <a:chExt cx="11939675" cy="548217"/>
          </a:xfrm>
        </p:grpSpPr>
        <p:sp>
          <p:nvSpPr>
            <p:cNvPr id="49" name="内容占位符 2"/>
            <p:cNvSpPr txBox="1">
              <a:spLocks/>
            </p:cNvSpPr>
            <p:nvPr/>
          </p:nvSpPr>
          <p:spPr>
            <a:xfrm>
              <a:off x="0" y="1673513"/>
              <a:ext cx="11939675" cy="54821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>
                <a:buSzPct val="50000"/>
                <a:buFont typeface="Wingdings" panose="05000000000000000000" pitchFamily="2" charset="2"/>
                <a:buChar char="u"/>
              </a:pPr>
              <a:r>
                <a:rPr kumimoji="1" lang="zh-CN" altLang="en-US" dirty="0" smtClean="0"/>
                <a:t>另一选择：</a:t>
              </a:r>
              <a:r>
                <a:rPr kumimoji="1" lang="zh-CN" altLang="en-US" dirty="0" smtClean="0">
                  <a:solidFill>
                    <a:srgbClr val="7030A0"/>
                  </a:solidFill>
                </a:rPr>
                <a:t>误分类点到超平面       的总距离</a:t>
              </a:r>
              <a:r>
                <a:rPr kumimoji="1" lang="zh-CN" altLang="en-US" dirty="0" smtClean="0"/>
                <a:t>：</a:t>
              </a:r>
              <a:endParaRPr kumimoji="1" lang="en-US" altLang="zh-CN" sz="2400" dirty="0"/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60753" y="1673513"/>
              <a:ext cx="371429" cy="380952"/>
            </a:xfrm>
            <a:prstGeom prst="rect">
              <a:avLst/>
            </a:prstGeom>
          </p:spPr>
        </p:pic>
      </p:grpSp>
      <p:grpSp>
        <p:nvGrpSpPr>
          <p:cNvPr id="6" name="组合 5"/>
          <p:cNvGrpSpPr/>
          <p:nvPr/>
        </p:nvGrpSpPr>
        <p:grpSpPr>
          <a:xfrm>
            <a:off x="47498" y="2128574"/>
            <a:ext cx="11939675" cy="588893"/>
            <a:chOff x="47498" y="2128574"/>
            <a:chExt cx="11939675" cy="588893"/>
          </a:xfrm>
        </p:grpSpPr>
        <p:sp>
          <p:nvSpPr>
            <p:cNvPr id="51" name="内容占位符 2"/>
            <p:cNvSpPr txBox="1">
              <a:spLocks/>
            </p:cNvSpPr>
            <p:nvPr/>
          </p:nvSpPr>
          <p:spPr>
            <a:xfrm>
              <a:off x="47498" y="2166708"/>
              <a:ext cx="11939675" cy="55075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2">
                <a:buSzPct val="50000"/>
                <a:buFont typeface="Wingdings" panose="05000000000000000000" pitchFamily="2" charset="2"/>
                <a:buChar char="p"/>
              </a:pPr>
              <a:r>
                <a:rPr kumimoji="1" lang="zh-CN" altLang="en-US" sz="2400" dirty="0" smtClean="0"/>
                <a:t>误分类点：</a:t>
              </a:r>
              <a:endParaRPr kumimoji="1" lang="en-US" altLang="zh-CN" sz="2400" dirty="0"/>
            </a:p>
          </p:txBody>
        </p:sp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8541" y="2128574"/>
              <a:ext cx="2590476" cy="514286"/>
            </a:xfrm>
            <a:prstGeom prst="rect">
              <a:avLst/>
            </a:prstGeom>
          </p:spPr>
        </p:pic>
      </p:grpSp>
      <p:pic>
        <p:nvPicPr>
          <p:cNvPr id="56" name="图片 5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6970" y="2711082"/>
            <a:ext cx="9360729" cy="424973"/>
          </a:xfrm>
          <a:prstGeom prst="rect">
            <a:avLst/>
          </a:prstGeom>
        </p:spPr>
      </p:pic>
      <p:grpSp>
        <p:nvGrpSpPr>
          <p:cNvPr id="57" name="组合 56"/>
          <p:cNvGrpSpPr/>
          <p:nvPr/>
        </p:nvGrpSpPr>
        <p:grpSpPr>
          <a:xfrm>
            <a:off x="-28616" y="3251969"/>
            <a:ext cx="10178767" cy="1188926"/>
            <a:chOff x="25064" y="4211344"/>
            <a:chExt cx="10178767" cy="1188926"/>
          </a:xfrm>
        </p:grpSpPr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96181" y="4277393"/>
              <a:ext cx="312973" cy="362391"/>
            </a:xfrm>
            <a:prstGeom prst="rect">
              <a:avLst/>
            </a:prstGeom>
          </p:spPr>
        </p:pic>
        <p:grpSp>
          <p:nvGrpSpPr>
            <p:cNvPr id="59" name="组合 58"/>
            <p:cNvGrpSpPr/>
            <p:nvPr/>
          </p:nvGrpSpPr>
          <p:grpSpPr>
            <a:xfrm>
              <a:off x="25064" y="4211344"/>
              <a:ext cx="10178767" cy="1188926"/>
              <a:chOff x="96774" y="4430583"/>
              <a:chExt cx="10178767" cy="1188926"/>
            </a:xfrm>
          </p:grpSpPr>
          <p:sp>
            <p:nvSpPr>
              <p:cNvPr id="60" name="矩形 59"/>
              <p:cNvSpPr/>
              <p:nvPr/>
            </p:nvSpPr>
            <p:spPr>
              <a:xfrm>
                <a:off x="96774" y="4430583"/>
                <a:ext cx="1017876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2">
                  <a:buSzPct val="50000"/>
                  <a:buFont typeface="Wingdings" panose="05000000000000000000" pitchFamily="2" charset="2"/>
                  <a:buChar char="p"/>
                </a:pPr>
                <a:r>
                  <a:rPr kumimoji="1" lang="zh-CN" altLang="en-US" sz="2400" dirty="0" smtClean="0"/>
                  <a:t> 距离</a:t>
                </a:r>
                <a:r>
                  <a:rPr kumimoji="1" lang="zh-CN" altLang="en-US" sz="2400" dirty="0"/>
                  <a:t>：</a:t>
                </a:r>
                <a:r>
                  <a:rPr lang="zh-CN" altLang="zh-CN" sz="2400" dirty="0">
                    <a:solidFill>
                      <a:srgbClr val="121212"/>
                    </a:solidFill>
                    <a:latin typeface="Arial" panose="020B0604020202020204" pitchFamily="34" charset="0"/>
                    <a:ea typeface="-apple-system"/>
                  </a:rPr>
                  <a:t>输入空间</a:t>
                </a:r>
                <a:r>
                  <a:rPr lang="zh-CN" altLang="zh-CN" sz="2400" dirty="0">
                    <a:latin typeface="Arial" panose="020B0604020202020204" pitchFamily="34" charset="0"/>
                  </a:rPr>
                  <a:t>  </a:t>
                </a:r>
                <a:r>
                  <a:rPr lang="en-US" altLang="zh-CN" sz="2400" dirty="0">
                    <a:latin typeface="Arial" panose="020B0604020202020204" pitchFamily="34" charset="0"/>
                  </a:rPr>
                  <a:t>    </a:t>
                </a:r>
                <a:r>
                  <a:rPr lang="zh-CN" altLang="zh-CN" sz="2400" dirty="0">
                    <a:solidFill>
                      <a:srgbClr val="121212"/>
                    </a:solidFill>
                    <a:latin typeface="Arial" panose="020B0604020202020204" pitchFamily="34" charset="0"/>
                    <a:ea typeface="-apple-system"/>
                  </a:rPr>
                  <a:t>中的任一点</a:t>
                </a:r>
                <a:r>
                  <a:rPr lang="zh-CN" altLang="zh-CN" sz="2400" dirty="0">
                    <a:latin typeface="Arial" panose="020B0604020202020204" pitchFamily="34" charset="0"/>
                  </a:rPr>
                  <a:t>  </a:t>
                </a:r>
                <a:r>
                  <a:rPr lang="en-US" altLang="zh-CN" sz="2400" dirty="0">
                    <a:latin typeface="Arial" panose="020B0604020202020204" pitchFamily="34" charset="0"/>
                  </a:rPr>
                  <a:t>    </a:t>
                </a:r>
                <a:r>
                  <a:rPr lang="zh-CN" altLang="zh-CN" sz="2400" dirty="0">
                    <a:solidFill>
                      <a:srgbClr val="121212"/>
                    </a:solidFill>
                    <a:latin typeface="Arial" panose="020B0604020202020204" pitchFamily="34" charset="0"/>
                    <a:ea typeface="-apple-system"/>
                  </a:rPr>
                  <a:t>到超平面</a:t>
                </a:r>
                <a:r>
                  <a:rPr lang="zh-CN" altLang="zh-CN" sz="2400" dirty="0">
                    <a:latin typeface="Arial" panose="020B0604020202020204" pitchFamily="34" charset="0"/>
                  </a:rPr>
                  <a:t>  </a:t>
                </a:r>
                <a:r>
                  <a:rPr lang="en-US" altLang="zh-CN" sz="2400" dirty="0">
                    <a:latin typeface="Arial" panose="020B0604020202020204" pitchFamily="34" charset="0"/>
                  </a:rPr>
                  <a:t>   </a:t>
                </a:r>
                <a:r>
                  <a:rPr lang="zh-CN" altLang="zh-CN" sz="2400" dirty="0">
                    <a:solidFill>
                      <a:srgbClr val="121212"/>
                    </a:solidFill>
                    <a:latin typeface="Arial" panose="020B0604020202020204" pitchFamily="34" charset="0"/>
                    <a:ea typeface="-apple-system"/>
                  </a:rPr>
                  <a:t>的距离</a:t>
                </a:r>
                <a:endParaRPr lang="en-US" altLang="zh-CN" sz="2400" dirty="0">
                  <a:solidFill>
                    <a:srgbClr val="121212"/>
                  </a:solidFill>
                  <a:latin typeface="Arial" panose="020B0604020202020204" pitchFamily="34" charset="0"/>
                  <a:ea typeface="-apple-system"/>
                </a:endParaRPr>
              </a:p>
            </p:txBody>
          </p:sp>
          <p:pic>
            <p:nvPicPr>
              <p:cNvPr id="61" name="图片 60"/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27805" y="4954717"/>
                <a:ext cx="2504693" cy="664792"/>
              </a:xfrm>
              <a:prstGeom prst="rect">
                <a:avLst/>
              </a:prstGeom>
            </p:spPr>
          </p:pic>
          <p:pic>
            <p:nvPicPr>
              <p:cNvPr id="62" name="图片 61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81576" y="4533697"/>
                <a:ext cx="377433" cy="308809"/>
              </a:xfrm>
              <a:prstGeom prst="rect">
                <a:avLst/>
              </a:prstGeom>
            </p:spPr>
          </p:pic>
          <p:pic>
            <p:nvPicPr>
              <p:cNvPr id="63" name="图片 62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148860" y="4452659"/>
                <a:ext cx="322934" cy="464218"/>
              </a:xfrm>
              <a:prstGeom prst="rect">
                <a:avLst/>
              </a:prstGeom>
            </p:spPr>
          </p:pic>
        </p:grpSp>
      </p:grpSp>
      <p:grpSp>
        <p:nvGrpSpPr>
          <p:cNvPr id="7" name="组合 6"/>
          <p:cNvGrpSpPr/>
          <p:nvPr/>
        </p:nvGrpSpPr>
        <p:grpSpPr>
          <a:xfrm>
            <a:off x="917921" y="4626382"/>
            <a:ext cx="7118593" cy="1212242"/>
            <a:chOff x="917921" y="4626382"/>
            <a:chExt cx="7118593" cy="1212242"/>
          </a:xfrm>
        </p:grpSpPr>
        <p:grpSp>
          <p:nvGrpSpPr>
            <p:cNvPr id="64" name="组合 63"/>
            <p:cNvGrpSpPr/>
            <p:nvPr/>
          </p:nvGrpSpPr>
          <p:grpSpPr>
            <a:xfrm>
              <a:off x="917921" y="4626382"/>
              <a:ext cx="7118593" cy="573402"/>
              <a:chOff x="952580" y="3987542"/>
              <a:chExt cx="7118593" cy="573402"/>
            </a:xfrm>
          </p:grpSpPr>
          <p:pic>
            <p:nvPicPr>
              <p:cNvPr id="65" name="图片 64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94719" y="4025030"/>
                <a:ext cx="322934" cy="464218"/>
              </a:xfrm>
              <a:prstGeom prst="rect">
                <a:avLst/>
              </a:prstGeom>
            </p:spPr>
          </p:pic>
          <p:grpSp>
            <p:nvGrpSpPr>
              <p:cNvPr id="66" name="组合 65"/>
              <p:cNvGrpSpPr/>
              <p:nvPr/>
            </p:nvGrpSpPr>
            <p:grpSpPr>
              <a:xfrm>
                <a:off x="952580" y="3987542"/>
                <a:ext cx="7118593" cy="573402"/>
                <a:chOff x="1009406" y="5612966"/>
                <a:chExt cx="7118593" cy="573402"/>
              </a:xfrm>
            </p:grpSpPr>
            <p:sp>
              <p:nvSpPr>
                <p:cNvPr id="67" name="矩形 66"/>
                <p:cNvSpPr/>
                <p:nvPr/>
              </p:nvSpPr>
              <p:spPr>
                <a:xfrm>
                  <a:off x="1009406" y="5612966"/>
                  <a:ext cx="7118593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buSzPct val="50000"/>
                    <a:buFont typeface="Wingdings" panose="05000000000000000000" pitchFamily="2" charset="2"/>
                    <a:buChar char="p"/>
                  </a:pPr>
                  <a:r>
                    <a:rPr lang="zh-CN" altLang="en-US" sz="2400" dirty="0">
                      <a:solidFill>
                        <a:srgbClr val="FF0000"/>
                      </a:solidFill>
                    </a:rPr>
                    <a:t>误分类</a:t>
                  </a:r>
                  <a:r>
                    <a:rPr lang="zh-CN" altLang="en-US" sz="2400" dirty="0" smtClean="0">
                      <a:solidFill>
                        <a:srgbClr val="FF0000"/>
                      </a:solidFill>
                    </a:rPr>
                    <a:t>点                     </a:t>
                  </a:r>
                  <a:r>
                    <a:rPr lang="zh-CN" altLang="zh-CN" sz="2400" dirty="0" smtClean="0">
                      <a:solidFill>
                        <a:srgbClr val="FF0000"/>
                      </a:solidFill>
                      <a:latin typeface="Arial" panose="020B0604020202020204" pitchFamily="34" charset="0"/>
                      <a:ea typeface="-apple-system"/>
                    </a:rPr>
                    <a:t>到</a:t>
                  </a:r>
                  <a:r>
                    <a:rPr lang="zh-CN" altLang="zh-CN" sz="2400" dirty="0">
                      <a:solidFill>
                        <a:srgbClr val="FF0000"/>
                      </a:solidFill>
                      <a:latin typeface="Arial" panose="020B0604020202020204" pitchFamily="34" charset="0"/>
                      <a:ea typeface="-apple-system"/>
                    </a:rPr>
                    <a:t>超平面</a:t>
                  </a:r>
                  <a:r>
                    <a:rPr lang="zh-CN" altLang="zh-CN" sz="24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  </a:t>
                  </a:r>
                  <a:r>
                    <a:rPr lang="en-US" altLang="zh-CN" sz="24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   </a:t>
                  </a:r>
                  <a:r>
                    <a:rPr lang="zh-CN" altLang="zh-CN" sz="2400" dirty="0">
                      <a:solidFill>
                        <a:srgbClr val="FF0000"/>
                      </a:solidFill>
                      <a:latin typeface="Arial" panose="020B0604020202020204" pitchFamily="34" charset="0"/>
                      <a:ea typeface="-apple-system"/>
                    </a:rPr>
                    <a:t>的</a:t>
                  </a:r>
                  <a:r>
                    <a:rPr lang="zh-CN" altLang="zh-CN" sz="2400" dirty="0" smtClean="0">
                      <a:solidFill>
                        <a:srgbClr val="FF0000"/>
                      </a:solidFill>
                      <a:latin typeface="Arial" panose="020B0604020202020204" pitchFamily="34" charset="0"/>
                      <a:ea typeface="-apple-system"/>
                    </a:rPr>
                    <a:t>距离</a:t>
                  </a:r>
                  <a:r>
                    <a:rPr lang="zh-CN" altLang="en-US" sz="2400" dirty="0" smtClean="0">
                      <a:solidFill>
                        <a:srgbClr val="FF0000"/>
                      </a:solidFill>
                      <a:latin typeface="Arial" panose="020B0604020202020204" pitchFamily="34" charset="0"/>
                      <a:ea typeface="-apple-system"/>
                    </a:rPr>
                    <a:t>： 重要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  <a:ea typeface="-apple-system"/>
                  </a:endParaRPr>
                </a:p>
              </p:txBody>
            </p:sp>
            <p:pic>
              <p:nvPicPr>
                <p:cNvPr id="68" name="图片 67"/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19943" y="5640740"/>
                  <a:ext cx="1418634" cy="545628"/>
                </a:xfrm>
                <a:prstGeom prst="rect">
                  <a:avLst/>
                </a:prstGeom>
              </p:spPr>
            </p:pic>
          </p:grpSp>
        </p:grpSp>
        <p:pic>
          <p:nvPicPr>
            <p:cNvPr id="69" name="图片 6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775081" y="5146599"/>
              <a:ext cx="2912129" cy="692025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946304" y="5581928"/>
            <a:ext cx="9645618" cy="1153156"/>
            <a:chOff x="946304" y="5581928"/>
            <a:chExt cx="9645618" cy="1153156"/>
          </a:xfrm>
        </p:grpSpPr>
        <p:sp>
          <p:nvSpPr>
            <p:cNvPr id="72" name="Rectangle 5"/>
            <p:cNvSpPr>
              <a:spLocks noChangeArrowheads="1"/>
            </p:cNvSpPr>
            <p:nvPr/>
          </p:nvSpPr>
          <p:spPr bwMode="auto">
            <a:xfrm>
              <a:off x="1336970" y="6255730"/>
              <a:ext cx="394210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4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</a:t>
              </a:r>
              <a:r>
                <a:rPr kumimoji="0" lang="zh-CN" altLang="zh-CN" sz="24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其中 </a:t>
              </a:r>
              <a:r>
                <a:rPr kumimoji="0" lang="zh-CN" altLang="zh-CN" sz="2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</a:t>
              </a:r>
              <a:r>
                <a:rPr kumimoji="0" lang="zh-CN" altLang="zh-CN" sz="24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 </a:t>
              </a:r>
              <a:r>
                <a:rPr kumimoji="0" lang="en-US" altLang="zh-CN" sz="24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 </a:t>
              </a:r>
              <a:r>
                <a:rPr kumimoji="0" lang="zh-CN" altLang="zh-CN" sz="24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为误分类点的集合</a:t>
              </a:r>
              <a:r>
                <a:rPr kumimoji="0" lang="zh-CN" altLang="zh-CN" sz="2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946304" y="5581928"/>
              <a:ext cx="9645618" cy="1153156"/>
              <a:chOff x="946304" y="5581928"/>
              <a:chExt cx="9645618" cy="1153156"/>
            </a:xfrm>
          </p:grpSpPr>
          <p:sp>
            <p:nvSpPr>
              <p:cNvPr id="70" name="矩形 69"/>
              <p:cNvSpPr/>
              <p:nvPr/>
            </p:nvSpPr>
            <p:spPr>
              <a:xfrm>
                <a:off x="946304" y="5776376"/>
                <a:ext cx="622478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SzPct val="50000"/>
                  <a:buFont typeface="Wingdings" panose="05000000000000000000" pitchFamily="2" charset="2"/>
                  <a:buChar char="p"/>
                </a:pPr>
                <a:r>
                  <a:rPr lang="zh-CN" altLang="en-US" sz="2400" dirty="0">
                    <a:solidFill>
                      <a:srgbClr val="121212"/>
                    </a:solidFill>
                    <a:latin typeface="-apple-system"/>
                  </a:rPr>
                  <a:t>所有误分类点到平面的总距离可以表示</a:t>
                </a:r>
                <a:r>
                  <a:rPr lang="zh-CN" altLang="en-US" sz="2400" dirty="0" smtClean="0">
                    <a:solidFill>
                      <a:srgbClr val="121212"/>
                    </a:solidFill>
                    <a:latin typeface="-apple-system"/>
                  </a:rPr>
                  <a:t>为</a:t>
                </a:r>
                <a:r>
                  <a:rPr lang="en-US" altLang="zh-CN" sz="2400" dirty="0" smtClean="0">
                    <a:solidFill>
                      <a:srgbClr val="121212"/>
                    </a:solidFill>
                    <a:latin typeface="-apple-system"/>
                  </a:rPr>
                  <a:t>:</a:t>
                </a:r>
                <a:endParaRPr lang="zh-CN" altLang="en-US" sz="2400" dirty="0"/>
              </a:p>
            </p:txBody>
          </p:sp>
          <p:pic>
            <p:nvPicPr>
              <p:cNvPr id="71" name="图片 70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28441" y="5581928"/>
                <a:ext cx="3463481" cy="1028628"/>
              </a:xfrm>
              <a:prstGeom prst="rect">
                <a:avLst/>
              </a:prstGeom>
            </p:spPr>
          </p:pic>
          <p:pic>
            <p:nvPicPr>
              <p:cNvPr id="73" name="图片 72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03762" y="6369635"/>
                <a:ext cx="400254" cy="365449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-329003" y="1"/>
            <a:ext cx="12521003" cy="1329863"/>
            <a:chOff x="-329003" y="1"/>
            <a:chExt cx="12521003" cy="1329863"/>
          </a:xfrm>
        </p:grpSpPr>
        <p:sp>
          <p:nvSpPr>
            <p:cNvPr id="6" name="矩形 10"/>
            <p:cNvSpPr/>
            <p:nvPr/>
          </p:nvSpPr>
          <p:spPr>
            <a:xfrm>
              <a:off x="-13648" y="1"/>
              <a:ext cx="12205648" cy="1202643"/>
            </a:xfrm>
            <a:prstGeom prst="rect">
              <a:avLst/>
            </a:prstGeom>
            <a:solidFill>
              <a:srgbClr val="782C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28"/>
            <p:cNvSpPr/>
            <p:nvPr/>
          </p:nvSpPr>
          <p:spPr>
            <a:xfrm>
              <a:off x="-329003" y="1278393"/>
              <a:ext cx="9400194" cy="5135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29"/>
            <p:cNvSpPr/>
            <p:nvPr/>
          </p:nvSpPr>
          <p:spPr>
            <a:xfrm>
              <a:off x="9121588" y="1278399"/>
              <a:ext cx="3070412" cy="51465"/>
            </a:xfrm>
            <a:prstGeom prst="rect">
              <a:avLst/>
            </a:prstGeom>
            <a:solidFill>
              <a:srgbClr val="782C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353310" y="2379251"/>
            <a:ext cx="117038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zh-CN" altLang="en-US" sz="2800" dirty="0" smtClean="0"/>
              <a:t>不考虑            ， 得到感知机                                                 学习的损失函数为</a:t>
            </a:r>
            <a:endParaRPr lang="zh-CN" altLang="en-US" sz="28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687" y="2264588"/>
            <a:ext cx="799954" cy="83399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649" y="3192995"/>
            <a:ext cx="5954912" cy="130196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5191" y="2416882"/>
            <a:ext cx="3792002" cy="447958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971460" y="4589377"/>
            <a:ext cx="3942105" cy="461665"/>
            <a:chOff x="7150535" y="3210520"/>
            <a:chExt cx="3942105" cy="461665"/>
          </a:xfrm>
        </p:grpSpPr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7150535" y="3210520"/>
              <a:ext cx="394210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4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</a:t>
              </a:r>
              <a:r>
                <a:rPr kumimoji="0" lang="zh-CN" altLang="zh-CN" sz="24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其中 </a:t>
              </a:r>
              <a:r>
                <a:rPr kumimoji="0" lang="zh-CN" altLang="zh-CN" sz="2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</a:t>
              </a:r>
              <a:r>
                <a:rPr kumimoji="0" lang="zh-CN" altLang="zh-CN" sz="24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 </a:t>
              </a:r>
              <a:r>
                <a:rPr kumimoji="0" lang="en-US" altLang="zh-CN" sz="24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 </a:t>
              </a:r>
              <a:r>
                <a:rPr kumimoji="0" lang="zh-CN" altLang="zh-CN" sz="24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为误分类点的集合</a:t>
              </a:r>
              <a:r>
                <a:rPr kumimoji="0" lang="zh-CN" altLang="zh-CN" sz="2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67533" y="3306736"/>
              <a:ext cx="400254" cy="365449"/>
            </a:xfrm>
            <a:prstGeom prst="rect">
              <a:avLst/>
            </a:prstGeom>
          </p:spPr>
        </p:pic>
      </p:grpSp>
      <p:sp>
        <p:nvSpPr>
          <p:cNvPr id="20" name="矩形 19"/>
          <p:cNvSpPr/>
          <p:nvPr/>
        </p:nvSpPr>
        <p:spPr>
          <a:xfrm>
            <a:off x="633859" y="5508562"/>
            <a:ext cx="62023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 smtClean="0"/>
              <a:t>损失函数</a:t>
            </a:r>
            <a:r>
              <a:rPr lang="zh-CN" altLang="en-US" sz="2800" dirty="0"/>
              <a:t>（</a:t>
            </a:r>
            <a:r>
              <a:rPr lang="zh-CN" altLang="en-US" sz="2800" dirty="0">
                <a:solidFill>
                  <a:srgbClr val="FF0000"/>
                </a:solidFill>
              </a:rPr>
              <a:t>目标函数</a:t>
            </a:r>
            <a:r>
              <a:rPr lang="zh-CN" altLang="en-US" sz="2800" dirty="0" smtClean="0"/>
              <a:t>）为优化目标 </a:t>
            </a:r>
            <a:endParaRPr lang="zh-CN" altLang="en-US" sz="2800" dirty="0"/>
          </a:p>
        </p:txBody>
      </p:sp>
      <p:sp>
        <p:nvSpPr>
          <p:cNvPr id="22" name="矩形 21"/>
          <p:cNvSpPr/>
          <p:nvPr/>
        </p:nvSpPr>
        <p:spPr>
          <a:xfrm>
            <a:off x="439781" y="307984"/>
            <a:ext cx="35782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solidFill>
                  <a:schemeClr val="bg1"/>
                </a:solidFill>
              </a:rPr>
              <a:t>2.2</a:t>
            </a:r>
            <a:r>
              <a:rPr kumimoji="1" lang="zh-CN" altLang="en-US" sz="3200" dirty="0">
                <a:solidFill>
                  <a:schemeClr val="bg1"/>
                </a:solidFill>
              </a:rPr>
              <a:t>感知机学习策略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2288449" y="1162967"/>
            <a:ext cx="6572250" cy="4920343"/>
            <a:chOff x="2288449" y="1712686"/>
            <a:chExt cx="6572250" cy="4920343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8449" y="2197110"/>
              <a:ext cx="6572250" cy="3886200"/>
            </a:xfrm>
            <a:prstGeom prst="rect">
              <a:avLst/>
            </a:prstGeom>
          </p:spPr>
        </p:pic>
        <p:cxnSp>
          <p:nvCxnSpPr>
            <p:cNvPr id="5" name="直接连接符 4"/>
            <p:cNvCxnSpPr/>
            <p:nvPr/>
          </p:nvCxnSpPr>
          <p:spPr>
            <a:xfrm>
              <a:off x="4970710" y="1712686"/>
              <a:ext cx="1081747" cy="4920343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2480946" y="6106069"/>
            <a:ext cx="38908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 </a:t>
            </a:r>
            <a:r>
              <a:rPr kumimoji="0" lang="zh-CN" altLang="zh-CN" sz="24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误分类点的集合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      :3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个点</a:t>
            </a:r>
            <a:r>
              <a:rPr kumimoji="0" lang="zh-CN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752" y="6202285"/>
            <a:ext cx="400254" cy="365449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265609" y="17698"/>
            <a:ext cx="35782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solidFill>
                  <a:schemeClr val="bg1"/>
                </a:solidFill>
              </a:rPr>
              <a:t>2.2</a:t>
            </a:r>
            <a:r>
              <a:rPr kumimoji="1" lang="zh-CN" altLang="en-US" sz="3200" dirty="0">
                <a:solidFill>
                  <a:schemeClr val="bg1"/>
                </a:solidFill>
              </a:rPr>
              <a:t>感知机学习策略</a:t>
            </a:r>
          </a:p>
        </p:txBody>
      </p:sp>
    </p:spTree>
    <p:extLst>
      <p:ext uri="{BB962C8B-B14F-4D97-AF65-F5344CB8AC3E}">
        <p14:creationId xmlns:p14="http://schemas.microsoft.com/office/powerpoint/2010/main" val="1767419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-329003" y="1"/>
            <a:ext cx="12521003" cy="1329863"/>
            <a:chOff x="-329003" y="1"/>
            <a:chExt cx="12521003" cy="1329863"/>
          </a:xfrm>
        </p:grpSpPr>
        <p:sp>
          <p:nvSpPr>
            <p:cNvPr id="6" name="矩形 10"/>
            <p:cNvSpPr/>
            <p:nvPr/>
          </p:nvSpPr>
          <p:spPr>
            <a:xfrm>
              <a:off x="-13648" y="1"/>
              <a:ext cx="12205648" cy="1202643"/>
            </a:xfrm>
            <a:prstGeom prst="rect">
              <a:avLst/>
            </a:prstGeom>
            <a:solidFill>
              <a:srgbClr val="782C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28"/>
            <p:cNvSpPr/>
            <p:nvPr/>
          </p:nvSpPr>
          <p:spPr>
            <a:xfrm>
              <a:off x="-329003" y="1278393"/>
              <a:ext cx="9400194" cy="5135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29"/>
            <p:cNvSpPr/>
            <p:nvPr/>
          </p:nvSpPr>
          <p:spPr>
            <a:xfrm>
              <a:off x="9121588" y="1278399"/>
              <a:ext cx="3070412" cy="51465"/>
            </a:xfrm>
            <a:prstGeom prst="rect">
              <a:avLst/>
            </a:prstGeom>
            <a:solidFill>
              <a:srgbClr val="782C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263769" y="364712"/>
            <a:ext cx="36711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solidFill>
                  <a:schemeClr val="bg1"/>
                </a:solidFill>
              </a:rPr>
              <a:t>2.3 </a:t>
            </a:r>
            <a:r>
              <a:rPr kumimoji="1" lang="zh-CN" altLang="en-US" sz="3200" dirty="0">
                <a:solidFill>
                  <a:schemeClr val="bg1"/>
                </a:solidFill>
              </a:rPr>
              <a:t>感知机学习算法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1599" y="1544747"/>
            <a:ext cx="118436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感知机的学习问题转化为</a:t>
            </a:r>
            <a:r>
              <a:rPr lang="zh-CN" altLang="en-US" sz="2800" dirty="0">
                <a:solidFill>
                  <a:srgbClr val="FF0000"/>
                </a:solidFill>
                <a:latin typeface="-apple-system"/>
              </a:rPr>
              <a:t>求解损失函数的的最优化</a:t>
            </a:r>
            <a:r>
              <a:rPr lang="zh-CN" altLang="en-US" sz="2800" dirty="0" smtClean="0">
                <a:solidFill>
                  <a:srgbClr val="FF0000"/>
                </a:solidFill>
                <a:latin typeface="-apple-system"/>
              </a:rPr>
              <a:t>问题</a:t>
            </a:r>
            <a:r>
              <a:rPr lang="en-US" altLang="zh-CN" sz="2800" dirty="0" smtClean="0">
                <a:solidFill>
                  <a:srgbClr val="121212"/>
                </a:solidFill>
                <a:latin typeface="-apple-system"/>
              </a:rPr>
              <a:t> </a:t>
            </a:r>
            <a:r>
              <a:rPr lang="zh-CN" altLang="en-US" sz="2800" dirty="0" smtClean="0">
                <a:solidFill>
                  <a:srgbClr val="121212"/>
                </a:solidFill>
                <a:latin typeface="-apple-system"/>
              </a:rPr>
              <a:t>。</a:t>
            </a:r>
            <a:endParaRPr lang="zh-CN" altLang="en-US" sz="2800" dirty="0"/>
          </a:p>
        </p:txBody>
      </p:sp>
      <p:sp>
        <p:nvSpPr>
          <p:cNvPr id="25" name="矩形 24"/>
          <p:cNvSpPr/>
          <p:nvPr/>
        </p:nvSpPr>
        <p:spPr>
          <a:xfrm>
            <a:off x="45091" y="2462786"/>
            <a:ext cx="113501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>
                <a:solidFill>
                  <a:srgbClr val="121212"/>
                </a:solidFill>
                <a:latin typeface="-apple-system"/>
              </a:rPr>
              <a:t>2.3.1 </a:t>
            </a:r>
            <a:r>
              <a:rPr lang="zh-CN" altLang="en-US" sz="2800" dirty="0" smtClean="0">
                <a:solidFill>
                  <a:srgbClr val="121212"/>
                </a:solidFill>
                <a:latin typeface="-apple-system"/>
              </a:rPr>
              <a:t>感知机</a:t>
            </a:r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学习</a:t>
            </a:r>
            <a:r>
              <a:rPr lang="zh-CN" altLang="en-US" sz="2800" dirty="0" smtClean="0">
                <a:solidFill>
                  <a:srgbClr val="121212"/>
                </a:solidFill>
                <a:latin typeface="-apple-system"/>
              </a:rPr>
              <a:t>算法的原始形式</a:t>
            </a:r>
            <a:endParaRPr lang="zh-CN" altLang="en-US" sz="2800" dirty="0"/>
          </a:p>
        </p:txBody>
      </p:sp>
      <p:sp>
        <p:nvSpPr>
          <p:cNvPr id="26" name="矩形 25"/>
          <p:cNvSpPr/>
          <p:nvPr/>
        </p:nvSpPr>
        <p:spPr>
          <a:xfrm>
            <a:off x="564500" y="3142724"/>
            <a:ext cx="35189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CN" altLang="en-US" sz="2800" dirty="0"/>
              <a:t>求解最优化问题：</a:t>
            </a:r>
            <a:endParaRPr kumimoji="1" lang="en-US" altLang="zh-CN" sz="2800" dirty="0"/>
          </a:p>
        </p:txBody>
      </p:sp>
      <p:grpSp>
        <p:nvGrpSpPr>
          <p:cNvPr id="27" name="组合 26"/>
          <p:cNvGrpSpPr/>
          <p:nvPr/>
        </p:nvGrpSpPr>
        <p:grpSpPr>
          <a:xfrm>
            <a:off x="841830" y="5901043"/>
            <a:ext cx="11350170" cy="535232"/>
            <a:chOff x="773410" y="3759135"/>
            <a:chExt cx="11350170" cy="535232"/>
          </a:xfrm>
        </p:grpSpPr>
        <p:sp>
          <p:nvSpPr>
            <p:cNvPr id="28" name="矩形 27"/>
            <p:cNvSpPr/>
            <p:nvPr/>
          </p:nvSpPr>
          <p:spPr>
            <a:xfrm>
              <a:off x="773410" y="3759135"/>
              <a:ext cx="1135017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dirty="0" smtClean="0"/>
                <a:t>求解              ，使其为上式损失函数最小化问题的解。</a:t>
              </a:r>
              <a:endParaRPr lang="zh-CN" altLang="en-US" sz="2800" dirty="0"/>
            </a:p>
          </p:txBody>
        </p:sp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9657" y="3811851"/>
              <a:ext cx="995188" cy="482516"/>
            </a:xfrm>
            <a:prstGeom prst="rect">
              <a:avLst/>
            </a:prstGeom>
          </p:spPr>
        </p:pic>
      </p:grpSp>
      <p:grpSp>
        <p:nvGrpSpPr>
          <p:cNvPr id="30" name="组合 29"/>
          <p:cNvGrpSpPr/>
          <p:nvPr/>
        </p:nvGrpSpPr>
        <p:grpSpPr>
          <a:xfrm>
            <a:off x="771147" y="4955677"/>
            <a:ext cx="5288627" cy="523220"/>
            <a:chOff x="7150535" y="3179743"/>
            <a:chExt cx="5288627" cy="523220"/>
          </a:xfrm>
        </p:grpSpPr>
        <p:sp>
          <p:nvSpPr>
            <p:cNvPr id="31" name="Rectangle 5"/>
            <p:cNvSpPr>
              <a:spLocks noChangeArrowheads="1"/>
            </p:cNvSpPr>
            <p:nvPr/>
          </p:nvSpPr>
          <p:spPr bwMode="auto">
            <a:xfrm>
              <a:off x="7150535" y="3179743"/>
              <a:ext cx="528862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</a:t>
              </a:r>
              <a:r>
                <a:rPr kumimoji="0" lang="zh-CN" altLang="en-US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（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其中 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 </a:t>
              </a:r>
              <a:r>
                <a:rPr kumimoji="0" lang="en-US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为误分类点的集合</a:t>
              </a:r>
              <a:r>
                <a:rPr kumimoji="0" lang="zh-CN" altLang="en-US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）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</a:p>
          </p:txBody>
        </p:sp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67914" y="3268556"/>
              <a:ext cx="400254" cy="365449"/>
            </a:xfrm>
            <a:prstGeom prst="rect">
              <a:avLst/>
            </a:prstGeom>
          </p:spPr>
        </p:pic>
      </p:grpSp>
      <p:pic>
        <p:nvPicPr>
          <p:cNvPr id="33" name="图片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202" y="3676789"/>
            <a:ext cx="7745061" cy="122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747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3326653"/>
            <a:ext cx="113501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感知机学习算法本身是</a:t>
            </a:r>
            <a:r>
              <a:rPr lang="zh-CN" altLang="en-US" sz="2800" dirty="0">
                <a:solidFill>
                  <a:srgbClr val="FF0000"/>
                </a:solidFill>
                <a:latin typeface="-apple-system"/>
              </a:rPr>
              <a:t>误分类驱动</a:t>
            </a:r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的，因此我们采用随机梯度下降法。</a:t>
            </a:r>
            <a:endParaRPr lang="zh-CN" altLang="en-US" sz="28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70" y="1675463"/>
            <a:ext cx="7745061" cy="122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862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2" descr="https://pic1.zhimg.com/50/v2-3d870db979e5a2a07434448bc5100737_hd.webp?source=1940ef5c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606" y="261984"/>
            <a:ext cx="8349282" cy="417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51896" y="4373699"/>
            <a:ext cx="121401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上</a:t>
            </a:r>
            <a:r>
              <a:rPr lang="zh-CN" altLang="en-US" sz="2800" dirty="0" smtClean="0">
                <a:solidFill>
                  <a:srgbClr val="121212"/>
                </a:solidFill>
                <a:latin typeface="-apple-system"/>
              </a:rPr>
              <a:t>图是</a:t>
            </a:r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随机梯度下降法一步一步达到最优值的</a:t>
            </a:r>
            <a:r>
              <a:rPr lang="zh-CN" altLang="en-US" sz="2800" dirty="0" smtClean="0">
                <a:solidFill>
                  <a:srgbClr val="121212"/>
                </a:solidFill>
                <a:latin typeface="-apple-system"/>
              </a:rPr>
              <a:t>过程</a:t>
            </a:r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（</a:t>
            </a:r>
            <a:r>
              <a:rPr lang="zh-CN" altLang="en-US" sz="2800" dirty="0" smtClean="0">
                <a:solidFill>
                  <a:srgbClr val="7030A0"/>
                </a:solidFill>
                <a:latin typeface="-apple-system"/>
              </a:rPr>
              <a:t>梯度下降法是局部最优）</a:t>
            </a:r>
            <a:endParaRPr lang="zh-CN" altLang="en-US" sz="2800" dirty="0">
              <a:solidFill>
                <a:srgbClr val="7030A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346" y="5555090"/>
            <a:ext cx="3523809" cy="57142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4346" y="6223752"/>
            <a:ext cx="3704762" cy="600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5545" y="5023710"/>
            <a:ext cx="48526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随机梯度</a:t>
            </a:r>
            <a:r>
              <a:rPr lang="zh-CN" altLang="en-US" sz="2800" dirty="0" smtClean="0">
                <a:solidFill>
                  <a:srgbClr val="121212"/>
                </a:solidFill>
                <a:latin typeface="-apple-system"/>
              </a:rPr>
              <a:t>下降法的迭代公式：</a:t>
            </a:r>
            <a:endParaRPr lang="zh-CN" altLang="en-US" sz="2800" dirty="0"/>
          </a:p>
        </p:txBody>
      </p:sp>
      <p:sp>
        <p:nvSpPr>
          <p:cNvPr id="3" name="矩形 2"/>
          <p:cNvSpPr/>
          <p:nvPr/>
        </p:nvSpPr>
        <p:spPr>
          <a:xfrm>
            <a:off x="5099108" y="5549093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 smtClean="0"/>
              <a:t>每次迭代过程步长不更新</a:t>
            </a:r>
            <a:endParaRPr lang="zh-CN" altLang="en-US" sz="2800" dirty="0"/>
          </a:p>
        </p:txBody>
      </p:sp>
      <p:sp>
        <p:nvSpPr>
          <p:cNvPr id="11" name="矩形 10"/>
          <p:cNvSpPr/>
          <p:nvPr/>
        </p:nvSpPr>
        <p:spPr>
          <a:xfrm>
            <a:off x="5099107" y="6223752"/>
            <a:ext cx="62889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 smtClean="0"/>
              <a:t>每次迭代过程步长更新（求最优步长）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803533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61803" y="935524"/>
            <a:ext cx="26981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4F4F4F"/>
                </a:solidFill>
                <a:latin typeface="PingFang SC"/>
              </a:rPr>
              <a:t>随机梯度下降法</a:t>
            </a:r>
            <a:endParaRPr lang="zh-CN" altLang="en-US" sz="2800" i="0" dirty="0">
              <a:solidFill>
                <a:srgbClr val="4F4F4F"/>
              </a:solidFill>
              <a:effectLst/>
              <a:latin typeface="PingFang SC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59978" y="935524"/>
            <a:ext cx="54377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121212"/>
                </a:solidFill>
                <a:latin typeface="-apple-system"/>
              </a:rPr>
              <a:t>(Stochastic Gradient Descent)</a:t>
            </a:r>
            <a:endParaRPr lang="zh-CN" altLang="en-US" sz="2800" dirty="0"/>
          </a:p>
        </p:txBody>
      </p:sp>
      <p:sp>
        <p:nvSpPr>
          <p:cNvPr id="5" name="矩形 4"/>
          <p:cNvSpPr/>
          <p:nvPr/>
        </p:nvSpPr>
        <p:spPr>
          <a:xfrm>
            <a:off x="471353" y="2686414"/>
            <a:ext cx="1172064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然后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，</a:t>
            </a: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用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梯度下降法不断地极小化</a:t>
            </a: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目标函数（损失函数、经验风险）。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极小化过程中不是一次</a:t>
            </a: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使 </a:t>
            </a:r>
            <a:r>
              <a:rPr lang="en-US" altLang="zh-CN" sz="2800" dirty="0">
                <a:solidFill>
                  <a:srgbClr val="4D4D4D"/>
                </a:solidFill>
                <a:latin typeface="-apple-system"/>
              </a:rPr>
              <a:t>M 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中所有误分类点的</a:t>
            </a:r>
            <a:r>
              <a:rPr lang="zh-CN" altLang="en-US" sz="2800" dirty="0">
                <a:solidFill>
                  <a:srgbClr val="FF0000"/>
                </a:solidFill>
                <a:latin typeface="-apple-system"/>
              </a:rPr>
              <a:t>梯度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下降，而是一次随机选取一个误分类点使其</a:t>
            </a:r>
            <a:r>
              <a:rPr lang="zh-CN" altLang="en-US" sz="2800" dirty="0">
                <a:solidFill>
                  <a:srgbClr val="FF0000"/>
                </a:solidFill>
                <a:latin typeface="-apple-system"/>
              </a:rPr>
              <a:t>梯度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下降（所以是误分类驱动的）。</a:t>
            </a:r>
            <a:endParaRPr lang="en-US" altLang="zh-CN" sz="2800" dirty="0">
              <a:solidFill>
                <a:srgbClr val="4D4D4D"/>
              </a:solidFill>
              <a:latin typeface="-apple-system"/>
            </a:endParaRPr>
          </a:p>
          <a:p>
            <a:r>
              <a:rPr lang="en-US" altLang="zh-CN" sz="2800" dirty="0">
                <a:solidFill>
                  <a:srgbClr val="4D4D4D"/>
                </a:solidFill>
                <a:latin typeface="-apple-system"/>
              </a:rPr>
              <a:t>   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（ 或者是在</a:t>
            </a:r>
            <a:r>
              <a:rPr lang="en-US" altLang="zh-CN" sz="2800" dirty="0">
                <a:solidFill>
                  <a:srgbClr val="4D4D4D"/>
                </a:solidFill>
                <a:latin typeface="-apple-system"/>
              </a:rPr>
              <a:t>cyclic PLA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中，选取第一个误分类点进行梯度下降。（但  </a:t>
            </a:r>
            <a:endParaRPr lang="en-US" altLang="zh-CN" sz="2800" dirty="0">
              <a:solidFill>
                <a:srgbClr val="4D4D4D"/>
              </a:solidFill>
              <a:latin typeface="-apple-system"/>
            </a:endParaRPr>
          </a:p>
          <a:p>
            <a:r>
              <a:rPr lang="en-US" altLang="zh-CN" sz="2800" dirty="0">
                <a:solidFill>
                  <a:srgbClr val="4D4D4D"/>
                </a:solidFill>
                <a:latin typeface="-apple-system"/>
              </a:rPr>
              <a:t>      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是在大数据背景下，还是采用随机选取比较合适））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68196" y="1756989"/>
            <a:ext cx="8725466" cy="590476"/>
            <a:chOff x="568196" y="1756989"/>
            <a:chExt cx="8725466" cy="590476"/>
          </a:xfrm>
        </p:grpSpPr>
        <p:sp>
          <p:nvSpPr>
            <p:cNvPr id="4" name="矩形 3"/>
            <p:cNvSpPr/>
            <p:nvPr/>
          </p:nvSpPr>
          <p:spPr>
            <a:xfrm>
              <a:off x="568196" y="1783318"/>
              <a:ext cx="872546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57200" indent="-457200">
                <a:buFont typeface="Wingdings" panose="05000000000000000000" pitchFamily="2" charset="2"/>
                <a:buChar char="l"/>
              </a:pPr>
              <a:r>
                <a:rPr lang="zh-CN" altLang="en-US" sz="2800" dirty="0">
                  <a:solidFill>
                    <a:srgbClr val="4D4D4D"/>
                  </a:solidFill>
                  <a:latin typeface="-apple-system"/>
                </a:rPr>
                <a:t>首先，任意</a:t>
              </a:r>
              <a:r>
                <a:rPr lang="zh-CN" altLang="en-US" sz="2800" dirty="0" smtClean="0">
                  <a:solidFill>
                    <a:srgbClr val="4D4D4D"/>
                  </a:solidFill>
                  <a:latin typeface="-apple-system"/>
                </a:rPr>
                <a:t>选取</a:t>
              </a:r>
              <a:r>
                <a:rPr lang="en-US" altLang="zh-CN" sz="2800" dirty="0" smtClean="0">
                  <a:solidFill>
                    <a:srgbClr val="4D4D4D"/>
                  </a:solidFill>
                  <a:latin typeface="-apple-system"/>
                </a:rPr>
                <a:t>        ,</a:t>
              </a:r>
              <a:r>
                <a:rPr lang="zh-CN" altLang="en-US" sz="2800" dirty="0" smtClean="0">
                  <a:solidFill>
                    <a:srgbClr val="4D4D4D"/>
                  </a:solidFill>
                  <a:latin typeface="-apple-system"/>
                </a:rPr>
                <a:t>作为</a:t>
              </a:r>
              <a:r>
                <a:rPr lang="zh-CN" altLang="en-US" sz="2800" dirty="0">
                  <a:solidFill>
                    <a:srgbClr val="4D4D4D"/>
                  </a:solidFill>
                  <a:latin typeface="-apple-system"/>
                </a:rPr>
                <a:t>一个初始化的超平面</a:t>
              </a:r>
              <a:endParaRPr lang="zh-CN" altLang="en-US" sz="2800" dirty="0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5895" y="1756989"/>
              <a:ext cx="1019048" cy="590476"/>
            </a:xfrm>
            <a:prstGeom prst="rect">
              <a:avLst/>
            </a:prstGeom>
          </p:spPr>
        </p:pic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896" y="5313059"/>
            <a:ext cx="3523809" cy="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51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937432"/>
            <a:ext cx="11720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如何求损失函数（目标函数）的梯度？</a:t>
            </a:r>
            <a:endParaRPr lang="zh-CN" altLang="en-US" sz="28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175" y="1618253"/>
            <a:ext cx="7745061" cy="78204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95" y="2557901"/>
            <a:ext cx="6891248" cy="403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71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80648" y="996434"/>
            <a:ext cx="73148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假设误分类点集合</a:t>
            </a:r>
            <a:r>
              <a:rPr lang="en-US" altLang="zh-CN" sz="2800" dirty="0"/>
              <a:t>M</a:t>
            </a:r>
            <a:r>
              <a:rPr lang="zh-CN" altLang="en-US" sz="2800" dirty="0"/>
              <a:t>是固定的，那么损失函数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608482"/>
            <a:ext cx="6108518" cy="91804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30799" y="2476080"/>
            <a:ext cx="72410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的</a:t>
            </a:r>
            <a:r>
              <a:rPr lang="zh-CN" altLang="en-US" sz="2800" dirty="0" smtClean="0"/>
              <a:t>梯度（                     ，               ） 由</a:t>
            </a:r>
            <a:r>
              <a:rPr lang="zh-CN" altLang="en-US" sz="2800" dirty="0"/>
              <a:t>下面给出</a:t>
            </a:r>
            <a:r>
              <a:rPr lang="en-US" altLang="zh-CN" sz="2800" dirty="0"/>
              <a:t> </a:t>
            </a:r>
            <a:endParaRPr lang="zh-CN" altLang="en-US" sz="28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0" y="3228803"/>
            <a:ext cx="5695238" cy="12761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776" y="4722007"/>
            <a:ext cx="5314286" cy="133333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0300" y="2494123"/>
            <a:ext cx="1419048" cy="5238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85" y="2484599"/>
            <a:ext cx="1371429" cy="5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39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75773" y="793069"/>
            <a:ext cx="115969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21212"/>
                </a:solidFill>
                <a:latin typeface="-apple-system"/>
              </a:rPr>
              <a:t>然后，随机选取一个误分类</a:t>
            </a:r>
            <a:r>
              <a:rPr lang="zh-CN" altLang="en-US" sz="2400" dirty="0" smtClean="0">
                <a:solidFill>
                  <a:srgbClr val="121212"/>
                </a:solidFill>
                <a:latin typeface="-apple-system"/>
              </a:rPr>
              <a:t>点（</a:t>
            </a:r>
            <a:r>
              <a:rPr lang="en-US" altLang="zh-CN" sz="2400" dirty="0"/>
              <a:t>SVM</a:t>
            </a:r>
            <a:r>
              <a:rPr lang="zh-CN" altLang="en-US" sz="2400" dirty="0"/>
              <a:t>算法是全局，感知机算法是针对每一个误分类个体去</a:t>
            </a:r>
            <a:r>
              <a:rPr lang="zh-CN" altLang="en-US" sz="2400" dirty="0" smtClean="0"/>
              <a:t>调整</a:t>
            </a:r>
            <a:r>
              <a:rPr lang="zh-CN" altLang="en-US" sz="2400" dirty="0" smtClean="0">
                <a:solidFill>
                  <a:srgbClr val="121212"/>
                </a:solidFill>
                <a:latin typeface="-apple-system"/>
              </a:rPr>
              <a:t>），根据下面的规则（梯度下降法一般的更新规则 ）：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136" y="1737156"/>
            <a:ext cx="3523809" cy="571429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3158386" y="2936699"/>
            <a:ext cx="3183308" cy="1080514"/>
            <a:chOff x="8168569" y="3429000"/>
            <a:chExt cx="3183308" cy="1348397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68569" y="3429000"/>
              <a:ext cx="3183308" cy="642934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68569" y="4071934"/>
              <a:ext cx="2821852" cy="705463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372986" y="2455102"/>
            <a:ext cx="11596915" cy="464927"/>
            <a:chOff x="449942" y="2535771"/>
            <a:chExt cx="11596915" cy="464927"/>
          </a:xfrm>
        </p:grpSpPr>
        <p:sp>
          <p:nvSpPr>
            <p:cNvPr id="7" name="矩形 6"/>
            <p:cNvSpPr/>
            <p:nvPr/>
          </p:nvSpPr>
          <p:spPr>
            <a:xfrm>
              <a:off x="449942" y="2535771"/>
              <a:ext cx="1159691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dirty="0" smtClean="0">
                  <a:solidFill>
                    <a:srgbClr val="121212"/>
                  </a:solidFill>
                  <a:latin typeface="-apple-system"/>
                </a:rPr>
                <a:t>计算</a:t>
              </a:r>
              <a:r>
                <a:rPr lang="zh-CN" altLang="en-US" sz="2400" dirty="0">
                  <a:solidFill>
                    <a:srgbClr val="121212"/>
                  </a:solidFill>
                  <a:latin typeface="-apple-system"/>
                </a:rPr>
                <a:t>新</a:t>
              </a:r>
              <a:r>
                <a:rPr lang="zh-CN" altLang="en-US" sz="2400" dirty="0" smtClean="0">
                  <a:solidFill>
                    <a:srgbClr val="121212"/>
                  </a:solidFill>
                  <a:latin typeface="-apple-system"/>
                </a:rPr>
                <a:t>的</a:t>
              </a:r>
              <a:r>
                <a:rPr lang="en-US" altLang="zh-CN" sz="2400" i="1" dirty="0" smtClean="0">
                  <a:solidFill>
                    <a:srgbClr val="121212"/>
                  </a:solidFill>
                  <a:latin typeface="-apple-system"/>
                </a:rPr>
                <a:t>      </a:t>
              </a:r>
              <a:r>
                <a:rPr lang="zh-CN" altLang="en-US" sz="2400" dirty="0" smtClean="0">
                  <a:solidFill>
                    <a:srgbClr val="121212"/>
                  </a:solidFill>
                  <a:latin typeface="-apple-system"/>
                </a:rPr>
                <a:t>，</a:t>
              </a:r>
              <a:r>
                <a:rPr lang="zh-CN" altLang="en-US" sz="2400" dirty="0">
                  <a:solidFill>
                    <a:srgbClr val="121212"/>
                  </a:solidFill>
                  <a:latin typeface="-apple-system"/>
                </a:rPr>
                <a:t>然后进行更新</a:t>
              </a:r>
              <a:endParaRPr lang="zh-CN" altLang="en-US" sz="2400" dirty="0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20152" y="2559680"/>
              <a:ext cx="801851" cy="441018"/>
            </a:xfrm>
            <a:prstGeom prst="rect">
              <a:avLst/>
            </a:prstGeom>
          </p:spPr>
        </p:pic>
      </p:grpSp>
      <p:sp>
        <p:nvSpPr>
          <p:cNvPr id="10" name="AutoShape 2" descr="[公式]"/>
          <p:cNvSpPr>
            <a:spLocks noChangeAspect="1" noChangeArrowheads="1"/>
          </p:cNvSpPr>
          <p:nvPr/>
        </p:nvSpPr>
        <p:spPr bwMode="auto">
          <a:xfrm>
            <a:off x="952047" y="5528418"/>
            <a:ext cx="98192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grpSp>
        <p:nvGrpSpPr>
          <p:cNvPr id="16" name="组合 15"/>
          <p:cNvGrpSpPr/>
          <p:nvPr/>
        </p:nvGrpSpPr>
        <p:grpSpPr>
          <a:xfrm>
            <a:off x="116116" y="4219081"/>
            <a:ext cx="12110656" cy="850929"/>
            <a:chOff x="259636" y="4685311"/>
            <a:chExt cx="12110656" cy="850929"/>
          </a:xfrm>
        </p:grpSpPr>
        <p:sp>
          <p:nvSpPr>
            <p:cNvPr id="9" name="Rectangle 1"/>
            <p:cNvSpPr>
              <a:spLocks noChangeArrowheads="1"/>
            </p:cNvSpPr>
            <p:nvPr/>
          </p:nvSpPr>
          <p:spPr bwMode="auto">
            <a:xfrm>
              <a:off x="259636" y="4705243"/>
              <a:ext cx="12110656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/>
              <a:r>
                <a:rPr kumimoji="0" lang="zh-CN" altLang="zh-CN" sz="24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+mn-ea"/>
                </a:rPr>
                <a:t>其中 </a:t>
              </a:r>
              <a:r>
                <a:rPr kumimoji="0" lang="zh-CN" altLang="zh-CN" sz="2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  </a:t>
              </a:r>
              <a:r>
                <a:rPr kumimoji="0" lang="zh-CN" altLang="zh-CN" sz="24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+mn-ea"/>
                </a:rPr>
                <a:t> </a:t>
              </a:r>
              <a:r>
                <a:rPr kumimoji="0" lang="en-US" altLang="zh-CN" sz="24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+mn-ea"/>
                </a:rPr>
                <a:t>                   </a:t>
              </a:r>
              <a:r>
                <a:rPr kumimoji="0" lang="zh-CN" altLang="zh-CN" sz="24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+mn-ea"/>
                </a:rPr>
                <a:t>是“步长”</a:t>
              </a:r>
              <a:r>
                <a:rPr lang="zh-CN" altLang="en-US" sz="2400" dirty="0">
                  <a:solidFill>
                    <a:srgbClr val="121212"/>
                  </a:solidFill>
                  <a:latin typeface="-apple-system"/>
                </a:rPr>
                <a:t> </a:t>
              </a:r>
              <a:r>
                <a:rPr lang="zh-CN" altLang="en-US" sz="2400" dirty="0" smtClean="0">
                  <a:solidFill>
                    <a:srgbClr val="121212"/>
                  </a:solidFill>
                  <a:latin typeface="-apple-system"/>
                </a:rPr>
                <a:t>（本质上是松弛因子</a:t>
              </a:r>
              <a:r>
                <a:rPr lang="zh-CN" altLang="en-US" sz="2400" dirty="0">
                  <a:solidFill>
                    <a:srgbClr val="121212"/>
                  </a:solidFill>
                  <a:latin typeface="-apple-system"/>
                </a:rPr>
                <a:t>） </a:t>
              </a:r>
              <a:r>
                <a:rPr kumimoji="0" lang="zh-CN" altLang="zh-CN" sz="24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+mn-ea"/>
                </a:rPr>
                <a:t>，又称为学习速率</a:t>
              </a:r>
              <a:r>
                <a:rPr kumimoji="0" lang="zh-CN" altLang="en-US" sz="24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+mn-ea"/>
                </a:rPr>
                <a:t>（</a:t>
              </a:r>
              <a:r>
                <a:rPr kumimoji="0" lang="en-US" altLang="zh-CN" sz="24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+mn-ea"/>
                </a:rPr>
                <a:t>learning rate)</a:t>
              </a:r>
              <a:r>
                <a:rPr kumimoji="0" lang="zh-CN" altLang="zh-CN" sz="24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+mn-ea"/>
                </a:rPr>
                <a:t>。这样通过迭代，可以期待损失函数</a:t>
              </a:r>
              <a:r>
                <a:rPr kumimoji="0" lang="en-US" altLang="zh-CN" sz="24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+mn-ea"/>
                </a:rPr>
                <a:t>            </a:t>
              </a:r>
              <a:r>
                <a:rPr kumimoji="0" lang="zh-CN" altLang="zh-CN" sz="24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+mn-ea"/>
                </a:rPr>
                <a:t>不断减小直到为0</a:t>
              </a:r>
              <a:r>
                <a:rPr kumimoji="0" lang="zh-CN" altLang="en-US" sz="24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+mn-ea"/>
                </a:rPr>
                <a:t>。</a:t>
              </a:r>
              <a:endParaRPr kumimoji="0" lang="zh-CN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31225" y="4685311"/>
              <a:ext cx="1746115" cy="476214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41408" y="5174988"/>
              <a:ext cx="857143" cy="333333"/>
            </a:xfrm>
            <a:prstGeom prst="rect">
              <a:avLst/>
            </a:prstGeom>
          </p:spPr>
        </p:pic>
      </p:grp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769226" y="5186544"/>
            <a:ext cx="1080443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kumimoji="0" lang="zh-CN" altLang="zh-CN" sz="24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+mn-ea"/>
              </a:rPr>
              <a:t>之所以可以为0，是因为感知机是线性分类器，输入数据集为线性可分数据集，就是无论步骤多少、速度快慢，最终总能“全部分对”。</a:t>
            </a:r>
            <a:r>
              <a:rPr kumimoji="0" lang="zh-CN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89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617034" y="1611568"/>
            <a:ext cx="3183308" cy="1348397"/>
            <a:chOff x="8168569" y="3429000"/>
            <a:chExt cx="3183308" cy="1348397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68569" y="3429000"/>
              <a:ext cx="3183308" cy="642934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68569" y="4071934"/>
              <a:ext cx="2821852" cy="705463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/>
        </p:nvGrpSpPr>
        <p:grpSpPr>
          <a:xfrm>
            <a:off x="278156" y="3359643"/>
            <a:ext cx="11652587" cy="954107"/>
            <a:chOff x="379756" y="2351186"/>
            <a:chExt cx="11652587" cy="954107"/>
          </a:xfrm>
        </p:grpSpPr>
        <p:grpSp>
          <p:nvGrpSpPr>
            <p:cNvPr id="8" name="组合 7"/>
            <p:cNvGrpSpPr/>
            <p:nvPr/>
          </p:nvGrpSpPr>
          <p:grpSpPr>
            <a:xfrm>
              <a:off x="379756" y="2351186"/>
              <a:ext cx="11652587" cy="954107"/>
              <a:chOff x="394270" y="2535771"/>
              <a:chExt cx="11652587" cy="954107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449942" y="2535771"/>
                <a:ext cx="11596915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 smtClean="0">
                    <a:solidFill>
                      <a:srgbClr val="121212"/>
                    </a:solidFill>
                    <a:latin typeface="-apple-system"/>
                  </a:rPr>
                  <a:t>Bi   </a:t>
                </a:r>
                <a:r>
                  <a:rPr lang="zh-CN" altLang="en-US" sz="2800" dirty="0" smtClean="0">
                    <a:solidFill>
                      <a:srgbClr val="121212"/>
                    </a:solidFill>
                    <a:latin typeface="-apple-system"/>
                  </a:rPr>
                  <a:t>并不是严格加梯度进行更新，而是梯度乘以一个步长（松弛因子）。原因在于当      接近        时，因为步长太大，造成发散或者震荡。  </a:t>
                </a:r>
                <a:endParaRPr lang="zh-CN" altLang="en-US" sz="2800" dirty="0"/>
              </a:p>
            </p:txBody>
          </p:sp>
          <p:pic>
            <p:nvPicPr>
              <p:cNvPr id="10" name="图片 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4270" y="2545388"/>
                <a:ext cx="801851" cy="441018"/>
              </a:xfrm>
              <a:prstGeom prst="rect">
                <a:avLst/>
              </a:prstGeom>
            </p:spPr>
          </p:pic>
        </p:grp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46818" y="2836140"/>
              <a:ext cx="801851" cy="441018"/>
            </a:xfrm>
            <a:prstGeom prst="rect">
              <a:avLst/>
            </a:prstGeom>
          </p:spPr>
        </p:pic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38192" y="2820464"/>
              <a:ext cx="1072096" cy="456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60828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34" y="940027"/>
            <a:ext cx="11615965" cy="569300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74172" y="230934"/>
            <a:ext cx="37753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-apple-system"/>
              </a:rPr>
              <a:t>感知机算法的原始形式</a:t>
            </a:r>
            <a:endParaRPr lang="zh-CN" altLang="en-US" sz="2800" b="1" i="0" dirty="0">
              <a:solidFill>
                <a:schemeClr val="bg1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143058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3649" y="1266672"/>
            <a:ext cx="12191999" cy="18158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算法的直观解释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：当一个实例点被误分类，即位于分离超平面的错误一侧时，则调整 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 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     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的值，使分离超平面向该误分类点的一侧移动，以减少该误分类点与超平面间的距离，直至超平面越过该误分类点使其被正确分类。（这个过程，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称为“点不动面动”）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" name="AutoShape 2" descr="[公式]"/>
          <p:cNvSpPr>
            <a:spLocks noChangeAspect="1" noChangeArrowheads="1"/>
          </p:cNvSpPr>
          <p:nvPr/>
        </p:nvSpPr>
        <p:spPr bwMode="auto">
          <a:xfrm>
            <a:off x="8677275" y="1567053"/>
            <a:ext cx="90839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589" y="1754877"/>
            <a:ext cx="801851" cy="44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275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6824" y="1031353"/>
            <a:ext cx="121988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例</a:t>
            </a:r>
            <a:r>
              <a:rPr lang="en-US" altLang="zh-CN" sz="2800" dirty="0">
                <a:solidFill>
                  <a:srgbClr val="4D4D4D"/>
                </a:solidFill>
                <a:latin typeface="-apple-system"/>
              </a:rPr>
              <a:t>2.1 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如图</a:t>
            </a:r>
            <a:r>
              <a:rPr lang="en-US" altLang="zh-CN" sz="2800" dirty="0">
                <a:solidFill>
                  <a:srgbClr val="4D4D4D"/>
                </a:solidFill>
                <a:latin typeface="-apple-system"/>
              </a:rPr>
              <a:t>2.2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所示的训练数据集</a:t>
            </a: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，其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正实例点</a:t>
            </a: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是</a:t>
            </a:r>
            <a:r>
              <a:rPr lang="en-US" altLang="zh-CN" sz="2800" dirty="0" smtClean="0">
                <a:solidFill>
                  <a:srgbClr val="4D4D4D"/>
                </a:solidFill>
                <a:latin typeface="-apple-system"/>
              </a:rPr>
              <a:t>                      </a:t>
            </a: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，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负实例点</a:t>
            </a: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是</a:t>
            </a:r>
            <a:r>
              <a:rPr lang="en-US" altLang="zh-CN" sz="2800" dirty="0" smtClean="0">
                <a:solidFill>
                  <a:srgbClr val="4D4D4D"/>
                </a:solidFill>
                <a:latin typeface="-apple-system"/>
              </a:rPr>
              <a:t>          </a:t>
            </a: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，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试用感知机学习算法的原始形式求感知机</a:t>
            </a: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模型：</a:t>
            </a:r>
            <a:r>
              <a:rPr lang="en-US" altLang="zh-CN" sz="2800" dirty="0" smtClean="0">
                <a:solidFill>
                  <a:srgbClr val="4D4D4D"/>
                </a:solidFill>
                <a:latin typeface="-apple-system"/>
              </a:rPr>
              <a:t>   </a:t>
            </a: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   </a:t>
            </a:r>
            <a:endParaRPr lang="en-US" altLang="zh-CN" sz="2800" dirty="0" smtClean="0">
              <a:solidFill>
                <a:srgbClr val="4D4D4D"/>
              </a:solidFill>
              <a:latin typeface="-apple-system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553" y="3207480"/>
            <a:ext cx="6036469" cy="381377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7844" y="1043187"/>
            <a:ext cx="3772602" cy="42409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454" y="1466488"/>
            <a:ext cx="1866667" cy="5119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089" y="2009739"/>
            <a:ext cx="3792002" cy="55719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1323" y="2644077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4D4D4D"/>
                </a:solidFill>
                <a:latin typeface="-apple-system"/>
              </a:rPr>
              <a:t> 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这里</a:t>
            </a: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，</a:t>
            </a:r>
            <a:r>
              <a:rPr lang="en-US" altLang="zh-CN" sz="2800" dirty="0" smtClean="0">
                <a:solidFill>
                  <a:srgbClr val="4D4D4D"/>
                </a:solidFill>
                <a:latin typeface="-apple-system"/>
              </a:rPr>
              <a:t> </a:t>
            </a:r>
            <a:endParaRPr lang="zh-CN" altLang="en-US" sz="28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5513" y="2626009"/>
            <a:ext cx="5561905" cy="59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954" y="895050"/>
            <a:ext cx="7145383" cy="563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59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294" y="722278"/>
            <a:ext cx="7962900" cy="3876675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0" y="4692632"/>
            <a:ext cx="11819347" cy="1815882"/>
            <a:chOff x="0" y="4455111"/>
            <a:chExt cx="11819347" cy="1815882"/>
          </a:xfrm>
        </p:grpSpPr>
        <p:sp>
          <p:nvSpPr>
            <p:cNvPr id="3" name="矩形 2"/>
            <p:cNvSpPr/>
            <p:nvPr/>
          </p:nvSpPr>
          <p:spPr>
            <a:xfrm>
              <a:off x="0" y="4455111"/>
              <a:ext cx="11819347" cy="18158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当所有数据</a:t>
              </a:r>
              <a:r>
                <a:rPr lang="zh-CN" altLang="en-US" sz="2800" dirty="0" smtClean="0"/>
                <a:t>点</a:t>
              </a:r>
              <a:r>
                <a:rPr lang="en-US" altLang="zh-CN" sz="2800" dirty="0" smtClean="0"/>
                <a:t>                                             </a:t>
              </a:r>
              <a:r>
                <a:rPr lang="zh-CN" altLang="en-US" sz="2800" dirty="0" smtClean="0"/>
                <a:t>， 则</a:t>
              </a:r>
              <a:r>
                <a:rPr lang="zh-CN" altLang="en-US" sz="2800" dirty="0"/>
                <a:t>没有误分类点，达到</a:t>
              </a:r>
              <a:r>
                <a:rPr lang="en-US" altLang="zh-CN" sz="2800" dirty="0"/>
                <a:t>PLA</a:t>
              </a:r>
              <a:r>
                <a:rPr lang="zh-CN" altLang="en-US" sz="2800" dirty="0"/>
                <a:t>迭代的终止条件</a:t>
              </a:r>
              <a:r>
                <a:rPr lang="zh-CN" altLang="en-US" sz="2800" dirty="0" smtClean="0"/>
                <a:t>。</a:t>
              </a:r>
              <a:endParaRPr lang="en-US" altLang="zh-CN" sz="2800" dirty="0" smtClean="0"/>
            </a:p>
            <a:p>
              <a:r>
                <a:rPr lang="zh-CN" altLang="en-US" sz="2800" dirty="0" smtClean="0"/>
                <a:t>感知机</a:t>
              </a:r>
              <a:r>
                <a:rPr lang="zh-CN" altLang="en-US" sz="2800" dirty="0"/>
                <a:t>学习算法由于采用不同的初值或选取不同的误分类点，解可以不同，得到的分离超平面也不同</a:t>
              </a:r>
              <a:r>
                <a:rPr lang="zh-CN" altLang="en-US" sz="2800" dirty="0" smtClean="0"/>
                <a:t>。</a:t>
              </a:r>
              <a:r>
                <a:rPr lang="en-US" altLang="zh-CN" sz="2800" dirty="0" smtClean="0"/>
                <a:t> </a:t>
              </a:r>
              <a:endParaRPr lang="zh-CN" altLang="en-US" sz="2800" dirty="0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94147" y="4466945"/>
              <a:ext cx="3146974" cy="4521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9460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90530" y="970157"/>
            <a:ext cx="30636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4F4F4F"/>
                </a:solidFill>
                <a:latin typeface="PingFang SC"/>
              </a:rPr>
              <a:t>2.4 </a:t>
            </a:r>
            <a:r>
              <a:rPr lang="zh-CN" altLang="en-US" sz="2800" b="1" dirty="0" smtClean="0">
                <a:solidFill>
                  <a:srgbClr val="4F4F4F"/>
                </a:solidFill>
                <a:latin typeface="PingFang SC"/>
              </a:rPr>
              <a:t>感知机</a:t>
            </a:r>
            <a:r>
              <a:rPr lang="zh-CN" altLang="en-US" sz="2800" b="1" dirty="0">
                <a:solidFill>
                  <a:srgbClr val="4F4F4F"/>
                </a:solidFill>
                <a:latin typeface="PingFang SC"/>
              </a:rPr>
              <a:t>的局限</a:t>
            </a:r>
            <a:endParaRPr lang="zh-CN" altLang="en-US" sz="2800" b="1" i="0" dirty="0">
              <a:solidFill>
                <a:srgbClr val="4F4F4F"/>
              </a:solidFill>
              <a:effectLst/>
              <a:latin typeface="PingFang SC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25272" y="1714574"/>
            <a:ext cx="55707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不能用在线性不可分的数据集上：</a:t>
            </a:r>
            <a:endParaRPr lang="zh-CN" altLang="en-US" sz="28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48" y="2428120"/>
            <a:ext cx="5715000" cy="42862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448" y="2428120"/>
            <a:ext cx="5715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602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4871864" y="2492344"/>
            <a:ext cx="2704593" cy="1883713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</a:rPr>
              <a:t>END</a:t>
            </a:r>
          </a:p>
          <a:p>
            <a:endParaRPr lang="en-US" altLang="zh-CN" sz="3600" dirty="0">
              <a:solidFill>
                <a:srgbClr val="FF0000"/>
              </a:solidFill>
            </a:endParaRPr>
          </a:p>
          <a:p>
            <a:r>
              <a:rPr lang="en-US" altLang="zh-CN" sz="3600" dirty="0">
                <a:solidFill>
                  <a:srgbClr val="FF0000"/>
                </a:solidFill>
              </a:rPr>
              <a:t>Q&amp;R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49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spAutoFit/>
      </a:bodyPr>
      <a:lstStyle>
        <a:defPPr>
          <a:defRPr sz="2800" dirty="0">
            <a:solidFill>
              <a:srgbClr val="4D4D4D"/>
            </a:solidFill>
            <a:latin typeface="-apple-system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8689</TotalTime>
  <Words>1287</Words>
  <Application>Microsoft Office PowerPoint</Application>
  <PresentationFormat>宽屏</PresentationFormat>
  <Paragraphs>114</Paragraphs>
  <Slides>34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4" baseType="lpstr">
      <vt:lpstr>-apple-system</vt:lpstr>
      <vt:lpstr>PingFang SC</vt:lpstr>
      <vt:lpstr>PingFang SC Light</vt:lpstr>
      <vt:lpstr>等线</vt:lpstr>
      <vt:lpstr>等线 Light</vt:lpstr>
      <vt:lpstr>Arial</vt:lpstr>
      <vt:lpstr>Calibri</vt:lpstr>
      <vt:lpstr>Calibri Light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感知机(Perceptron)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大数据机器学习</dc:title>
  <dc:creator>Xingyu Chen</dc:creator>
  <cp:lastModifiedBy>zhang</cp:lastModifiedBy>
  <cp:revision>354</cp:revision>
  <dcterms:created xsi:type="dcterms:W3CDTF">2019-08-27T19:51:00Z</dcterms:created>
  <dcterms:modified xsi:type="dcterms:W3CDTF">2021-04-29T01:40:23Z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