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gif" ContentType="image/gif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6"/>
  </p:notesMasterIdLst>
  <p:sldIdLst>
    <p:sldId id="312" r:id="rId2"/>
    <p:sldId id="339" r:id="rId3"/>
    <p:sldId id="338" r:id="rId4"/>
    <p:sldId id="340" r:id="rId5"/>
    <p:sldId id="341" r:id="rId6"/>
    <p:sldId id="342" r:id="rId7"/>
    <p:sldId id="322" r:id="rId8"/>
    <p:sldId id="344" r:id="rId9"/>
    <p:sldId id="349" r:id="rId10"/>
    <p:sldId id="345" r:id="rId11"/>
    <p:sldId id="444" r:id="rId12"/>
    <p:sldId id="445" r:id="rId13"/>
    <p:sldId id="443" r:id="rId14"/>
    <p:sldId id="441" r:id="rId15"/>
    <p:sldId id="442" r:id="rId16"/>
    <p:sldId id="424" r:id="rId17"/>
    <p:sldId id="446" r:id="rId18"/>
    <p:sldId id="408" r:id="rId19"/>
    <p:sldId id="501" r:id="rId20"/>
    <p:sldId id="438" r:id="rId21"/>
    <p:sldId id="439" r:id="rId22"/>
    <p:sldId id="448" r:id="rId23"/>
    <p:sldId id="463" r:id="rId24"/>
    <p:sldId id="464" r:id="rId25"/>
    <p:sldId id="449" r:id="rId26"/>
    <p:sldId id="450" r:id="rId27"/>
    <p:sldId id="451" r:id="rId28"/>
    <p:sldId id="452" r:id="rId29"/>
    <p:sldId id="453" r:id="rId30"/>
    <p:sldId id="454" r:id="rId31"/>
    <p:sldId id="455" r:id="rId32"/>
    <p:sldId id="456" r:id="rId33"/>
    <p:sldId id="457" r:id="rId34"/>
    <p:sldId id="492" r:id="rId35"/>
    <p:sldId id="493" r:id="rId36"/>
    <p:sldId id="494" r:id="rId37"/>
    <p:sldId id="495" r:id="rId38"/>
    <p:sldId id="496" r:id="rId39"/>
    <p:sldId id="497" r:id="rId40"/>
    <p:sldId id="498" r:id="rId41"/>
    <p:sldId id="499" r:id="rId42"/>
    <p:sldId id="500" r:id="rId43"/>
    <p:sldId id="458" r:id="rId44"/>
    <p:sldId id="459" r:id="rId4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0"/>
    <p:restoredTop sz="94301" autoAdjust="0"/>
  </p:normalViewPr>
  <p:slideViewPr>
    <p:cSldViewPr snapToGrid="0" snapToObjects="1">
      <p:cViewPr varScale="1">
        <p:scale>
          <a:sx n="73" d="100"/>
          <a:sy n="73" d="100"/>
        </p:scale>
        <p:origin x="582" y="6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B7A3B7-CFBD-F94B-9D76-43F785EDF11A}" type="datetimeFigureOut">
              <a:rPr lang="en-US" smtClean="0"/>
              <a:t>4/27/2021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045082-F0CD-7F40-B4D5-028C0594685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6F6292-CFE9-1B49-A9F3-08B94B8117AB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AE046D-5176-4C1C-AD60-7E8589A0FE63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39231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AE046D-5176-4C1C-AD60-7E8589A0FE63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34924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B2B15-5333-9A44-8000-50B29337B0D5}" type="datetimeFigureOut">
              <a:rPr lang="en-US" smtClean="0"/>
              <a:t>4/27/2021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61DEE-55DF-9C4C-9E32-9432A9F8E9F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B2B15-5333-9A44-8000-50B29337B0D5}" type="datetimeFigureOut">
              <a:rPr lang="en-US" smtClean="0"/>
              <a:t>4/27/2021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61DEE-55DF-9C4C-9E32-9432A9F8E9F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B2B15-5333-9A44-8000-50B29337B0D5}" type="datetimeFigureOut">
              <a:rPr lang="en-US" smtClean="0"/>
              <a:t>4/27/2021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61DEE-55DF-9C4C-9E32-9432A9F8E9F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B2B15-5333-9A44-8000-50B29337B0D5}" type="datetimeFigureOut">
              <a:rPr lang="en-US" smtClean="0"/>
              <a:t>4/27/2021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61DEE-55DF-9C4C-9E32-9432A9F8E9F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B2B15-5333-9A44-8000-50B29337B0D5}" type="datetimeFigureOut">
              <a:rPr lang="en-US" smtClean="0"/>
              <a:t>4/27/2021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61DEE-55DF-9C4C-9E32-9432A9F8E9F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B2B15-5333-9A44-8000-50B29337B0D5}" type="datetimeFigureOut">
              <a:rPr lang="en-US" smtClean="0"/>
              <a:t>4/27/2021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61DEE-55DF-9C4C-9E32-9432A9F8E9F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B2B15-5333-9A44-8000-50B29337B0D5}" type="datetimeFigureOut">
              <a:rPr lang="en-US" smtClean="0"/>
              <a:t>4/27/2021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61DEE-55DF-9C4C-9E32-9432A9F8E9F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B2B15-5333-9A44-8000-50B29337B0D5}" type="datetimeFigureOut">
              <a:rPr lang="en-US" smtClean="0"/>
              <a:t>4/27/2021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61DEE-55DF-9C4C-9E32-9432A9F8E9F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B2B15-5333-9A44-8000-50B29337B0D5}" type="datetimeFigureOut">
              <a:rPr lang="en-US" smtClean="0"/>
              <a:t>4/27/2021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61DEE-55DF-9C4C-9E32-9432A9F8E9F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B2B15-5333-9A44-8000-50B29337B0D5}" type="datetimeFigureOut">
              <a:rPr lang="en-US" smtClean="0"/>
              <a:t>4/27/2021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61DEE-55DF-9C4C-9E32-9432A9F8E9F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B2B15-5333-9A44-8000-50B29337B0D5}" type="datetimeFigureOut">
              <a:rPr lang="en-US" smtClean="0"/>
              <a:t>4/27/2021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61DEE-55DF-9C4C-9E32-9432A9F8E9F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8B2B15-5333-9A44-8000-50B29337B0D5}" type="datetimeFigureOut">
              <a:rPr lang="en-US" smtClean="0"/>
              <a:t>4/27/2021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661DEE-55DF-9C4C-9E32-9432A9F8E9FC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gi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hyperlink" Target="https://link.zhihu.com/?target=https%3A//www.matongxue.com/courses/5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10" Type="http://schemas.openxmlformats.org/officeDocument/2006/relationships/image" Target="../media/image48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gif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gif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gif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gif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gif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9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2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jpe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jpe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jpe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1528205" y="0"/>
            <a:ext cx="9144000" cy="2223458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5" name="TextBox 5"/>
          <p:cNvSpPr txBox="1"/>
          <p:nvPr/>
        </p:nvSpPr>
        <p:spPr>
          <a:xfrm>
            <a:off x="1867399" y="3600190"/>
            <a:ext cx="28312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dirty="0" smtClean="0"/>
              <a:t>第</a:t>
            </a:r>
            <a:r>
              <a:rPr lang="en-US" altLang="zh-CN" sz="3600" dirty="0" smtClean="0"/>
              <a:t>2</a:t>
            </a:r>
            <a:r>
              <a:rPr lang="zh-CN" altLang="en-US" sz="3600" dirty="0" smtClean="0"/>
              <a:t>章 感知机</a:t>
            </a:r>
            <a:endParaRPr lang="zh-CN" altLang="en-US" sz="3600" dirty="0">
              <a:latin typeface="PingFang SC Light" charset="-122"/>
              <a:ea typeface="PingFang SC Light" charset="-122"/>
              <a:cs typeface="PingFang SC Light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0181131" y="5523423"/>
            <a:ext cx="318257" cy="318257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7" name="直接连接符 6"/>
          <p:cNvCxnSpPr/>
          <p:nvPr/>
        </p:nvCxnSpPr>
        <p:spPr>
          <a:xfrm>
            <a:off x="6874960" y="5834491"/>
            <a:ext cx="3306170" cy="0"/>
          </a:xfrm>
          <a:prstGeom prst="line">
            <a:avLst/>
          </a:prstGeom>
          <a:ln w="19050">
            <a:solidFill>
              <a:srgbClr val="782C7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 28"/>
          <p:cNvSpPr/>
          <p:nvPr/>
        </p:nvSpPr>
        <p:spPr>
          <a:xfrm>
            <a:off x="1277248" y="2255492"/>
            <a:ext cx="7050146" cy="3851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30" name="矩形 29"/>
          <p:cNvSpPr/>
          <p:nvPr/>
        </p:nvSpPr>
        <p:spPr>
          <a:xfrm>
            <a:off x="8328711" y="2255408"/>
            <a:ext cx="2302809" cy="38599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10"/>
          <p:cNvSpPr/>
          <p:nvPr/>
        </p:nvSpPr>
        <p:spPr>
          <a:xfrm>
            <a:off x="0" y="-9532"/>
            <a:ext cx="12205648" cy="738010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8"/>
          <p:cNvSpPr/>
          <p:nvPr/>
        </p:nvSpPr>
        <p:spPr>
          <a:xfrm>
            <a:off x="0" y="728478"/>
            <a:ext cx="9400194" cy="5135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9"/>
          <p:cNvSpPr/>
          <p:nvPr/>
        </p:nvSpPr>
        <p:spPr>
          <a:xfrm>
            <a:off x="9135236" y="722278"/>
            <a:ext cx="3070412" cy="45719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0335" y="1517841"/>
            <a:ext cx="6572250" cy="388620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697750" y="35545"/>
            <a:ext cx="191911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dirty="0" smtClean="0">
                <a:solidFill>
                  <a:schemeClr val="bg1"/>
                </a:solidFill>
              </a:rPr>
              <a:t> </a:t>
            </a:r>
            <a:r>
              <a:rPr lang="zh-CN" altLang="en-US" sz="3200" dirty="0" smtClean="0">
                <a:solidFill>
                  <a:schemeClr val="bg1"/>
                </a:solidFill>
              </a:rPr>
              <a:t>学习目标</a:t>
            </a:r>
            <a:endParaRPr lang="zh-CN" altLang="en-US" sz="3200" dirty="0">
              <a:solidFill>
                <a:schemeClr val="bg1"/>
              </a:solidFill>
              <a:latin typeface="PingFang SC Light" charset="-122"/>
              <a:ea typeface="PingFang SC Light" charset="-122"/>
              <a:cs typeface="PingFang SC Light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499332" y="5480444"/>
            <a:ext cx="551946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dirty="0" smtClean="0"/>
              <a:t>问题：如何正确划分两类点？</a:t>
            </a:r>
            <a:endParaRPr lang="zh-CN" altLang="en-US" sz="3200" dirty="0"/>
          </a:p>
        </p:txBody>
      </p:sp>
    </p:spTree>
    <p:extLst>
      <p:ext uri="{BB962C8B-B14F-4D97-AF65-F5344CB8AC3E}">
        <p14:creationId xmlns:p14="http://schemas.microsoft.com/office/powerpoint/2010/main" val="2365285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10"/>
          <p:cNvSpPr/>
          <p:nvPr/>
        </p:nvSpPr>
        <p:spPr>
          <a:xfrm>
            <a:off x="0" y="-9532"/>
            <a:ext cx="12205648" cy="738010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8"/>
          <p:cNvSpPr/>
          <p:nvPr/>
        </p:nvSpPr>
        <p:spPr>
          <a:xfrm>
            <a:off x="0" y="728478"/>
            <a:ext cx="9400194" cy="5135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9"/>
          <p:cNvSpPr/>
          <p:nvPr/>
        </p:nvSpPr>
        <p:spPr>
          <a:xfrm>
            <a:off x="9135236" y="722278"/>
            <a:ext cx="3070412" cy="45719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26" name="Picture 2" descr="https://images2018.cnblogs.com/blog/1362577/201804/1362577-20180427164316374-1894359601.png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1359" y="1661160"/>
            <a:ext cx="6563995" cy="3883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矩形 5"/>
          <p:cNvSpPr/>
          <p:nvPr/>
        </p:nvSpPr>
        <p:spPr>
          <a:xfrm>
            <a:off x="697750" y="35545"/>
            <a:ext cx="191911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dirty="0" smtClean="0">
                <a:solidFill>
                  <a:schemeClr val="bg1"/>
                </a:solidFill>
              </a:rPr>
              <a:t> </a:t>
            </a:r>
            <a:r>
              <a:rPr lang="zh-CN" altLang="en-US" sz="3200" dirty="0" smtClean="0">
                <a:solidFill>
                  <a:schemeClr val="bg1"/>
                </a:solidFill>
              </a:rPr>
              <a:t>学习目标</a:t>
            </a:r>
            <a:endParaRPr lang="zh-CN" altLang="en-US" sz="3200" dirty="0">
              <a:solidFill>
                <a:schemeClr val="bg1"/>
              </a:solidFill>
              <a:latin typeface="PingFang SC Light" charset="-122"/>
              <a:ea typeface="PingFang SC Light" charset="-122"/>
              <a:cs typeface="PingFang SC Light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12344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10"/>
          <p:cNvSpPr/>
          <p:nvPr/>
        </p:nvSpPr>
        <p:spPr>
          <a:xfrm>
            <a:off x="0" y="-9532"/>
            <a:ext cx="12205648" cy="738010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8"/>
          <p:cNvSpPr/>
          <p:nvPr/>
        </p:nvSpPr>
        <p:spPr>
          <a:xfrm>
            <a:off x="0" y="728478"/>
            <a:ext cx="9400194" cy="5135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9"/>
          <p:cNvSpPr/>
          <p:nvPr/>
        </p:nvSpPr>
        <p:spPr>
          <a:xfrm>
            <a:off x="9135236" y="722278"/>
            <a:ext cx="3070412" cy="45719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8835" y="1517841"/>
            <a:ext cx="6572250" cy="3886200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>
            <a:off x="5214938" y="1517841"/>
            <a:ext cx="157162" cy="426859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697750" y="35545"/>
            <a:ext cx="191911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dirty="0" smtClean="0">
                <a:solidFill>
                  <a:schemeClr val="bg1"/>
                </a:solidFill>
              </a:rPr>
              <a:t> </a:t>
            </a:r>
            <a:r>
              <a:rPr lang="zh-CN" altLang="en-US" sz="3200" dirty="0" smtClean="0">
                <a:solidFill>
                  <a:schemeClr val="bg1"/>
                </a:solidFill>
              </a:rPr>
              <a:t>学习目标</a:t>
            </a:r>
            <a:endParaRPr lang="zh-CN" altLang="en-US" sz="3200" dirty="0">
              <a:solidFill>
                <a:schemeClr val="bg1"/>
              </a:solidFill>
              <a:latin typeface="PingFang SC Light" charset="-122"/>
              <a:ea typeface="PingFang SC Light" charset="-122"/>
              <a:cs typeface="PingFang SC Light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370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10"/>
          <p:cNvSpPr/>
          <p:nvPr/>
        </p:nvSpPr>
        <p:spPr>
          <a:xfrm>
            <a:off x="0" y="-9532"/>
            <a:ext cx="12205648" cy="738010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8"/>
          <p:cNvSpPr/>
          <p:nvPr/>
        </p:nvSpPr>
        <p:spPr>
          <a:xfrm>
            <a:off x="0" y="728478"/>
            <a:ext cx="9400194" cy="5135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9"/>
          <p:cNvSpPr/>
          <p:nvPr/>
        </p:nvSpPr>
        <p:spPr>
          <a:xfrm>
            <a:off x="9135236" y="722278"/>
            <a:ext cx="3070412" cy="45719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" name="组合 4"/>
          <p:cNvGrpSpPr/>
          <p:nvPr/>
        </p:nvGrpSpPr>
        <p:grpSpPr>
          <a:xfrm>
            <a:off x="1865947" y="846822"/>
            <a:ext cx="6572250" cy="4268597"/>
            <a:chOff x="2108835" y="1517841"/>
            <a:chExt cx="6572250" cy="4268597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08835" y="1517841"/>
              <a:ext cx="6572250" cy="3886200"/>
            </a:xfrm>
            <a:prstGeom prst="rect">
              <a:avLst/>
            </a:prstGeom>
          </p:spPr>
        </p:pic>
        <p:cxnSp>
          <p:nvCxnSpPr>
            <p:cNvPr id="4" name="直接连接符 3"/>
            <p:cNvCxnSpPr>
              <a:stCxn id="2" idx="0"/>
            </p:cNvCxnSpPr>
            <p:nvPr/>
          </p:nvCxnSpPr>
          <p:spPr>
            <a:xfrm flipH="1">
              <a:off x="5372100" y="1517841"/>
              <a:ext cx="22860" cy="4268597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矩形 9"/>
          <p:cNvSpPr/>
          <p:nvPr/>
        </p:nvSpPr>
        <p:spPr>
          <a:xfrm>
            <a:off x="0" y="4979613"/>
            <a:ext cx="10956846" cy="138499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 smtClean="0"/>
              <a:t>问题：如何正确划分两类点？</a:t>
            </a:r>
            <a:endParaRPr lang="en-US" altLang="zh-CN" sz="2800" dirty="0" smtClean="0"/>
          </a:p>
          <a:p>
            <a:r>
              <a:rPr lang="en-US" altLang="zh-CN" sz="2800" dirty="0"/>
              <a:t> </a:t>
            </a:r>
            <a:r>
              <a:rPr lang="zh-CN" altLang="en-US" sz="2800" dirty="0" smtClean="0"/>
              <a:t>有很多模型（分类模型）可以解决该问题，感知机是其中的一种。</a:t>
            </a:r>
            <a:endParaRPr lang="en-US" altLang="zh-CN" sz="2800" dirty="0" smtClean="0"/>
          </a:p>
          <a:p>
            <a:r>
              <a:rPr lang="zh-CN" altLang="en-US" sz="2800" dirty="0" smtClean="0"/>
              <a:t>感知机模型认为上述三种划分都是正确的划分（实际有无穷种划分）</a:t>
            </a:r>
            <a:endParaRPr lang="zh-CN" altLang="en-US" sz="2800" dirty="0"/>
          </a:p>
        </p:txBody>
      </p:sp>
      <p:sp>
        <p:nvSpPr>
          <p:cNvPr id="9" name="矩形 8"/>
          <p:cNvSpPr/>
          <p:nvPr/>
        </p:nvSpPr>
        <p:spPr>
          <a:xfrm>
            <a:off x="697750" y="35545"/>
            <a:ext cx="191911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dirty="0" smtClean="0">
                <a:solidFill>
                  <a:schemeClr val="bg1"/>
                </a:solidFill>
              </a:rPr>
              <a:t> </a:t>
            </a:r>
            <a:r>
              <a:rPr lang="zh-CN" altLang="en-US" sz="3200" dirty="0" smtClean="0">
                <a:solidFill>
                  <a:schemeClr val="bg1"/>
                </a:solidFill>
              </a:rPr>
              <a:t>学习目标</a:t>
            </a:r>
            <a:endParaRPr lang="zh-CN" altLang="en-US" sz="3200" dirty="0">
              <a:solidFill>
                <a:schemeClr val="bg1"/>
              </a:solidFill>
              <a:latin typeface="PingFang SC Light" charset="-122"/>
              <a:ea typeface="PingFang SC Light" charset="-122"/>
              <a:cs typeface="PingFang SC Light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11591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10"/>
          <p:cNvSpPr/>
          <p:nvPr/>
        </p:nvSpPr>
        <p:spPr>
          <a:xfrm>
            <a:off x="0" y="-9532"/>
            <a:ext cx="12205648" cy="738010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8"/>
          <p:cNvSpPr/>
          <p:nvPr/>
        </p:nvSpPr>
        <p:spPr>
          <a:xfrm>
            <a:off x="0" y="728478"/>
            <a:ext cx="9400194" cy="5135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9"/>
          <p:cNvSpPr/>
          <p:nvPr/>
        </p:nvSpPr>
        <p:spPr>
          <a:xfrm>
            <a:off x="9135236" y="722278"/>
            <a:ext cx="3070412" cy="45719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1" y="722278"/>
            <a:ext cx="1220564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rgbClr val="4F4F4F"/>
                </a:solidFill>
                <a:latin typeface="+mn-ea"/>
              </a:rPr>
              <a:t>已知一个如图所示的训练数据集，其正例点是</a:t>
            </a:r>
            <a:r>
              <a:rPr lang="en-US" altLang="zh-CN" sz="2800" dirty="0">
                <a:solidFill>
                  <a:srgbClr val="4F4F4F"/>
                </a:solidFill>
                <a:latin typeface="+mn-ea"/>
              </a:rPr>
              <a:t>x</a:t>
            </a:r>
            <a:r>
              <a:rPr lang="en-US" altLang="zh-CN" sz="2800" baseline="-25000" dirty="0">
                <a:solidFill>
                  <a:srgbClr val="4F4F4F"/>
                </a:solidFill>
                <a:latin typeface="+mn-ea"/>
              </a:rPr>
              <a:t>1</a:t>
            </a:r>
            <a:r>
              <a:rPr lang="en-US" altLang="zh-CN" sz="2800" dirty="0">
                <a:solidFill>
                  <a:srgbClr val="4F4F4F"/>
                </a:solidFill>
                <a:latin typeface="+mn-ea"/>
              </a:rPr>
              <a:t>=(3,3)</a:t>
            </a:r>
            <a:r>
              <a:rPr lang="zh-CN" altLang="en-US" sz="2800" dirty="0">
                <a:solidFill>
                  <a:srgbClr val="4F4F4F"/>
                </a:solidFill>
                <a:latin typeface="+mn-ea"/>
              </a:rPr>
              <a:t>，</a:t>
            </a:r>
            <a:r>
              <a:rPr lang="en-US" altLang="zh-CN" sz="2800" dirty="0" smtClean="0">
                <a:solidFill>
                  <a:srgbClr val="4F4F4F"/>
                </a:solidFill>
                <a:latin typeface="+mn-ea"/>
              </a:rPr>
              <a:t>x</a:t>
            </a:r>
            <a:r>
              <a:rPr lang="en-US" altLang="zh-CN" sz="2800" baseline="-25000" dirty="0" smtClean="0">
                <a:solidFill>
                  <a:srgbClr val="4F4F4F"/>
                </a:solidFill>
                <a:latin typeface="+mn-ea"/>
              </a:rPr>
              <a:t>2</a:t>
            </a:r>
            <a:r>
              <a:rPr lang="en-US" altLang="zh-CN" sz="2800" dirty="0" smtClean="0">
                <a:solidFill>
                  <a:srgbClr val="4F4F4F"/>
                </a:solidFill>
                <a:latin typeface="+mn-ea"/>
              </a:rPr>
              <a:t>=(</a:t>
            </a:r>
            <a:r>
              <a:rPr lang="en-US" altLang="zh-CN" sz="2800" dirty="0">
                <a:solidFill>
                  <a:srgbClr val="4F4F4F"/>
                </a:solidFill>
                <a:latin typeface="+mn-ea"/>
              </a:rPr>
              <a:t>4,3),</a:t>
            </a:r>
            <a:r>
              <a:rPr lang="zh-CN" altLang="en-US" sz="2800" dirty="0">
                <a:solidFill>
                  <a:srgbClr val="4F4F4F"/>
                </a:solidFill>
                <a:latin typeface="+mn-ea"/>
              </a:rPr>
              <a:t>负例点是</a:t>
            </a:r>
            <a:r>
              <a:rPr lang="en-US" altLang="zh-CN" sz="2800" dirty="0">
                <a:solidFill>
                  <a:srgbClr val="4F4F4F"/>
                </a:solidFill>
                <a:latin typeface="+mn-ea"/>
              </a:rPr>
              <a:t>x</a:t>
            </a:r>
            <a:r>
              <a:rPr lang="en-US" altLang="zh-CN" sz="2800" baseline="-25000" dirty="0">
                <a:solidFill>
                  <a:srgbClr val="4F4F4F"/>
                </a:solidFill>
                <a:latin typeface="+mn-ea"/>
              </a:rPr>
              <a:t>3</a:t>
            </a:r>
            <a:r>
              <a:rPr lang="en-US" altLang="zh-CN" sz="2800" dirty="0">
                <a:solidFill>
                  <a:srgbClr val="4F4F4F"/>
                </a:solidFill>
                <a:latin typeface="+mn-ea"/>
              </a:rPr>
              <a:t>=(1,1)</a:t>
            </a:r>
            <a:r>
              <a:rPr lang="zh-CN" altLang="en-US" sz="2800" dirty="0" smtClean="0">
                <a:solidFill>
                  <a:srgbClr val="4F4F4F"/>
                </a:solidFill>
                <a:latin typeface="+mn-ea"/>
              </a:rPr>
              <a:t>，</a:t>
            </a:r>
            <a:r>
              <a:rPr lang="zh-CN" altLang="en-US" sz="2800" dirty="0">
                <a:solidFill>
                  <a:srgbClr val="4F4F4F"/>
                </a:solidFill>
                <a:latin typeface="+mn-ea"/>
              </a:rPr>
              <a:t>如何正确划分正例、负例两类点</a:t>
            </a:r>
            <a:r>
              <a:rPr lang="zh-CN" altLang="en-US" sz="2800" dirty="0" smtClean="0">
                <a:solidFill>
                  <a:srgbClr val="4F4F4F"/>
                </a:solidFill>
                <a:latin typeface="+mn-ea"/>
              </a:rPr>
              <a:t>？</a:t>
            </a:r>
            <a:endParaRPr lang="en-US" altLang="zh-CN" sz="2800" dirty="0">
              <a:solidFill>
                <a:srgbClr val="4F4F4F"/>
              </a:solidFill>
              <a:latin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8856" y="2168827"/>
            <a:ext cx="6036469" cy="4682611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149110" y="97984"/>
            <a:ext cx="191911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dirty="0" smtClean="0">
                <a:solidFill>
                  <a:schemeClr val="bg1"/>
                </a:solidFill>
              </a:rPr>
              <a:t> </a:t>
            </a:r>
            <a:r>
              <a:rPr lang="zh-CN" altLang="en-US" sz="3200" dirty="0" smtClean="0">
                <a:solidFill>
                  <a:schemeClr val="bg1"/>
                </a:solidFill>
              </a:rPr>
              <a:t>一个例子</a:t>
            </a:r>
            <a:endParaRPr lang="zh-CN" altLang="en-US" sz="3200" dirty="0">
              <a:solidFill>
                <a:schemeClr val="bg1"/>
              </a:solidFill>
              <a:latin typeface="PingFang SC Light" charset="-122"/>
              <a:ea typeface="PingFang SC Light" charset="-122"/>
              <a:cs typeface="PingFang SC Light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50264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10"/>
          <p:cNvSpPr/>
          <p:nvPr/>
        </p:nvSpPr>
        <p:spPr>
          <a:xfrm>
            <a:off x="0" y="-9532"/>
            <a:ext cx="12205648" cy="738010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8"/>
          <p:cNvSpPr/>
          <p:nvPr/>
        </p:nvSpPr>
        <p:spPr>
          <a:xfrm>
            <a:off x="0" y="728478"/>
            <a:ext cx="9400194" cy="5135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9"/>
          <p:cNvSpPr/>
          <p:nvPr/>
        </p:nvSpPr>
        <p:spPr>
          <a:xfrm>
            <a:off x="9135236" y="722278"/>
            <a:ext cx="3070412" cy="45719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292640" y="144950"/>
            <a:ext cx="215956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2800" dirty="0">
                <a:solidFill>
                  <a:schemeClr val="bg1"/>
                </a:solidFill>
              </a:rPr>
              <a:t>2.0 </a:t>
            </a:r>
            <a:r>
              <a:rPr kumimoji="1" lang="zh-CN" altLang="en-US" sz="2800" dirty="0" smtClean="0">
                <a:solidFill>
                  <a:schemeClr val="bg1"/>
                </a:solidFill>
              </a:rPr>
              <a:t>预备知识</a:t>
            </a:r>
            <a:endParaRPr kumimoji="1" lang="zh-CN" altLang="en-US" sz="2800" dirty="0">
              <a:solidFill>
                <a:schemeClr val="bg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411978" y="1098227"/>
            <a:ext cx="572464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dirty="0">
                <a:latin typeface="-apple-system"/>
              </a:rPr>
              <a:t>2.0.1 </a:t>
            </a:r>
            <a:r>
              <a:rPr lang="zh-CN" altLang="en-US" sz="3200" dirty="0">
                <a:latin typeface="-apple-system"/>
              </a:rPr>
              <a:t>线性可分 </a:t>
            </a:r>
            <a:r>
              <a:rPr lang="en-US" altLang="zh-CN" sz="3200" dirty="0">
                <a:latin typeface="-apple-system"/>
              </a:rPr>
              <a:t>&amp; </a:t>
            </a:r>
            <a:r>
              <a:rPr lang="zh-CN" altLang="en-US" sz="3200" dirty="0">
                <a:latin typeface="-apple-system"/>
              </a:rPr>
              <a:t>线性不可分</a:t>
            </a:r>
          </a:p>
        </p:txBody>
      </p:sp>
      <p:sp>
        <p:nvSpPr>
          <p:cNvPr id="3" name="矩形 2"/>
          <p:cNvSpPr/>
          <p:nvPr/>
        </p:nvSpPr>
        <p:spPr>
          <a:xfrm>
            <a:off x="671514" y="2044005"/>
            <a:ext cx="10415586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 smtClean="0">
                <a:latin typeface="-apple-system"/>
              </a:rPr>
              <a:t>1 </a:t>
            </a:r>
            <a:r>
              <a:rPr lang="zh-CN" altLang="en-US" sz="2800" dirty="0" smtClean="0">
                <a:latin typeface="-apple-system"/>
              </a:rPr>
              <a:t>线性</a:t>
            </a:r>
            <a:r>
              <a:rPr lang="zh-CN" altLang="en-US" sz="2800" dirty="0">
                <a:latin typeface="-apple-system"/>
              </a:rPr>
              <a:t>可</a:t>
            </a:r>
            <a:r>
              <a:rPr lang="zh-CN" altLang="en-US" sz="2800" dirty="0" smtClean="0">
                <a:latin typeface="-apple-system"/>
              </a:rPr>
              <a:t>分：</a:t>
            </a:r>
            <a:r>
              <a:rPr lang="en-US" altLang="zh-CN" sz="2800" dirty="0" smtClean="0">
                <a:latin typeface="-apple-system"/>
              </a:rPr>
              <a:t>Marvin Minsky</a:t>
            </a:r>
            <a:r>
              <a:rPr lang="zh-CN" altLang="en-US" sz="2800" dirty="0" smtClean="0">
                <a:latin typeface="-apple-system"/>
              </a:rPr>
              <a:t>提出线性可分（不可分）概念。</a:t>
            </a:r>
            <a:endParaRPr lang="en-US" altLang="zh-CN" sz="2800" dirty="0" smtClean="0">
              <a:latin typeface="-apple-system"/>
            </a:endParaRPr>
          </a:p>
          <a:p>
            <a:r>
              <a:rPr lang="zh-CN" altLang="en-US" sz="2800" dirty="0" smtClean="0">
                <a:solidFill>
                  <a:srgbClr val="FF0000"/>
                </a:solidFill>
                <a:latin typeface="-apple-system"/>
              </a:rPr>
              <a:t>线性</a:t>
            </a:r>
            <a:r>
              <a:rPr lang="zh-CN" altLang="en-US" sz="2800" dirty="0">
                <a:solidFill>
                  <a:srgbClr val="FF0000"/>
                </a:solidFill>
                <a:latin typeface="-apple-system"/>
              </a:rPr>
              <a:t>可分</a:t>
            </a:r>
            <a:r>
              <a:rPr lang="zh-CN" altLang="en-US" sz="2800" dirty="0">
                <a:latin typeface="-apple-system"/>
              </a:rPr>
              <a:t>就是说可以用一个线性函数（一次函数）把两类样本分开，</a:t>
            </a:r>
            <a:r>
              <a:rPr lang="zh-CN" altLang="en-US" sz="2800" dirty="0" smtClean="0">
                <a:latin typeface="-apple-system"/>
              </a:rPr>
              <a:t>比如</a:t>
            </a:r>
            <a:r>
              <a:rPr lang="zh-CN" altLang="en-US" sz="2800" dirty="0">
                <a:solidFill>
                  <a:srgbClr val="000000"/>
                </a:solidFill>
                <a:latin typeface="PingFang SC"/>
              </a:rPr>
              <a:t>一维</a:t>
            </a:r>
            <a:r>
              <a:rPr lang="zh-CN" altLang="en-US" sz="2800" dirty="0" smtClean="0">
                <a:solidFill>
                  <a:srgbClr val="000000"/>
                </a:solidFill>
                <a:latin typeface="PingFang SC"/>
              </a:rPr>
              <a:t>空间的点、</a:t>
            </a:r>
            <a:r>
              <a:rPr lang="zh-CN" altLang="en-US" sz="2800" dirty="0" smtClean="0">
                <a:latin typeface="-apple-system"/>
              </a:rPr>
              <a:t>二</a:t>
            </a:r>
            <a:r>
              <a:rPr lang="zh-CN" altLang="en-US" sz="2800" dirty="0">
                <a:latin typeface="-apple-system"/>
              </a:rPr>
              <a:t>维空间中的直线、三维空间中的平面以及高维空间中</a:t>
            </a:r>
            <a:r>
              <a:rPr lang="zh-CN" altLang="en-US" sz="2800" dirty="0" smtClean="0">
                <a:latin typeface="-apple-system"/>
              </a:rPr>
              <a:t>的</a:t>
            </a:r>
            <a:r>
              <a:rPr lang="zh-CN" altLang="en-US" sz="2800" dirty="0" smtClean="0">
                <a:solidFill>
                  <a:srgbClr val="FF0000"/>
                </a:solidFill>
                <a:latin typeface="-apple-system"/>
              </a:rPr>
              <a:t>超平面</a:t>
            </a:r>
            <a:r>
              <a:rPr lang="zh-CN" altLang="en-US" sz="2800" dirty="0" smtClean="0">
                <a:latin typeface="-apple-system"/>
              </a:rPr>
              <a:t>（线性函数）。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963922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10"/>
          <p:cNvSpPr/>
          <p:nvPr/>
        </p:nvSpPr>
        <p:spPr>
          <a:xfrm>
            <a:off x="0" y="-9532"/>
            <a:ext cx="12205648" cy="738010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8"/>
          <p:cNvSpPr/>
          <p:nvPr/>
        </p:nvSpPr>
        <p:spPr>
          <a:xfrm>
            <a:off x="0" y="728478"/>
            <a:ext cx="9400194" cy="5135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9"/>
          <p:cNvSpPr/>
          <p:nvPr/>
        </p:nvSpPr>
        <p:spPr>
          <a:xfrm>
            <a:off x="9135236" y="722278"/>
            <a:ext cx="3070412" cy="45719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128588" y="1194675"/>
            <a:ext cx="11872911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rgbClr val="000000"/>
                </a:solidFill>
                <a:latin typeface="PingFang SC"/>
              </a:rPr>
              <a:t>在一维空间，也就是一个坐标轴上面，要分开两个可以分开的点集合，我们只需要找到一个点，如图</a:t>
            </a:r>
            <a:r>
              <a:rPr lang="en-US" altLang="zh-CN" sz="2800" dirty="0">
                <a:solidFill>
                  <a:srgbClr val="000000"/>
                </a:solidFill>
                <a:latin typeface="PingFang SC"/>
              </a:rPr>
              <a:t>1</a:t>
            </a:r>
            <a:r>
              <a:rPr lang="zh-CN" altLang="en-US" sz="2800" dirty="0">
                <a:solidFill>
                  <a:srgbClr val="000000"/>
                </a:solidFill>
                <a:latin typeface="PingFang SC"/>
              </a:rPr>
              <a:t>：</a:t>
            </a:r>
            <a:endParaRPr lang="zh-CN" altLang="en-US" sz="2800" dirty="0"/>
          </a:p>
        </p:txBody>
      </p:sp>
      <p:pic>
        <p:nvPicPr>
          <p:cNvPr id="4098" name="Picture 2" descr="https://images2018.cnblogs.com/blog/1362577/201804/1362577-20180427164233693-716571899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0112" y="2531876"/>
            <a:ext cx="6610350" cy="695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矩形 2"/>
          <p:cNvSpPr/>
          <p:nvPr/>
        </p:nvSpPr>
        <p:spPr>
          <a:xfrm>
            <a:off x="3019588" y="3425629"/>
            <a:ext cx="413446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solidFill>
                  <a:srgbClr val="000000"/>
                </a:solidFill>
                <a:latin typeface="PingFang SC"/>
              </a:rPr>
              <a:t>图</a:t>
            </a:r>
            <a:r>
              <a:rPr lang="en-US" altLang="zh-CN" sz="2800" dirty="0">
                <a:solidFill>
                  <a:srgbClr val="000000"/>
                </a:solidFill>
                <a:latin typeface="PingFang SC"/>
              </a:rPr>
              <a:t>1 </a:t>
            </a:r>
            <a:r>
              <a:rPr lang="zh-CN" altLang="en-US" sz="2800" dirty="0">
                <a:solidFill>
                  <a:srgbClr val="000000"/>
                </a:solidFill>
                <a:latin typeface="PingFang SC"/>
              </a:rPr>
              <a:t>一维线性可分示意图</a:t>
            </a:r>
            <a:endParaRPr lang="zh-CN" altLang="en-US" sz="2800" dirty="0"/>
          </a:p>
        </p:txBody>
      </p:sp>
      <p:sp>
        <p:nvSpPr>
          <p:cNvPr id="8" name="矩形 7"/>
          <p:cNvSpPr/>
          <p:nvPr/>
        </p:nvSpPr>
        <p:spPr>
          <a:xfrm>
            <a:off x="292640" y="144950"/>
            <a:ext cx="215956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2800" dirty="0">
                <a:solidFill>
                  <a:schemeClr val="bg1"/>
                </a:solidFill>
              </a:rPr>
              <a:t>2.0 </a:t>
            </a:r>
            <a:r>
              <a:rPr kumimoji="1" lang="zh-CN" altLang="en-US" sz="2800" dirty="0" smtClean="0">
                <a:solidFill>
                  <a:schemeClr val="bg1"/>
                </a:solidFill>
              </a:rPr>
              <a:t>预备知识</a:t>
            </a:r>
            <a:endParaRPr kumimoji="1" lang="zh-CN" altLang="en-US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9670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10"/>
          <p:cNvSpPr/>
          <p:nvPr/>
        </p:nvSpPr>
        <p:spPr>
          <a:xfrm>
            <a:off x="0" y="-9532"/>
            <a:ext cx="12205648" cy="738010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8"/>
          <p:cNvSpPr/>
          <p:nvPr/>
        </p:nvSpPr>
        <p:spPr>
          <a:xfrm>
            <a:off x="0" y="728478"/>
            <a:ext cx="9400194" cy="5135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9"/>
          <p:cNvSpPr/>
          <p:nvPr/>
        </p:nvSpPr>
        <p:spPr>
          <a:xfrm>
            <a:off x="9135236" y="722278"/>
            <a:ext cx="3070412" cy="45719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257175" y="1005572"/>
            <a:ext cx="1193482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rgbClr val="000000"/>
                </a:solidFill>
                <a:latin typeface="PingFang SC"/>
              </a:rPr>
              <a:t>在二维空间中，要分开两个线性可分的点集合，我们需要找到一条分类直线即可，如图</a:t>
            </a:r>
            <a:r>
              <a:rPr lang="en-US" altLang="zh-CN" sz="2800" dirty="0">
                <a:solidFill>
                  <a:srgbClr val="000000"/>
                </a:solidFill>
                <a:latin typeface="PingFang SC"/>
              </a:rPr>
              <a:t>2</a:t>
            </a:r>
            <a:r>
              <a:rPr lang="zh-CN" altLang="en-US" sz="2800" dirty="0">
                <a:solidFill>
                  <a:srgbClr val="000000"/>
                </a:solidFill>
                <a:latin typeface="PingFang SC"/>
              </a:rPr>
              <a:t>：</a:t>
            </a:r>
            <a:endParaRPr lang="zh-CN" altLang="en-US" sz="2800" dirty="0"/>
          </a:p>
        </p:txBody>
      </p:sp>
      <p:pic>
        <p:nvPicPr>
          <p:cNvPr id="5122" name="Picture 2" descr="https://images2018.cnblogs.com/blog/1362577/201804/1362577-20180427164316374-189435960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1619" y="1959679"/>
            <a:ext cx="4737805" cy="2759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矩形 2"/>
          <p:cNvSpPr/>
          <p:nvPr/>
        </p:nvSpPr>
        <p:spPr>
          <a:xfrm>
            <a:off x="3762538" y="5073134"/>
            <a:ext cx="413446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>
                <a:solidFill>
                  <a:srgbClr val="000000"/>
                </a:solidFill>
                <a:latin typeface="PingFang SC"/>
              </a:rPr>
              <a:t>图</a:t>
            </a:r>
            <a:r>
              <a:rPr lang="en-US" altLang="zh-CN" sz="2800" dirty="0">
                <a:solidFill>
                  <a:srgbClr val="000000"/>
                </a:solidFill>
                <a:latin typeface="PingFang SC"/>
              </a:rPr>
              <a:t>2 </a:t>
            </a:r>
            <a:r>
              <a:rPr lang="zh-CN" altLang="en-US" sz="2800" dirty="0">
                <a:solidFill>
                  <a:srgbClr val="000000"/>
                </a:solidFill>
                <a:latin typeface="PingFang SC"/>
              </a:rPr>
              <a:t>二维线性可分示意图</a:t>
            </a:r>
            <a:endParaRPr lang="zh-CN" altLang="en-US" sz="2800" dirty="0"/>
          </a:p>
        </p:txBody>
      </p:sp>
      <p:sp>
        <p:nvSpPr>
          <p:cNvPr id="8" name="矩形 7"/>
          <p:cNvSpPr/>
          <p:nvPr/>
        </p:nvSpPr>
        <p:spPr>
          <a:xfrm>
            <a:off x="292640" y="144950"/>
            <a:ext cx="215956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2800" dirty="0">
                <a:solidFill>
                  <a:schemeClr val="bg1"/>
                </a:solidFill>
              </a:rPr>
              <a:t>2.0 </a:t>
            </a:r>
            <a:r>
              <a:rPr kumimoji="1" lang="zh-CN" altLang="en-US" sz="2800" dirty="0" smtClean="0">
                <a:solidFill>
                  <a:schemeClr val="bg1"/>
                </a:solidFill>
              </a:rPr>
              <a:t>预备知识</a:t>
            </a:r>
            <a:endParaRPr kumimoji="1" lang="zh-CN" altLang="en-US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3015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10"/>
          <p:cNvSpPr/>
          <p:nvPr/>
        </p:nvSpPr>
        <p:spPr>
          <a:xfrm>
            <a:off x="0" y="-9532"/>
            <a:ext cx="12205648" cy="738010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8"/>
          <p:cNvSpPr/>
          <p:nvPr/>
        </p:nvSpPr>
        <p:spPr>
          <a:xfrm>
            <a:off x="0" y="728478"/>
            <a:ext cx="9400194" cy="5135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9"/>
          <p:cNvSpPr/>
          <p:nvPr/>
        </p:nvSpPr>
        <p:spPr>
          <a:xfrm>
            <a:off x="9135236" y="722278"/>
            <a:ext cx="3070412" cy="45719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376236" y="1194675"/>
            <a:ext cx="1181576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rgbClr val="000000"/>
                </a:solidFill>
                <a:latin typeface="PingFang SC"/>
              </a:rPr>
              <a:t>在三维空间中，要分开两个线性可分的点集合，我们需要找到一个分类面</a:t>
            </a:r>
            <a:r>
              <a:rPr lang="en-US" altLang="zh-CN" sz="2800" dirty="0">
                <a:solidFill>
                  <a:srgbClr val="000000"/>
                </a:solidFill>
                <a:latin typeface="PingFang SC"/>
              </a:rPr>
              <a:t>:</a:t>
            </a:r>
            <a:r>
              <a:rPr lang="zh-CN" altLang="en-US" sz="2800" dirty="0">
                <a:solidFill>
                  <a:srgbClr val="000000"/>
                </a:solidFill>
                <a:latin typeface="PingFang SC"/>
              </a:rPr>
              <a:t>如图</a:t>
            </a:r>
            <a:r>
              <a:rPr lang="en-US" altLang="zh-CN" sz="2800" dirty="0">
                <a:solidFill>
                  <a:srgbClr val="000000"/>
                </a:solidFill>
                <a:latin typeface="PingFang SC"/>
              </a:rPr>
              <a:t>3</a:t>
            </a:r>
            <a:r>
              <a:rPr lang="zh-CN" altLang="en-US" sz="2800" dirty="0">
                <a:solidFill>
                  <a:srgbClr val="000000"/>
                </a:solidFill>
                <a:latin typeface="PingFang SC"/>
              </a:rPr>
              <a:t>：</a:t>
            </a:r>
            <a:endParaRPr lang="zh-CN" altLang="en-US" sz="2800" dirty="0"/>
          </a:p>
        </p:txBody>
      </p:sp>
      <p:pic>
        <p:nvPicPr>
          <p:cNvPr id="6146" name="Picture 2" descr="https://images2018.cnblogs.com/blog/1362577/201804/1362577-20180427164433881-505526406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3276" y="2148782"/>
            <a:ext cx="4741862" cy="3771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矩形 2"/>
          <p:cNvSpPr/>
          <p:nvPr/>
        </p:nvSpPr>
        <p:spPr>
          <a:xfrm>
            <a:off x="3662526" y="6101834"/>
            <a:ext cx="27238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  <a:latin typeface="PingFang SC"/>
              </a:rPr>
              <a:t>图</a:t>
            </a:r>
            <a:r>
              <a:rPr lang="en-US" altLang="zh-CN" dirty="0">
                <a:solidFill>
                  <a:srgbClr val="000000"/>
                </a:solidFill>
                <a:latin typeface="PingFang SC"/>
              </a:rPr>
              <a:t>3 </a:t>
            </a:r>
            <a:r>
              <a:rPr lang="zh-CN" altLang="en-US" dirty="0">
                <a:solidFill>
                  <a:srgbClr val="000000"/>
                </a:solidFill>
                <a:latin typeface="PingFang SC"/>
              </a:rPr>
              <a:t>三维线性可分示意图</a:t>
            </a:r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292640" y="144950"/>
            <a:ext cx="215956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2800" dirty="0">
                <a:solidFill>
                  <a:schemeClr val="bg1"/>
                </a:solidFill>
              </a:rPr>
              <a:t>2.0 </a:t>
            </a:r>
            <a:r>
              <a:rPr kumimoji="1" lang="zh-CN" altLang="en-US" sz="2800" dirty="0" smtClean="0">
                <a:solidFill>
                  <a:schemeClr val="bg1"/>
                </a:solidFill>
              </a:rPr>
              <a:t>预备知识</a:t>
            </a:r>
            <a:endParaRPr kumimoji="1" lang="zh-CN" altLang="en-US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88843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10"/>
          <p:cNvSpPr/>
          <p:nvPr/>
        </p:nvSpPr>
        <p:spPr>
          <a:xfrm>
            <a:off x="0" y="-9532"/>
            <a:ext cx="12205648" cy="738010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8"/>
          <p:cNvSpPr/>
          <p:nvPr/>
        </p:nvSpPr>
        <p:spPr>
          <a:xfrm>
            <a:off x="0" y="728478"/>
            <a:ext cx="9400194" cy="5135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9"/>
          <p:cNvSpPr/>
          <p:nvPr/>
        </p:nvSpPr>
        <p:spPr>
          <a:xfrm>
            <a:off x="9135236" y="722278"/>
            <a:ext cx="3070412" cy="45719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246502" y="1140323"/>
            <a:ext cx="1139666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rgbClr val="000000"/>
                </a:solidFill>
                <a:latin typeface="PingFang SC"/>
              </a:rPr>
              <a:t>在</a:t>
            </a:r>
            <a:r>
              <a:rPr lang="en-US" altLang="zh-CN" sz="2800" dirty="0">
                <a:solidFill>
                  <a:srgbClr val="000000"/>
                </a:solidFill>
                <a:latin typeface="PingFang SC"/>
              </a:rPr>
              <a:t>n</a:t>
            </a:r>
            <a:r>
              <a:rPr lang="zh-CN" altLang="en-US" sz="2800" dirty="0">
                <a:solidFill>
                  <a:srgbClr val="000000"/>
                </a:solidFill>
                <a:latin typeface="PingFang SC"/>
              </a:rPr>
              <a:t>维空间中，要分开两个线性可分的点集合，我们需要找到一个</a:t>
            </a:r>
            <a:r>
              <a:rPr lang="zh-CN" altLang="en-US" sz="2800" dirty="0">
                <a:solidFill>
                  <a:srgbClr val="FF0000"/>
                </a:solidFill>
                <a:latin typeface="PingFang SC"/>
              </a:rPr>
              <a:t>超平面</a:t>
            </a:r>
            <a:r>
              <a:rPr lang="zh-CN" altLang="en-US" sz="2800" dirty="0">
                <a:solidFill>
                  <a:srgbClr val="000000"/>
                </a:solidFill>
                <a:latin typeface="PingFang SC"/>
              </a:rPr>
              <a:t>（</a:t>
            </a:r>
            <a:r>
              <a:rPr lang="en-US" altLang="zh-CN" sz="2800" dirty="0">
                <a:solidFill>
                  <a:srgbClr val="000000"/>
                </a:solidFill>
                <a:latin typeface="PingFang SC"/>
              </a:rPr>
              <a:t>Hyper Plane</a:t>
            </a:r>
            <a:r>
              <a:rPr lang="zh-CN" altLang="en-US" sz="2800" dirty="0">
                <a:solidFill>
                  <a:srgbClr val="000000"/>
                </a:solidFill>
                <a:latin typeface="PingFang SC"/>
              </a:rPr>
              <a:t>）。</a:t>
            </a:r>
            <a:endParaRPr lang="zh-CN" altLang="en-US" sz="2800" dirty="0"/>
          </a:p>
        </p:txBody>
      </p:sp>
      <p:sp>
        <p:nvSpPr>
          <p:cNvPr id="4" name="AutoShape 2"/>
          <p:cNvSpPr>
            <a:spLocks noChangeAspect="1" noChangeArrowheads="1"/>
          </p:cNvSpPr>
          <p:nvPr/>
        </p:nvSpPr>
        <p:spPr bwMode="auto">
          <a:xfrm flipV="1">
            <a:off x="17046574" y="4600780"/>
            <a:ext cx="47739" cy="45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2800"/>
          </a:p>
        </p:txBody>
      </p:sp>
      <p:pic>
        <p:nvPicPr>
          <p:cNvPr id="7171" name="Picture 3" descr="https://img-blog.csdn.net/20150314102334118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17151350" y="4600780"/>
            <a:ext cx="270022" cy="45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矩形 10"/>
          <p:cNvSpPr/>
          <p:nvPr/>
        </p:nvSpPr>
        <p:spPr>
          <a:xfrm>
            <a:off x="292640" y="144950"/>
            <a:ext cx="215956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2800" dirty="0">
                <a:solidFill>
                  <a:schemeClr val="bg1"/>
                </a:solidFill>
              </a:rPr>
              <a:t>2.0 </a:t>
            </a:r>
            <a:r>
              <a:rPr kumimoji="1" lang="zh-CN" altLang="en-US" sz="2800" dirty="0" smtClean="0">
                <a:solidFill>
                  <a:schemeClr val="bg1"/>
                </a:solidFill>
              </a:rPr>
              <a:t>预备知识</a:t>
            </a:r>
            <a:endParaRPr kumimoji="1" lang="zh-CN" altLang="en-US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41379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10"/>
          <p:cNvSpPr/>
          <p:nvPr/>
        </p:nvSpPr>
        <p:spPr>
          <a:xfrm>
            <a:off x="0" y="-9532"/>
            <a:ext cx="12205648" cy="738010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8"/>
          <p:cNvSpPr/>
          <p:nvPr/>
        </p:nvSpPr>
        <p:spPr>
          <a:xfrm>
            <a:off x="0" y="728478"/>
            <a:ext cx="9400194" cy="5135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9"/>
          <p:cNvSpPr/>
          <p:nvPr/>
        </p:nvSpPr>
        <p:spPr>
          <a:xfrm>
            <a:off x="9135236" y="722278"/>
            <a:ext cx="3070412" cy="45719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93720" y="773742"/>
            <a:ext cx="1139666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 smtClean="0"/>
              <a:t>2 </a:t>
            </a:r>
            <a:r>
              <a:rPr lang="zh-CN" altLang="en-US" sz="2800" dirty="0" smtClean="0"/>
              <a:t>线性不可分</a:t>
            </a:r>
            <a:endParaRPr lang="zh-CN" altLang="en-US" sz="2800" dirty="0"/>
          </a:p>
        </p:txBody>
      </p:sp>
      <p:sp>
        <p:nvSpPr>
          <p:cNvPr id="4" name="AutoShape 2"/>
          <p:cNvSpPr>
            <a:spLocks noChangeAspect="1" noChangeArrowheads="1"/>
          </p:cNvSpPr>
          <p:nvPr/>
        </p:nvSpPr>
        <p:spPr bwMode="auto">
          <a:xfrm flipV="1">
            <a:off x="17046574" y="4600780"/>
            <a:ext cx="47739" cy="45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2800"/>
          </a:p>
        </p:txBody>
      </p:sp>
      <p:pic>
        <p:nvPicPr>
          <p:cNvPr id="7171" name="Picture 3" descr="https://img-blog.csdn.net/20150314102334118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17151350" y="4600780"/>
            <a:ext cx="270022" cy="45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矩形 10"/>
          <p:cNvSpPr/>
          <p:nvPr/>
        </p:nvSpPr>
        <p:spPr>
          <a:xfrm>
            <a:off x="292640" y="144950"/>
            <a:ext cx="215956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2800" dirty="0">
                <a:solidFill>
                  <a:schemeClr val="bg1"/>
                </a:solidFill>
              </a:rPr>
              <a:t>2.0 </a:t>
            </a:r>
            <a:r>
              <a:rPr kumimoji="1" lang="zh-CN" altLang="en-US" sz="2800" dirty="0" smtClean="0">
                <a:solidFill>
                  <a:schemeClr val="bg1"/>
                </a:solidFill>
              </a:rPr>
              <a:t>预备知识</a:t>
            </a:r>
            <a:endParaRPr kumimoji="1" lang="zh-CN" altLang="en-US" sz="2800" dirty="0">
              <a:solidFill>
                <a:schemeClr val="bg1"/>
              </a:solidFill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863" y="1517842"/>
            <a:ext cx="3117895" cy="3128658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9946" y="1655533"/>
            <a:ext cx="3338483" cy="265716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84863" y="5236006"/>
            <a:ext cx="1163087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 smtClean="0"/>
              <a:t>线性不可分问题不能通过单层感知机解决，可通过</a:t>
            </a:r>
            <a:r>
              <a:rPr lang="en-US" altLang="zh-CN" sz="2800" dirty="0" smtClean="0"/>
              <a:t>SVM</a:t>
            </a:r>
            <a:r>
              <a:rPr lang="zh-CN" altLang="en-US" sz="2800" dirty="0" smtClean="0"/>
              <a:t>、神经网络解决。</a:t>
            </a:r>
            <a:endParaRPr lang="zh-CN" altLang="en-US" sz="2800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6790" y="1696707"/>
            <a:ext cx="3166807" cy="2949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139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10"/>
          <p:cNvSpPr/>
          <p:nvPr/>
        </p:nvSpPr>
        <p:spPr>
          <a:xfrm>
            <a:off x="0" y="-9532"/>
            <a:ext cx="12205648" cy="738010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8"/>
          <p:cNvSpPr/>
          <p:nvPr/>
        </p:nvSpPr>
        <p:spPr>
          <a:xfrm>
            <a:off x="0" y="728478"/>
            <a:ext cx="9400194" cy="5135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9"/>
          <p:cNvSpPr/>
          <p:nvPr/>
        </p:nvSpPr>
        <p:spPr>
          <a:xfrm>
            <a:off x="9135236" y="722278"/>
            <a:ext cx="3070412" cy="45719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AutoShape 2"/>
          <p:cNvSpPr>
            <a:spLocks noChangeAspect="1" noChangeArrowheads="1"/>
          </p:cNvSpPr>
          <p:nvPr/>
        </p:nvSpPr>
        <p:spPr bwMode="auto">
          <a:xfrm flipV="1">
            <a:off x="17046574" y="4600780"/>
            <a:ext cx="47739" cy="45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2800"/>
          </a:p>
        </p:txBody>
      </p:sp>
      <p:pic>
        <p:nvPicPr>
          <p:cNvPr id="7171" name="Picture 3" descr="https://img-blog.csdn.net/20150314102334118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17151350" y="4600780"/>
            <a:ext cx="270022" cy="45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矩形 4"/>
          <p:cNvSpPr/>
          <p:nvPr/>
        </p:nvSpPr>
        <p:spPr>
          <a:xfrm>
            <a:off x="1488448" y="1677658"/>
            <a:ext cx="736611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800" dirty="0">
                <a:solidFill>
                  <a:srgbClr val="000000"/>
                </a:solidFill>
                <a:latin typeface="+mn-ea"/>
              </a:rPr>
              <a:t>为了直观，我们以上面二维空间为例子来分析</a:t>
            </a:r>
            <a:endParaRPr lang="zh-CN" altLang="en-US" sz="2800" dirty="0">
              <a:latin typeface="+mn-ea"/>
            </a:endParaRPr>
          </a:p>
        </p:txBody>
      </p:sp>
      <p:pic>
        <p:nvPicPr>
          <p:cNvPr id="10" name="Picture 2" descr="https://images2018.cnblogs.com/blog/1362577/201804/1362577-20180427164316374-1894359601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3415" y="2657562"/>
            <a:ext cx="4737805" cy="2759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矩形 10"/>
          <p:cNvSpPr/>
          <p:nvPr/>
        </p:nvSpPr>
        <p:spPr>
          <a:xfrm>
            <a:off x="292640" y="144950"/>
            <a:ext cx="215956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2800" dirty="0">
                <a:solidFill>
                  <a:schemeClr val="bg1"/>
                </a:solidFill>
              </a:rPr>
              <a:t>2.0 </a:t>
            </a:r>
            <a:r>
              <a:rPr kumimoji="1" lang="zh-CN" altLang="en-US" sz="2800" dirty="0" smtClean="0">
                <a:solidFill>
                  <a:schemeClr val="bg1"/>
                </a:solidFill>
              </a:rPr>
              <a:t>预备知识</a:t>
            </a:r>
            <a:endParaRPr kumimoji="1" lang="zh-CN" altLang="en-US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0093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0"/>
          <p:cNvGrpSpPr/>
          <p:nvPr/>
        </p:nvGrpSpPr>
        <p:grpSpPr>
          <a:xfrm>
            <a:off x="-243575" y="-14678"/>
            <a:ext cx="12521003" cy="1329863"/>
            <a:chOff x="-329003" y="1"/>
            <a:chExt cx="12521003" cy="1329863"/>
          </a:xfrm>
        </p:grpSpPr>
        <p:sp>
          <p:nvSpPr>
            <p:cNvPr id="21" name="矩形 10"/>
            <p:cNvSpPr/>
            <p:nvPr/>
          </p:nvSpPr>
          <p:spPr>
            <a:xfrm>
              <a:off x="-13648" y="1"/>
              <a:ext cx="12205648" cy="1202643"/>
            </a:xfrm>
            <a:prstGeom prst="rect">
              <a:avLst/>
            </a:prstGeom>
            <a:solidFill>
              <a:srgbClr val="782C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矩形 28"/>
            <p:cNvSpPr/>
            <p:nvPr/>
          </p:nvSpPr>
          <p:spPr>
            <a:xfrm>
              <a:off x="-329003" y="1278393"/>
              <a:ext cx="9400194" cy="51353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矩形 29"/>
            <p:cNvSpPr/>
            <p:nvPr/>
          </p:nvSpPr>
          <p:spPr>
            <a:xfrm>
              <a:off x="9121588" y="1278399"/>
              <a:ext cx="3070412" cy="51465"/>
            </a:xfrm>
            <a:prstGeom prst="rect">
              <a:avLst/>
            </a:prstGeom>
            <a:solidFill>
              <a:srgbClr val="782C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5" name="矩形 24"/>
          <p:cNvSpPr/>
          <p:nvPr/>
        </p:nvSpPr>
        <p:spPr>
          <a:xfrm>
            <a:off x="292640" y="1438009"/>
            <a:ext cx="458010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3200" dirty="0" smtClean="0"/>
              <a:t>  2.0.2 </a:t>
            </a:r>
            <a:r>
              <a:rPr kumimoji="1" lang="zh-CN" altLang="en-US" sz="3200" dirty="0" smtClean="0"/>
              <a:t>数据</a:t>
            </a:r>
            <a:r>
              <a:rPr kumimoji="1" lang="zh-CN" altLang="en-US" sz="3200" dirty="0"/>
              <a:t>集的线性可分</a:t>
            </a:r>
          </a:p>
        </p:txBody>
      </p:sp>
      <p:sp>
        <p:nvSpPr>
          <p:cNvPr id="26" name="矩形 25"/>
          <p:cNvSpPr/>
          <p:nvPr/>
        </p:nvSpPr>
        <p:spPr>
          <a:xfrm>
            <a:off x="847695" y="3878373"/>
            <a:ext cx="1033846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800" dirty="0" smtClean="0"/>
              <a:t>        如果</a:t>
            </a:r>
            <a:r>
              <a:rPr kumimoji="1" lang="zh-CN" altLang="en-US" sz="2800" dirty="0"/>
              <a:t>存在某个超平面</a:t>
            </a:r>
            <a:r>
              <a:rPr kumimoji="1" lang="en-US" altLang="zh-CN" sz="2800" dirty="0"/>
              <a:t>S</a:t>
            </a:r>
            <a:r>
              <a:rPr kumimoji="1" lang="zh-CN" altLang="en-US" sz="2800" dirty="0"/>
              <a:t>：</a:t>
            </a:r>
            <a:r>
              <a:rPr kumimoji="1" lang="en-US" altLang="zh-CN" sz="2800" dirty="0"/>
              <a:t>w ⋅ x + b = 0 </a:t>
            </a:r>
            <a:r>
              <a:rPr kumimoji="1" lang="en-US" altLang="zh-CN" sz="2800" dirty="0" smtClean="0"/>
              <a:t> </a:t>
            </a:r>
            <a:r>
              <a:rPr kumimoji="1" lang="zh-CN" altLang="en-US" sz="2800" dirty="0" smtClean="0"/>
              <a:t>能够</a:t>
            </a:r>
            <a:r>
              <a:rPr kumimoji="1" lang="zh-CN" altLang="en-US" sz="2800" dirty="0"/>
              <a:t>将数据集的正实例点和负实例点完全正确地划分到超平面的</a:t>
            </a:r>
            <a:r>
              <a:rPr kumimoji="1" lang="zh-CN" altLang="en-US" sz="2800" dirty="0" smtClean="0"/>
              <a:t>两侧</a:t>
            </a:r>
            <a:r>
              <a:rPr kumimoji="1" lang="en-US" altLang="zh-CN" sz="2800" dirty="0" smtClean="0"/>
              <a:t> </a:t>
            </a:r>
            <a:r>
              <a:rPr kumimoji="1" lang="zh-CN" altLang="en-US" sz="2800" dirty="0" smtClean="0"/>
              <a:t>。</a:t>
            </a:r>
            <a:endParaRPr kumimoji="1" lang="zh-CN" altLang="en-US" sz="2800" dirty="0"/>
          </a:p>
        </p:txBody>
      </p:sp>
      <p:sp>
        <p:nvSpPr>
          <p:cNvPr id="27" name="矩形 26"/>
          <p:cNvSpPr/>
          <p:nvPr/>
        </p:nvSpPr>
        <p:spPr>
          <a:xfrm>
            <a:off x="847695" y="2081612"/>
            <a:ext cx="305724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800" dirty="0" smtClean="0"/>
              <a:t>定义：给定</a:t>
            </a:r>
            <a:r>
              <a:rPr kumimoji="1" lang="zh-CN" altLang="en-US" sz="2800" dirty="0"/>
              <a:t>数据集</a:t>
            </a:r>
          </a:p>
        </p:txBody>
      </p:sp>
      <p:pic>
        <p:nvPicPr>
          <p:cNvPr id="1026" name="Picture 2" descr="在这里插入图片描述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4321" y="2604920"/>
            <a:ext cx="6517817" cy="609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矩形 27"/>
          <p:cNvSpPr/>
          <p:nvPr/>
        </p:nvSpPr>
        <p:spPr>
          <a:xfrm>
            <a:off x="847695" y="3246432"/>
            <a:ext cx="117922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 smtClean="0"/>
              <a:t>其中</a:t>
            </a:r>
            <a:endParaRPr lang="zh-CN" altLang="en-US" sz="2800" dirty="0"/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9265" y="3246432"/>
            <a:ext cx="6987928" cy="594211"/>
          </a:xfrm>
          <a:prstGeom prst="rect">
            <a:avLst/>
          </a:prstGeom>
        </p:spPr>
      </p:pic>
      <p:sp>
        <p:nvSpPr>
          <p:cNvPr id="34" name="矩形 33"/>
          <p:cNvSpPr/>
          <p:nvPr/>
        </p:nvSpPr>
        <p:spPr>
          <a:xfrm>
            <a:off x="874248" y="6122215"/>
            <a:ext cx="1066243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rgbClr val="4D4D4D"/>
                </a:solidFill>
                <a:latin typeface="-apple-system"/>
              </a:rPr>
              <a:t>则称数据集</a:t>
            </a:r>
            <a:r>
              <a:rPr lang="en-US" altLang="zh-CN" sz="2800" dirty="0">
                <a:solidFill>
                  <a:srgbClr val="4D4D4D"/>
                </a:solidFill>
                <a:latin typeface="-apple-system"/>
              </a:rPr>
              <a:t>T</a:t>
            </a:r>
            <a:r>
              <a:rPr lang="zh-CN" altLang="en-US" sz="2800" dirty="0">
                <a:solidFill>
                  <a:srgbClr val="4D4D4D"/>
                </a:solidFill>
                <a:latin typeface="-apple-system"/>
              </a:rPr>
              <a:t>为</a:t>
            </a:r>
            <a:r>
              <a:rPr lang="zh-CN" altLang="en-US" sz="2800" dirty="0">
                <a:solidFill>
                  <a:srgbClr val="FF0000"/>
                </a:solidFill>
                <a:latin typeface="-apple-system"/>
              </a:rPr>
              <a:t>线性可分数据集</a:t>
            </a:r>
            <a:r>
              <a:rPr lang="zh-CN" altLang="en-US" sz="2800" dirty="0">
                <a:solidFill>
                  <a:srgbClr val="4D4D4D"/>
                </a:solidFill>
                <a:latin typeface="-apple-system"/>
              </a:rPr>
              <a:t>；否则，称数据</a:t>
            </a:r>
            <a:r>
              <a:rPr lang="zh-CN" altLang="en-US" sz="2800" dirty="0" smtClean="0">
                <a:solidFill>
                  <a:srgbClr val="4D4D4D"/>
                </a:solidFill>
                <a:latin typeface="-apple-system"/>
              </a:rPr>
              <a:t>集</a:t>
            </a:r>
            <a:r>
              <a:rPr lang="en-US" altLang="zh-CN" sz="2800" b="1" dirty="0" smtClean="0">
                <a:solidFill>
                  <a:srgbClr val="4D4D4D"/>
                </a:solidFill>
                <a:latin typeface="-apple-system"/>
              </a:rPr>
              <a:t>T</a:t>
            </a:r>
            <a:r>
              <a:rPr lang="zh-CN" altLang="en-US" sz="2800" b="1" dirty="0">
                <a:solidFill>
                  <a:srgbClr val="4D4D4D"/>
                </a:solidFill>
                <a:latin typeface="-apple-system"/>
              </a:rPr>
              <a:t>线性不可分</a:t>
            </a:r>
            <a:endParaRPr lang="zh-CN" altLang="en-US" sz="2800" dirty="0"/>
          </a:p>
        </p:txBody>
      </p:sp>
      <p:grpSp>
        <p:nvGrpSpPr>
          <p:cNvPr id="37" name="组合 36"/>
          <p:cNvGrpSpPr/>
          <p:nvPr/>
        </p:nvGrpSpPr>
        <p:grpSpPr>
          <a:xfrm>
            <a:off x="1755792" y="4941201"/>
            <a:ext cx="7254873" cy="1063359"/>
            <a:chOff x="1755792" y="4941201"/>
            <a:chExt cx="7254873" cy="1063359"/>
          </a:xfrm>
        </p:grpSpPr>
        <p:pic>
          <p:nvPicPr>
            <p:cNvPr id="33" name="图片 32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55792" y="4941201"/>
              <a:ext cx="7254873" cy="1063359"/>
            </a:xfrm>
            <a:prstGeom prst="rect">
              <a:avLst/>
            </a:prstGeom>
          </p:spPr>
        </p:pic>
        <p:pic>
          <p:nvPicPr>
            <p:cNvPr id="35" name="图片 34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87545" y="5100710"/>
              <a:ext cx="276190" cy="219048"/>
            </a:xfrm>
            <a:prstGeom prst="rect">
              <a:avLst/>
            </a:prstGeom>
          </p:spPr>
        </p:pic>
        <p:pic>
          <p:nvPicPr>
            <p:cNvPr id="36" name="图片 35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65481" y="5671061"/>
              <a:ext cx="276190" cy="219048"/>
            </a:xfrm>
            <a:prstGeom prst="rect">
              <a:avLst/>
            </a:prstGeom>
          </p:spPr>
        </p:pic>
      </p:grpSp>
      <p:sp>
        <p:nvSpPr>
          <p:cNvPr id="18" name="矩形 17"/>
          <p:cNvSpPr/>
          <p:nvPr/>
        </p:nvSpPr>
        <p:spPr>
          <a:xfrm>
            <a:off x="292640" y="144950"/>
            <a:ext cx="215956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2800" dirty="0">
                <a:solidFill>
                  <a:schemeClr val="bg1"/>
                </a:solidFill>
              </a:rPr>
              <a:t>2.0 </a:t>
            </a:r>
            <a:r>
              <a:rPr kumimoji="1" lang="zh-CN" altLang="en-US" sz="2800" dirty="0" smtClean="0">
                <a:solidFill>
                  <a:schemeClr val="bg1"/>
                </a:solidFill>
              </a:rPr>
              <a:t>预备知识</a:t>
            </a:r>
            <a:endParaRPr kumimoji="1" lang="zh-CN" altLang="en-US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7265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0"/>
          <p:cNvGrpSpPr/>
          <p:nvPr/>
        </p:nvGrpSpPr>
        <p:grpSpPr>
          <a:xfrm>
            <a:off x="-329003" y="1"/>
            <a:ext cx="12521003" cy="1329863"/>
            <a:chOff x="-329003" y="1"/>
            <a:chExt cx="12521003" cy="1329863"/>
          </a:xfrm>
        </p:grpSpPr>
        <p:sp>
          <p:nvSpPr>
            <p:cNvPr id="19" name="矩形 10"/>
            <p:cNvSpPr/>
            <p:nvPr/>
          </p:nvSpPr>
          <p:spPr>
            <a:xfrm>
              <a:off x="-13648" y="1"/>
              <a:ext cx="12205648" cy="1202643"/>
            </a:xfrm>
            <a:prstGeom prst="rect">
              <a:avLst/>
            </a:prstGeom>
            <a:solidFill>
              <a:srgbClr val="782C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矩形 28"/>
            <p:cNvSpPr/>
            <p:nvPr/>
          </p:nvSpPr>
          <p:spPr>
            <a:xfrm>
              <a:off x="-329003" y="1278393"/>
              <a:ext cx="9400194" cy="51353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矩形 29"/>
            <p:cNvSpPr/>
            <p:nvPr/>
          </p:nvSpPr>
          <p:spPr>
            <a:xfrm>
              <a:off x="9121588" y="1278399"/>
              <a:ext cx="3070412" cy="51465"/>
            </a:xfrm>
            <a:prstGeom prst="rect">
              <a:avLst/>
            </a:prstGeom>
            <a:solidFill>
              <a:srgbClr val="782C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708" y="2434887"/>
            <a:ext cx="11277314" cy="3660311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292640" y="144950"/>
            <a:ext cx="215956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2800" dirty="0">
                <a:solidFill>
                  <a:schemeClr val="bg1"/>
                </a:solidFill>
              </a:rPr>
              <a:t>2.0 </a:t>
            </a:r>
            <a:r>
              <a:rPr kumimoji="1" lang="zh-CN" altLang="en-US" sz="2800" dirty="0" smtClean="0">
                <a:solidFill>
                  <a:schemeClr val="bg1"/>
                </a:solidFill>
              </a:rPr>
              <a:t>预备知识</a:t>
            </a:r>
            <a:endParaRPr kumimoji="1" lang="zh-CN" altLang="en-US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4257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10"/>
          <p:cNvSpPr/>
          <p:nvPr/>
        </p:nvSpPr>
        <p:spPr>
          <a:xfrm>
            <a:off x="0" y="-9532"/>
            <a:ext cx="12205648" cy="738010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8"/>
          <p:cNvSpPr/>
          <p:nvPr/>
        </p:nvSpPr>
        <p:spPr>
          <a:xfrm>
            <a:off x="0" y="728478"/>
            <a:ext cx="9400194" cy="5135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9"/>
          <p:cNvSpPr/>
          <p:nvPr/>
        </p:nvSpPr>
        <p:spPr>
          <a:xfrm>
            <a:off x="9135236" y="722278"/>
            <a:ext cx="3070412" cy="45719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2019" y="1399979"/>
            <a:ext cx="9202131" cy="5487633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292640" y="144950"/>
            <a:ext cx="215956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2800" dirty="0">
                <a:solidFill>
                  <a:schemeClr val="bg1"/>
                </a:solidFill>
              </a:rPr>
              <a:t>2.0 </a:t>
            </a:r>
            <a:r>
              <a:rPr kumimoji="1" lang="zh-CN" altLang="en-US" sz="2800" dirty="0" smtClean="0">
                <a:solidFill>
                  <a:schemeClr val="bg1"/>
                </a:solidFill>
              </a:rPr>
              <a:t>预备知识</a:t>
            </a:r>
            <a:endParaRPr kumimoji="1" lang="zh-CN" altLang="en-US" sz="2800" dirty="0">
              <a:solidFill>
                <a:schemeClr val="bg1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0" y="799700"/>
            <a:ext cx="41697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3200" dirty="0" smtClean="0"/>
              <a:t>  2.0.3 </a:t>
            </a:r>
            <a:r>
              <a:rPr kumimoji="1" lang="zh-CN" altLang="en-US" sz="3200" dirty="0" smtClean="0"/>
              <a:t>点到平面的距离</a:t>
            </a:r>
            <a:endParaRPr kumimoji="1" lang="zh-CN" altLang="en-US" sz="3200" dirty="0"/>
          </a:p>
        </p:txBody>
      </p:sp>
    </p:spTree>
    <p:extLst>
      <p:ext uri="{BB962C8B-B14F-4D97-AF65-F5344CB8AC3E}">
        <p14:creationId xmlns:p14="http://schemas.microsoft.com/office/powerpoint/2010/main" val="175915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10"/>
          <p:cNvSpPr/>
          <p:nvPr/>
        </p:nvSpPr>
        <p:spPr>
          <a:xfrm>
            <a:off x="0" y="-9532"/>
            <a:ext cx="12205648" cy="738010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8"/>
          <p:cNvSpPr/>
          <p:nvPr/>
        </p:nvSpPr>
        <p:spPr>
          <a:xfrm>
            <a:off x="0" y="728478"/>
            <a:ext cx="9400194" cy="5135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9"/>
          <p:cNvSpPr/>
          <p:nvPr/>
        </p:nvSpPr>
        <p:spPr>
          <a:xfrm>
            <a:off x="9135236" y="722278"/>
            <a:ext cx="3070412" cy="45719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8986838" y="1885950"/>
            <a:ext cx="1128712" cy="728663"/>
          </a:xfrm>
          <a:prstGeom prst="rect">
            <a:avLst/>
          </a:prstGeom>
        </p:spPr>
        <p:txBody>
          <a:bodyPr wrap="none" rtlCol="0" anchor="ctr">
            <a:spAutoFit/>
          </a:bodyPr>
          <a:lstStyle/>
          <a:p>
            <a:pPr algn="ctr"/>
            <a:endParaRPr lang="zh-CN" altLang="en-US" sz="2800" dirty="0">
              <a:solidFill>
                <a:srgbClr val="4D4D4D"/>
              </a:solidFill>
              <a:latin typeface="-apple-system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92640" y="144950"/>
            <a:ext cx="215956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2800" dirty="0">
                <a:solidFill>
                  <a:schemeClr val="bg1"/>
                </a:solidFill>
              </a:rPr>
              <a:t>2.0 </a:t>
            </a:r>
            <a:r>
              <a:rPr kumimoji="1" lang="zh-CN" altLang="en-US" sz="2800" dirty="0" smtClean="0">
                <a:solidFill>
                  <a:schemeClr val="bg1"/>
                </a:solidFill>
              </a:rPr>
              <a:t>预备知识</a:t>
            </a:r>
            <a:endParaRPr kumimoji="1" lang="zh-CN" altLang="en-US" sz="2800" dirty="0">
              <a:solidFill>
                <a:schemeClr val="bg1"/>
              </a:solidFill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36" y="1002574"/>
            <a:ext cx="11991975" cy="5715000"/>
          </a:xfrm>
          <a:prstGeom prst="rect">
            <a:avLst/>
          </a:prstGeom>
        </p:spPr>
      </p:pic>
      <p:sp>
        <p:nvSpPr>
          <p:cNvPr id="15" name="矩形 14"/>
          <p:cNvSpPr/>
          <p:nvPr/>
        </p:nvSpPr>
        <p:spPr>
          <a:xfrm>
            <a:off x="8373206" y="2455146"/>
            <a:ext cx="871538" cy="728663"/>
          </a:xfrm>
          <a:prstGeom prst="rect">
            <a:avLst/>
          </a:prstGeom>
          <a:noFill/>
          <a:ln w="34925">
            <a:solidFill>
              <a:srgbClr val="FF0000"/>
            </a:solidFill>
            <a:prstDash val="sysDot"/>
          </a:ln>
        </p:spPr>
        <p:txBody>
          <a:bodyPr wrap="none" rtlCol="0" anchor="ctr">
            <a:spAutoFit/>
          </a:bodyPr>
          <a:lstStyle/>
          <a:p>
            <a:pPr algn="ctr"/>
            <a:endParaRPr lang="zh-CN" altLang="en-US" sz="2800" dirty="0">
              <a:solidFill>
                <a:srgbClr val="4D4D4D"/>
              </a:solidFill>
              <a:latin typeface="-apple-system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5511605" y="4969973"/>
            <a:ext cx="3297370" cy="728663"/>
          </a:xfrm>
          <a:prstGeom prst="rect">
            <a:avLst/>
          </a:prstGeom>
          <a:noFill/>
          <a:ln w="34925">
            <a:solidFill>
              <a:srgbClr val="FF0000"/>
            </a:solidFill>
            <a:prstDash val="sysDot"/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sz="2800" dirty="0">
              <a:solidFill>
                <a:srgbClr val="4D4D4D"/>
              </a:solidFill>
              <a:latin typeface="-apple-system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122204" y="964465"/>
            <a:ext cx="139012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3200" dirty="0" smtClean="0"/>
              <a:t>  2.0.4 </a:t>
            </a:r>
            <a:r>
              <a:rPr kumimoji="1" lang="zh-CN" altLang="en-US" sz="3200" dirty="0" smtClean="0"/>
              <a:t> </a:t>
            </a:r>
            <a:endParaRPr kumimoji="1" lang="zh-CN" altLang="en-US" sz="3200" dirty="0"/>
          </a:p>
        </p:txBody>
      </p:sp>
    </p:spTree>
    <p:extLst>
      <p:ext uri="{BB962C8B-B14F-4D97-AF65-F5344CB8AC3E}">
        <p14:creationId xmlns:p14="http://schemas.microsoft.com/office/powerpoint/2010/main" val="2180128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10"/>
          <p:cNvSpPr/>
          <p:nvPr/>
        </p:nvSpPr>
        <p:spPr>
          <a:xfrm>
            <a:off x="0" y="-9532"/>
            <a:ext cx="12205648" cy="738010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8"/>
          <p:cNvSpPr/>
          <p:nvPr/>
        </p:nvSpPr>
        <p:spPr>
          <a:xfrm>
            <a:off x="0" y="728478"/>
            <a:ext cx="9400194" cy="5135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9"/>
          <p:cNvSpPr/>
          <p:nvPr/>
        </p:nvSpPr>
        <p:spPr>
          <a:xfrm>
            <a:off x="9135236" y="722278"/>
            <a:ext cx="3070412" cy="45719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2423" y="994960"/>
            <a:ext cx="8310142" cy="5402770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292640" y="144950"/>
            <a:ext cx="215956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2800" dirty="0">
                <a:solidFill>
                  <a:schemeClr val="bg1"/>
                </a:solidFill>
              </a:rPr>
              <a:t>2.0 </a:t>
            </a:r>
            <a:r>
              <a:rPr kumimoji="1" lang="zh-CN" altLang="en-US" sz="2800" dirty="0" smtClean="0">
                <a:solidFill>
                  <a:schemeClr val="bg1"/>
                </a:solidFill>
              </a:rPr>
              <a:t>预备知识</a:t>
            </a:r>
            <a:endParaRPr kumimoji="1" lang="zh-CN" altLang="en-US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4033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10"/>
          <p:cNvSpPr/>
          <p:nvPr/>
        </p:nvSpPr>
        <p:spPr>
          <a:xfrm>
            <a:off x="0" y="-9532"/>
            <a:ext cx="12205648" cy="738010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8"/>
          <p:cNvSpPr/>
          <p:nvPr/>
        </p:nvSpPr>
        <p:spPr>
          <a:xfrm>
            <a:off x="0" y="728478"/>
            <a:ext cx="9400194" cy="5135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9"/>
          <p:cNvSpPr/>
          <p:nvPr/>
        </p:nvSpPr>
        <p:spPr>
          <a:xfrm>
            <a:off x="9135236" y="722278"/>
            <a:ext cx="3070412" cy="45719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292640" y="144950"/>
            <a:ext cx="72327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2800" dirty="0">
                <a:solidFill>
                  <a:schemeClr val="bg1"/>
                </a:solidFill>
              </a:rPr>
              <a:t>2.0 </a:t>
            </a:r>
            <a:endParaRPr kumimoji="1" lang="zh-CN" altLang="en-US" sz="2800" dirty="0">
              <a:solidFill>
                <a:schemeClr val="bg1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292640" y="144950"/>
            <a:ext cx="215956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2800" dirty="0">
                <a:solidFill>
                  <a:schemeClr val="bg1"/>
                </a:solidFill>
              </a:rPr>
              <a:t>2.0 </a:t>
            </a:r>
            <a:r>
              <a:rPr kumimoji="1" lang="zh-CN" altLang="en-US" sz="2800" dirty="0" smtClean="0">
                <a:solidFill>
                  <a:schemeClr val="bg1"/>
                </a:solidFill>
              </a:rPr>
              <a:t>预备知识</a:t>
            </a:r>
            <a:endParaRPr kumimoji="1" lang="zh-CN" altLang="en-US" sz="2800" dirty="0">
              <a:solidFill>
                <a:schemeClr val="bg1"/>
              </a:solidFill>
            </a:endParaRPr>
          </a:p>
        </p:txBody>
      </p:sp>
      <p:pic>
        <p:nvPicPr>
          <p:cNvPr id="6148" name="Picture 4" descr="形象理解“梯度”与“法向量”的关系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08049"/>
            <a:ext cx="4667250" cy="3495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矩形 1"/>
          <p:cNvSpPr/>
          <p:nvPr/>
        </p:nvSpPr>
        <p:spPr>
          <a:xfrm>
            <a:off x="189684" y="994146"/>
            <a:ext cx="931537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solidFill>
                  <a:srgbClr val="121212"/>
                </a:solidFill>
                <a:latin typeface="-apple-system"/>
              </a:rPr>
              <a:t>形象理解“梯度”与“法向量”的</a:t>
            </a:r>
            <a:r>
              <a:rPr lang="zh-CN" altLang="en-US" sz="2800" dirty="0" smtClean="0">
                <a:solidFill>
                  <a:srgbClr val="121212"/>
                </a:solidFill>
                <a:latin typeface="-apple-system"/>
              </a:rPr>
              <a:t>关系：</a:t>
            </a:r>
            <a:r>
              <a:rPr lang="zh-CN" altLang="en-US" sz="2800" dirty="0"/>
              <a:t>梯度是等高线的法</a:t>
            </a:r>
            <a:r>
              <a:rPr lang="zh-CN" altLang="en-US" sz="2800" dirty="0" smtClean="0"/>
              <a:t>向量</a:t>
            </a:r>
            <a:endParaRPr lang="zh-CN" altLang="en-US" sz="2800" i="0" dirty="0">
              <a:solidFill>
                <a:srgbClr val="121212"/>
              </a:solidFill>
              <a:effectLst/>
              <a:latin typeface="-apple-system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930619" y="5858537"/>
            <a:ext cx="40261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https://zhuanlan.zhihu.com/p/62718992</a:t>
            </a:r>
            <a:endParaRPr lang="zh-CN" altLang="en-US" dirty="0"/>
          </a:p>
        </p:txBody>
      </p:sp>
      <p:sp>
        <p:nvSpPr>
          <p:cNvPr id="11" name="矩形 10"/>
          <p:cNvSpPr/>
          <p:nvPr/>
        </p:nvSpPr>
        <p:spPr>
          <a:xfrm>
            <a:off x="342084" y="5695404"/>
            <a:ext cx="48526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i="0" dirty="0" smtClean="0">
                <a:solidFill>
                  <a:srgbClr val="121212"/>
                </a:solidFill>
                <a:effectLst/>
                <a:latin typeface="-apple-system"/>
              </a:rPr>
              <a:t>证明见感知机预备知识</a:t>
            </a:r>
            <a:r>
              <a:rPr lang="en-US" altLang="zh-CN" sz="2800" i="0" dirty="0" smtClean="0">
                <a:solidFill>
                  <a:srgbClr val="121212"/>
                </a:solidFill>
                <a:effectLst/>
                <a:latin typeface="-apple-system"/>
              </a:rPr>
              <a:t>PPT33 </a:t>
            </a:r>
            <a:endParaRPr lang="zh-CN" altLang="en-US" sz="2800" i="0" dirty="0">
              <a:solidFill>
                <a:srgbClr val="121212"/>
              </a:solidFill>
              <a:effectLst/>
              <a:latin typeface="-apple-system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0376" y="1707115"/>
            <a:ext cx="6891248" cy="4030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1770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10"/>
          <p:cNvSpPr/>
          <p:nvPr/>
        </p:nvSpPr>
        <p:spPr>
          <a:xfrm>
            <a:off x="0" y="-9532"/>
            <a:ext cx="12205648" cy="738010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8"/>
          <p:cNvSpPr/>
          <p:nvPr/>
        </p:nvSpPr>
        <p:spPr>
          <a:xfrm>
            <a:off x="0" y="728478"/>
            <a:ext cx="9400194" cy="5135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9"/>
          <p:cNvSpPr/>
          <p:nvPr/>
        </p:nvSpPr>
        <p:spPr>
          <a:xfrm>
            <a:off x="9135236" y="722278"/>
            <a:ext cx="3070412" cy="45719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240223" y="821076"/>
            <a:ext cx="305724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 smtClean="0">
                <a:solidFill>
                  <a:srgbClr val="4D4D4D"/>
                </a:solidFill>
                <a:latin typeface="-apple-system"/>
              </a:rPr>
              <a:t>2.0.5 </a:t>
            </a:r>
            <a:r>
              <a:rPr lang="zh-CN" altLang="en-US" sz="2800" dirty="0" smtClean="0">
                <a:solidFill>
                  <a:srgbClr val="4D4D4D"/>
                </a:solidFill>
                <a:latin typeface="-apple-system"/>
              </a:rPr>
              <a:t>梯度</a:t>
            </a:r>
            <a:r>
              <a:rPr lang="zh-CN" altLang="en-US" sz="2800" dirty="0">
                <a:solidFill>
                  <a:srgbClr val="4D4D4D"/>
                </a:solidFill>
                <a:latin typeface="-apple-system"/>
              </a:rPr>
              <a:t>下降法</a:t>
            </a:r>
            <a:endParaRPr lang="zh-CN" altLang="en-US" sz="2800" dirty="0"/>
          </a:p>
        </p:txBody>
      </p:sp>
      <p:sp>
        <p:nvSpPr>
          <p:cNvPr id="3" name="矩形 2"/>
          <p:cNvSpPr/>
          <p:nvPr/>
        </p:nvSpPr>
        <p:spPr>
          <a:xfrm>
            <a:off x="837880" y="1372331"/>
            <a:ext cx="10529888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rgbClr val="4D4D4D"/>
                </a:solidFill>
                <a:latin typeface="-apple-system"/>
              </a:rPr>
              <a:t>既然在变量空间的某一点处，函数沿梯度方向具有最大的变化率，那么在优化目标函数的时候，自然是沿着负梯度方向去减小函数值，以此达到我们的优化目标。</a:t>
            </a:r>
            <a:endParaRPr lang="zh-CN" altLang="en-US" sz="2800" dirty="0"/>
          </a:p>
        </p:txBody>
      </p:sp>
      <p:sp>
        <p:nvSpPr>
          <p:cNvPr id="4" name="矩形 3"/>
          <p:cNvSpPr/>
          <p:nvPr/>
        </p:nvSpPr>
        <p:spPr>
          <a:xfrm>
            <a:off x="837880" y="2933504"/>
            <a:ext cx="592982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solidFill>
                  <a:srgbClr val="4D4D4D"/>
                </a:solidFill>
                <a:latin typeface="-apple-system"/>
              </a:rPr>
              <a:t>如何沿着负梯度方向减小函数值呢？</a:t>
            </a:r>
            <a:endParaRPr lang="zh-CN" altLang="en-US" sz="2800" dirty="0"/>
          </a:p>
        </p:txBody>
      </p:sp>
      <p:sp>
        <p:nvSpPr>
          <p:cNvPr id="5" name="矩形 4"/>
          <p:cNvSpPr/>
          <p:nvPr/>
        </p:nvSpPr>
        <p:spPr>
          <a:xfrm>
            <a:off x="800100" y="3658504"/>
            <a:ext cx="377539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solidFill>
                  <a:srgbClr val="4D4D4D"/>
                </a:solidFill>
                <a:latin typeface="-apple-system"/>
              </a:rPr>
              <a:t>既然梯度</a:t>
            </a:r>
            <a:r>
              <a:rPr lang="zh-CN" altLang="en-US" sz="2800" dirty="0" smtClean="0">
                <a:solidFill>
                  <a:srgbClr val="4D4D4D"/>
                </a:solidFill>
                <a:latin typeface="-apple-system"/>
              </a:rPr>
              <a:t>是</a:t>
            </a:r>
            <a:r>
              <a:rPr lang="zh-CN" altLang="en-US" sz="2800" dirty="0">
                <a:solidFill>
                  <a:srgbClr val="4D4D4D"/>
                </a:solidFill>
                <a:latin typeface="-apple-system"/>
              </a:rPr>
              <a:t>向量</a:t>
            </a:r>
            <a:r>
              <a:rPr lang="zh-CN" altLang="en-US" sz="2800" dirty="0" smtClean="0">
                <a:solidFill>
                  <a:srgbClr val="4D4D4D"/>
                </a:solidFill>
                <a:latin typeface="-apple-system"/>
              </a:rPr>
              <a:t>，</a:t>
            </a:r>
            <a:r>
              <a:rPr lang="zh-CN" altLang="en-US" sz="2800" dirty="0">
                <a:solidFill>
                  <a:srgbClr val="4D4D4D"/>
                </a:solidFill>
                <a:latin typeface="-apple-system"/>
              </a:rPr>
              <a:t>如下</a:t>
            </a:r>
            <a:endParaRPr lang="zh-CN" altLang="en-US" sz="2800" dirty="0"/>
          </a:p>
        </p:txBody>
      </p:sp>
      <p:pic>
        <p:nvPicPr>
          <p:cNvPr id="25602" name="Picture 2" descr="在这里插入图片描述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3100" y="4336538"/>
            <a:ext cx="5943956" cy="1064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矩形 5"/>
          <p:cNvSpPr/>
          <p:nvPr/>
        </p:nvSpPr>
        <p:spPr>
          <a:xfrm>
            <a:off x="837879" y="5400675"/>
            <a:ext cx="9949183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rgbClr val="4D4D4D"/>
                </a:solidFill>
                <a:latin typeface="-apple-system"/>
              </a:rPr>
              <a:t>那么参考向量运算法则，我们在</a:t>
            </a:r>
            <a:r>
              <a:rPr lang="zh-CN" altLang="en-US" sz="2800" dirty="0" smtClean="0">
                <a:solidFill>
                  <a:srgbClr val="4D4D4D"/>
                </a:solidFill>
                <a:latin typeface="-apple-system"/>
              </a:rPr>
              <a:t>每个维度上</a:t>
            </a:r>
            <a:r>
              <a:rPr lang="zh-CN" altLang="en-US" sz="2800" dirty="0">
                <a:solidFill>
                  <a:srgbClr val="4D4D4D"/>
                </a:solidFill>
                <a:latin typeface="-apple-system"/>
              </a:rPr>
              <a:t>减小对应变量值即可，梯度下降法可以描述如下：</a:t>
            </a:r>
            <a:endParaRPr lang="zh-CN" altLang="en-US" sz="2800" dirty="0"/>
          </a:p>
        </p:txBody>
      </p:sp>
      <p:sp>
        <p:nvSpPr>
          <p:cNvPr id="11" name="矩形 10"/>
          <p:cNvSpPr/>
          <p:nvPr/>
        </p:nvSpPr>
        <p:spPr>
          <a:xfrm>
            <a:off x="292640" y="144950"/>
            <a:ext cx="215956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2800" dirty="0">
                <a:solidFill>
                  <a:schemeClr val="bg1"/>
                </a:solidFill>
              </a:rPr>
              <a:t>2.0 </a:t>
            </a:r>
            <a:r>
              <a:rPr kumimoji="1" lang="zh-CN" altLang="en-US" sz="2800" dirty="0" smtClean="0">
                <a:solidFill>
                  <a:schemeClr val="bg1"/>
                </a:solidFill>
              </a:rPr>
              <a:t>预备知识</a:t>
            </a:r>
            <a:endParaRPr kumimoji="1" lang="zh-CN" altLang="en-US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9683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10"/>
          <p:cNvSpPr/>
          <p:nvPr/>
        </p:nvSpPr>
        <p:spPr>
          <a:xfrm>
            <a:off x="0" y="-9532"/>
            <a:ext cx="12205648" cy="738010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8"/>
          <p:cNvSpPr/>
          <p:nvPr/>
        </p:nvSpPr>
        <p:spPr>
          <a:xfrm>
            <a:off x="0" y="728478"/>
            <a:ext cx="9400194" cy="5135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9"/>
          <p:cNvSpPr/>
          <p:nvPr/>
        </p:nvSpPr>
        <p:spPr>
          <a:xfrm>
            <a:off x="9135236" y="722278"/>
            <a:ext cx="3070412" cy="45719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6626" name="Picture 2" descr="在这里插入图片描述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7025" y="956258"/>
            <a:ext cx="2759075" cy="4566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矩形 2"/>
          <p:cNvSpPr/>
          <p:nvPr/>
        </p:nvSpPr>
        <p:spPr>
          <a:xfrm>
            <a:off x="2176462" y="5802138"/>
            <a:ext cx="9725026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rgbClr val="4F4F4F"/>
                </a:solidFill>
                <a:latin typeface="PingFang SC"/>
              </a:rPr>
              <a:t>以上就是梯度下降法的由来，大部分的机器学习任务，都可以利用</a:t>
            </a:r>
            <a:r>
              <a:rPr lang="en-US" altLang="zh-CN" sz="2800" dirty="0">
                <a:solidFill>
                  <a:srgbClr val="4F4F4F"/>
                </a:solidFill>
                <a:latin typeface="PingFang SC"/>
              </a:rPr>
              <a:t>Gradient Descent</a:t>
            </a:r>
            <a:r>
              <a:rPr lang="zh-CN" altLang="en-US" sz="2800" dirty="0">
                <a:solidFill>
                  <a:srgbClr val="4F4F4F"/>
                </a:solidFill>
                <a:latin typeface="PingFang SC"/>
              </a:rPr>
              <a:t>来进行优化。</a:t>
            </a:r>
            <a:endParaRPr lang="zh-CN" altLang="en-US" sz="2800" i="0" dirty="0">
              <a:solidFill>
                <a:srgbClr val="4F4F4F"/>
              </a:solidFill>
              <a:effectLst/>
              <a:latin typeface="PingFang SC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92640" y="144950"/>
            <a:ext cx="215956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2800" dirty="0">
                <a:solidFill>
                  <a:schemeClr val="bg1"/>
                </a:solidFill>
              </a:rPr>
              <a:t>2.0 </a:t>
            </a:r>
            <a:r>
              <a:rPr kumimoji="1" lang="zh-CN" altLang="en-US" sz="2800" dirty="0" smtClean="0">
                <a:solidFill>
                  <a:schemeClr val="bg1"/>
                </a:solidFill>
              </a:rPr>
              <a:t>预备知识</a:t>
            </a:r>
            <a:endParaRPr kumimoji="1" lang="zh-CN" altLang="en-US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9994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10"/>
          <p:cNvSpPr/>
          <p:nvPr/>
        </p:nvSpPr>
        <p:spPr>
          <a:xfrm>
            <a:off x="0" y="-9532"/>
            <a:ext cx="12205648" cy="738010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8"/>
          <p:cNvSpPr/>
          <p:nvPr/>
        </p:nvSpPr>
        <p:spPr>
          <a:xfrm>
            <a:off x="0" y="728478"/>
            <a:ext cx="9400194" cy="5135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9"/>
          <p:cNvSpPr/>
          <p:nvPr/>
        </p:nvSpPr>
        <p:spPr>
          <a:xfrm>
            <a:off x="9135236" y="722278"/>
            <a:ext cx="3070412" cy="45719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292640" y="144950"/>
            <a:ext cx="72327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2800" dirty="0">
                <a:solidFill>
                  <a:schemeClr val="bg1"/>
                </a:solidFill>
              </a:rPr>
              <a:t>2.0 </a:t>
            </a:r>
            <a:endParaRPr kumimoji="1" lang="zh-CN" altLang="en-US" sz="2800" dirty="0">
              <a:solidFill>
                <a:schemeClr val="bg1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292640" y="144950"/>
            <a:ext cx="215956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2800" dirty="0">
                <a:solidFill>
                  <a:schemeClr val="bg1"/>
                </a:solidFill>
              </a:rPr>
              <a:t>2.0 </a:t>
            </a:r>
            <a:r>
              <a:rPr kumimoji="1" lang="zh-CN" altLang="en-US" sz="2800" dirty="0" smtClean="0">
                <a:solidFill>
                  <a:schemeClr val="bg1"/>
                </a:solidFill>
              </a:rPr>
              <a:t>预备知识</a:t>
            </a:r>
            <a:endParaRPr kumimoji="1" lang="zh-CN" altLang="en-US" sz="2800" dirty="0">
              <a:solidFill>
                <a:schemeClr val="bg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110210" y="1561120"/>
            <a:ext cx="1133420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rgbClr val="121212"/>
                </a:solidFill>
                <a:latin typeface="-apple-system"/>
              </a:rPr>
              <a:t>梯度下降法是用来计算函数最小值的。它的思路很简单，想象在山顶放了一个球，一松手它就会顺着山坡最陡峭的地方滚落到谷底</a:t>
            </a:r>
            <a:endParaRPr lang="zh-CN" altLang="en-US" sz="2800" dirty="0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5700" y="2515227"/>
            <a:ext cx="5194248" cy="3211147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10210" y="5777727"/>
            <a:ext cx="11699063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rgbClr val="121212"/>
                </a:solidFill>
                <a:latin typeface="-apple-system"/>
              </a:rPr>
              <a:t>凸函数图像看上去就像上面的山谷，如果运用梯度下降法的话，就可以通过一步步的滚动最终来到谷底，也就是找到了函数的最小值。</a:t>
            </a:r>
            <a:endParaRPr lang="zh-CN" altLang="en-US" sz="2800" dirty="0"/>
          </a:p>
        </p:txBody>
      </p:sp>
      <p:sp>
        <p:nvSpPr>
          <p:cNvPr id="12" name="矩形 11"/>
          <p:cNvSpPr/>
          <p:nvPr/>
        </p:nvSpPr>
        <p:spPr>
          <a:xfrm>
            <a:off x="89380" y="777580"/>
            <a:ext cx="341632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b="1" dirty="0">
                <a:solidFill>
                  <a:srgbClr val="121212"/>
                </a:solidFill>
                <a:latin typeface="-apple-system"/>
              </a:rPr>
              <a:t>梯度</a:t>
            </a:r>
            <a:r>
              <a:rPr lang="zh-CN" altLang="en-US" sz="3600" b="1" dirty="0" smtClean="0">
                <a:solidFill>
                  <a:srgbClr val="121212"/>
                </a:solidFill>
                <a:latin typeface="-apple-system"/>
              </a:rPr>
              <a:t>下降法详解</a:t>
            </a:r>
            <a:endParaRPr lang="zh-CN" altLang="en-US" sz="3600" b="1" dirty="0"/>
          </a:p>
        </p:txBody>
      </p:sp>
      <p:sp>
        <p:nvSpPr>
          <p:cNvPr id="18" name="矩形 17"/>
          <p:cNvSpPr/>
          <p:nvPr/>
        </p:nvSpPr>
        <p:spPr>
          <a:xfrm>
            <a:off x="3505700" y="938518"/>
            <a:ext cx="44707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https://www.zhihu.com/question/305638940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44453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10"/>
          <p:cNvSpPr/>
          <p:nvPr/>
        </p:nvSpPr>
        <p:spPr>
          <a:xfrm>
            <a:off x="0" y="-9532"/>
            <a:ext cx="12205648" cy="738010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8"/>
          <p:cNvSpPr/>
          <p:nvPr/>
        </p:nvSpPr>
        <p:spPr>
          <a:xfrm>
            <a:off x="0" y="728478"/>
            <a:ext cx="9400194" cy="5135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 dirty="0"/>
          </a:p>
        </p:txBody>
      </p:sp>
      <p:sp>
        <p:nvSpPr>
          <p:cNvPr id="27" name="矩形 29"/>
          <p:cNvSpPr/>
          <p:nvPr/>
        </p:nvSpPr>
        <p:spPr>
          <a:xfrm>
            <a:off x="9135236" y="722278"/>
            <a:ext cx="3070412" cy="45719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292640" y="144950"/>
            <a:ext cx="72327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2800" dirty="0">
                <a:solidFill>
                  <a:schemeClr val="bg1"/>
                </a:solidFill>
              </a:rPr>
              <a:t>2.0 </a:t>
            </a:r>
            <a:endParaRPr kumimoji="1" lang="zh-CN" altLang="en-US" sz="2800" dirty="0">
              <a:solidFill>
                <a:schemeClr val="bg1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292640" y="144950"/>
            <a:ext cx="215956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2800" dirty="0">
                <a:solidFill>
                  <a:schemeClr val="bg1"/>
                </a:solidFill>
              </a:rPr>
              <a:t>2.0 </a:t>
            </a:r>
            <a:r>
              <a:rPr kumimoji="1" lang="zh-CN" altLang="en-US" sz="2800" dirty="0" smtClean="0">
                <a:solidFill>
                  <a:schemeClr val="bg1"/>
                </a:solidFill>
              </a:rPr>
              <a:t>预备知识</a:t>
            </a:r>
            <a:endParaRPr kumimoji="1" lang="zh-CN" altLang="en-US" sz="2800" dirty="0">
              <a:solidFill>
                <a:schemeClr val="bg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292640" y="1036848"/>
            <a:ext cx="126509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>
                <a:solidFill>
                  <a:srgbClr val="121212"/>
                </a:solidFill>
                <a:latin typeface="-apple-system"/>
              </a:rPr>
              <a:t>1 </a:t>
            </a:r>
            <a:r>
              <a:rPr lang="zh-CN" altLang="en-US" sz="2800" dirty="0">
                <a:solidFill>
                  <a:srgbClr val="121212"/>
                </a:solidFill>
                <a:latin typeface="-apple-system"/>
              </a:rPr>
              <a:t>动机</a:t>
            </a:r>
            <a:endParaRPr lang="zh-CN" altLang="en-US" sz="2800" dirty="0"/>
          </a:p>
        </p:txBody>
      </p:sp>
      <p:sp>
        <p:nvSpPr>
          <p:cNvPr id="9" name="AutoShape 2" descr="[公式]"/>
          <p:cNvSpPr>
            <a:spLocks noChangeAspect="1" noChangeArrowheads="1"/>
          </p:cNvSpPr>
          <p:nvPr/>
        </p:nvSpPr>
        <p:spPr bwMode="auto">
          <a:xfrm>
            <a:off x="43211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" name="AutoShape 3" descr="[公式]"/>
          <p:cNvSpPr>
            <a:spLocks noChangeAspect="1" noChangeArrowheads="1"/>
          </p:cNvSpPr>
          <p:nvPr/>
        </p:nvSpPr>
        <p:spPr bwMode="auto">
          <a:xfrm>
            <a:off x="5721350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" name="AutoShape 4" descr="[公式]"/>
          <p:cNvSpPr>
            <a:spLocks noChangeAspect="1" noChangeArrowheads="1"/>
          </p:cNvSpPr>
          <p:nvPr/>
        </p:nvSpPr>
        <p:spPr bwMode="auto">
          <a:xfrm>
            <a:off x="670242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grpSp>
        <p:nvGrpSpPr>
          <p:cNvPr id="16" name="组合 15"/>
          <p:cNvGrpSpPr/>
          <p:nvPr/>
        </p:nvGrpSpPr>
        <p:grpSpPr>
          <a:xfrm>
            <a:off x="1" y="1607914"/>
            <a:ext cx="12191999" cy="1384995"/>
            <a:chOff x="1" y="1607914"/>
            <a:chExt cx="12191999" cy="1384995"/>
          </a:xfrm>
        </p:grpSpPr>
        <p:sp>
          <p:nvSpPr>
            <p:cNvPr id="6" name="Rectangle 1"/>
            <p:cNvSpPr>
              <a:spLocks noChangeArrowheads="1"/>
            </p:cNvSpPr>
            <p:nvPr/>
          </p:nvSpPr>
          <p:spPr bwMode="auto">
            <a:xfrm>
              <a:off x="1" y="1607914"/>
              <a:ext cx="12191999" cy="138499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800" b="0" i="0" u="none" strike="noStrike" cap="none" normalizeH="0" baseline="0" dirty="0" smtClean="0">
                  <a:ln>
                    <a:noFill/>
                  </a:ln>
                  <a:solidFill>
                    <a:srgbClr val="121212"/>
                  </a:solidFill>
                  <a:effectLst/>
                  <a:latin typeface="Arial" panose="020B0604020202020204" pitchFamily="34" charset="0"/>
                  <a:ea typeface="-apple-system"/>
                </a:rPr>
                <a:t>先解释下为什么要有梯度下降法？</a:t>
              </a:r>
              <a:endParaRPr kumimoji="0" lang="en-US" altLang="zh-CN" sz="2800" b="0" i="0" u="none" strike="noStrike" cap="none" normalizeH="0" baseline="0" dirty="0" smtClean="0">
                <a:ln>
                  <a:noFill/>
                </a:ln>
                <a:solidFill>
                  <a:srgbClr val="121212"/>
                </a:solidFill>
                <a:effectLst/>
                <a:latin typeface="Arial" panose="020B0604020202020204" pitchFamily="34" charset="0"/>
                <a:ea typeface="-apple-system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800" b="0" i="0" u="none" strike="noStrike" cap="none" normalizeH="0" baseline="0" dirty="0" smtClean="0">
                  <a:ln>
                    <a:noFill/>
                  </a:ln>
                  <a:solidFill>
                    <a:srgbClr val="121212"/>
                  </a:solidFill>
                  <a:effectLst/>
                  <a:latin typeface="Arial" panose="020B0604020202020204" pitchFamily="34" charset="0"/>
                  <a:ea typeface="-apple-system"/>
                </a:rPr>
                <a:t>其实最简单的二维凸函数是抛物</a:t>
              </a:r>
              <a:r>
                <a:rPr kumimoji="0" lang="zh-CN" altLang="zh-CN" sz="28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  </a:t>
              </a:r>
              <a:r>
                <a:rPr kumimoji="0" lang="zh-CN" altLang="zh-CN" sz="2800" b="0" i="0" u="none" strike="noStrike" cap="none" normalizeH="0" baseline="0" dirty="0" smtClean="0">
                  <a:ln>
                    <a:noFill/>
                  </a:ln>
                  <a:solidFill>
                    <a:srgbClr val="121212"/>
                  </a:solidFill>
                  <a:effectLst/>
                  <a:latin typeface="Arial" panose="020B0604020202020204" pitchFamily="34" charset="0"/>
                  <a:ea typeface="-apple-system"/>
                </a:rPr>
                <a:t> </a:t>
              </a:r>
              <a:r>
                <a:rPr kumimoji="0" lang="en-US" altLang="zh-CN" sz="2800" b="0" i="0" u="none" strike="noStrike" cap="none" normalizeH="0" baseline="0" dirty="0" smtClean="0">
                  <a:ln>
                    <a:noFill/>
                  </a:ln>
                  <a:solidFill>
                    <a:srgbClr val="121212"/>
                  </a:solidFill>
                  <a:effectLst/>
                  <a:latin typeface="Arial" panose="020B0604020202020204" pitchFamily="34" charset="0"/>
                  <a:ea typeface="-apple-system"/>
                </a:rPr>
                <a:t>            </a:t>
              </a:r>
              <a:r>
                <a:rPr kumimoji="0" lang="zh-CN" altLang="zh-CN" sz="2800" b="0" i="0" u="none" strike="noStrike" cap="none" normalizeH="0" baseline="0" dirty="0" smtClean="0">
                  <a:ln>
                    <a:noFill/>
                  </a:ln>
                  <a:solidFill>
                    <a:srgbClr val="121212"/>
                  </a:solidFill>
                  <a:effectLst/>
                  <a:latin typeface="Arial" panose="020B0604020202020204" pitchFamily="34" charset="0"/>
                  <a:ea typeface="-apple-system"/>
                </a:rPr>
                <a:t>，很容易通过解方程</a:t>
              </a:r>
              <a:r>
                <a:rPr kumimoji="0" lang="zh-CN" altLang="zh-CN" sz="28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  </a:t>
              </a:r>
              <a:r>
                <a:rPr kumimoji="0" lang="zh-CN" altLang="zh-CN" sz="2800" b="0" i="0" u="none" strike="noStrike" cap="none" normalizeH="0" baseline="0" dirty="0" smtClean="0">
                  <a:ln>
                    <a:noFill/>
                  </a:ln>
                  <a:solidFill>
                    <a:srgbClr val="121212"/>
                  </a:solidFill>
                  <a:effectLst/>
                  <a:latin typeface="Arial" panose="020B0604020202020204" pitchFamily="34" charset="0"/>
                  <a:ea typeface="-apple-system"/>
                </a:rPr>
                <a:t> </a:t>
              </a:r>
              <a:r>
                <a:rPr kumimoji="0" lang="en-US" altLang="zh-CN" sz="2800" b="0" i="0" u="none" strike="noStrike" cap="none" normalizeH="0" baseline="0" dirty="0" smtClean="0">
                  <a:ln>
                    <a:noFill/>
                  </a:ln>
                  <a:solidFill>
                    <a:srgbClr val="121212"/>
                  </a:solidFill>
                  <a:effectLst/>
                  <a:latin typeface="Arial" panose="020B0604020202020204" pitchFamily="34" charset="0"/>
                  <a:ea typeface="-apple-system"/>
                </a:rPr>
                <a:t>              </a:t>
              </a:r>
              <a:r>
                <a:rPr kumimoji="0" lang="zh-CN" altLang="zh-CN" sz="2800" b="0" i="0" u="none" strike="noStrike" cap="none" normalizeH="0" baseline="0" dirty="0" smtClean="0">
                  <a:ln>
                    <a:noFill/>
                  </a:ln>
                  <a:solidFill>
                    <a:srgbClr val="121212"/>
                  </a:solidFill>
                  <a:effectLst/>
                  <a:latin typeface="Arial" panose="020B0604020202020204" pitchFamily="34" charset="0"/>
                  <a:ea typeface="-apple-system"/>
                </a:rPr>
                <a:t>求出最小值在</a:t>
              </a:r>
              <a:r>
                <a:rPr kumimoji="0" lang="zh-CN" altLang="zh-CN" sz="28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  </a:t>
              </a:r>
              <a:r>
                <a:rPr kumimoji="0" lang="zh-CN" altLang="zh-CN" sz="2800" b="0" i="0" u="none" strike="noStrike" cap="none" normalizeH="0" baseline="0" dirty="0" smtClean="0">
                  <a:ln>
                    <a:noFill/>
                  </a:ln>
                  <a:solidFill>
                    <a:srgbClr val="121212"/>
                  </a:solidFill>
                  <a:effectLst/>
                  <a:latin typeface="Arial" panose="020B0604020202020204" pitchFamily="34" charset="0"/>
                  <a:ea typeface="-apple-system"/>
                </a:rPr>
                <a:t> </a:t>
              </a:r>
              <a:r>
                <a:rPr kumimoji="0" lang="en-US" altLang="zh-CN" sz="2800" b="0" i="0" u="none" strike="noStrike" cap="none" normalizeH="0" baseline="0" dirty="0" smtClean="0">
                  <a:ln>
                    <a:noFill/>
                  </a:ln>
                  <a:solidFill>
                    <a:srgbClr val="121212"/>
                  </a:solidFill>
                  <a:effectLst/>
                  <a:latin typeface="Arial" panose="020B0604020202020204" pitchFamily="34" charset="0"/>
                  <a:ea typeface="-apple-system"/>
                </a:rPr>
                <a:t>          </a:t>
              </a:r>
              <a:r>
                <a:rPr kumimoji="0" lang="zh-CN" altLang="zh-CN" sz="2800" b="0" i="0" u="none" strike="noStrike" cap="none" normalizeH="0" baseline="0" dirty="0" smtClean="0">
                  <a:ln>
                    <a:noFill/>
                  </a:ln>
                  <a:solidFill>
                    <a:srgbClr val="121212"/>
                  </a:solidFill>
                  <a:effectLst/>
                  <a:latin typeface="Arial" panose="020B0604020202020204" pitchFamily="34" charset="0"/>
                  <a:ea typeface="-apple-system"/>
                </a:rPr>
                <a:t>处：</a:t>
              </a:r>
              <a:r>
                <a:rPr kumimoji="0" lang="zh-CN" altLang="zh-CN" sz="28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 </a:t>
              </a:r>
            </a:p>
          </p:txBody>
        </p: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191676" y="2029450"/>
              <a:ext cx="1364148" cy="541921"/>
            </a:xfrm>
            <a:prstGeom prst="rect">
              <a:avLst/>
            </a:prstGeom>
          </p:spPr>
        </p:pic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837465" y="2029450"/>
              <a:ext cx="1440851" cy="527636"/>
            </a:xfrm>
            <a:prstGeom prst="rect">
              <a:avLst/>
            </a:prstGeom>
          </p:spPr>
        </p:pic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125252" y="2470035"/>
              <a:ext cx="657137" cy="522874"/>
            </a:xfrm>
            <a:prstGeom prst="rect">
              <a:avLst/>
            </a:prstGeom>
          </p:spPr>
        </p:pic>
      </p:grpSp>
      <p:pic>
        <p:nvPicPr>
          <p:cNvPr id="17" name="图片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52453" y="3433492"/>
            <a:ext cx="5687460" cy="2327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41795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10"/>
          <p:cNvSpPr/>
          <p:nvPr/>
        </p:nvSpPr>
        <p:spPr>
          <a:xfrm>
            <a:off x="0" y="-9532"/>
            <a:ext cx="12205648" cy="738010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8"/>
          <p:cNvSpPr/>
          <p:nvPr/>
        </p:nvSpPr>
        <p:spPr>
          <a:xfrm>
            <a:off x="0" y="728478"/>
            <a:ext cx="9400194" cy="5135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9"/>
          <p:cNvSpPr/>
          <p:nvPr/>
        </p:nvSpPr>
        <p:spPr>
          <a:xfrm>
            <a:off x="9135236" y="722278"/>
            <a:ext cx="3070412" cy="45719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292640" y="144950"/>
            <a:ext cx="72327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2800" dirty="0">
                <a:solidFill>
                  <a:schemeClr val="bg1"/>
                </a:solidFill>
              </a:rPr>
              <a:t>2.0 </a:t>
            </a:r>
            <a:endParaRPr kumimoji="1" lang="zh-CN" altLang="en-US" sz="2800" dirty="0">
              <a:solidFill>
                <a:schemeClr val="bg1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292640" y="144950"/>
            <a:ext cx="215956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2800" dirty="0">
                <a:solidFill>
                  <a:schemeClr val="bg1"/>
                </a:solidFill>
              </a:rPr>
              <a:t>2.0 </a:t>
            </a:r>
            <a:r>
              <a:rPr kumimoji="1" lang="zh-CN" altLang="en-US" sz="2800" dirty="0" smtClean="0">
                <a:solidFill>
                  <a:schemeClr val="bg1"/>
                </a:solidFill>
              </a:rPr>
              <a:t>预备知识</a:t>
            </a:r>
            <a:endParaRPr kumimoji="1" lang="zh-CN" altLang="en-US" sz="2800" dirty="0">
              <a:solidFill>
                <a:schemeClr val="bg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0" y="822652"/>
            <a:ext cx="11991703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rgbClr val="121212"/>
                </a:solidFill>
                <a:latin typeface="-apple-system"/>
              </a:rPr>
              <a:t>只是有一些凸函数，比如下面这个二元函数（该函数实际上是逻辑回归的经验误差函数，在</a:t>
            </a:r>
            <a:r>
              <a:rPr lang="zh-CN" altLang="en-US" sz="2800" dirty="0">
                <a:latin typeface="-apple-system"/>
                <a:hlinkClick r:id="rId2"/>
              </a:rPr>
              <a:t>监督式学习</a:t>
            </a:r>
            <a:r>
              <a:rPr lang="zh-CN" altLang="en-US" sz="2800" dirty="0">
                <a:solidFill>
                  <a:srgbClr val="121212"/>
                </a:solidFill>
                <a:latin typeface="-apple-system"/>
              </a:rPr>
              <a:t>中确实需要求它的最小值）</a:t>
            </a:r>
            <a:endParaRPr lang="zh-CN" altLang="en-US" sz="28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0138" y="1840097"/>
            <a:ext cx="6382966" cy="1536113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0" y="3245405"/>
            <a:ext cx="664797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solidFill>
                  <a:srgbClr val="121212"/>
                </a:solidFill>
                <a:latin typeface="-apple-system"/>
              </a:rPr>
              <a:t>要求它的最小值点就需要解如下方程组：</a:t>
            </a:r>
            <a:endParaRPr lang="zh-CN" altLang="en-US" sz="2800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9185" y="3768625"/>
            <a:ext cx="4537901" cy="3185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0309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10"/>
          <p:cNvSpPr/>
          <p:nvPr/>
        </p:nvSpPr>
        <p:spPr>
          <a:xfrm>
            <a:off x="0" y="-9532"/>
            <a:ext cx="12205648" cy="738010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8"/>
          <p:cNvSpPr/>
          <p:nvPr/>
        </p:nvSpPr>
        <p:spPr>
          <a:xfrm>
            <a:off x="0" y="728478"/>
            <a:ext cx="9400194" cy="5135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9"/>
          <p:cNvSpPr/>
          <p:nvPr/>
        </p:nvSpPr>
        <p:spPr>
          <a:xfrm>
            <a:off x="9135236" y="722278"/>
            <a:ext cx="3070412" cy="45719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292640" y="144950"/>
            <a:ext cx="72327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2800" dirty="0">
                <a:solidFill>
                  <a:schemeClr val="bg1"/>
                </a:solidFill>
              </a:rPr>
              <a:t>2.0 </a:t>
            </a:r>
            <a:endParaRPr kumimoji="1" lang="zh-CN" altLang="en-US" sz="2800" dirty="0">
              <a:solidFill>
                <a:schemeClr val="bg1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292640" y="144950"/>
            <a:ext cx="215956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2800" dirty="0">
                <a:solidFill>
                  <a:schemeClr val="bg1"/>
                </a:solidFill>
              </a:rPr>
              <a:t>2.0 </a:t>
            </a:r>
            <a:r>
              <a:rPr kumimoji="1" lang="zh-CN" altLang="en-US" sz="2800" dirty="0" smtClean="0">
                <a:solidFill>
                  <a:schemeClr val="bg1"/>
                </a:solidFill>
              </a:rPr>
              <a:t>预备知识</a:t>
            </a:r>
            <a:endParaRPr kumimoji="1" lang="zh-CN" altLang="en-US" sz="2800" dirty="0">
              <a:solidFill>
                <a:schemeClr val="bg1"/>
              </a:solidFill>
            </a:endParaRP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876215"/>
            <a:ext cx="12318274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0" i="0" u="none" strike="noStrike" cap="none" normalizeH="0" baseline="0" dirty="0" smtClean="0">
                <a:ln>
                  <a:noFill/>
                </a:ln>
                <a:solidFill>
                  <a:srgbClr val="121212"/>
                </a:solidFill>
                <a:effectLst/>
                <a:latin typeface="Arial" panose="020B0604020202020204" pitchFamily="34" charset="0"/>
                <a:ea typeface="-apple-system"/>
              </a:rPr>
              <a:t>这个方程组实在太复杂了，直接求解难度太高，好在</a:t>
            </a:r>
            <a:r>
              <a:rPr kumimoji="0" lang="en-US" altLang="zh-CN" sz="2800" b="0" i="0" u="none" strike="noStrike" cap="none" normalizeH="0" baseline="0" dirty="0" smtClean="0">
                <a:ln>
                  <a:noFill/>
                </a:ln>
                <a:solidFill>
                  <a:srgbClr val="121212"/>
                </a:solidFill>
                <a:effectLst/>
                <a:latin typeface="Arial" panose="020B0604020202020204" pitchFamily="34" charset="0"/>
                <a:ea typeface="-apple-system"/>
              </a:rPr>
              <a:t> </a:t>
            </a:r>
            <a:r>
              <a:rPr kumimoji="0" lang="zh-CN" altLang="zh-CN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</a:t>
            </a:r>
            <a:r>
              <a:rPr kumimoji="0" lang="zh-CN" altLang="zh-CN" sz="2800" b="0" i="0" u="none" strike="noStrike" cap="none" normalizeH="0" baseline="0" dirty="0" smtClean="0">
                <a:ln>
                  <a:noFill/>
                </a:ln>
                <a:solidFill>
                  <a:srgbClr val="121212"/>
                </a:solidFill>
                <a:effectLst/>
                <a:latin typeface="Arial" panose="020B0604020202020204" pitchFamily="34" charset="0"/>
                <a:ea typeface="-apple-system"/>
              </a:rPr>
              <a:t> </a:t>
            </a:r>
            <a:r>
              <a:rPr kumimoji="0" lang="en-US" altLang="zh-CN" sz="2800" b="0" i="0" u="none" strike="noStrike" cap="none" normalizeH="0" baseline="0" dirty="0" smtClean="0">
                <a:ln>
                  <a:noFill/>
                </a:ln>
                <a:solidFill>
                  <a:srgbClr val="121212"/>
                </a:solidFill>
                <a:effectLst/>
                <a:latin typeface="Arial" panose="020B0604020202020204" pitchFamily="34" charset="0"/>
                <a:ea typeface="-apple-system"/>
              </a:rPr>
              <a:t>         </a:t>
            </a:r>
            <a:r>
              <a:rPr kumimoji="0" lang="zh-CN" altLang="zh-CN" sz="2800" b="0" i="0" u="none" strike="noStrike" cap="none" normalizeH="0" baseline="0" dirty="0" smtClean="0">
                <a:ln>
                  <a:noFill/>
                </a:ln>
                <a:solidFill>
                  <a:srgbClr val="121212"/>
                </a:solidFill>
                <a:effectLst/>
                <a:latin typeface="Arial" panose="020B0604020202020204" pitchFamily="34" charset="0"/>
                <a:ea typeface="-apple-system"/>
              </a:rPr>
              <a:t>的图像就像一座山谷：</a:t>
            </a:r>
            <a:r>
              <a:rPr kumimoji="0" lang="zh-CN" altLang="zh-CN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3" name="AutoShape 2" descr="[公式]"/>
          <p:cNvSpPr>
            <a:spLocks noChangeAspect="1" noChangeArrowheads="1"/>
          </p:cNvSpPr>
          <p:nvPr/>
        </p:nvSpPr>
        <p:spPr bwMode="auto">
          <a:xfrm>
            <a:off x="3343274" y="1000107"/>
            <a:ext cx="302021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28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2175" y="986577"/>
            <a:ext cx="1199837" cy="411372"/>
          </a:xfrm>
          <a:prstGeom prst="rect">
            <a:avLst/>
          </a:prstGeom>
        </p:spPr>
      </p:pic>
      <p:pic>
        <p:nvPicPr>
          <p:cNvPr id="10" name="b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3245324" y="1978059"/>
            <a:ext cx="7356316" cy="3678158"/>
          </a:xfrm>
          <a:prstGeom prst="rect">
            <a:avLst/>
          </a:prstGeom>
        </p:spPr>
      </p:pic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0" y="5668927"/>
            <a:ext cx="1029320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0" i="0" u="none" strike="noStrike" cap="none" normalizeH="0" baseline="0" dirty="0" smtClean="0">
                <a:ln>
                  <a:noFill/>
                </a:ln>
                <a:solidFill>
                  <a:srgbClr val="121212"/>
                </a:solidFill>
                <a:effectLst/>
                <a:latin typeface="Arial" panose="020B0604020202020204" pitchFamily="34" charset="0"/>
                <a:ea typeface="-apple-system"/>
              </a:rPr>
              <a:t>所以可以用梯度下降法来找到</a:t>
            </a:r>
            <a:r>
              <a:rPr kumimoji="0" lang="zh-CN" altLang="zh-CN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zh-CN" altLang="zh-CN" sz="2800" b="0" i="0" u="none" strike="noStrike" cap="none" normalizeH="0" baseline="0" dirty="0" smtClean="0">
                <a:ln>
                  <a:noFill/>
                </a:ln>
                <a:solidFill>
                  <a:srgbClr val="121212"/>
                </a:solidFill>
                <a:effectLst/>
                <a:latin typeface="Arial" panose="020B0604020202020204" pitchFamily="34" charset="0"/>
                <a:ea typeface="-apple-system"/>
              </a:rPr>
              <a:t> </a:t>
            </a:r>
            <a:r>
              <a:rPr kumimoji="0" lang="en-US" altLang="zh-CN" sz="2800" b="0" i="0" u="none" strike="noStrike" cap="none" normalizeH="0" baseline="0" dirty="0" smtClean="0">
                <a:ln>
                  <a:noFill/>
                </a:ln>
                <a:solidFill>
                  <a:srgbClr val="121212"/>
                </a:solidFill>
                <a:effectLst/>
                <a:latin typeface="Arial" panose="020B0604020202020204" pitchFamily="34" charset="0"/>
                <a:ea typeface="-apple-system"/>
              </a:rPr>
              <a:t>            </a:t>
            </a:r>
            <a:r>
              <a:rPr kumimoji="0" lang="zh-CN" altLang="zh-CN" sz="2800" b="0" i="0" u="none" strike="noStrike" cap="none" normalizeH="0" baseline="0" dirty="0" smtClean="0">
                <a:ln>
                  <a:noFill/>
                </a:ln>
                <a:solidFill>
                  <a:srgbClr val="121212"/>
                </a:solidFill>
                <a:effectLst/>
                <a:latin typeface="Arial" panose="020B0604020202020204" pitchFamily="34" charset="0"/>
                <a:ea typeface="-apple-system"/>
              </a:rPr>
              <a:t>的谷底，也就是最小值。</a:t>
            </a:r>
            <a:r>
              <a:rPr kumimoji="0" lang="zh-CN" altLang="zh-CN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6" name="AutoShape 4" descr="[公式]"/>
          <p:cNvSpPr>
            <a:spLocks noChangeAspect="1" noChangeArrowheads="1"/>
          </p:cNvSpPr>
          <p:nvPr/>
        </p:nvSpPr>
        <p:spPr bwMode="auto">
          <a:xfrm>
            <a:off x="1946275" y="5786074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2800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2987" y="5786074"/>
            <a:ext cx="1199837" cy="411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543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10"/>
          <p:cNvSpPr/>
          <p:nvPr/>
        </p:nvSpPr>
        <p:spPr>
          <a:xfrm>
            <a:off x="0" y="-9532"/>
            <a:ext cx="12205648" cy="738010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8"/>
          <p:cNvSpPr/>
          <p:nvPr/>
        </p:nvSpPr>
        <p:spPr>
          <a:xfrm>
            <a:off x="0" y="728478"/>
            <a:ext cx="9400194" cy="5135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9"/>
          <p:cNvSpPr/>
          <p:nvPr/>
        </p:nvSpPr>
        <p:spPr>
          <a:xfrm>
            <a:off x="9135236" y="722278"/>
            <a:ext cx="3070412" cy="45719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292640" y="144950"/>
            <a:ext cx="72327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2800" dirty="0">
                <a:solidFill>
                  <a:schemeClr val="bg1"/>
                </a:solidFill>
              </a:rPr>
              <a:t>2.0 </a:t>
            </a:r>
            <a:endParaRPr kumimoji="1" lang="zh-CN" altLang="en-US" sz="2800" dirty="0">
              <a:solidFill>
                <a:schemeClr val="bg1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292640" y="144950"/>
            <a:ext cx="215956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2800" dirty="0">
                <a:solidFill>
                  <a:schemeClr val="bg1"/>
                </a:solidFill>
              </a:rPr>
              <a:t>2.0 </a:t>
            </a:r>
            <a:r>
              <a:rPr kumimoji="1" lang="zh-CN" altLang="en-US" sz="2800" dirty="0" smtClean="0">
                <a:solidFill>
                  <a:schemeClr val="bg1"/>
                </a:solidFill>
              </a:rPr>
              <a:t>预备知识</a:t>
            </a:r>
            <a:endParaRPr kumimoji="1" lang="zh-CN" altLang="en-US" sz="2800" dirty="0">
              <a:solidFill>
                <a:schemeClr val="bg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114065" y="1036848"/>
            <a:ext cx="270138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>
                <a:solidFill>
                  <a:srgbClr val="121212"/>
                </a:solidFill>
                <a:latin typeface="-apple-system"/>
              </a:rPr>
              <a:t>2 </a:t>
            </a:r>
            <a:r>
              <a:rPr lang="zh-CN" altLang="en-US" sz="2800" b="1" dirty="0">
                <a:solidFill>
                  <a:srgbClr val="121212"/>
                </a:solidFill>
                <a:latin typeface="-apple-system"/>
              </a:rPr>
              <a:t>最简单的例子</a:t>
            </a:r>
            <a:endParaRPr lang="zh-CN" altLang="en-US" sz="2800" dirty="0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1601642"/>
            <a:ext cx="12205648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0" i="0" u="none" strike="noStrike" cap="none" normalizeH="0" baseline="0" dirty="0" smtClean="0">
                <a:ln>
                  <a:noFill/>
                </a:ln>
                <a:solidFill>
                  <a:srgbClr val="121212"/>
                </a:solidFill>
                <a:effectLst/>
                <a:latin typeface="Arial" panose="020B0604020202020204" pitchFamily="34" charset="0"/>
                <a:ea typeface="-apple-system"/>
              </a:rPr>
              <a:t>梯度下降法在本文不打算进行严格地证明和讲解，主要通过一些例子来讲解，先从最简单的凸函数</a:t>
            </a:r>
            <a:r>
              <a:rPr kumimoji="0" lang="zh-CN" altLang="zh-CN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</a:t>
            </a:r>
            <a:r>
              <a:rPr kumimoji="0" lang="zh-CN" altLang="zh-CN" sz="2800" b="0" i="0" u="none" strike="noStrike" cap="none" normalizeH="0" baseline="0" dirty="0" smtClean="0">
                <a:ln>
                  <a:noFill/>
                </a:ln>
                <a:solidFill>
                  <a:srgbClr val="121212"/>
                </a:solidFill>
                <a:effectLst/>
                <a:latin typeface="Arial" panose="020B0604020202020204" pitchFamily="34" charset="0"/>
                <a:ea typeface="-apple-system"/>
              </a:rPr>
              <a:t> </a:t>
            </a:r>
            <a:r>
              <a:rPr kumimoji="0" lang="en-US" altLang="zh-CN" sz="2800" b="0" i="0" u="none" strike="noStrike" cap="none" normalizeH="0" baseline="0" dirty="0" smtClean="0">
                <a:ln>
                  <a:noFill/>
                </a:ln>
                <a:solidFill>
                  <a:srgbClr val="121212"/>
                </a:solidFill>
                <a:effectLst/>
                <a:latin typeface="Arial" panose="020B0604020202020204" pitchFamily="34" charset="0"/>
                <a:ea typeface="-apple-system"/>
              </a:rPr>
              <a:t>               </a:t>
            </a:r>
            <a:r>
              <a:rPr kumimoji="0" lang="zh-CN" altLang="zh-CN" sz="2800" b="0" i="0" u="none" strike="noStrike" cap="none" normalizeH="0" baseline="0" dirty="0" smtClean="0">
                <a:ln>
                  <a:noFill/>
                </a:ln>
                <a:solidFill>
                  <a:srgbClr val="121212"/>
                </a:solidFill>
                <a:effectLst/>
                <a:latin typeface="Arial" panose="020B0604020202020204" pitchFamily="34" charset="0"/>
                <a:ea typeface="-apple-system"/>
              </a:rPr>
              <a:t>开始讲起。</a:t>
            </a:r>
            <a:r>
              <a:rPr kumimoji="0" lang="zh-CN" altLang="zh-CN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4" name="AutoShape 2" descr="[公式]"/>
          <p:cNvSpPr>
            <a:spLocks noChangeAspect="1" noChangeArrowheads="1"/>
          </p:cNvSpPr>
          <p:nvPr/>
        </p:nvSpPr>
        <p:spPr bwMode="auto">
          <a:xfrm>
            <a:off x="6137275" y="1934232"/>
            <a:ext cx="208797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280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7120" y="2024043"/>
            <a:ext cx="1639463" cy="531706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227879" y="2641257"/>
            <a:ext cx="234551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>
                <a:solidFill>
                  <a:srgbClr val="121212"/>
                </a:solidFill>
                <a:latin typeface="-apple-system"/>
              </a:rPr>
              <a:t>2.1 </a:t>
            </a:r>
            <a:r>
              <a:rPr lang="zh-CN" altLang="en-US" sz="2800" b="1" dirty="0">
                <a:solidFill>
                  <a:srgbClr val="121212"/>
                </a:solidFill>
                <a:latin typeface="-apple-system"/>
              </a:rPr>
              <a:t>梯度向量</a:t>
            </a:r>
            <a:endParaRPr lang="zh-CN" altLang="en-US" sz="2800" dirty="0"/>
          </a:p>
        </p:txBody>
      </p:sp>
      <p:sp>
        <p:nvSpPr>
          <p:cNvPr id="10" name="AutoShape 4" descr="[公式]"/>
          <p:cNvSpPr>
            <a:spLocks noChangeAspect="1" noChangeArrowheads="1"/>
          </p:cNvSpPr>
          <p:nvPr/>
        </p:nvSpPr>
        <p:spPr bwMode="auto">
          <a:xfrm>
            <a:off x="908288" y="349470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2800"/>
          </a:p>
        </p:txBody>
      </p:sp>
      <p:sp>
        <p:nvSpPr>
          <p:cNvPr id="11" name="AutoShape 5" descr="[公式]"/>
          <p:cNvSpPr>
            <a:spLocks noChangeAspect="1" noChangeArrowheads="1"/>
          </p:cNvSpPr>
          <p:nvPr/>
        </p:nvSpPr>
        <p:spPr bwMode="auto">
          <a:xfrm>
            <a:off x="2308463" y="349470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2800"/>
          </a:p>
        </p:txBody>
      </p:sp>
      <p:grpSp>
        <p:nvGrpSpPr>
          <p:cNvPr id="14" name="组合 13"/>
          <p:cNvGrpSpPr/>
          <p:nvPr/>
        </p:nvGrpSpPr>
        <p:grpSpPr>
          <a:xfrm>
            <a:off x="79613" y="3377560"/>
            <a:ext cx="8055410" cy="523220"/>
            <a:chOff x="79613" y="3377560"/>
            <a:chExt cx="8055410" cy="523220"/>
          </a:xfrm>
        </p:grpSpPr>
        <p:sp>
          <p:nvSpPr>
            <p:cNvPr id="9" name="Rectangle 3"/>
            <p:cNvSpPr>
              <a:spLocks noChangeArrowheads="1"/>
            </p:cNvSpPr>
            <p:nvPr/>
          </p:nvSpPr>
          <p:spPr bwMode="auto">
            <a:xfrm>
              <a:off x="79613" y="3377560"/>
              <a:ext cx="8055410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800" b="0" i="0" u="none" strike="noStrike" cap="none" normalizeH="0" baseline="0" dirty="0" smtClean="0">
                  <a:ln>
                    <a:noFill/>
                  </a:ln>
                  <a:solidFill>
                    <a:srgbClr val="121212"/>
                  </a:solidFill>
                  <a:effectLst/>
                  <a:latin typeface="Arial" panose="020B0604020202020204" pitchFamily="34" charset="0"/>
                  <a:ea typeface="-apple-system"/>
                </a:rPr>
                <a:t>假设起点在</a:t>
              </a:r>
              <a:r>
                <a:rPr kumimoji="0" lang="zh-CN" altLang="zh-CN" sz="28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  </a:t>
              </a:r>
              <a:r>
                <a:rPr kumimoji="0" lang="zh-CN" altLang="zh-CN" sz="2800" b="0" i="0" u="none" strike="noStrike" cap="none" normalizeH="0" baseline="0" dirty="0" smtClean="0">
                  <a:ln>
                    <a:noFill/>
                  </a:ln>
                  <a:solidFill>
                    <a:srgbClr val="121212"/>
                  </a:solidFill>
                  <a:effectLst/>
                  <a:latin typeface="Arial" panose="020B0604020202020204" pitchFamily="34" charset="0"/>
                  <a:ea typeface="-apple-system"/>
                </a:rPr>
                <a:t> </a:t>
              </a:r>
              <a:r>
                <a:rPr kumimoji="0" lang="en-US" altLang="zh-CN" sz="2800" b="0" i="0" u="none" strike="noStrike" cap="none" normalizeH="0" baseline="0" dirty="0" smtClean="0">
                  <a:ln>
                    <a:noFill/>
                  </a:ln>
                  <a:solidFill>
                    <a:srgbClr val="121212"/>
                  </a:solidFill>
                  <a:effectLst/>
                  <a:latin typeface="Arial" panose="020B0604020202020204" pitchFamily="34" charset="0"/>
                  <a:ea typeface="-apple-system"/>
                </a:rPr>
                <a:t>       </a:t>
              </a:r>
              <a:r>
                <a:rPr kumimoji="0" lang="zh-CN" altLang="zh-CN" sz="2800" b="0" i="0" u="none" strike="noStrike" cap="none" normalizeH="0" baseline="0" dirty="0" smtClean="0">
                  <a:ln>
                    <a:noFill/>
                  </a:ln>
                  <a:solidFill>
                    <a:srgbClr val="121212"/>
                  </a:solidFill>
                  <a:effectLst/>
                  <a:latin typeface="Arial" panose="020B0604020202020204" pitchFamily="34" charset="0"/>
                  <a:ea typeface="-apple-system"/>
                </a:rPr>
                <a:t>处，也就是将球放在</a:t>
              </a:r>
              <a:r>
                <a:rPr kumimoji="0" lang="zh-CN" altLang="zh-CN" sz="28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  </a:t>
              </a:r>
              <a:r>
                <a:rPr kumimoji="0" lang="en-US" altLang="zh-CN" sz="28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           </a:t>
              </a:r>
              <a:r>
                <a:rPr kumimoji="0" lang="zh-CN" altLang="zh-CN" sz="2800" b="0" i="0" u="none" strike="noStrike" cap="none" normalizeH="0" baseline="0" dirty="0" smtClean="0">
                  <a:ln>
                    <a:noFill/>
                  </a:ln>
                  <a:solidFill>
                    <a:srgbClr val="121212"/>
                  </a:solidFill>
                  <a:effectLst/>
                  <a:latin typeface="Arial" panose="020B0604020202020204" pitchFamily="34" charset="0"/>
                  <a:ea typeface="-apple-system"/>
                </a:rPr>
                <a:t> ：</a:t>
              </a:r>
              <a:r>
                <a:rPr kumimoji="0" lang="zh-CN" altLang="zh-CN" sz="28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 </a:t>
              </a:r>
            </a:p>
          </p:txBody>
        </p:sp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041763" y="3474694"/>
              <a:ext cx="915381" cy="324813"/>
            </a:xfrm>
            <a:prstGeom prst="rect">
              <a:avLst/>
            </a:prstGeom>
          </p:spPr>
        </p:pic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26238" y="3440019"/>
              <a:ext cx="1013102" cy="359488"/>
            </a:xfrm>
            <a:prstGeom prst="rect">
              <a:avLst/>
            </a:prstGeom>
          </p:spPr>
        </p:pic>
      </p:grpSp>
      <p:pic>
        <p:nvPicPr>
          <p:cNvPr id="15" name="图片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92773" y="3943714"/>
            <a:ext cx="4647619" cy="2757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829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10"/>
          <p:cNvSpPr/>
          <p:nvPr/>
        </p:nvSpPr>
        <p:spPr>
          <a:xfrm>
            <a:off x="0" y="-9532"/>
            <a:ext cx="12205648" cy="738010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8"/>
          <p:cNvSpPr/>
          <p:nvPr/>
        </p:nvSpPr>
        <p:spPr>
          <a:xfrm>
            <a:off x="0" y="728478"/>
            <a:ext cx="9400194" cy="5135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9"/>
          <p:cNvSpPr/>
          <p:nvPr/>
        </p:nvSpPr>
        <p:spPr>
          <a:xfrm>
            <a:off x="9135236" y="722278"/>
            <a:ext cx="3070412" cy="45719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292640" y="144950"/>
            <a:ext cx="72327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2800" dirty="0">
                <a:solidFill>
                  <a:schemeClr val="bg1"/>
                </a:solidFill>
              </a:rPr>
              <a:t>2.0 </a:t>
            </a:r>
            <a:endParaRPr kumimoji="1" lang="zh-CN" altLang="en-US" sz="2800" dirty="0">
              <a:solidFill>
                <a:schemeClr val="bg1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292640" y="144950"/>
            <a:ext cx="215956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2800" dirty="0">
                <a:solidFill>
                  <a:schemeClr val="bg1"/>
                </a:solidFill>
              </a:rPr>
              <a:t>2.0 </a:t>
            </a:r>
            <a:r>
              <a:rPr kumimoji="1" lang="zh-CN" altLang="en-US" sz="2800" dirty="0" smtClean="0">
                <a:solidFill>
                  <a:schemeClr val="bg1"/>
                </a:solidFill>
              </a:rPr>
              <a:t>预备知识</a:t>
            </a:r>
            <a:endParaRPr kumimoji="1" lang="zh-CN" altLang="en-US" sz="2800" dirty="0">
              <a:solidFill>
                <a:schemeClr val="bg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0" y="1020328"/>
            <a:ext cx="395492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solidFill>
                  <a:srgbClr val="121212"/>
                </a:solidFill>
                <a:latin typeface="-apple-system"/>
              </a:rPr>
              <a:t>它的梯度为 </a:t>
            </a:r>
            <a:r>
              <a:rPr lang="en-US" altLang="zh-CN" sz="2800" dirty="0">
                <a:solidFill>
                  <a:srgbClr val="121212"/>
                </a:solidFill>
                <a:latin typeface="-apple-system"/>
              </a:rPr>
              <a:t>1 </a:t>
            </a:r>
            <a:r>
              <a:rPr lang="zh-CN" altLang="en-US" sz="2800" dirty="0">
                <a:solidFill>
                  <a:srgbClr val="121212"/>
                </a:solidFill>
                <a:latin typeface="-apple-system"/>
              </a:rPr>
              <a:t>维向量：</a:t>
            </a:r>
            <a:endParaRPr lang="zh-CN" altLang="en-US" sz="28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9651" y="1709843"/>
            <a:ext cx="5801338" cy="471653"/>
          </a:xfrm>
          <a:prstGeom prst="rect">
            <a:avLst/>
          </a:prstGeom>
        </p:spPr>
      </p:pic>
      <p:sp>
        <p:nvSpPr>
          <p:cNvPr id="6" name="AutoShape 4" descr="[公式]"/>
          <p:cNvSpPr>
            <a:spLocks noChangeAspect="1" noChangeArrowheads="1"/>
          </p:cNvSpPr>
          <p:nvPr/>
        </p:nvSpPr>
        <p:spPr bwMode="auto">
          <a:xfrm>
            <a:off x="549275" y="2705435"/>
            <a:ext cx="26913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2800"/>
          </a:p>
        </p:txBody>
      </p:sp>
      <p:sp>
        <p:nvSpPr>
          <p:cNvPr id="9" name="AutoShape 5" descr="[公式]"/>
          <p:cNvSpPr>
            <a:spLocks noChangeAspect="1" noChangeArrowheads="1"/>
          </p:cNvSpPr>
          <p:nvPr/>
        </p:nvSpPr>
        <p:spPr bwMode="auto">
          <a:xfrm>
            <a:off x="3625850" y="2705435"/>
            <a:ext cx="26913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2800"/>
          </a:p>
        </p:txBody>
      </p:sp>
      <p:grpSp>
        <p:nvGrpSpPr>
          <p:cNvPr id="13" name="组合 12"/>
          <p:cNvGrpSpPr/>
          <p:nvPr/>
        </p:nvGrpSpPr>
        <p:grpSpPr>
          <a:xfrm>
            <a:off x="0" y="2347791"/>
            <a:ext cx="11874137" cy="954107"/>
            <a:chOff x="0" y="2372845"/>
            <a:chExt cx="11874137" cy="954107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auto">
            <a:xfrm>
              <a:off x="0" y="2372845"/>
              <a:ext cx="11874137" cy="9541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800" b="0" i="0" u="none" strike="noStrike" cap="none" normalizeH="0" baseline="0" dirty="0" smtClean="0">
                  <a:ln>
                    <a:noFill/>
                  </a:ln>
                  <a:solidFill>
                    <a:srgbClr val="121212"/>
                  </a:solidFill>
                  <a:effectLst/>
                  <a:latin typeface="Arial" panose="020B0604020202020204" pitchFamily="34" charset="0"/>
                  <a:ea typeface="-apple-system"/>
                </a:rPr>
                <a:t>这是在</a:t>
              </a:r>
              <a:r>
                <a:rPr kumimoji="0" lang="zh-CN" altLang="zh-CN" sz="28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  </a:t>
              </a:r>
              <a:r>
                <a:rPr kumimoji="0" lang="zh-CN" altLang="zh-CN" sz="2800" b="0" i="0" u="none" strike="noStrike" cap="none" normalizeH="0" baseline="0" dirty="0" smtClean="0">
                  <a:ln>
                    <a:noFill/>
                  </a:ln>
                  <a:solidFill>
                    <a:srgbClr val="121212"/>
                  </a:solidFill>
                  <a:effectLst/>
                  <a:latin typeface="Arial" panose="020B0604020202020204" pitchFamily="34" charset="0"/>
                  <a:ea typeface="-apple-system"/>
                </a:rPr>
                <a:t> </a:t>
              </a:r>
              <a:r>
                <a:rPr kumimoji="0" lang="en-US" altLang="zh-CN" sz="2800" b="0" i="0" u="none" strike="noStrike" cap="none" normalizeH="0" baseline="0" dirty="0" smtClean="0">
                  <a:ln>
                    <a:noFill/>
                  </a:ln>
                  <a:solidFill>
                    <a:srgbClr val="121212"/>
                  </a:solidFill>
                  <a:effectLst/>
                  <a:latin typeface="Arial" panose="020B0604020202020204" pitchFamily="34" charset="0"/>
                  <a:ea typeface="-apple-system"/>
                </a:rPr>
                <a:t>  </a:t>
              </a:r>
              <a:r>
                <a:rPr kumimoji="0" lang="zh-CN" altLang="zh-CN" sz="2800" b="0" i="0" u="none" strike="noStrike" cap="none" normalizeH="0" baseline="0" dirty="0" smtClean="0">
                  <a:ln>
                    <a:noFill/>
                  </a:ln>
                  <a:solidFill>
                    <a:srgbClr val="121212"/>
                  </a:solidFill>
                  <a:effectLst/>
                  <a:latin typeface="Arial" panose="020B0604020202020204" pitchFamily="34" charset="0"/>
                  <a:ea typeface="-apple-system"/>
                </a:rPr>
                <a:t>轴上的向量，它</a:t>
              </a:r>
              <a:r>
                <a:rPr kumimoji="0" lang="en-US" altLang="zh-CN" sz="2800" b="0" i="0" u="none" strike="noStrike" cap="none" normalizeH="0" baseline="0" dirty="0" smtClean="0">
                  <a:ln>
                    <a:noFill/>
                  </a:ln>
                  <a:solidFill>
                    <a:srgbClr val="121212"/>
                  </a:solidFill>
                  <a:effectLst/>
                  <a:latin typeface="Arial" panose="020B0604020202020204" pitchFamily="34" charset="0"/>
                  <a:ea typeface="-apple-system"/>
                </a:rPr>
                <a:t>(         ) </a:t>
              </a:r>
              <a:r>
                <a:rPr kumimoji="0" lang="zh-CN" altLang="zh-CN" sz="2800" b="0" i="0" u="none" strike="noStrike" cap="none" normalizeH="0" baseline="0" dirty="0" smtClean="0">
                  <a:ln>
                    <a:noFill/>
                  </a:ln>
                  <a:solidFill>
                    <a:srgbClr val="121212"/>
                  </a:solidFill>
                  <a:effectLst/>
                  <a:latin typeface="Arial" panose="020B0604020202020204" pitchFamily="34" charset="0"/>
                  <a:ea typeface="-apple-system"/>
                </a:rPr>
                <a:t>指向函数值增长最快的方向，而</a:t>
              </a:r>
              <a:r>
                <a:rPr kumimoji="0" lang="zh-CN" altLang="zh-CN" sz="28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  </a:t>
              </a:r>
              <a:r>
                <a:rPr kumimoji="0" lang="zh-CN" altLang="zh-CN" sz="2800" b="0" i="0" u="none" strike="noStrike" cap="none" normalizeH="0" baseline="0" dirty="0" smtClean="0">
                  <a:ln>
                    <a:noFill/>
                  </a:ln>
                  <a:solidFill>
                    <a:srgbClr val="121212"/>
                  </a:solidFill>
                  <a:effectLst/>
                  <a:latin typeface="Arial" panose="020B0604020202020204" pitchFamily="34" charset="0"/>
                  <a:ea typeface="-apple-system"/>
                </a:rPr>
                <a:t> </a:t>
              </a:r>
              <a:r>
                <a:rPr kumimoji="0" lang="en-US" altLang="zh-CN" sz="2800" b="0" i="0" u="none" strike="noStrike" cap="none" normalizeH="0" baseline="0" dirty="0" smtClean="0">
                  <a:ln>
                    <a:noFill/>
                  </a:ln>
                  <a:solidFill>
                    <a:srgbClr val="121212"/>
                  </a:solidFill>
                  <a:effectLst/>
                  <a:latin typeface="Arial" panose="020B0604020202020204" pitchFamily="34" charset="0"/>
                  <a:ea typeface="-apple-system"/>
                </a:rPr>
                <a:t>       </a:t>
              </a:r>
              <a:r>
                <a:rPr kumimoji="0" lang="zh-CN" altLang="zh-CN" sz="2800" b="0" i="0" u="none" strike="noStrike" cap="none" normalizeH="0" baseline="0" dirty="0" smtClean="0">
                  <a:ln>
                    <a:noFill/>
                  </a:ln>
                  <a:solidFill>
                    <a:srgbClr val="121212"/>
                  </a:solidFill>
                  <a:effectLst/>
                  <a:latin typeface="Arial" panose="020B0604020202020204" pitchFamily="34" charset="0"/>
                  <a:ea typeface="-apple-system"/>
                </a:rPr>
                <a:t>就指向减少最快的方向：</a:t>
              </a:r>
              <a:r>
                <a:rPr kumimoji="0" lang="zh-CN" altLang="zh-CN" sz="28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 </a:t>
              </a:r>
            </a:p>
          </p:txBody>
        </p:sp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64121" y="2372845"/>
              <a:ext cx="407117" cy="534341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480793" y="2482698"/>
              <a:ext cx="818661" cy="417925"/>
            </a:xfrm>
            <a:prstGeom prst="rect">
              <a:avLst/>
            </a:prstGeom>
          </p:spPr>
        </p:pic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303805" y="2510246"/>
              <a:ext cx="792583" cy="390377"/>
            </a:xfrm>
            <a:prstGeom prst="rect">
              <a:avLst/>
            </a:prstGeom>
          </p:spPr>
        </p:pic>
      </p:grpSp>
      <p:pic>
        <p:nvPicPr>
          <p:cNvPr id="14" name="图片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39706" y="3496867"/>
            <a:ext cx="5329083" cy="3306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881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10"/>
          <p:cNvSpPr/>
          <p:nvPr/>
        </p:nvSpPr>
        <p:spPr>
          <a:xfrm>
            <a:off x="0" y="-9532"/>
            <a:ext cx="12205648" cy="738010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8"/>
          <p:cNvSpPr/>
          <p:nvPr/>
        </p:nvSpPr>
        <p:spPr>
          <a:xfrm>
            <a:off x="0" y="728478"/>
            <a:ext cx="9400194" cy="5135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9"/>
          <p:cNvSpPr/>
          <p:nvPr/>
        </p:nvSpPr>
        <p:spPr>
          <a:xfrm>
            <a:off x="9135236" y="722278"/>
            <a:ext cx="3070412" cy="45719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292640" y="144950"/>
            <a:ext cx="72327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2800" dirty="0">
                <a:solidFill>
                  <a:schemeClr val="bg1"/>
                </a:solidFill>
              </a:rPr>
              <a:t>2.0 </a:t>
            </a:r>
            <a:endParaRPr kumimoji="1" lang="zh-CN" altLang="en-US" sz="2800" dirty="0">
              <a:solidFill>
                <a:schemeClr val="bg1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292640" y="144950"/>
            <a:ext cx="215956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2800" dirty="0">
                <a:solidFill>
                  <a:schemeClr val="bg1"/>
                </a:solidFill>
              </a:rPr>
              <a:t>2.0 </a:t>
            </a:r>
            <a:r>
              <a:rPr kumimoji="1" lang="zh-CN" altLang="en-US" sz="2800" dirty="0" smtClean="0">
                <a:solidFill>
                  <a:schemeClr val="bg1"/>
                </a:solidFill>
              </a:rPr>
              <a:t>预备知识</a:t>
            </a:r>
            <a:endParaRPr kumimoji="1" lang="zh-CN" altLang="en-US" sz="2800" dirty="0">
              <a:solidFill>
                <a:schemeClr val="bg1"/>
              </a:solidFill>
            </a:endParaRPr>
          </a:p>
        </p:txBody>
      </p:sp>
      <p:sp>
        <p:nvSpPr>
          <p:cNvPr id="3" name="AutoShape 2" descr="[公式]"/>
          <p:cNvSpPr>
            <a:spLocks noChangeAspect="1" noChangeArrowheads="1"/>
          </p:cNvSpPr>
          <p:nvPr/>
        </p:nvSpPr>
        <p:spPr bwMode="auto">
          <a:xfrm>
            <a:off x="240620" y="1124478"/>
            <a:ext cx="272915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2800"/>
          </a:p>
        </p:txBody>
      </p:sp>
      <p:sp>
        <p:nvSpPr>
          <p:cNvPr id="4" name="AutoShape 3" descr="[公式]"/>
          <p:cNvSpPr>
            <a:spLocks noChangeAspect="1" noChangeArrowheads="1"/>
          </p:cNvSpPr>
          <p:nvPr/>
        </p:nvSpPr>
        <p:spPr bwMode="auto">
          <a:xfrm>
            <a:off x="1375683" y="1124478"/>
            <a:ext cx="272915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2800"/>
          </a:p>
        </p:txBody>
      </p:sp>
      <p:sp>
        <p:nvSpPr>
          <p:cNvPr id="5" name="AutoShape 4" descr="[公式]"/>
          <p:cNvSpPr>
            <a:spLocks noChangeAspect="1" noChangeArrowheads="1"/>
          </p:cNvSpPr>
          <p:nvPr/>
        </p:nvSpPr>
        <p:spPr bwMode="auto">
          <a:xfrm>
            <a:off x="2077358" y="1124478"/>
            <a:ext cx="272915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2800"/>
          </a:p>
        </p:txBody>
      </p:sp>
      <p:sp>
        <p:nvSpPr>
          <p:cNvPr id="6" name="AutoShape 5" descr="[公式]"/>
          <p:cNvSpPr>
            <a:spLocks noChangeAspect="1" noChangeArrowheads="1"/>
          </p:cNvSpPr>
          <p:nvPr/>
        </p:nvSpPr>
        <p:spPr bwMode="auto">
          <a:xfrm>
            <a:off x="3337833" y="1124478"/>
            <a:ext cx="272915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2800"/>
          </a:p>
        </p:txBody>
      </p:sp>
      <p:sp>
        <p:nvSpPr>
          <p:cNvPr id="9" name="AutoShape 6" descr="[公式]"/>
          <p:cNvSpPr>
            <a:spLocks noChangeAspect="1" noChangeArrowheads="1"/>
          </p:cNvSpPr>
          <p:nvPr/>
        </p:nvSpPr>
        <p:spPr bwMode="auto">
          <a:xfrm>
            <a:off x="5157108" y="1124478"/>
            <a:ext cx="272915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2800"/>
          </a:p>
        </p:txBody>
      </p:sp>
      <p:grpSp>
        <p:nvGrpSpPr>
          <p:cNvPr id="19" name="组合 18"/>
          <p:cNvGrpSpPr/>
          <p:nvPr/>
        </p:nvGrpSpPr>
        <p:grpSpPr>
          <a:xfrm>
            <a:off x="1" y="791888"/>
            <a:ext cx="12192000" cy="954107"/>
            <a:chOff x="-29255" y="791888"/>
            <a:chExt cx="12234903" cy="954107"/>
          </a:xfrm>
        </p:grpSpPr>
        <p:sp>
          <p:nvSpPr>
            <p:cNvPr id="2" name="Rectangle 1"/>
            <p:cNvSpPr>
              <a:spLocks noChangeArrowheads="1"/>
            </p:cNvSpPr>
            <p:nvPr/>
          </p:nvSpPr>
          <p:spPr bwMode="auto">
            <a:xfrm>
              <a:off x="-29255" y="791888"/>
              <a:ext cx="12234903" cy="9541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800" b="0" i="0" u="none" strike="noStrike" cap="none" normalizeH="0" baseline="0" dirty="0" smtClean="0">
                  <a:ln>
                    <a:noFill/>
                  </a:ln>
                  <a:solidFill>
                    <a:srgbClr val="121212"/>
                  </a:solidFill>
                  <a:effectLst/>
                  <a:latin typeface="Arial" panose="020B0604020202020204" pitchFamily="34" charset="0"/>
                  <a:ea typeface="-apple-system"/>
                </a:rPr>
                <a:t>将</a:t>
              </a:r>
              <a:r>
                <a:rPr kumimoji="0" lang="zh-CN" altLang="zh-CN" sz="28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  </a:t>
              </a:r>
              <a:r>
                <a:rPr kumimoji="0" lang="zh-CN" altLang="zh-CN" sz="2800" b="0" i="0" u="none" strike="noStrike" cap="none" normalizeH="0" baseline="0" dirty="0" smtClean="0">
                  <a:ln>
                    <a:noFill/>
                  </a:ln>
                  <a:solidFill>
                    <a:srgbClr val="121212"/>
                  </a:solidFill>
                  <a:effectLst/>
                  <a:latin typeface="Arial" panose="020B0604020202020204" pitchFamily="34" charset="0"/>
                  <a:ea typeface="-apple-system"/>
                </a:rPr>
                <a:t> </a:t>
              </a:r>
              <a:r>
                <a:rPr kumimoji="0" lang="en-US" altLang="zh-CN" sz="2800" b="0" i="0" u="none" strike="noStrike" cap="none" normalizeH="0" baseline="0" dirty="0" smtClean="0">
                  <a:ln>
                    <a:noFill/>
                  </a:ln>
                  <a:solidFill>
                    <a:srgbClr val="121212"/>
                  </a:solidFill>
                  <a:effectLst/>
                  <a:latin typeface="Arial" panose="020B0604020202020204" pitchFamily="34" charset="0"/>
                  <a:ea typeface="-apple-system"/>
                </a:rPr>
                <a:t> </a:t>
              </a:r>
              <a:r>
                <a:rPr kumimoji="0" lang="zh-CN" altLang="zh-CN" sz="2800" b="0" i="0" u="none" strike="noStrike" cap="none" normalizeH="0" baseline="0" dirty="0" smtClean="0">
                  <a:ln>
                    <a:noFill/>
                  </a:ln>
                  <a:solidFill>
                    <a:srgbClr val="121212"/>
                  </a:solidFill>
                  <a:effectLst/>
                  <a:latin typeface="Arial" panose="020B0604020202020204" pitchFamily="34" charset="0"/>
                  <a:ea typeface="-apple-system"/>
                </a:rPr>
                <a:t>也看作 1 维向量</a:t>
              </a:r>
              <a:r>
                <a:rPr kumimoji="0" lang="zh-CN" altLang="zh-CN" sz="28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  </a:t>
              </a:r>
              <a:r>
                <a:rPr kumimoji="0" lang="zh-CN" altLang="zh-CN" sz="2800" b="0" i="0" u="none" strike="noStrike" cap="none" normalizeH="0" baseline="0" dirty="0" smtClean="0">
                  <a:ln>
                    <a:noFill/>
                  </a:ln>
                  <a:solidFill>
                    <a:srgbClr val="121212"/>
                  </a:solidFill>
                  <a:effectLst/>
                  <a:latin typeface="Arial" panose="020B0604020202020204" pitchFamily="34" charset="0"/>
                  <a:ea typeface="-apple-system"/>
                </a:rPr>
                <a:t> </a:t>
              </a:r>
              <a:r>
                <a:rPr kumimoji="0" lang="en-US" altLang="zh-CN" sz="2800" b="0" i="0" u="none" strike="noStrike" cap="none" normalizeH="0" baseline="0" dirty="0" smtClean="0">
                  <a:ln>
                    <a:noFill/>
                  </a:ln>
                  <a:solidFill>
                    <a:srgbClr val="121212"/>
                  </a:solidFill>
                  <a:effectLst/>
                  <a:latin typeface="Arial" panose="020B0604020202020204" pitchFamily="34" charset="0"/>
                  <a:ea typeface="-apple-system"/>
                </a:rPr>
                <a:t>   </a:t>
              </a:r>
              <a:r>
                <a:rPr kumimoji="0" lang="zh-CN" altLang="zh-CN" sz="2800" b="0" i="0" u="none" strike="noStrike" cap="none" normalizeH="0" baseline="0" dirty="0" smtClean="0">
                  <a:ln>
                    <a:noFill/>
                  </a:ln>
                  <a:solidFill>
                    <a:srgbClr val="121212"/>
                  </a:solidFill>
                  <a:effectLst/>
                  <a:latin typeface="Arial" panose="020B0604020202020204" pitchFamily="34" charset="0"/>
                  <a:ea typeface="-apple-system"/>
                </a:rPr>
                <a:t>，通过和</a:t>
              </a:r>
              <a:r>
                <a:rPr kumimoji="0" lang="en-US" altLang="zh-CN" sz="2800" b="0" i="0" u="none" strike="noStrike" cap="none" normalizeH="0" baseline="0" dirty="0" smtClean="0">
                  <a:ln>
                    <a:noFill/>
                  </a:ln>
                  <a:solidFill>
                    <a:srgbClr val="121212"/>
                  </a:solidFill>
                  <a:effectLst/>
                  <a:latin typeface="Arial" panose="020B0604020202020204" pitchFamily="34" charset="0"/>
                  <a:ea typeface="-apple-system"/>
                </a:rPr>
                <a:t>  </a:t>
              </a:r>
              <a:r>
                <a:rPr kumimoji="0" lang="zh-CN" altLang="zh-CN" sz="28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  </a:t>
              </a:r>
              <a:r>
                <a:rPr kumimoji="0" lang="zh-CN" altLang="zh-CN" sz="2800" b="0" i="0" u="none" strike="noStrike" cap="none" normalizeH="0" baseline="0" dirty="0" smtClean="0">
                  <a:ln>
                    <a:noFill/>
                  </a:ln>
                  <a:solidFill>
                    <a:srgbClr val="121212"/>
                  </a:solidFill>
                  <a:effectLst/>
                  <a:latin typeface="Arial" panose="020B0604020202020204" pitchFamily="34" charset="0"/>
                  <a:ea typeface="-apple-system"/>
                </a:rPr>
                <a:t> </a:t>
              </a:r>
              <a:r>
                <a:rPr kumimoji="0" lang="en-US" altLang="zh-CN" sz="2800" b="0" i="0" u="none" strike="noStrike" cap="none" normalizeH="0" baseline="0" dirty="0" smtClean="0">
                  <a:ln>
                    <a:noFill/>
                  </a:ln>
                  <a:solidFill>
                    <a:srgbClr val="121212"/>
                  </a:solidFill>
                  <a:effectLst/>
                  <a:latin typeface="Arial" panose="020B0604020202020204" pitchFamily="34" charset="0"/>
                  <a:ea typeface="-apple-system"/>
                </a:rPr>
                <a:t>      </a:t>
              </a:r>
              <a:r>
                <a:rPr kumimoji="0" lang="zh-CN" altLang="zh-CN" sz="2800" b="0" i="0" u="none" strike="noStrike" cap="none" normalizeH="0" baseline="0" dirty="0" smtClean="0">
                  <a:ln>
                    <a:noFill/>
                  </a:ln>
                  <a:solidFill>
                    <a:srgbClr val="121212"/>
                  </a:solidFill>
                  <a:effectLst/>
                  <a:latin typeface="Arial" panose="020B0604020202020204" pitchFamily="34" charset="0"/>
                  <a:ea typeface="-apple-system"/>
                </a:rPr>
                <a:t>相加，可以将之向</a:t>
              </a:r>
              <a:r>
                <a:rPr kumimoji="0" lang="zh-CN" altLang="zh-CN" sz="28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  </a:t>
              </a:r>
              <a:r>
                <a:rPr kumimoji="0" lang="zh-CN" altLang="zh-CN" sz="2800" b="0" i="0" u="none" strike="noStrike" cap="none" normalizeH="0" baseline="0" dirty="0" smtClean="0">
                  <a:ln>
                    <a:noFill/>
                  </a:ln>
                  <a:solidFill>
                    <a:srgbClr val="121212"/>
                  </a:solidFill>
                  <a:effectLst/>
                  <a:latin typeface="Arial" panose="020B0604020202020204" pitchFamily="34" charset="0"/>
                  <a:ea typeface="-apple-system"/>
                </a:rPr>
                <a:t> </a:t>
              </a:r>
              <a:r>
                <a:rPr kumimoji="0" lang="en-US" altLang="zh-CN" sz="2800" b="0" i="0" u="none" strike="noStrike" cap="none" normalizeH="0" baseline="0" dirty="0" smtClean="0">
                  <a:ln>
                    <a:noFill/>
                  </a:ln>
                  <a:solidFill>
                    <a:srgbClr val="121212"/>
                  </a:solidFill>
                  <a:effectLst/>
                  <a:latin typeface="Arial" panose="020B0604020202020204" pitchFamily="34" charset="0"/>
                  <a:ea typeface="-apple-system"/>
                </a:rPr>
                <a:t>       </a:t>
              </a:r>
              <a:r>
                <a:rPr kumimoji="0" lang="zh-CN" altLang="zh-CN" sz="2800" b="0" i="0" u="none" strike="noStrike" cap="none" normalizeH="0" baseline="0" dirty="0" smtClean="0">
                  <a:ln>
                    <a:noFill/>
                  </a:ln>
                  <a:solidFill>
                    <a:srgbClr val="121212"/>
                  </a:solidFill>
                  <a:effectLst/>
                  <a:latin typeface="Arial" panose="020B0604020202020204" pitchFamily="34" charset="0"/>
                  <a:ea typeface="-apple-system"/>
                </a:rPr>
                <a:t>移动一段距离得到新的向量</a:t>
              </a:r>
              <a:r>
                <a:rPr kumimoji="0" lang="zh-CN" altLang="zh-CN" sz="28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  </a:t>
              </a:r>
              <a:r>
                <a:rPr kumimoji="0" lang="zh-CN" altLang="zh-CN" sz="2800" b="0" i="0" u="none" strike="noStrike" cap="none" normalizeH="0" baseline="0" dirty="0" smtClean="0">
                  <a:ln>
                    <a:noFill/>
                  </a:ln>
                  <a:solidFill>
                    <a:srgbClr val="121212"/>
                  </a:solidFill>
                  <a:effectLst/>
                  <a:latin typeface="Arial" panose="020B0604020202020204" pitchFamily="34" charset="0"/>
                  <a:ea typeface="-apple-system"/>
                </a:rPr>
                <a:t> </a:t>
              </a:r>
              <a:r>
                <a:rPr kumimoji="0" lang="en-US" altLang="zh-CN" sz="2800" b="0" i="0" u="none" strike="noStrike" cap="none" normalizeH="0" baseline="0" dirty="0" smtClean="0">
                  <a:ln>
                    <a:noFill/>
                  </a:ln>
                  <a:solidFill>
                    <a:srgbClr val="121212"/>
                  </a:solidFill>
                  <a:effectLst/>
                  <a:latin typeface="Arial" panose="020B0604020202020204" pitchFamily="34" charset="0"/>
                  <a:ea typeface="-apple-system"/>
                </a:rPr>
                <a:t>      </a:t>
              </a:r>
              <a:r>
                <a:rPr kumimoji="0" lang="zh-CN" altLang="zh-CN" sz="2800" b="0" i="0" u="none" strike="noStrike" cap="none" normalizeH="0" baseline="0" dirty="0" smtClean="0">
                  <a:ln>
                    <a:noFill/>
                  </a:ln>
                  <a:solidFill>
                    <a:srgbClr val="121212"/>
                  </a:solidFill>
                  <a:effectLst/>
                  <a:latin typeface="Arial" panose="020B0604020202020204" pitchFamily="34" charset="0"/>
                  <a:ea typeface="-apple-system"/>
                </a:rPr>
                <a:t>：</a:t>
              </a:r>
              <a:r>
                <a:rPr kumimoji="0" lang="zh-CN" altLang="zh-CN" sz="28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 </a:t>
              </a:r>
            </a:p>
          </p:txBody>
        </p:sp>
        <p:grpSp>
          <p:nvGrpSpPr>
            <p:cNvPr id="18" name="组合 17"/>
            <p:cNvGrpSpPr/>
            <p:nvPr/>
          </p:nvGrpSpPr>
          <p:grpSpPr>
            <a:xfrm>
              <a:off x="393091" y="791888"/>
              <a:ext cx="9881263" cy="941728"/>
              <a:chOff x="393091" y="791888"/>
              <a:chExt cx="9881263" cy="941728"/>
            </a:xfrm>
          </p:grpSpPr>
          <p:pic>
            <p:nvPicPr>
              <p:cNvPr id="13" name="图片 12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307552" y="882960"/>
                <a:ext cx="593795" cy="346381"/>
              </a:xfrm>
              <a:prstGeom prst="rect">
                <a:avLst/>
              </a:prstGeom>
            </p:spPr>
          </p:pic>
          <p:grpSp>
            <p:nvGrpSpPr>
              <p:cNvPr id="17" name="组合 16"/>
              <p:cNvGrpSpPr/>
              <p:nvPr/>
            </p:nvGrpSpPr>
            <p:grpSpPr>
              <a:xfrm>
                <a:off x="393091" y="791888"/>
                <a:ext cx="9881263" cy="941728"/>
                <a:chOff x="393091" y="791888"/>
                <a:chExt cx="9881263" cy="941728"/>
              </a:xfrm>
            </p:grpSpPr>
            <p:pic>
              <p:nvPicPr>
                <p:cNvPr id="12" name="图片 11"/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93091" y="882960"/>
                  <a:ext cx="453784" cy="363027"/>
                </a:xfrm>
                <a:prstGeom prst="rect">
                  <a:avLst/>
                </a:prstGeom>
              </p:spPr>
            </p:pic>
            <p:pic>
              <p:nvPicPr>
                <p:cNvPr id="14" name="图片 13"/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360000" y="829698"/>
                  <a:ext cx="1045148" cy="423708"/>
                </a:xfrm>
                <a:prstGeom prst="rect">
                  <a:avLst/>
                </a:prstGeom>
              </p:spPr>
            </p:pic>
            <p:pic>
              <p:nvPicPr>
                <p:cNvPr id="15" name="图片 14"/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9290602" y="791888"/>
                  <a:ext cx="983752" cy="515148"/>
                </a:xfrm>
                <a:prstGeom prst="rect">
                  <a:avLst/>
                </a:prstGeom>
              </p:spPr>
            </p:pic>
            <p:pic>
              <p:nvPicPr>
                <p:cNvPr id="16" name="图片 15"/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602670" y="1238724"/>
                  <a:ext cx="685235" cy="494892"/>
                </a:xfrm>
                <a:prstGeom prst="rect">
                  <a:avLst/>
                </a:prstGeom>
              </p:spPr>
            </p:pic>
          </p:grpSp>
        </p:grpSp>
      </p:grpSp>
      <p:pic>
        <p:nvPicPr>
          <p:cNvPr id="20" name="图片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22697" y="1700242"/>
            <a:ext cx="3533946" cy="739663"/>
          </a:xfrm>
          <a:prstGeom prst="rect">
            <a:avLst/>
          </a:prstGeom>
        </p:spPr>
      </p:pic>
      <p:sp>
        <p:nvSpPr>
          <p:cNvPr id="22" name="Rectangle 11"/>
          <p:cNvSpPr>
            <a:spLocks noChangeArrowheads="1"/>
          </p:cNvSpPr>
          <p:nvPr/>
        </p:nvSpPr>
        <p:spPr bwMode="auto">
          <a:xfrm>
            <a:off x="-53406" y="2710868"/>
            <a:ext cx="1150827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0" i="0" u="none" strike="noStrike" cap="none" normalizeH="0" baseline="0" dirty="0" smtClean="0">
                <a:ln>
                  <a:noFill/>
                </a:ln>
                <a:solidFill>
                  <a:srgbClr val="121212"/>
                </a:solidFill>
                <a:effectLst/>
                <a:latin typeface="Arial" panose="020B0604020202020204" pitchFamily="34" charset="0"/>
                <a:ea typeface="-apple-system"/>
              </a:rPr>
              <a:t>其中</a:t>
            </a:r>
            <a:r>
              <a:rPr kumimoji="0" lang="zh-CN" altLang="zh-CN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</a:t>
            </a:r>
            <a:r>
              <a:rPr kumimoji="0" lang="zh-CN" altLang="zh-CN" sz="2800" b="0" i="0" u="none" strike="noStrike" cap="none" normalizeH="0" baseline="0" dirty="0" smtClean="0">
                <a:ln>
                  <a:noFill/>
                </a:ln>
                <a:solidFill>
                  <a:srgbClr val="121212"/>
                </a:solidFill>
                <a:effectLst/>
                <a:latin typeface="Arial" panose="020B0604020202020204" pitchFamily="34" charset="0"/>
                <a:ea typeface="-apple-system"/>
              </a:rPr>
              <a:t> </a:t>
            </a:r>
            <a:r>
              <a:rPr kumimoji="0" lang="en-US" altLang="zh-CN" sz="2800" b="0" i="0" u="none" strike="noStrike" cap="none" normalizeH="0" baseline="0" dirty="0" smtClean="0">
                <a:ln>
                  <a:noFill/>
                </a:ln>
                <a:solidFill>
                  <a:srgbClr val="121212"/>
                </a:solidFill>
                <a:effectLst/>
                <a:latin typeface="Arial" panose="020B0604020202020204" pitchFamily="34" charset="0"/>
                <a:ea typeface="-apple-system"/>
              </a:rPr>
              <a:t>    </a:t>
            </a:r>
            <a:r>
              <a:rPr kumimoji="0" lang="zh-CN" altLang="zh-CN" sz="2800" b="0" i="0" u="none" strike="noStrike" cap="none" normalizeH="0" baseline="0" dirty="0" smtClean="0">
                <a:ln>
                  <a:noFill/>
                </a:ln>
                <a:solidFill>
                  <a:srgbClr val="121212"/>
                </a:solidFill>
                <a:effectLst/>
                <a:latin typeface="Arial" panose="020B0604020202020204" pitchFamily="34" charset="0"/>
                <a:ea typeface="-apple-system"/>
              </a:rPr>
              <a:t>称为步长，通过它可以控制移动距离，本节设</a:t>
            </a:r>
            <a:r>
              <a:rPr kumimoji="0" lang="zh-CN" altLang="zh-CN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</a:t>
            </a:r>
            <a:r>
              <a:rPr kumimoji="0" lang="zh-CN" altLang="zh-CN" sz="2800" b="0" i="0" u="none" strike="noStrike" cap="none" normalizeH="0" baseline="0" dirty="0" smtClean="0">
                <a:ln>
                  <a:noFill/>
                </a:ln>
                <a:solidFill>
                  <a:srgbClr val="121212"/>
                </a:solidFill>
                <a:effectLst/>
                <a:latin typeface="Arial" panose="020B0604020202020204" pitchFamily="34" charset="0"/>
                <a:ea typeface="-apple-system"/>
              </a:rPr>
              <a:t> </a:t>
            </a:r>
            <a:r>
              <a:rPr kumimoji="0" lang="en-US" altLang="zh-CN" sz="2800" b="0" i="0" u="none" strike="noStrike" cap="none" normalizeH="0" baseline="0" dirty="0" smtClean="0">
                <a:ln>
                  <a:noFill/>
                </a:ln>
                <a:solidFill>
                  <a:srgbClr val="121212"/>
                </a:solidFill>
                <a:effectLst/>
                <a:latin typeface="Arial" panose="020B0604020202020204" pitchFamily="34" charset="0"/>
                <a:ea typeface="-apple-system"/>
              </a:rPr>
              <a:t>          </a:t>
            </a:r>
            <a:r>
              <a:rPr kumimoji="0" lang="zh-CN" altLang="zh-CN" sz="2800" b="0" i="0" u="none" strike="noStrike" cap="none" normalizeH="0" baseline="0" dirty="0" smtClean="0">
                <a:ln>
                  <a:noFill/>
                </a:ln>
                <a:solidFill>
                  <a:srgbClr val="121212"/>
                </a:solidFill>
                <a:effectLst/>
                <a:latin typeface="Arial" panose="020B0604020202020204" pitchFamily="34" charset="0"/>
                <a:ea typeface="-apple-system"/>
              </a:rPr>
              <a:t>，那么：</a:t>
            </a:r>
            <a:r>
              <a:rPr kumimoji="0" lang="zh-CN" altLang="zh-CN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23" name="AutoShape 12" descr="[公式]"/>
          <p:cNvSpPr>
            <a:spLocks noChangeAspect="1" noChangeArrowheads="1"/>
          </p:cNvSpPr>
          <p:nvPr/>
        </p:nvSpPr>
        <p:spPr bwMode="auto">
          <a:xfrm>
            <a:off x="356169" y="2828015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2800"/>
          </a:p>
        </p:txBody>
      </p:sp>
      <p:sp>
        <p:nvSpPr>
          <p:cNvPr id="25" name="AutoShape 13" descr="[公式]"/>
          <p:cNvSpPr>
            <a:spLocks noChangeAspect="1" noChangeArrowheads="1"/>
          </p:cNvSpPr>
          <p:nvPr/>
        </p:nvSpPr>
        <p:spPr bwMode="auto">
          <a:xfrm>
            <a:off x="3432744" y="2828015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2800"/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0052" y="2799264"/>
            <a:ext cx="271726" cy="362301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19656" y="2799264"/>
            <a:ext cx="1031160" cy="408909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27765" y="3411669"/>
            <a:ext cx="5005446" cy="611691"/>
          </a:xfrm>
          <a:prstGeom prst="rect">
            <a:avLst/>
          </a:prstGeom>
        </p:spPr>
      </p:pic>
      <p:sp>
        <p:nvSpPr>
          <p:cNvPr id="32" name="Rectangle 16"/>
          <p:cNvSpPr>
            <a:spLocks noChangeArrowheads="1"/>
          </p:cNvSpPr>
          <p:nvPr/>
        </p:nvSpPr>
        <p:spPr bwMode="auto">
          <a:xfrm>
            <a:off x="34988" y="4211560"/>
            <a:ext cx="885691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0" i="0" u="none" strike="noStrike" cap="none" normalizeH="0" baseline="0" dirty="0" smtClean="0">
                <a:ln>
                  <a:noFill/>
                </a:ln>
                <a:solidFill>
                  <a:srgbClr val="121212"/>
                </a:solidFill>
                <a:effectLst/>
                <a:latin typeface="Arial" panose="020B0604020202020204" pitchFamily="34" charset="0"/>
                <a:ea typeface="-apple-system"/>
              </a:rPr>
              <a:t>此时小球（也就是起点）下降到了</a:t>
            </a:r>
            <a:r>
              <a:rPr kumimoji="0" lang="zh-CN" altLang="zh-CN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</a:t>
            </a:r>
            <a:r>
              <a:rPr kumimoji="0" lang="zh-CN" altLang="zh-CN" sz="2800" b="0" i="0" u="none" strike="noStrike" cap="none" normalizeH="0" baseline="0" dirty="0" smtClean="0">
                <a:ln>
                  <a:noFill/>
                </a:ln>
                <a:solidFill>
                  <a:srgbClr val="121212"/>
                </a:solidFill>
                <a:effectLst/>
                <a:latin typeface="Arial" panose="020B0604020202020204" pitchFamily="34" charset="0"/>
                <a:ea typeface="-apple-system"/>
              </a:rPr>
              <a:t> </a:t>
            </a:r>
            <a:r>
              <a:rPr kumimoji="0" lang="en-US" altLang="zh-CN" sz="2800" b="0" i="0" u="none" strike="noStrike" cap="none" normalizeH="0" baseline="0" dirty="0" smtClean="0">
                <a:ln>
                  <a:noFill/>
                </a:ln>
                <a:solidFill>
                  <a:srgbClr val="121212"/>
                </a:solidFill>
                <a:effectLst/>
                <a:latin typeface="Arial" panose="020B0604020202020204" pitchFamily="34" charset="0"/>
                <a:ea typeface="-apple-system"/>
              </a:rPr>
              <a:t>          </a:t>
            </a:r>
            <a:r>
              <a:rPr kumimoji="0" lang="zh-CN" altLang="zh-CN" sz="2800" b="0" i="0" u="none" strike="noStrike" cap="none" normalizeH="0" baseline="0" dirty="0" smtClean="0">
                <a:ln>
                  <a:noFill/>
                </a:ln>
                <a:solidFill>
                  <a:srgbClr val="121212"/>
                </a:solidFill>
                <a:effectLst/>
                <a:latin typeface="Arial" panose="020B0604020202020204" pitchFamily="34" charset="0"/>
                <a:ea typeface="-apple-system"/>
              </a:rPr>
              <a:t>这个位置：</a:t>
            </a:r>
            <a:r>
              <a:rPr kumimoji="0" lang="zh-CN" altLang="zh-CN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33" name="AutoShape 17" descr="[公式]"/>
          <p:cNvSpPr>
            <a:spLocks noChangeAspect="1" noChangeArrowheads="1"/>
          </p:cNvSpPr>
          <p:nvPr/>
        </p:nvSpPr>
        <p:spPr bwMode="auto">
          <a:xfrm>
            <a:off x="2260663" y="432870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2800"/>
          </a:p>
        </p:txBody>
      </p:sp>
      <p:pic>
        <p:nvPicPr>
          <p:cNvPr id="34" name="图片 3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51934" y="4231672"/>
            <a:ext cx="1088133" cy="593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94657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10"/>
          <p:cNvSpPr/>
          <p:nvPr/>
        </p:nvSpPr>
        <p:spPr>
          <a:xfrm>
            <a:off x="0" y="-9532"/>
            <a:ext cx="12205648" cy="738010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8"/>
          <p:cNvSpPr/>
          <p:nvPr/>
        </p:nvSpPr>
        <p:spPr>
          <a:xfrm>
            <a:off x="0" y="728478"/>
            <a:ext cx="9400194" cy="5135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9"/>
          <p:cNvSpPr/>
          <p:nvPr/>
        </p:nvSpPr>
        <p:spPr>
          <a:xfrm>
            <a:off x="9135236" y="722278"/>
            <a:ext cx="3070412" cy="45719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292640" y="144950"/>
            <a:ext cx="72327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2800" dirty="0">
                <a:solidFill>
                  <a:schemeClr val="bg1"/>
                </a:solidFill>
              </a:rPr>
              <a:t>2.0 </a:t>
            </a:r>
            <a:endParaRPr kumimoji="1" lang="zh-CN" altLang="en-US" sz="2800" dirty="0">
              <a:solidFill>
                <a:schemeClr val="bg1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292640" y="144950"/>
            <a:ext cx="215956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2800" dirty="0">
                <a:solidFill>
                  <a:schemeClr val="bg1"/>
                </a:solidFill>
              </a:rPr>
              <a:t>2.0 </a:t>
            </a:r>
            <a:r>
              <a:rPr kumimoji="1" lang="zh-CN" altLang="en-US" sz="2800" dirty="0" smtClean="0">
                <a:solidFill>
                  <a:schemeClr val="bg1"/>
                </a:solidFill>
              </a:rPr>
              <a:t>预备知识</a:t>
            </a:r>
            <a:endParaRPr kumimoji="1" lang="zh-CN" altLang="en-US" sz="2800" dirty="0">
              <a:solidFill>
                <a:schemeClr val="bg1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3382" y="1517841"/>
            <a:ext cx="6312971" cy="3808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0733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10"/>
          <p:cNvSpPr/>
          <p:nvPr/>
        </p:nvSpPr>
        <p:spPr>
          <a:xfrm>
            <a:off x="0" y="-9532"/>
            <a:ext cx="12205648" cy="738010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8"/>
          <p:cNvSpPr/>
          <p:nvPr/>
        </p:nvSpPr>
        <p:spPr>
          <a:xfrm>
            <a:off x="0" y="728478"/>
            <a:ext cx="9400194" cy="5135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9"/>
          <p:cNvSpPr/>
          <p:nvPr/>
        </p:nvSpPr>
        <p:spPr>
          <a:xfrm>
            <a:off x="9135236" y="722278"/>
            <a:ext cx="3070412" cy="45719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292640" y="144950"/>
            <a:ext cx="72327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2800" dirty="0">
                <a:solidFill>
                  <a:schemeClr val="bg1"/>
                </a:solidFill>
              </a:rPr>
              <a:t>2.0 </a:t>
            </a:r>
            <a:endParaRPr kumimoji="1" lang="zh-CN" altLang="en-US" sz="2800" dirty="0">
              <a:solidFill>
                <a:schemeClr val="bg1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292640" y="144950"/>
            <a:ext cx="215956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2800" dirty="0">
                <a:solidFill>
                  <a:schemeClr val="bg1"/>
                </a:solidFill>
              </a:rPr>
              <a:t>2.0 </a:t>
            </a:r>
            <a:r>
              <a:rPr kumimoji="1" lang="zh-CN" altLang="en-US" sz="2800" dirty="0" smtClean="0">
                <a:solidFill>
                  <a:schemeClr val="bg1"/>
                </a:solidFill>
              </a:rPr>
              <a:t>预备知识</a:t>
            </a:r>
            <a:endParaRPr kumimoji="1" lang="zh-CN" altLang="en-US" sz="2800" dirty="0">
              <a:solidFill>
                <a:schemeClr val="bg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258015" y="1002405"/>
            <a:ext cx="162736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>
                <a:solidFill>
                  <a:srgbClr val="121212"/>
                </a:solidFill>
                <a:latin typeface="-apple-system"/>
              </a:rPr>
              <a:t>2.2 </a:t>
            </a:r>
            <a:r>
              <a:rPr lang="zh-CN" altLang="en-US" sz="2800" b="1" dirty="0">
                <a:solidFill>
                  <a:srgbClr val="121212"/>
                </a:solidFill>
                <a:latin typeface="-apple-system"/>
              </a:rPr>
              <a:t>迭代</a:t>
            </a:r>
            <a:endParaRPr lang="zh-CN" altLang="en-US" sz="2800" dirty="0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627017" y="1525625"/>
            <a:ext cx="201850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</a:t>
            </a:r>
            <a:r>
              <a:rPr kumimoji="0" lang="zh-CN" altLang="zh-CN" sz="2800" b="0" i="0" u="none" strike="noStrike" cap="none" normalizeH="0" baseline="0" smtClean="0">
                <a:ln>
                  <a:noFill/>
                </a:ln>
                <a:solidFill>
                  <a:srgbClr val="121212"/>
                </a:solidFill>
                <a:effectLst/>
                <a:latin typeface="Arial" panose="020B0604020202020204" pitchFamily="34" charset="0"/>
                <a:ea typeface="-apple-system"/>
              </a:rPr>
              <a:t> 的梯度为</a:t>
            </a:r>
            <a:r>
              <a:rPr kumimoji="0" lang="zh-CN" altLang="zh-CN" sz="2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4" name="AutoShape 2" descr="[公式]"/>
          <p:cNvSpPr>
            <a:spLocks noChangeAspect="1" noChangeArrowheads="1"/>
          </p:cNvSpPr>
          <p:nvPr/>
        </p:nvSpPr>
        <p:spPr bwMode="auto">
          <a:xfrm>
            <a:off x="782592" y="1642772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280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947" y="1642772"/>
            <a:ext cx="418968" cy="374867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5383" y="2234833"/>
            <a:ext cx="6446789" cy="559805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596947" y="2875002"/>
            <a:ext cx="449353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solidFill>
                  <a:srgbClr val="121212"/>
                </a:solidFill>
                <a:latin typeface="-apple-system"/>
              </a:rPr>
              <a:t>继续沿着梯度的反方向走：</a:t>
            </a:r>
            <a:endParaRPr lang="zh-CN" altLang="en-US" sz="2800" dirty="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3520" y="3562333"/>
            <a:ext cx="6329954" cy="503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1556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10"/>
          <p:cNvSpPr/>
          <p:nvPr/>
        </p:nvSpPr>
        <p:spPr>
          <a:xfrm>
            <a:off x="0" y="-9532"/>
            <a:ext cx="12205648" cy="738010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8"/>
          <p:cNvSpPr/>
          <p:nvPr/>
        </p:nvSpPr>
        <p:spPr>
          <a:xfrm>
            <a:off x="0" y="728478"/>
            <a:ext cx="9400194" cy="5135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9"/>
          <p:cNvSpPr/>
          <p:nvPr/>
        </p:nvSpPr>
        <p:spPr>
          <a:xfrm>
            <a:off x="9135236" y="722278"/>
            <a:ext cx="3070412" cy="45719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292640" y="144950"/>
            <a:ext cx="72327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2800" dirty="0">
                <a:solidFill>
                  <a:schemeClr val="bg1"/>
                </a:solidFill>
              </a:rPr>
              <a:t>2.0 </a:t>
            </a:r>
            <a:endParaRPr kumimoji="1" lang="zh-CN" altLang="en-US" sz="2800" dirty="0">
              <a:solidFill>
                <a:schemeClr val="bg1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292640" y="144950"/>
            <a:ext cx="215956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2800" dirty="0">
                <a:solidFill>
                  <a:schemeClr val="bg1"/>
                </a:solidFill>
              </a:rPr>
              <a:t>2.0 </a:t>
            </a:r>
            <a:r>
              <a:rPr kumimoji="1" lang="zh-CN" altLang="en-US" sz="2800" dirty="0" smtClean="0">
                <a:solidFill>
                  <a:schemeClr val="bg1"/>
                </a:solidFill>
              </a:rPr>
              <a:t>预备知识</a:t>
            </a:r>
            <a:endParaRPr kumimoji="1" lang="zh-CN" altLang="en-US" sz="2800" dirty="0">
              <a:solidFill>
                <a:schemeClr val="bg1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1717" y="2135560"/>
            <a:ext cx="6738477" cy="4334772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627017" y="1084424"/>
            <a:ext cx="449353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solidFill>
                  <a:srgbClr val="121212"/>
                </a:solidFill>
                <a:latin typeface="-apple-system"/>
              </a:rPr>
              <a:t>小球就滚到了更低的位置：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66833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10"/>
          <p:cNvSpPr/>
          <p:nvPr/>
        </p:nvSpPr>
        <p:spPr>
          <a:xfrm>
            <a:off x="0" y="-9532"/>
            <a:ext cx="12205648" cy="738010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8"/>
          <p:cNvSpPr/>
          <p:nvPr/>
        </p:nvSpPr>
        <p:spPr>
          <a:xfrm>
            <a:off x="0" y="728478"/>
            <a:ext cx="9400194" cy="5135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9"/>
          <p:cNvSpPr/>
          <p:nvPr/>
        </p:nvSpPr>
        <p:spPr>
          <a:xfrm>
            <a:off x="9135236" y="722278"/>
            <a:ext cx="3070412" cy="45719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292640" y="144950"/>
            <a:ext cx="72327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2800" dirty="0">
                <a:solidFill>
                  <a:schemeClr val="bg1"/>
                </a:solidFill>
              </a:rPr>
              <a:t>2.0 </a:t>
            </a:r>
            <a:endParaRPr kumimoji="1" lang="zh-CN" altLang="en-US" sz="2800" dirty="0">
              <a:solidFill>
                <a:schemeClr val="bg1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292640" y="144950"/>
            <a:ext cx="215956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2800" dirty="0">
                <a:solidFill>
                  <a:schemeClr val="bg1"/>
                </a:solidFill>
              </a:rPr>
              <a:t>2.0 </a:t>
            </a:r>
            <a:r>
              <a:rPr kumimoji="1" lang="zh-CN" altLang="en-US" sz="2800" dirty="0" smtClean="0">
                <a:solidFill>
                  <a:schemeClr val="bg1"/>
                </a:solidFill>
              </a:rPr>
              <a:t>预备知识</a:t>
            </a:r>
            <a:endParaRPr kumimoji="1" lang="zh-CN" altLang="en-US" sz="2800" dirty="0">
              <a:solidFill>
                <a:schemeClr val="bg1"/>
              </a:solidFill>
            </a:endParaRP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911295"/>
            <a:ext cx="1164934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0" i="0" u="none" strike="noStrike" cap="none" normalizeH="0" baseline="0" dirty="0" smtClean="0">
                <a:ln>
                  <a:noFill/>
                </a:ln>
                <a:solidFill>
                  <a:srgbClr val="121212"/>
                </a:solidFill>
                <a:effectLst/>
                <a:latin typeface="Arial" panose="020B0604020202020204" pitchFamily="34" charset="0"/>
                <a:ea typeface="-apple-system"/>
              </a:rPr>
              <a:t>重复上述过程到第 10 次，小球基本上就到了最低点，即有</a:t>
            </a:r>
            <a:r>
              <a:rPr kumimoji="0" lang="zh-CN" altLang="zh-CN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</a:t>
            </a:r>
            <a:r>
              <a:rPr kumimoji="0" lang="en-US" altLang="zh-CN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       </a:t>
            </a:r>
            <a:r>
              <a:rPr kumimoji="0" lang="zh-CN" altLang="zh-CN" sz="2800" b="0" i="0" u="none" strike="noStrike" cap="none" normalizeH="0" baseline="0" dirty="0" smtClean="0">
                <a:ln>
                  <a:noFill/>
                </a:ln>
                <a:solidFill>
                  <a:srgbClr val="121212"/>
                </a:solidFill>
                <a:effectLst/>
                <a:latin typeface="Arial" panose="020B0604020202020204" pitchFamily="34" charset="0"/>
                <a:ea typeface="-apple-system"/>
              </a:rPr>
              <a:t> ：</a:t>
            </a:r>
            <a:r>
              <a:rPr kumimoji="0" lang="zh-CN" altLang="zh-CN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3" name="AutoShape 2" descr="[公式]"/>
          <p:cNvSpPr>
            <a:spLocks noChangeAspect="1" noChangeArrowheads="1"/>
          </p:cNvSpPr>
          <p:nvPr/>
        </p:nvSpPr>
        <p:spPr bwMode="auto">
          <a:xfrm>
            <a:off x="3714750" y="1028442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28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194" y="1041823"/>
            <a:ext cx="1243521" cy="392692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7171" y="2235381"/>
            <a:ext cx="7860576" cy="3930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095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10"/>
          <p:cNvSpPr/>
          <p:nvPr/>
        </p:nvSpPr>
        <p:spPr>
          <a:xfrm>
            <a:off x="0" y="-9532"/>
            <a:ext cx="12205648" cy="738010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8"/>
          <p:cNvSpPr/>
          <p:nvPr/>
        </p:nvSpPr>
        <p:spPr>
          <a:xfrm>
            <a:off x="0" y="728478"/>
            <a:ext cx="9400194" cy="5135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9"/>
          <p:cNvSpPr/>
          <p:nvPr/>
        </p:nvSpPr>
        <p:spPr>
          <a:xfrm>
            <a:off x="9135236" y="722278"/>
            <a:ext cx="3070412" cy="45719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292640" y="144950"/>
            <a:ext cx="72327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2800" dirty="0">
                <a:solidFill>
                  <a:schemeClr val="bg1"/>
                </a:solidFill>
              </a:rPr>
              <a:t>2.0 </a:t>
            </a:r>
            <a:endParaRPr kumimoji="1" lang="zh-CN" altLang="en-US" sz="2800" dirty="0">
              <a:solidFill>
                <a:schemeClr val="bg1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292640" y="144950"/>
            <a:ext cx="215956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2800" dirty="0">
                <a:solidFill>
                  <a:schemeClr val="bg1"/>
                </a:solidFill>
              </a:rPr>
              <a:t>2.0 </a:t>
            </a:r>
            <a:r>
              <a:rPr kumimoji="1" lang="zh-CN" altLang="en-US" sz="2800" dirty="0" smtClean="0">
                <a:solidFill>
                  <a:schemeClr val="bg1"/>
                </a:solidFill>
              </a:rPr>
              <a:t>预备知识</a:t>
            </a:r>
            <a:endParaRPr kumimoji="1" lang="zh-CN" altLang="en-US" sz="2800" dirty="0">
              <a:solidFill>
                <a:schemeClr val="bg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0" y="879649"/>
            <a:ext cx="270458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>
                <a:solidFill>
                  <a:srgbClr val="121212"/>
                </a:solidFill>
                <a:latin typeface="-apple-system"/>
              </a:rPr>
              <a:t>2.3 </a:t>
            </a:r>
            <a:r>
              <a:rPr lang="zh-CN" altLang="en-US" sz="2800" b="1" dirty="0">
                <a:solidFill>
                  <a:srgbClr val="121212"/>
                </a:solidFill>
                <a:latin typeface="-apple-system"/>
              </a:rPr>
              <a:t>梯度下降法</a:t>
            </a:r>
            <a:endParaRPr lang="zh-CN" altLang="en-US" sz="2800" dirty="0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1432868"/>
            <a:ext cx="12173803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0" i="0" u="none" strike="noStrike" cap="none" normalizeH="0" baseline="0" dirty="0" smtClean="0">
                <a:ln>
                  <a:noFill/>
                </a:ln>
                <a:solidFill>
                  <a:srgbClr val="121212"/>
                </a:solidFill>
                <a:effectLst/>
                <a:latin typeface="Arial" panose="020B0604020202020204" pitchFamily="34" charset="0"/>
                <a:ea typeface="-apple-system"/>
              </a:rPr>
              <a:t>把每一次的梯度向量</a:t>
            </a:r>
            <a:r>
              <a:rPr kumimoji="0" lang="zh-CN" altLang="zh-CN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</a:t>
            </a:r>
            <a:r>
              <a:rPr kumimoji="0" lang="zh-CN" altLang="zh-CN" sz="2800" b="0" i="0" u="none" strike="noStrike" cap="none" normalizeH="0" baseline="0" dirty="0" smtClean="0">
                <a:ln>
                  <a:noFill/>
                </a:ln>
                <a:solidFill>
                  <a:srgbClr val="121212"/>
                </a:solidFill>
                <a:effectLst/>
                <a:latin typeface="Arial" panose="020B0604020202020204" pitchFamily="34" charset="0"/>
                <a:ea typeface="-apple-system"/>
              </a:rPr>
              <a:t> </a:t>
            </a:r>
            <a:r>
              <a:rPr kumimoji="0" lang="en-US" altLang="zh-CN" sz="2800" b="0" i="0" u="none" strike="noStrike" cap="none" normalizeH="0" baseline="0" dirty="0" smtClean="0">
                <a:ln>
                  <a:noFill/>
                </a:ln>
                <a:solidFill>
                  <a:srgbClr val="121212"/>
                </a:solidFill>
                <a:effectLst/>
                <a:latin typeface="Arial" panose="020B0604020202020204" pitchFamily="34" charset="0"/>
                <a:ea typeface="-apple-system"/>
              </a:rPr>
              <a:t>   </a:t>
            </a:r>
            <a:r>
              <a:rPr kumimoji="0" lang="zh-CN" altLang="zh-CN" sz="2800" b="0" i="0" u="none" strike="noStrike" cap="none" normalizeH="0" baseline="0" dirty="0" smtClean="0">
                <a:ln>
                  <a:noFill/>
                </a:ln>
                <a:solidFill>
                  <a:srgbClr val="121212"/>
                </a:solidFill>
                <a:effectLst/>
                <a:latin typeface="Arial" panose="020B0604020202020204" pitchFamily="34" charset="0"/>
                <a:ea typeface="-apple-system"/>
              </a:rPr>
              <a:t>的模长</a:t>
            </a:r>
            <a:r>
              <a:rPr kumimoji="0" lang="en-US" altLang="zh-CN" sz="2800" b="0" i="0" u="none" strike="noStrike" cap="none" normalizeH="0" baseline="0" dirty="0" smtClean="0">
                <a:ln>
                  <a:noFill/>
                </a:ln>
                <a:solidFill>
                  <a:srgbClr val="121212"/>
                </a:solidFill>
                <a:effectLst/>
                <a:latin typeface="Arial" panose="020B0604020202020204" pitchFamily="34" charset="0"/>
                <a:ea typeface="-apple-system"/>
              </a:rPr>
              <a:t>   </a:t>
            </a:r>
            <a:r>
              <a:rPr kumimoji="0" lang="zh-CN" altLang="zh-CN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</a:t>
            </a:r>
            <a:r>
              <a:rPr kumimoji="0" lang="zh-CN" altLang="zh-CN" sz="2800" b="0" i="0" u="none" strike="noStrike" cap="none" normalizeH="0" baseline="0" dirty="0" smtClean="0">
                <a:ln>
                  <a:noFill/>
                </a:ln>
                <a:solidFill>
                  <a:srgbClr val="121212"/>
                </a:solidFill>
                <a:effectLst/>
                <a:latin typeface="Arial" panose="020B0604020202020204" pitchFamily="34" charset="0"/>
                <a:ea typeface="-apple-system"/>
              </a:rPr>
              <a:t> </a:t>
            </a:r>
            <a:r>
              <a:rPr kumimoji="0" lang="en-US" altLang="zh-CN" sz="2800" b="0" i="0" u="none" strike="noStrike" cap="none" normalizeH="0" baseline="0" dirty="0" smtClean="0">
                <a:ln>
                  <a:noFill/>
                </a:ln>
                <a:solidFill>
                  <a:srgbClr val="121212"/>
                </a:solidFill>
                <a:effectLst/>
                <a:latin typeface="Arial" panose="020B0604020202020204" pitchFamily="34" charset="0"/>
                <a:ea typeface="-apple-system"/>
              </a:rPr>
              <a:t>   </a:t>
            </a:r>
            <a:r>
              <a:rPr kumimoji="0" lang="zh-CN" altLang="zh-CN" sz="2800" b="0" i="0" u="none" strike="noStrike" cap="none" normalizeH="0" baseline="0" dirty="0" smtClean="0">
                <a:ln>
                  <a:noFill/>
                </a:ln>
                <a:solidFill>
                  <a:srgbClr val="121212"/>
                </a:solidFill>
                <a:effectLst/>
                <a:latin typeface="Arial" panose="020B0604020202020204" pitchFamily="34" charset="0"/>
                <a:ea typeface="-apple-system"/>
              </a:rPr>
              <a:t>列出来，可以看到是在不断减小的，因此这种方法称为</a:t>
            </a:r>
            <a:r>
              <a:rPr kumimoji="0" lang="zh-CN" altLang="zh-CN" sz="28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ea typeface="-apple-system"/>
              </a:rPr>
              <a:t>梯度下降法</a:t>
            </a:r>
            <a:r>
              <a:rPr kumimoji="0" lang="zh-CN" altLang="zh-CN" sz="2800" b="0" i="0" u="none" strike="noStrike" cap="none" normalizeH="0" baseline="0" dirty="0" smtClean="0">
                <a:ln>
                  <a:noFill/>
                </a:ln>
                <a:solidFill>
                  <a:srgbClr val="121212"/>
                </a:solidFill>
                <a:effectLst/>
                <a:latin typeface="Arial" panose="020B0604020202020204" pitchFamily="34" charset="0"/>
                <a:ea typeface="-apple-system"/>
              </a:rPr>
              <a:t>：</a:t>
            </a:r>
            <a:r>
              <a:rPr kumimoji="0" lang="zh-CN" altLang="zh-CN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4" name="AutoShape 2" descr="[公式]"/>
          <p:cNvSpPr>
            <a:spLocks noChangeAspect="1" noChangeArrowheads="1"/>
          </p:cNvSpPr>
          <p:nvPr/>
        </p:nvSpPr>
        <p:spPr bwMode="auto">
          <a:xfrm>
            <a:off x="1387475" y="1765458"/>
            <a:ext cx="232471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2800"/>
          </a:p>
        </p:txBody>
      </p:sp>
      <p:sp>
        <p:nvSpPr>
          <p:cNvPr id="5" name="AutoShape 3" descr="[公式]"/>
          <p:cNvSpPr>
            <a:spLocks noChangeAspect="1" noChangeArrowheads="1"/>
          </p:cNvSpPr>
          <p:nvPr/>
        </p:nvSpPr>
        <p:spPr bwMode="auto">
          <a:xfrm>
            <a:off x="1949450" y="1765458"/>
            <a:ext cx="232471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280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2747" y="1493580"/>
            <a:ext cx="556922" cy="467096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0495" y="1517841"/>
            <a:ext cx="796784" cy="416501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0319" y="2785178"/>
            <a:ext cx="7489875" cy="1630067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108857" y="4521815"/>
            <a:ext cx="849956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rgbClr val="121212"/>
                </a:solidFill>
                <a:latin typeface="-apple-system"/>
              </a:rPr>
              <a:t>这也比较好理解，当最终趋向于 </a:t>
            </a:r>
            <a:r>
              <a:rPr lang="en-US" altLang="zh-CN" sz="2800" dirty="0">
                <a:solidFill>
                  <a:srgbClr val="121212"/>
                </a:solidFill>
                <a:latin typeface="-apple-system"/>
              </a:rPr>
              <a:t>0 </a:t>
            </a:r>
            <a:r>
              <a:rPr lang="zh-CN" altLang="en-US" sz="2800" dirty="0">
                <a:solidFill>
                  <a:srgbClr val="121212"/>
                </a:solidFill>
                <a:latin typeface="-apple-system"/>
              </a:rPr>
              <a:t>时有</a:t>
            </a:r>
            <a:r>
              <a:rPr lang="zh-CN" altLang="en-US" sz="2800" dirty="0" smtClean="0">
                <a:solidFill>
                  <a:srgbClr val="121212"/>
                </a:solidFill>
                <a:latin typeface="-apple-system"/>
              </a:rPr>
              <a:t>：</a:t>
            </a:r>
            <a:endParaRPr lang="zh-CN" altLang="en-US" sz="2800" dirty="0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49450" y="5151605"/>
            <a:ext cx="5058633" cy="604273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108857" y="5862448"/>
            <a:ext cx="88024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solidFill>
                  <a:srgbClr val="121212"/>
                </a:solidFill>
                <a:latin typeface="-apple-system"/>
              </a:rPr>
              <a:t>所以梯度下降法求出来的就是最小值（或者在附近）。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847977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10"/>
          <p:cNvSpPr/>
          <p:nvPr/>
        </p:nvSpPr>
        <p:spPr>
          <a:xfrm>
            <a:off x="0" y="-9532"/>
            <a:ext cx="12205648" cy="738010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8"/>
          <p:cNvSpPr/>
          <p:nvPr/>
        </p:nvSpPr>
        <p:spPr>
          <a:xfrm>
            <a:off x="0" y="728478"/>
            <a:ext cx="9400194" cy="5135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9"/>
          <p:cNvSpPr/>
          <p:nvPr/>
        </p:nvSpPr>
        <p:spPr>
          <a:xfrm>
            <a:off x="9135236" y="722278"/>
            <a:ext cx="3070412" cy="45719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292640" y="144950"/>
            <a:ext cx="72327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2800" dirty="0">
                <a:solidFill>
                  <a:schemeClr val="bg1"/>
                </a:solidFill>
              </a:rPr>
              <a:t>2.0 </a:t>
            </a:r>
            <a:endParaRPr kumimoji="1" lang="zh-CN" altLang="en-US" sz="2800" dirty="0">
              <a:solidFill>
                <a:schemeClr val="bg1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292640" y="144950"/>
            <a:ext cx="215956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2800" dirty="0">
                <a:solidFill>
                  <a:schemeClr val="bg1"/>
                </a:solidFill>
              </a:rPr>
              <a:t>2.0 </a:t>
            </a:r>
            <a:r>
              <a:rPr kumimoji="1" lang="zh-CN" altLang="en-US" sz="2800" dirty="0" smtClean="0">
                <a:solidFill>
                  <a:schemeClr val="bg1"/>
                </a:solidFill>
              </a:rPr>
              <a:t>预备知识</a:t>
            </a:r>
            <a:endParaRPr kumimoji="1" lang="zh-CN" altLang="en-US" sz="2800" dirty="0">
              <a:solidFill>
                <a:schemeClr val="bg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107333" y="779831"/>
            <a:ext cx="126509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>
                <a:solidFill>
                  <a:srgbClr val="121212"/>
                </a:solidFill>
                <a:latin typeface="-apple-system"/>
              </a:rPr>
              <a:t>3 </a:t>
            </a:r>
            <a:r>
              <a:rPr lang="zh-CN" altLang="en-US" sz="2800" b="1" dirty="0">
                <a:solidFill>
                  <a:srgbClr val="121212"/>
                </a:solidFill>
                <a:latin typeface="-apple-system"/>
              </a:rPr>
              <a:t>步长</a:t>
            </a:r>
            <a:endParaRPr lang="zh-CN" altLang="en-US" sz="2800" dirty="0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77337" y="1303051"/>
            <a:ext cx="12050973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0" i="0" u="none" strike="noStrike" cap="none" normalizeH="0" baseline="0" dirty="0" smtClean="0">
                <a:ln>
                  <a:noFill/>
                </a:ln>
                <a:solidFill>
                  <a:srgbClr val="121212"/>
                </a:solidFill>
                <a:effectLst/>
                <a:latin typeface="Arial" panose="020B0604020202020204" pitchFamily="34" charset="0"/>
                <a:ea typeface="-apple-system"/>
              </a:rPr>
              <a:t>上面谈到了可以通过步长</a:t>
            </a:r>
            <a:r>
              <a:rPr kumimoji="0" lang="zh-CN" altLang="zh-CN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</a:t>
            </a:r>
            <a:r>
              <a:rPr kumimoji="0" lang="zh-CN" altLang="zh-CN" sz="2800" b="0" i="0" u="none" strike="noStrike" cap="none" normalizeH="0" baseline="0" dirty="0" smtClean="0">
                <a:ln>
                  <a:noFill/>
                </a:ln>
                <a:solidFill>
                  <a:srgbClr val="121212"/>
                </a:solidFill>
                <a:effectLst/>
                <a:latin typeface="Arial" panose="020B0604020202020204" pitchFamily="34" charset="0"/>
                <a:ea typeface="-apple-system"/>
              </a:rPr>
              <a:t> 来控制每次移动的距离，下面来看看不同步长对最终结果的影响</a:t>
            </a:r>
            <a:r>
              <a:rPr kumimoji="0" lang="zh-CN" altLang="zh-CN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4" name="AutoShape 2" descr="[公式]"/>
          <p:cNvSpPr>
            <a:spLocks noChangeAspect="1" noChangeArrowheads="1"/>
          </p:cNvSpPr>
          <p:nvPr/>
        </p:nvSpPr>
        <p:spPr bwMode="auto">
          <a:xfrm>
            <a:off x="1666875" y="1807167"/>
            <a:ext cx="251825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2800"/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0" y="2284221"/>
            <a:ext cx="12192000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0" i="0" u="none" strike="noStrike" cap="none" normalizeH="0" baseline="0" dirty="0" smtClean="0">
                <a:ln>
                  <a:noFill/>
                </a:ln>
                <a:solidFill>
                  <a:srgbClr val="121212"/>
                </a:solidFill>
                <a:effectLst/>
                <a:latin typeface="Arial" panose="020B0604020202020204" pitchFamily="34" charset="0"/>
                <a:ea typeface="-apple-system"/>
              </a:rPr>
              <a:t>如果设</a:t>
            </a:r>
            <a:r>
              <a:rPr kumimoji="0" lang="zh-CN" altLang="zh-CN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</a:t>
            </a:r>
            <a:r>
              <a:rPr kumimoji="0" lang="zh-CN" altLang="zh-CN" sz="2800" b="0" i="0" u="none" strike="noStrike" cap="none" normalizeH="0" baseline="0" dirty="0" smtClean="0">
                <a:ln>
                  <a:noFill/>
                </a:ln>
                <a:solidFill>
                  <a:srgbClr val="121212"/>
                </a:solidFill>
                <a:effectLst/>
                <a:latin typeface="Arial" panose="020B0604020202020204" pitchFamily="34" charset="0"/>
                <a:ea typeface="-apple-system"/>
              </a:rPr>
              <a:t> </a:t>
            </a:r>
            <a:r>
              <a:rPr kumimoji="0" lang="en-US" altLang="zh-CN" sz="2800" b="0" i="0" u="none" strike="noStrike" cap="none" normalizeH="0" baseline="0" dirty="0" smtClean="0">
                <a:ln>
                  <a:noFill/>
                </a:ln>
                <a:solidFill>
                  <a:srgbClr val="121212"/>
                </a:solidFill>
                <a:effectLst/>
                <a:latin typeface="Arial" panose="020B0604020202020204" pitchFamily="34" charset="0"/>
                <a:ea typeface="-apple-system"/>
              </a:rPr>
              <a:t>  </a:t>
            </a:r>
            <a:r>
              <a:rPr lang="en-US" altLang="zh-CN" sz="2800" dirty="0">
                <a:solidFill>
                  <a:srgbClr val="121212"/>
                </a:solidFill>
                <a:ea typeface="-apple-system"/>
              </a:rPr>
              <a:t> </a:t>
            </a:r>
            <a:r>
              <a:rPr lang="en-US" altLang="zh-CN" sz="2800" dirty="0" smtClean="0">
                <a:solidFill>
                  <a:srgbClr val="121212"/>
                </a:solidFill>
                <a:ea typeface="-apple-system"/>
              </a:rPr>
              <a:t>         </a:t>
            </a:r>
            <a:r>
              <a:rPr lang="zh-CN" altLang="en-US" sz="2800" dirty="0" smtClean="0">
                <a:solidFill>
                  <a:srgbClr val="121212"/>
                </a:solidFill>
                <a:ea typeface="-apple-system"/>
              </a:rPr>
              <a:t>，就</a:t>
            </a:r>
            <a:r>
              <a:rPr kumimoji="0" lang="zh-CN" altLang="zh-CN" sz="2800" b="0" i="0" u="none" strike="noStrike" cap="none" normalizeH="0" baseline="0" dirty="0" smtClean="0">
                <a:ln>
                  <a:noFill/>
                </a:ln>
                <a:solidFill>
                  <a:srgbClr val="121212"/>
                </a:solidFill>
                <a:effectLst/>
                <a:latin typeface="Arial" panose="020B0604020202020204" pitchFamily="34" charset="0"/>
                <a:ea typeface="-apple-system"/>
              </a:rPr>
              <a:t>过于小了，迭代 20 次后离谷底还很远，实际上 100 次后都无法到达谷底：</a:t>
            </a:r>
            <a:r>
              <a:rPr kumimoji="0" lang="zh-CN" altLang="zh-CN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6" name="AutoShape 4" descr="[公式]"/>
          <p:cNvSpPr>
            <a:spLocks noChangeAspect="1" noChangeArrowheads="1"/>
          </p:cNvSpPr>
          <p:nvPr/>
        </p:nvSpPr>
        <p:spPr bwMode="auto">
          <a:xfrm>
            <a:off x="549275" y="2616811"/>
            <a:ext cx="26868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280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4936" y="2333488"/>
            <a:ext cx="1347527" cy="427786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1897" y="3637981"/>
            <a:ext cx="5715000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5592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10"/>
          <p:cNvSpPr/>
          <p:nvPr/>
        </p:nvSpPr>
        <p:spPr>
          <a:xfrm>
            <a:off x="0" y="-9532"/>
            <a:ext cx="12205648" cy="738010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8"/>
          <p:cNvSpPr/>
          <p:nvPr/>
        </p:nvSpPr>
        <p:spPr>
          <a:xfrm>
            <a:off x="0" y="728478"/>
            <a:ext cx="9400194" cy="5135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9"/>
          <p:cNvSpPr/>
          <p:nvPr/>
        </p:nvSpPr>
        <p:spPr>
          <a:xfrm>
            <a:off x="9135236" y="722278"/>
            <a:ext cx="3070412" cy="45719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292640" y="144950"/>
            <a:ext cx="72327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2800" dirty="0">
                <a:solidFill>
                  <a:schemeClr val="bg1"/>
                </a:solidFill>
              </a:rPr>
              <a:t>2.0 </a:t>
            </a:r>
            <a:endParaRPr kumimoji="1" lang="zh-CN" altLang="en-US" sz="2800" dirty="0">
              <a:solidFill>
                <a:schemeClr val="bg1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292640" y="144950"/>
            <a:ext cx="215956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2800" dirty="0">
                <a:solidFill>
                  <a:schemeClr val="bg1"/>
                </a:solidFill>
              </a:rPr>
              <a:t>2.0 </a:t>
            </a:r>
            <a:r>
              <a:rPr kumimoji="1" lang="zh-CN" altLang="en-US" sz="2800" dirty="0" smtClean="0">
                <a:solidFill>
                  <a:schemeClr val="bg1"/>
                </a:solidFill>
              </a:rPr>
              <a:t>预备知识</a:t>
            </a:r>
            <a:endParaRPr kumimoji="1" lang="zh-CN" altLang="en-US" sz="2800" dirty="0">
              <a:solidFill>
                <a:schemeClr val="bg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97073" y="1019367"/>
            <a:ext cx="162736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>
                <a:solidFill>
                  <a:srgbClr val="121212"/>
                </a:solidFill>
                <a:latin typeface="-apple-system"/>
              </a:rPr>
              <a:t>3.2 </a:t>
            </a:r>
            <a:r>
              <a:rPr lang="zh-CN" altLang="en-US" sz="2800" b="1" dirty="0">
                <a:solidFill>
                  <a:srgbClr val="121212"/>
                </a:solidFill>
                <a:latin typeface="-apple-system"/>
              </a:rPr>
              <a:t>合适</a:t>
            </a:r>
            <a:endParaRPr lang="zh-CN" altLang="en-US" sz="2800" dirty="0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1520513"/>
            <a:ext cx="1213024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0" i="0" u="none" strike="noStrike" cap="none" normalizeH="0" baseline="0" dirty="0" smtClean="0">
                <a:ln>
                  <a:noFill/>
                </a:ln>
                <a:solidFill>
                  <a:srgbClr val="121212"/>
                </a:solidFill>
                <a:effectLst/>
                <a:latin typeface="Arial" panose="020B0604020202020204" pitchFamily="34" charset="0"/>
                <a:ea typeface="-apple-system"/>
              </a:rPr>
              <a:t>上面例子中用的</a:t>
            </a:r>
            <a:r>
              <a:rPr kumimoji="0" lang="zh-CN" altLang="zh-CN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</a:t>
            </a:r>
            <a:r>
              <a:rPr kumimoji="0" lang="zh-CN" altLang="zh-CN" sz="2800" b="0" i="0" u="none" strike="noStrike" cap="none" normalizeH="0" baseline="0" dirty="0" smtClean="0">
                <a:ln>
                  <a:noFill/>
                </a:ln>
                <a:solidFill>
                  <a:srgbClr val="121212"/>
                </a:solidFill>
                <a:effectLst/>
                <a:latin typeface="Arial" panose="020B0604020202020204" pitchFamily="34" charset="0"/>
                <a:ea typeface="-apple-system"/>
              </a:rPr>
              <a:t> </a:t>
            </a:r>
            <a:r>
              <a:rPr kumimoji="0" lang="en-US" altLang="zh-CN" sz="2800" b="0" i="0" u="none" strike="noStrike" cap="none" normalizeH="0" baseline="0" dirty="0" smtClean="0">
                <a:ln>
                  <a:noFill/>
                </a:ln>
                <a:solidFill>
                  <a:srgbClr val="121212"/>
                </a:solidFill>
                <a:effectLst/>
                <a:latin typeface="Arial" panose="020B0604020202020204" pitchFamily="34" charset="0"/>
                <a:ea typeface="-apple-system"/>
              </a:rPr>
              <a:t>           </a:t>
            </a:r>
            <a:r>
              <a:rPr kumimoji="0" lang="zh-CN" altLang="zh-CN" sz="2800" b="0" i="0" u="none" strike="noStrike" cap="none" normalizeH="0" baseline="0" dirty="0" smtClean="0">
                <a:ln>
                  <a:noFill/>
                </a:ln>
                <a:solidFill>
                  <a:srgbClr val="121212"/>
                </a:solidFill>
                <a:effectLst/>
                <a:latin typeface="Arial" panose="020B0604020202020204" pitchFamily="34" charset="0"/>
                <a:ea typeface="-apple-system"/>
              </a:rPr>
              <a:t>是较为合适的步长，10 次就差不多找到了最小值：</a:t>
            </a:r>
            <a:r>
              <a:rPr kumimoji="0" lang="zh-CN" altLang="zh-CN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4" name="AutoShape 2" descr="[公式]"/>
          <p:cNvSpPr>
            <a:spLocks noChangeAspect="1" noChangeArrowheads="1"/>
          </p:cNvSpPr>
          <p:nvPr/>
        </p:nvSpPr>
        <p:spPr bwMode="auto">
          <a:xfrm>
            <a:off x="1108075" y="1637660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280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4292" y="1586903"/>
            <a:ext cx="1005028" cy="45683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7171" y="2235381"/>
            <a:ext cx="7860576" cy="3930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5251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10"/>
          <p:cNvSpPr/>
          <p:nvPr/>
        </p:nvSpPr>
        <p:spPr>
          <a:xfrm>
            <a:off x="0" y="-9532"/>
            <a:ext cx="12205648" cy="738010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8"/>
          <p:cNvSpPr/>
          <p:nvPr/>
        </p:nvSpPr>
        <p:spPr>
          <a:xfrm>
            <a:off x="0" y="728478"/>
            <a:ext cx="9400194" cy="5135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9"/>
          <p:cNvSpPr/>
          <p:nvPr/>
        </p:nvSpPr>
        <p:spPr>
          <a:xfrm>
            <a:off x="9135236" y="722278"/>
            <a:ext cx="3070412" cy="45719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292640" y="144950"/>
            <a:ext cx="72327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2800" dirty="0">
                <a:solidFill>
                  <a:schemeClr val="bg1"/>
                </a:solidFill>
              </a:rPr>
              <a:t>2.0 </a:t>
            </a:r>
            <a:endParaRPr kumimoji="1" lang="zh-CN" altLang="en-US" sz="2800" dirty="0">
              <a:solidFill>
                <a:schemeClr val="bg1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292640" y="144950"/>
            <a:ext cx="215956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2800" dirty="0">
                <a:solidFill>
                  <a:schemeClr val="bg1"/>
                </a:solidFill>
              </a:rPr>
              <a:t>2.0 </a:t>
            </a:r>
            <a:r>
              <a:rPr kumimoji="1" lang="zh-CN" altLang="en-US" sz="2800" dirty="0" smtClean="0">
                <a:solidFill>
                  <a:schemeClr val="bg1"/>
                </a:solidFill>
              </a:rPr>
              <a:t>预备知识</a:t>
            </a:r>
            <a:endParaRPr kumimoji="1" lang="zh-CN" altLang="en-US" sz="2800" dirty="0">
              <a:solidFill>
                <a:schemeClr val="bg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202230" y="848593"/>
            <a:ext cx="162736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>
                <a:solidFill>
                  <a:srgbClr val="121212"/>
                </a:solidFill>
                <a:latin typeface="-apple-system"/>
              </a:rPr>
              <a:t>3.3 </a:t>
            </a:r>
            <a:r>
              <a:rPr lang="zh-CN" altLang="en-US" sz="2800" b="1" dirty="0">
                <a:solidFill>
                  <a:srgbClr val="121212"/>
                </a:solidFill>
                <a:latin typeface="-apple-system"/>
              </a:rPr>
              <a:t>较大</a:t>
            </a:r>
            <a:endParaRPr lang="zh-CN" altLang="en-US" sz="2800" dirty="0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-13648" y="1399980"/>
            <a:ext cx="12205648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0" i="0" u="none" strike="noStrike" cap="none" normalizeH="0" baseline="0" dirty="0" smtClean="0">
                <a:ln>
                  <a:noFill/>
                </a:ln>
                <a:solidFill>
                  <a:srgbClr val="121212"/>
                </a:solidFill>
                <a:effectLst/>
                <a:latin typeface="Arial" panose="020B0604020202020204" pitchFamily="34" charset="0"/>
                <a:ea typeface="-apple-system"/>
              </a:rPr>
              <a:t>如果令</a:t>
            </a:r>
            <a:r>
              <a:rPr kumimoji="0" lang="zh-CN" altLang="zh-CN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</a:t>
            </a:r>
            <a:r>
              <a:rPr kumimoji="0" lang="en-US" altLang="zh-CN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</a:t>
            </a:r>
            <a:r>
              <a:rPr kumimoji="0" lang="zh-CN" altLang="zh-CN" sz="2800" b="0" i="0" u="none" strike="noStrike" cap="none" normalizeH="0" baseline="0" dirty="0" smtClean="0">
                <a:ln>
                  <a:noFill/>
                </a:ln>
                <a:solidFill>
                  <a:srgbClr val="121212"/>
                </a:solidFill>
                <a:effectLst/>
                <a:latin typeface="Arial" panose="020B0604020202020204" pitchFamily="34" charset="0"/>
                <a:ea typeface="-apple-system"/>
              </a:rPr>
              <a:t>，这个时候会来回震荡（下图看上去只有两个点，实际上在这两个点之间来来回回）：</a:t>
            </a:r>
            <a:r>
              <a:rPr kumimoji="0" lang="zh-CN" altLang="zh-CN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4" name="AutoShape 2" descr="[公式]"/>
          <p:cNvSpPr>
            <a:spLocks noChangeAspect="1" noChangeArrowheads="1"/>
          </p:cNvSpPr>
          <p:nvPr/>
        </p:nvSpPr>
        <p:spPr bwMode="auto">
          <a:xfrm>
            <a:off x="535627" y="1732570"/>
            <a:ext cx="243089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280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7246" y="1544529"/>
            <a:ext cx="794360" cy="340441"/>
          </a:xfrm>
          <a:prstGeom prst="rect">
            <a:avLst/>
          </a:prstGeom>
        </p:spPr>
      </p:pic>
      <p:pic>
        <p:nvPicPr>
          <p:cNvPr id="25604" name="Picture 4" descr="https://pic1.zhimg.com/50/v2-be1591ca247ab8485e13bb9725cb6f32_hd.webp?source=1940ef5c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2206" y="2573383"/>
            <a:ext cx="57150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02947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10"/>
          <p:cNvSpPr/>
          <p:nvPr/>
        </p:nvSpPr>
        <p:spPr>
          <a:xfrm>
            <a:off x="0" y="-9532"/>
            <a:ext cx="12205648" cy="738010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8"/>
          <p:cNvSpPr/>
          <p:nvPr/>
        </p:nvSpPr>
        <p:spPr>
          <a:xfrm>
            <a:off x="0" y="728478"/>
            <a:ext cx="9400194" cy="5135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9"/>
          <p:cNvSpPr/>
          <p:nvPr/>
        </p:nvSpPr>
        <p:spPr>
          <a:xfrm>
            <a:off x="9135236" y="722278"/>
            <a:ext cx="3070412" cy="45719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292640" y="144950"/>
            <a:ext cx="72327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2800" dirty="0">
                <a:solidFill>
                  <a:schemeClr val="bg1"/>
                </a:solidFill>
              </a:rPr>
              <a:t>2.0 </a:t>
            </a:r>
            <a:endParaRPr kumimoji="1" lang="zh-CN" altLang="en-US" sz="2800" dirty="0">
              <a:solidFill>
                <a:schemeClr val="bg1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292640" y="144950"/>
            <a:ext cx="215956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2800" dirty="0">
                <a:solidFill>
                  <a:schemeClr val="bg1"/>
                </a:solidFill>
              </a:rPr>
              <a:t>2.0 </a:t>
            </a:r>
            <a:r>
              <a:rPr kumimoji="1" lang="zh-CN" altLang="en-US" sz="2800" dirty="0" smtClean="0">
                <a:solidFill>
                  <a:schemeClr val="bg1"/>
                </a:solidFill>
              </a:rPr>
              <a:t>预备知识</a:t>
            </a:r>
            <a:endParaRPr kumimoji="1" lang="zh-CN" altLang="en-US" sz="2800" dirty="0">
              <a:solidFill>
                <a:schemeClr val="bg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91440" y="825631"/>
            <a:ext cx="162736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>
                <a:solidFill>
                  <a:srgbClr val="121212"/>
                </a:solidFill>
                <a:latin typeface="-apple-system"/>
              </a:rPr>
              <a:t>3.4 </a:t>
            </a:r>
            <a:r>
              <a:rPr lang="zh-CN" altLang="en-US" sz="2800" b="1" dirty="0">
                <a:solidFill>
                  <a:srgbClr val="121212"/>
                </a:solidFill>
                <a:latin typeface="-apple-system"/>
              </a:rPr>
              <a:t>过大</a:t>
            </a:r>
            <a:endParaRPr lang="zh-CN" altLang="en-US" sz="2800" dirty="0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91440" y="1403771"/>
            <a:ext cx="1039258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0" i="0" u="none" strike="noStrike" cap="none" normalizeH="0" baseline="0" dirty="0" smtClean="0">
                <a:ln>
                  <a:noFill/>
                </a:ln>
                <a:solidFill>
                  <a:srgbClr val="121212"/>
                </a:solidFill>
                <a:effectLst/>
                <a:latin typeface="Arial" panose="020B0604020202020204" pitchFamily="34" charset="0"/>
                <a:ea typeface="-apple-system"/>
              </a:rPr>
              <a:t>继续加大步长，比如令</a:t>
            </a:r>
            <a:r>
              <a:rPr kumimoji="0" lang="zh-CN" altLang="zh-CN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</a:t>
            </a:r>
            <a:r>
              <a:rPr kumimoji="0" lang="zh-CN" altLang="zh-CN" sz="2800" b="0" i="0" u="none" strike="noStrike" cap="none" normalizeH="0" baseline="0" dirty="0" smtClean="0">
                <a:ln>
                  <a:noFill/>
                </a:ln>
                <a:solidFill>
                  <a:srgbClr val="121212"/>
                </a:solidFill>
                <a:effectLst/>
                <a:latin typeface="Arial" panose="020B0604020202020204" pitchFamily="34" charset="0"/>
                <a:ea typeface="-apple-system"/>
              </a:rPr>
              <a:t> </a:t>
            </a:r>
            <a:r>
              <a:rPr kumimoji="0" lang="en-US" altLang="zh-CN" sz="2800" b="0" i="0" u="none" strike="noStrike" cap="none" normalizeH="0" baseline="0" dirty="0" smtClean="0">
                <a:ln>
                  <a:noFill/>
                </a:ln>
                <a:solidFill>
                  <a:srgbClr val="121212"/>
                </a:solidFill>
                <a:effectLst/>
                <a:latin typeface="Arial" panose="020B0604020202020204" pitchFamily="34" charset="0"/>
                <a:ea typeface="-apple-system"/>
              </a:rPr>
              <a:t>         </a:t>
            </a:r>
            <a:r>
              <a:rPr kumimoji="0" lang="zh-CN" altLang="zh-CN" sz="2800" b="0" i="0" u="none" strike="noStrike" cap="none" normalizeH="0" baseline="0" dirty="0" smtClean="0">
                <a:ln>
                  <a:noFill/>
                </a:ln>
                <a:solidFill>
                  <a:srgbClr val="121212"/>
                </a:solidFill>
                <a:effectLst/>
                <a:latin typeface="Arial" panose="020B0604020202020204" pitchFamily="34" charset="0"/>
                <a:ea typeface="-apple-system"/>
              </a:rPr>
              <a:t>，反而会越过谷底，不断上升：</a:t>
            </a:r>
            <a:r>
              <a:rPr kumimoji="0" lang="zh-CN" altLang="zh-CN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4" name="AutoShape 2" descr="[公式]"/>
          <p:cNvSpPr>
            <a:spLocks noChangeAspect="1" noChangeArrowheads="1"/>
          </p:cNvSpPr>
          <p:nvPr/>
        </p:nvSpPr>
        <p:spPr bwMode="auto">
          <a:xfrm>
            <a:off x="1618615" y="1677215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280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5679" y="1449987"/>
            <a:ext cx="944418" cy="430787"/>
          </a:xfrm>
          <a:prstGeom prst="rect">
            <a:avLst/>
          </a:prstGeom>
        </p:spPr>
      </p:pic>
      <p:pic>
        <p:nvPicPr>
          <p:cNvPr id="24580" name="Picture 4" descr="https://pic1.zhimg.com/50/v2-5602652d76fc62b94fc7424ae87ba955_hd.webp?source=1940ef5c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8329" y="2181497"/>
            <a:ext cx="57150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8078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10"/>
          <p:cNvSpPr/>
          <p:nvPr/>
        </p:nvSpPr>
        <p:spPr>
          <a:xfrm>
            <a:off x="0" y="-9532"/>
            <a:ext cx="12205648" cy="738010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8"/>
          <p:cNvSpPr/>
          <p:nvPr/>
        </p:nvSpPr>
        <p:spPr>
          <a:xfrm>
            <a:off x="0" y="728478"/>
            <a:ext cx="9400194" cy="5135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9"/>
          <p:cNvSpPr/>
          <p:nvPr/>
        </p:nvSpPr>
        <p:spPr>
          <a:xfrm>
            <a:off x="9135236" y="722278"/>
            <a:ext cx="3070412" cy="45719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292640" y="144950"/>
            <a:ext cx="72327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2800" dirty="0">
                <a:solidFill>
                  <a:schemeClr val="bg1"/>
                </a:solidFill>
              </a:rPr>
              <a:t>2.0 </a:t>
            </a:r>
            <a:endParaRPr kumimoji="1" lang="zh-CN" altLang="en-US" sz="2800" dirty="0">
              <a:solidFill>
                <a:schemeClr val="bg1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292640" y="144950"/>
            <a:ext cx="215956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2800" dirty="0">
                <a:solidFill>
                  <a:schemeClr val="bg1"/>
                </a:solidFill>
              </a:rPr>
              <a:t>2.0 </a:t>
            </a:r>
            <a:r>
              <a:rPr kumimoji="1" lang="zh-CN" altLang="en-US" sz="2800" dirty="0" smtClean="0">
                <a:solidFill>
                  <a:schemeClr val="bg1"/>
                </a:solidFill>
              </a:rPr>
              <a:t>预备知识</a:t>
            </a:r>
            <a:endParaRPr kumimoji="1" lang="zh-CN" altLang="en-US" sz="2800" dirty="0">
              <a:solidFill>
                <a:schemeClr val="bg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258015" y="900768"/>
            <a:ext cx="162736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>
                <a:solidFill>
                  <a:srgbClr val="121212"/>
                </a:solidFill>
                <a:latin typeface="-apple-system"/>
              </a:rPr>
              <a:t>3.5 </a:t>
            </a:r>
            <a:r>
              <a:rPr lang="zh-CN" altLang="en-US" sz="2800" b="1" dirty="0">
                <a:solidFill>
                  <a:srgbClr val="121212"/>
                </a:solidFill>
                <a:latin typeface="-apple-system"/>
              </a:rPr>
              <a:t>总结</a:t>
            </a:r>
            <a:endParaRPr lang="zh-CN" altLang="en-US" sz="2800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1483676"/>
            <a:ext cx="12192000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0" i="0" u="none" strike="noStrike" cap="none" normalizeH="0" baseline="0" dirty="0" smtClean="0">
                <a:ln>
                  <a:noFill/>
                </a:ln>
                <a:solidFill>
                  <a:srgbClr val="121212"/>
                </a:solidFill>
                <a:effectLst/>
                <a:latin typeface="Arial" panose="020B0604020202020204" pitchFamily="34" charset="0"/>
                <a:ea typeface="-apple-system"/>
              </a:rPr>
              <a:t>不同的步长</a:t>
            </a:r>
            <a:r>
              <a:rPr kumimoji="0" lang="zh-CN" altLang="zh-CN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</a:t>
            </a:r>
            <a:r>
              <a:rPr kumimoji="0" lang="zh-CN" altLang="zh-CN" sz="2800" b="0" i="0" u="none" strike="noStrike" cap="none" normalizeH="0" baseline="0" dirty="0" smtClean="0">
                <a:ln>
                  <a:noFill/>
                </a:ln>
                <a:solidFill>
                  <a:srgbClr val="121212"/>
                </a:solidFill>
                <a:effectLst/>
                <a:latin typeface="Arial" panose="020B0604020202020204" pitchFamily="34" charset="0"/>
                <a:ea typeface="-apple-system"/>
              </a:rPr>
              <a:t> </a:t>
            </a:r>
            <a:r>
              <a:rPr kumimoji="0" lang="en-US" altLang="zh-CN" sz="2800" b="0" i="0" u="none" strike="noStrike" cap="none" normalizeH="0" baseline="0" dirty="0" smtClean="0">
                <a:ln>
                  <a:noFill/>
                </a:ln>
                <a:solidFill>
                  <a:srgbClr val="121212"/>
                </a:solidFill>
                <a:effectLst/>
                <a:latin typeface="Arial" panose="020B0604020202020204" pitchFamily="34" charset="0"/>
                <a:ea typeface="-apple-system"/>
              </a:rPr>
              <a:t> </a:t>
            </a:r>
            <a:r>
              <a:rPr kumimoji="0" lang="zh-CN" altLang="zh-CN" sz="2800" b="0" i="0" u="none" strike="noStrike" cap="none" normalizeH="0" baseline="0" dirty="0" smtClean="0">
                <a:ln>
                  <a:noFill/>
                </a:ln>
                <a:solidFill>
                  <a:srgbClr val="121212"/>
                </a:solidFill>
                <a:effectLst/>
                <a:latin typeface="Arial" panose="020B0604020202020204" pitchFamily="34" charset="0"/>
                <a:ea typeface="-apple-system"/>
              </a:rPr>
              <a:t>，随着迭代次数的增加，会导致被优化函数</a:t>
            </a:r>
            <a:r>
              <a:rPr kumimoji="0" lang="en-US" altLang="zh-CN" sz="2800" b="0" i="0" u="none" strike="noStrike" cap="none" normalizeH="0" baseline="0" dirty="0" smtClean="0">
                <a:ln>
                  <a:noFill/>
                </a:ln>
                <a:solidFill>
                  <a:srgbClr val="121212"/>
                </a:solidFill>
                <a:effectLst/>
                <a:latin typeface="Arial" panose="020B0604020202020204" pitchFamily="34" charset="0"/>
                <a:ea typeface="-apple-system"/>
              </a:rPr>
              <a:t>  </a:t>
            </a:r>
            <a:r>
              <a:rPr kumimoji="0" lang="zh-CN" altLang="zh-CN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</a:t>
            </a:r>
            <a:r>
              <a:rPr kumimoji="0" lang="zh-CN" altLang="zh-CN" sz="2800" b="0" i="0" u="none" strike="noStrike" cap="none" normalizeH="0" baseline="0" dirty="0" smtClean="0">
                <a:ln>
                  <a:noFill/>
                </a:ln>
                <a:solidFill>
                  <a:srgbClr val="121212"/>
                </a:solidFill>
                <a:effectLst/>
                <a:latin typeface="Arial" panose="020B0604020202020204" pitchFamily="34" charset="0"/>
                <a:ea typeface="-apple-system"/>
              </a:rPr>
              <a:t> </a:t>
            </a:r>
            <a:r>
              <a:rPr kumimoji="0" lang="en-US" altLang="zh-CN" sz="2800" b="0" i="0" u="none" strike="noStrike" cap="none" normalizeH="0" baseline="0" dirty="0" smtClean="0">
                <a:ln>
                  <a:noFill/>
                </a:ln>
                <a:solidFill>
                  <a:srgbClr val="121212"/>
                </a:solidFill>
                <a:effectLst/>
                <a:latin typeface="Arial" panose="020B0604020202020204" pitchFamily="34" charset="0"/>
                <a:ea typeface="-apple-system"/>
              </a:rPr>
              <a:t>  </a:t>
            </a:r>
            <a:r>
              <a:rPr kumimoji="0" lang="zh-CN" altLang="zh-CN" sz="2800" b="0" i="0" u="none" strike="noStrike" cap="none" normalizeH="0" baseline="0" dirty="0" smtClean="0">
                <a:ln>
                  <a:noFill/>
                </a:ln>
                <a:solidFill>
                  <a:srgbClr val="121212"/>
                </a:solidFill>
                <a:effectLst/>
                <a:latin typeface="Arial" panose="020B0604020202020204" pitchFamily="34" charset="0"/>
                <a:ea typeface="-apple-system"/>
              </a:rPr>
              <a:t>的值有不同的变化：</a:t>
            </a:r>
            <a:r>
              <a:rPr kumimoji="0" lang="zh-CN" altLang="zh-CN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5" name="AutoShape 2" descr="[公式]"/>
          <p:cNvSpPr>
            <a:spLocks noChangeAspect="1" noChangeArrowheads="1"/>
          </p:cNvSpPr>
          <p:nvPr/>
        </p:nvSpPr>
        <p:spPr bwMode="auto">
          <a:xfrm>
            <a:off x="828675" y="1816266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2800"/>
          </a:p>
        </p:txBody>
      </p:sp>
      <p:sp>
        <p:nvSpPr>
          <p:cNvPr id="6" name="AutoShape 3" descr="[公式]"/>
          <p:cNvSpPr>
            <a:spLocks noChangeAspect="1" noChangeArrowheads="1"/>
          </p:cNvSpPr>
          <p:nvPr/>
        </p:nvSpPr>
        <p:spPr bwMode="auto">
          <a:xfrm>
            <a:off x="3625850" y="1816266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280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8105" y="1583402"/>
            <a:ext cx="371467" cy="53066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0084" y="1506007"/>
            <a:ext cx="600219" cy="497324"/>
          </a:xfrm>
          <a:prstGeom prst="rect">
            <a:avLst/>
          </a:prstGeom>
        </p:spPr>
      </p:pic>
      <p:sp>
        <p:nvSpPr>
          <p:cNvPr id="13" name="AutoShape 5" descr="[公式]"/>
          <p:cNvSpPr>
            <a:spLocks noChangeAspect="1" noChangeArrowheads="1"/>
          </p:cNvSpPr>
          <p:nvPr/>
        </p:nvSpPr>
        <p:spPr bwMode="auto">
          <a:xfrm>
            <a:off x="1108075" y="6119435"/>
            <a:ext cx="272043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2800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9793" y="2971856"/>
            <a:ext cx="8475881" cy="1719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68303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10"/>
          <p:cNvSpPr/>
          <p:nvPr/>
        </p:nvSpPr>
        <p:spPr>
          <a:xfrm>
            <a:off x="0" y="-9532"/>
            <a:ext cx="12205648" cy="738010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8"/>
          <p:cNvSpPr/>
          <p:nvPr/>
        </p:nvSpPr>
        <p:spPr>
          <a:xfrm>
            <a:off x="0" y="728478"/>
            <a:ext cx="9400194" cy="5135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9"/>
          <p:cNvSpPr/>
          <p:nvPr/>
        </p:nvSpPr>
        <p:spPr>
          <a:xfrm>
            <a:off x="9135236" y="722278"/>
            <a:ext cx="3070412" cy="45719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292640" y="144950"/>
            <a:ext cx="72327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2800" dirty="0">
                <a:solidFill>
                  <a:schemeClr val="bg1"/>
                </a:solidFill>
              </a:rPr>
              <a:t>2.0 </a:t>
            </a:r>
            <a:endParaRPr kumimoji="1" lang="zh-CN" altLang="en-US" sz="2800" dirty="0">
              <a:solidFill>
                <a:schemeClr val="bg1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292640" y="144950"/>
            <a:ext cx="215956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2800" dirty="0">
                <a:solidFill>
                  <a:schemeClr val="bg1"/>
                </a:solidFill>
              </a:rPr>
              <a:t>2.0 </a:t>
            </a:r>
            <a:r>
              <a:rPr kumimoji="1" lang="zh-CN" altLang="en-US" sz="2800" dirty="0" smtClean="0">
                <a:solidFill>
                  <a:schemeClr val="bg1"/>
                </a:solidFill>
              </a:rPr>
              <a:t>预备知识</a:t>
            </a:r>
            <a:endParaRPr kumimoji="1" lang="zh-CN" altLang="en-US" sz="2800" dirty="0">
              <a:solidFill>
                <a:schemeClr val="bg1"/>
              </a:solidFill>
            </a:endParaRPr>
          </a:p>
        </p:txBody>
      </p:sp>
      <p:sp>
        <p:nvSpPr>
          <p:cNvPr id="3" name="AutoShape 2" descr="[公式]"/>
          <p:cNvSpPr>
            <a:spLocks noChangeAspect="1" noChangeArrowheads="1"/>
          </p:cNvSpPr>
          <p:nvPr/>
        </p:nvSpPr>
        <p:spPr bwMode="auto">
          <a:xfrm>
            <a:off x="614429" y="4983041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2800"/>
          </a:p>
        </p:txBody>
      </p:sp>
      <p:sp>
        <p:nvSpPr>
          <p:cNvPr id="4" name="AutoShape 3" descr="[公式]"/>
          <p:cNvSpPr>
            <a:spLocks noChangeAspect="1" noChangeArrowheads="1"/>
          </p:cNvSpPr>
          <p:nvPr/>
        </p:nvSpPr>
        <p:spPr bwMode="auto">
          <a:xfrm>
            <a:off x="2319404" y="4983041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2800"/>
          </a:p>
        </p:txBody>
      </p:sp>
      <p:sp>
        <p:nvSpPr>
          <p:cNvPr id="6" name="AutoShape 5" descr="[公式]"/>
          <p:cNvSpPr>
            <a:spLocks noChangeAspect="1" noChangeArrowheads="1"/>
          </p:cNvSpPr>
          <p:nvPr/>
        </p:nvSpPr>
        <p:spPr bwMode="auto">
          <a:xfrm>
            <a:off x="614429" y="5837365"/>
            <a:ext cx="286502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2800"/>
          </a:p>
        </p:txBody>
      </p:sp>
      <p:sp>
        <p:nvSpPr>
          <p:cNvPr id="11" name="AutoShape 6" descr="[公式]"/>
          <p:cNvSpPr>
            <a:spLocks noChangeAspect="1" noChangeArrowheads="1"/>
          </p:cNvSpPr>
          <p:nvPr/>
        </p:nvSpPr>
        <p:spPr bwMode="auto">
          <a:xfrm>
            <a:off x="4414904" y="5837365"/>
            <a:ext cx="286502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2800"/>
          </a:p>
        </p:txBody>
      </p:sp>
      <p:grpSp>
        <p:nvGrpSpPr>
          <p:cNvPr id="18" name="组合 17"/>
          <p:cNvGrpSpPr/>
          <p:nvPr/>
        </p:nvGrpSpPr>
        <p:grpSpPr>
          <a:xfrm>
            <a:off x="800774" y="4712229"/>
            <a:ext cx="7939994" cy="523220"/>
            <a:chOff x="654276" y="1564374"/>
            <a:chExt cx="7939994" cy="523220"/>
          </a:xfrm>
        </p:grpSpPr>
        <p:sp>
          <p:nvSpPr>
            <p:cNvPr id="2" name="Rectangle 1"/>
            <p:cNvSpPr>
              <a:spLocks noChangeArrowheads="1"/>
            </p:cNvSpPr>
            <p:nvPr/>
          </p:nvSpPr>
          <p:spPr bwMode="auto">
            <a:xfrm>
              <a:off x="654276" y="1564374"/>
              <a:ext cx="7939994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8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  </a:t>
              </a:r>
              <a:r>
                <a:rPr kumimoji="0" lang="zh-CN" altLang="zh-CN" sz="2800" b="0" i="0" u="none" strike="noStrike" cap="none" normalizeH="0" baseline="0" dirty="0" smtClean="0">
                  <a:ln>
                    <a:noFill/>
                  </a:ln>
                  <a:solidFill>
                    <a:srgbClr val="121212"/>
                  </a:solidFill>
                  <a:effectLst/>
                  <a:latin typeface="Arial" panose="020B0604020202020204" pitchFamily="34" charset="0"/>
                  <a:ea typeface="-apple-system"/>
                </a:rPr>
                <a:t> </a:t>
              </a:r>
              <a:r>
                <a:rPr kumimoji="0" lang="en-US" altLang="zh-CN" sz="2800" b="0" i="0" u="none" strike="noStrike" cap="none" normalizeH="0" baseline="0" dirty="0" smtClean="0">
                  <a:ln>
                    <a:noFill/>
                  </a:ln>
                  <a:solidFill>
                    <a:srgbClr val="121212"/>
                  </a:solidFill>
                  <a:effectLst/>
                  <a:latin typeface="Arial" panose="020B0604020202020204" pitchFamily="34" charset="0"/>
                  <a:ea typeface="-apple-system"/>
                </a:rPr>
                <a:t>   </a:t>
              </a:r>
              <a:r>
                <a:rPr kumimoji="0" lang="zh-CN" altLang="zh-CN" sz="2800" b="0" i="0" u="none" strike="noStrike" cap="none" normalizeH="0" baseline="0" dirty="0" smtClean="0">
                  <a:ln>
                    <a:noFill/>
                  </a:ln>
                  <a:solidFill>
                    <a:srgbClr val="121212"/>
                  </a:solidFill>
                  <a:effectLst/>
                  <a:latin typeface="Arial" panose="020B0604020202020204" pitchFamily="34" charset="0"/>
                  <a:ea typeface="-apple-system"/>
                </a:rPr>
                <a:t>往上走（红线），自然是</a:t>
              </a:r>
              <a:r>
                <a:rPr kumimoji="0" lang="zh-CN" altLang="zh-CN" sz="28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  </a:t>
              </a:r>
              <a:r>
                <a:rPr kumimoji="0" lang="zh-CN" altLang="zh-CN" sz="2800" b="0" i="0" u="none" strike="noStrike" cap="none" normalizeH="0" baseline="0" dirty="0" smtClean="0">
                  <a:ln>
                    <a:noFill/>
                  </a:ln>
                  <a:solidFill>
                    <a:srgbClr val="121212"/>
                  </a:solidFill>
                  <a:effectLst/>
                  <a:latin typeface="Arial" panose="020B0604020202020204" pitchFamily="34" charset="0"/>
                  <a:ea typeface="-apple-system"/>
                </a:rPr>
                <a:t> </a:t>
              </a:r>
              <a:r>
                <a:rPr kumimoji="0" lang="en-US" altLang="zh-CN" sz="2800" b="0" i="0" u="none" strike="noStrike" cap="none" normalizeH="0" baseline="0" dirty="0" smtClean="0">
                  <a:ln>
                    <a:noFill/>
                  </a:ln>
                  <a:solidFill>
                    <a:srgbClr val="121212"/>
                  </a:solidFill>
                  <a:effectLst/>
                  <a:latin typeface="Arial" panose="020B0604020202020204" pitchFamily="34" charset="0"/>
                  <a:ea typeface="-apple-system"/>
                </a:rPr>
                <a:t>   </a:t>
              </a:r>
              <a:r>
                <a:rPr kumimoji="0" lang="zh-CN" altLang="zh-CN" sz="2800" b="0" i="0" u="none" strike="noStrike" cap="none" normalizeH="0" baseline="0" dirty="0" smtClean="0">
                  <a:ln>
                    <a:noFill/>
                  </a:ln>
                  <a:solidFill>
                    <a:srgbClr val="121212"/>
                  </a:solidFill>
                  <a:effectLst/>
                  <a:latin typeface="Arial" panose="020B0604020202020204" pitchFamily="34" charset="0"/>
                  <a:ea typeface="-apple-system"/>
                </a:rPr>
                <a:t>过大，需要调低</a:t>
              </a:r>
              <a:r>
                <a:rPr kumimoji="0" lang="zh-CN" altLang="zh-CN" sz="28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 </a:t>
              </a:r>
            </a:p>
          </p:txBody>
        </p:sp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88085" y="1650254"/>
              <a:ext cx="535559" cy="351460"/>
            </a:xfrm>
            <a:prstGeom prst="rect">
              <a:avLst/>
            </a:prstGeom>
          </p:spPr>
        </p:pic>
        <p:pic>
          <p:nvPicPr>
            <p:cNvPr id="17" name="图片 1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63945" y="1659695"/>
              <a:ext cx="383713" cy="409294"/>
            </a:xfrm>
            <a:prstGeom prst="rect">
              <a:avLst/>
            </a:prstGeom>
          </p:spPr>
        </p:pic>
      </p:grpSp>
      <p:grpSp>
        <p:nvGrpSpPr>
          <p:cNvPr id="20" name="组合 19"/>
          <p:cNvGrpSpPr/>
          <p:nvPr/>
        </p:nvGrpSpPr>
        <p:grpSpPr>
          <a:xfrm>
            <a:off x="610818" y="5250163"/>
            <a:ext cx="11639005" cy="954107"/>
            <a:chOff x="72843" y="2256011"/>
            <a:chExt cx="11639005" cy="954107"/>
          </a:xfrm>
        </p:grpSpPr>
        <p:sp>
          <p:nvSpPr>
            <p:cNvPr id="5" name="Rectangle 4"/>
            <p:cNvSpPr>
              <a:spLocks noChangeArrowheads="1"/>
            </p:cNvSpPr>
            <p:nvPr/>
          </p:nvSpPr>
          <p:spPr bwMode="auto">
            <a:xfrm>
              <a:off x="72843" y="2256011"/>
              <a:ext cx="11639005" cy="9541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8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  </a:t>
              </a:r>
              <a:r>
                <a:rPr kumimoji="0" lang="zh-CN" altLang="zh-CN" sz="2800" b="0" i="0" u="none" strike="noStrike" cap="none" normalizeH="0" baseline="0" dirty="0" smtClean="0">
                  <a:ln>
                    <a:noFill/>
                  </a:ln>
                  <a:solidFill>
                    <a:srgbClr val="121212"/>
                  </a:solidFill>
                  <a:effectLst/>
                  <a:latin typeface="Arial" panose="020B0604020202020204" pitchFamily="34" charset="0"/>
                  <a:ea typeface="-apple-system"/>
                </a:rPr>
                <a:t> </a:t>
              </a:r>
              <a:r>
                <a:rPr kumimoji="0" lang="en-US" altLang="zh-CN" sz="2800" b="0" i="0" u="none" strike="noStrike" cap="none" normalizeH="0" baseline="0" dirty="0" smtClean="0">
                  <a:ln>
                    <a:noFill/>
                  </a:ln>
                  <a:solidFill>
                    <a:srgbClr val="121212"/>
                  </a:solidFill>
                  <a:effectLst/>
                  <a:latin typeface="Arial" panose="020B0604020202020204" pitchFamily="34" charset="0"/>
                  <a:ea typeface="-apple-system"/>
                </a:rPr>
                <a:t>     </a:t>
              </a:r>
              <a:r>
                <a:rPr kumimoji="0" lang="zh-CN" altLang="zh-CN" sz="2800" b="0" i="0" u="none" strike="noStrike" cap="none" normalizeH="0" baseline="0" dirty="0" smtClean="0">
                  <a:ln>
                    <a:noFill/>
                  </a:ln>
                  <a:solidFill>
                    <a:srgbClr val="121212"/>
                  </a:solidFill>
                  <a:effectLst/>
                  <a:latin typeface="Arial" panose="020B0604020202020204" pitchFamily="34" charset="0"/>
                  <a:ea typeface="-apple-system"/>
                </a:rPr>
                <a:t>一开始下降特别急，然后就几乎没有变化（棕线），可能是</a:t>
              </a:r>
              <a:r>
                <a:rPr kumimoji="0" lang="zh-CN" altLang="zh-CN" sz="28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  </a:t>
              </a:r>
              <a:r>
                <a:rPr kumimoji="0" lang="zh-CN" altLang="zh-CN" sz="2800" b="0" i="0" u="none" strike="noStrike" cap="none" normalizeH="0" baseline="0" dirty="0" smtClean="0">
                  <a:ln>
                    <a:noFill/>
                  </a:ln>
                  <a:solidFill>
                    <a:srgbClr val="121212"/>
                  </a:solidFill>
                  <a:effectLst/>
                  <a:latin typeface="Arial" panose="020B0604020202020204" pitchFamily="34" charset="0"/>
                  <a:ea typeface="-apple-system"/>
                </a:rPr>
                <a:t> </a:t>
              </a:r>
              <a:r>
                <a:rPr kumimoji="0" lang="en-US" altLang="zh-CN" sz="2800" b="0" i="0" u="none" strike="noStrike" cap="none" normalizeH="0" baseline="0" dirty="0" smtClean="0">
                  <a:ln>
                    <a:noFill/>
                  </a:ln>
                  <a:solidFill>
                    <a:srgbClr val="121212"/>
                  </a:solidFill>
                  <a:effectLst/>
                  <a:latin typeface="Arial" panose="020B0604020202020204" pitchFamily="34" charset="0"/>
                  <a:ea typeface="-apple-system"/>
                </a:rPr>
                <a:t> </a:t>
              </a:r>
              <a:r>
                <a:rPr kumimoji="0" lang="zh-CN" altLang="zh-CN" sz="2800" b="0" i="0" u="none" strike="noStrike" cap="none" normalizeH="0" baseline="0" dirty="0" smtClean="0">
                  <a:ln>
                    <a:noFill/>
                  </a:ln>
                  <a:solidFill>
                    <a:srgbClr val="121212"/>
                  </a:solidFill>
                  <a:effectLst/>
                  <a:latin typeface="Arial" panose="020B0604020202020204" pitchFamily="34" charset="0"/>
                  <a:ea typeface="-apple-system"/>
                </a:rPr>
                <a:t>较大，需要调低</a:t>
              </a:r>
              <a:r>
                <a:rPr kumimoji="0" lang="zh-CN" altLang="zh-CN" sz="28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 </a:t>
              </a:r>
              <a:r>
                <a:rPr kumimoji="0" lang="zh-CN" altLang="en-US" sz="28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。</a:t>
              </a:r>
              <a:endParaRPr kumimoji="0" lang="zh-CN" altLang="zh-CN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pic>
          <p:nvPicPr>
            <p:cNvPr id="22" name="图片 2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26449" y="2323955"/>
              <a:ext cx="535559" cy="351460"/>
            </a:xfrm>
            <a:prstGeom prst="rect">
              <a:avLst/>
            </a:prstGeom>
          </p:spPr>
        </p:pic>
        <p:pic>
          <p:nvPicPr>
            <p:cNvPr id="25" name="图片 2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152838" y="2297379"/>
              <a:ext cx="383713" cy="409294"/>
            </a:xfrm>
            <a:prstGeom prst="rect">
              <a:avLst/>
            </a:prstGeom>
          </p:spPr>
        </p:pic>
      </p:grpSp>
      <p:grpSp>
        <p:nvGrpSpPr>
          <p:cNvPr id="19" name="组合 18"/>
          <p:cNvGrpSpPr/>
          <p:nvPr/>
        </p:nvGrpSpPr>
        <p:grpSpPr>
          <a:xfrm>
            <a:off x="791322" y="6266288"/>
            <a:ext cx="9245552" cy="523220"/>
            <a:chOff x="118718" y="3516220"/>
            <a:chExt cx="9245552" cy="523220"/>
          </a:xfrm>
        </p:grpSpPr>
        <p:sp>
          <p:nvSpPr>
            <p:cNvPr id="12" name="Rectangle 7"/>
            <p:cNvSpPr>
              <a:spLocks noChangeArrowheads="1"/>
            </p:cNvSpPr>
            <p:nvPr/>
          </p:nvSpPr>
          <p:spPr bwMode="auto">
            <a:xfrm>
              <a:off x="286144" y="3516220"/>
              <a:ext cx="9078126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8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  </a:t>
              </a:r>
              <a:r>
                <a:rPr kumimoji="0" lang="zh-CN" altLang="zh-CN" sz="2800" b="0" i="0" u="none" strike="noStrike" cap="none" normalizeH="0" baseline="0" dirty="0" smtClean="0">
                  <a:ln>
                    <a:noFill/>
                  </a:ln>
                  <a:solidFill>
                    <a:srgbClr val="121212"/>
                  </a:solidFill>
                  <a:effectLst/>
                  <a:latin typeface="Arial" panose="020B0604020202020204" pitchFamily="34" charset="0"/>
                  <a:ea typeface="-apple-system"/>
                </a:rPr>
                <a:t> 几乎是线性变化（蓝线），可能是</a:t>
              </a:r>
              <a:r>
                <a:rPr kumimoji="0" lang="zh-CN" altLang="zh-CN" sz="28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  </a:t>
              </a:r>
              <a:r>
                <a:rPr kumimoji="0" lang="zh-CN" altLang="zh-CN" sz="2800" b="0" i="0" u="none" strike="noStrike" cap="none" normalizeH="0" baseline="0" dirty="0" smtClean="0">
                  <a:ln>
                    <a:noFill/>
                  </a:ln>
                  <a:solidFill>
                    <a:srgbClr val="121212"/>
                  </a:solidFill>
                  <a:effectLst/>
                  <a:latin typeface="Arial" panose="020B0604020202020204" pitchFamily="34" charset="0"/>
                  <a:ea typeface="-apple-system"/>
                </a:rPr>
                <a:t> </a:t>
              </a:r>
              <a:r>
                <a:rPr kumimoji="0" lang="en-US" altLang="zh-CN" sz="2800" b="0" i="0" u="none" strike="noStrike" cap="none" normalizeH="0" baseline="0" dirty="0" smtClean="0">
                  <a:ln>
                    <a:noFill/>
                  </a:ln>
                  <a:solidFill>
                    <a:srgbClr val="121212"/>
                  </a:solidFill>
                  <a:effectLst/>
                  <a:latin typeface="Arial" panose="020B0604020202020204" pitchFamily="34" charset="0"/>
                  <a:ea typeface="-apple-system"/>
                </a:rPr>
                <a:t>   </a:t>
              </a:r>
              <a:r>
                <a:rPr kumimoji="0" lang="zh-CN" altLang="zh-CN" sz="2800" b="0" i="0" u="none" strike="noStrike" cap="none" normalizeH="0" baseline="0" dirty="0" smtClean="0">
                  <a:ln>
                    <a:noFill/>
                  </a:ln>
                  <a:solidFill>
                    <a:srgbClr val="121212"/>
                  </a:solidFill>
                  <a:effectLst/>
                  <a:latin typeface="Arial" panose="020B0604020202020204" pitchFamily="34" charset="0"/>
                  <a:ea typeface="-apple-system"/>
                </a:rPr>
                <a:t>过小，需要调高</a:t>
              </a:r>
              <a:r>
                <a:rPr kumimoji="0" lang="zh-CN" altLang="zh-CN" sz="28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 </a:t>
              </a:r>
            </a:p>
          </p:txBody>
        </p:sp>
        <p:pic>
          <p:nvPicPr>
            <p:cNvPr id="23" name="图片 2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8718" y="3577183"/>
              <a:ext cx="535559" cy="351460"/>
            </a:xfrm>
            <a:prstGeom prst="rect">
              <a:avLst/>
            </a:prstGeom>
          </p:spPr>
        </p:pic>
        <p:pic>
          <p:nvPicPr>
            <p:cNvPr id="28" name="图片 2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15622" y="3630146"/>
              <a:ext cx="383713" cy="409294"/>
            </a:xfrm>
            <a:prstGeom prst="rect">
              <a:avLst/>
            </a:prstGeom>
          </p:spPr>
        </p:pic>
      </p:grpSp>
      <p:pic>
        <p:nvPicPr>
          <p:cNvPr id="29" name="图片 2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0770" y="975422"/>
            <a:ext cx="5696776" cy="2386844"/>
          </a:xfrm>
          <a:prstGeom prst="rect">
            <a:avLst/>
          </a:prstGeom>
        </p:spPr>
      </p:pic>
      <p:sp>
        <p:nvSpPr>
          <p:cNvPr id="30" name="Rectangle 4"/>
          <p:cNvSpPr>
            <a:spLocks noChangeArrowheads="1"/>
          </p:cNvSpPr>
          <p:nvPr/>
        </p:nvSpPr>
        <p:spPr bwMode="auto">
          <a:xfrm>
            <a:off x="15221" y="3579796"/>
            <a:ext cx="12057017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0" i="0" u="none" strike="noStrike" cap="none" normalizeH="0" baseline="0" dirty="0" smtClean="0">
                <a:ln>
                  <a:noFill/>
                </a:ln>
                <a:solidFill>
                  <a:srgbClr val="121212"/>
                </a:solidFill>
                <a:effectLst/>
                <a:latin typeface="Arial" panose="020B0604020202020204" pitchFamily="34" charset="0"/>
                <a:ea typeface="-apple-system"/>
              </a:rPr>
              <a:t>寻找合适的</a:t>
            </a:r>
            <a:r>
              <a:rPr kumimoji="0" lang="zh-CN" altLang="zh-CN" sz="2800" b="0" i="0" u="none" strike="noStrike" cap="none" normalizeH="0" baseline="0" dirty="0" smtClean="0">
                <a:ln>
                  <a:noFill/>
                </a:ln>
                <a:solidFill>
                  <a:srgbClr val="121212"/>
                </a:solidFill>
                <a:effectLst/>
                <a:latin typeface="Arial" panose="020B0604020202020204" pitchFamily="34" charset="0"/>
                <a:ea typeface="-apple-system"/>
              </a:rPr>
              <a:t>步长是</a:t>
            </a:r>
            <a:r>
              <a:rPr kumimoji="0" lang="zh-CN" altLang="zh-CN" sz="2800" b="0" i="0" u="none" strike="noStrike" cap="none" normalizeH="0" baseline="0" dirty="0" smtClean="0">
                <a:ln>
                  <a:noFill/>
                </a:ln>
                <a:solidFill>
                  <a:srgbClr val="121212"/>
                </a:solidFill>
                <a:effectLst/>
                <a:latin typeface="Arial" panose="020B0604020202020204" pitchFamily="34" charset="0"/>
                <a:ea typeface="-apple-system"/>
              </a:rPr>
              <a:t>个手艺活，在工程中可以将上图画出来，根据图像来手动调整：</a:t>
            </a:r>
            <a:r>
              <a:rPr kumimoji="0" lang="zh-CN" altLang="zh-CN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00569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10"/>
          <p:cNvSpPr/>
          <p:nvPr/>
        </p:nvSpPr>
        <p:spPr>
          <a:xfrm>
            <a:off x="0" y="-9532"/>
            <a:ext cx="12205648" cy="738010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8"/>
          <p:cNvSpPr/>
          <p:nvPr/>
        </p:nvSpPr>
        <p:spPr>
          <a:xfrm>
            <a:off x="0" y="728478"/>
            <a:ext cx="9400194" cy="5135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9"/>
          <p:cNvSpPr/>
          <p:nvPr/>
        </p:nvSpPr>
        <p:spPr>
          <a:xfrm>
            <a:off x="9135236" y="722278"/>
            <a:ext cx="3070412" cy="45719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292640" y="144950"/>
            <a:ext cx="72327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2800" dirty="0">
                <a:solidFill>
                  <a:schemeClr val="bg1"/>
                </a:solidFill>
              </a:rPr>
              <a:t>2.0 </a:t>
            </a:r>
            <a:endParaRPr kumimoji="1" lang="zh-CN" altLang="en-US" sz="2800" dirty="0">
              <a:solidFill>
                <a:schemeClr val="bg1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292640" y="144950"/>
            <a:ext cx="215956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2800" dirty="0">
                <a:solidFill>
                  <a:schemeClr val="bg1"/>
                </a:solidFill>
              </a:rPr>
              <a:t>2.0 </a:t>
            </a:r>
            <a:r>
              <a:rPr kumimoji="1" lang="zh-CN" altLang="en-US" sz="2800" dirty="0" smtClean="0">
                <a:solidFill>
                  <a:schemeClr val="bg1"/>
                </a:solidFill>
              </a:rPr>
              <a:t>预备知识</a:t>
            </a:r>
            <a:endParaRPr kumimoji="1" lang="zh-CN" altLang="en-US" sz="2800" dirty="0">
              <a:solidFill>
                <a:schemeClr val="bg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229482" y="887705"/>
            <a:ext cx="23423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>
                <a:solidFill>
                  <a:srgbClr val="121212"/>
                </a:solidFill>
                <a:latin typeface="-apple-system"/>
              </a:rPr>
              <a:t>4 </a:t>
            </a:r>
            <a:r>
              <a:rPr lang="zh-CN" altLang="en-US" sz="2800" b="1" dirty="0">
                <a:solidFill>
                  <a:srgbClr val="121212"/>
                </a:solidFill>
                <a:latin typeface="-apple-system"/>
              </a:rPr>
              <a:t>三维的例子</a:t>
            </a:r>
            <a:endParaRPr lang="zh-CN" altLang="en-US" sz="2800" dirty="0"/>
          </a:p>
        </p:txBody>
      </p:sp>
      <p:sp>
        <p:nvSpPr>
          <p:cNvPr id="3" name="矩形 2"/>
          <p:cNvSpPr/>
          <p:nvPr/>
        </p:nvSpPr>
        <p:spPr>
          <a:xfrm>
            <a:off x="189056" y="1514716"/>
            <a:ext cx="1182753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rgbClr val="121212"/>
                </a:solidFill>
                <a:latin typeface="-apple-system"/>
              </a:rPr>
              <a:t>原理都介绍完了，下面再通过一个三维的例子来加强对梯度下降法的理解。假设函数为：</a:t>
            </a:r>
            <a:endParaRPr lang="zh-CN" altLang="en-US" sz="28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5550" y="2468823"/>
            <a:ext cx="2327273" cy="662509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292640" y="3059668"/>
            <a:ext cx="898194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solidFill>
                  <a:srgbClr val="121212"/>
                </a:solidFill>
                <a:latin typeface="-apple-system"/>
              </a:rPr>
              <a:t>其图像及等高线如下（等高线中心的蓝点表示最小值）</a:t>
            </a:r>
            <a:r>
              <a:rPr lang="en-US" altLang="zh-CN" sz="2800" dirty="0">
                <a:solidFill>
                  <a:srgbClr val="121212"/>
                </a:solidFill>
                <a:latin typeface="-apple-system"/>
              </a:rPr>
              <a:t>:</a:t>
            </a:r>
            <a:endParaRPr lang="zh-CN" altLang="en-US" sz="2800" dirty="0"/>
          </a:p>
        </p:txBody>
      </p:sp>
      <p:pic>
        <p:nvPicPr>
          <p:cNvPr id="21506" name="Picture 2" descr="https://pic4.zhimg.com/80/v2-b3e504b966e101576355a3418cedc8c8_720w.jpg?source=1940ef5c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8412" y="3722177"/>
            <a:ext cx="5827506" cy="29137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2627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10"/>
          <p:cNvSpPr/>
          <p:nvPr/>
        </p:nvSpPr>
        <p:spPr>
          <a:xfrm>
            <a:off x="0" y="-9532"/>
            <a:ext cx="12205648" cy="738010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8"/>
          <p:cNvSpPr/>
          <p:nvPr/>
        </p:nvSpPr>
        <p:spPr>
          <a:xfrm>
            <a:off x="0" y="728478"/>
            <a:ext cx="9400194" cy="5135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9"/>
          <p:cNvSpPr/>
          <p:nvPr/>
        </p:nvSpPr>
        <p:spPr>
          <a:xfrm>
            <a:off x="9135236" y="722278"/>
            <a:ext cx="3070412" cy="45719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292640" y="144950"/>
            <a:ext cx="72327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2800" dirty="0">
                <a:solidFill>
                  <a:schemeClr val="bg1"/>
                </a:solidFill>
              </a:rPr>
              <a:t>2.0 </a:t>
            </a:r>
            <a:endParaRPr kumimoji="1" lang="zh-CN" altLang="en-US" sz="2800" dirty="0">
              <a:solidFill>
                <a:schemeClr val="bg1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292640" y="144950"/>
            <a:ext cx="215956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2800" dirty="0">
                <a:solidFill>
                  <a:schemeClr val="bg1"/>
                </a:solidFill>
              </a:rPr>
              <a:t>2.0 </a:t>
            </a:r>
            <a:r>
              <a:rPr kumimoji="1" lang="zh-CN" altLang="en-US" sz="2800" dirty="0" smtClean="0">
                <a:solidFill>
                  <a:schemeClr val="bg1"/>
                </a:solidFill>
              </a:rPr>
              <a:t>预备知识</a:t>
            </a:r>
            <a:endParaRPr kumimoji="1" lang="zh-CN" altLang="en-US" sz="2800" dirty="0">
              <a:solidFill>
                <a:schemeClr val="bg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292640" y="1148509"/>
            <a:ext cx="557075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solidFill>
                  <a:srgbClr val="121212"/>
                </a:solidFill>
                <a:latin typeface="-apple-system"/>
              </a:rPr>
              <a:t>下面用梯度下降法来寻找最小值。</a:t>
            </a:r>
            <a:endParaRPr lang="zh-CN" altLang="en-US" sz="2800" dirty="0"/>
          </a:p>
        </p:txBody>
      </p:sp>
      <p:sp>
        <p:nvSpPr>
          <p:cNvPr id="3" name="矩形 2"/>
          <p:cNvSpPr/>
          <p:nvPr/>
        </p:nvSpPr>
        <p:spPr>
          <a:xfrm>
            <a:off x="292640" y="1754852"/>
            <a:ext cx="234551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>
                <a:solidFill>
                  <a:srgbClr val="121212"/>
                </a:solidFill>
                <a:latin typeface="-apple-system"/>
              </a:rPr>
              <a:t>4.1 </a:t>
            </a:r>
            <a:r>
              <a:rPr lang="zh-CN" altLang="en-US" sz="2800" b="1" dirty="0">
                <a:solidFill>
                  <a:srgbClr val="121212"/>
                </a:solidFill>
                <a:latin typeface="-apple-system"/>
              </a:rPr>
              <a:t>前进一步</a:t>
            </a:r>
            <a:endParaRPr lang="zh-CN" altLang="en-US" sz="2800" dirty="0"/>
          </a:p>
        </p:txBody>
      </p:sp>
      <p:sp>
        <p:nvSpPr>
          <p:cNvPr id="5" name="AutoShape 2" descr="[公式]"/>
          <p:cNvSpPr>
            <a:spLocks noChangeAspect="1" noChangeArrowheads="1"/>
          </p:cNvSpPr>
          <p:nvPr/>
        </p:nvSpPr>
        <p:spPr bwMode="auto">
          <a:xfrm>
            <a:off x="1121315" y="249148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2800"/>
          </a:p>
        </p:txBody>
      </p:sp>
      <p:grpSp>
        <p:nvGrpSpPr>
          <p:cNvPr id="13" name="组合 12"/>
          <p:cNvGrpSpPr/>
          <p:nvPr/>
        </p:nvGrpSpPr>
        <p:grpSpPr>
          <a:xfrm>
            <a:off x="292640" y="2374336"/>
            <a:ext cx="6978192" cy="523220"/>
            <a:chOff x="292640" y="2374336"/>
            <a:chExt cx="6978192" cy="523220"/>
          </a:xfrm>
        </p:grpSpPr>
        <p:sp>
          <p:nvSpPr>
            <p:cNvPr id="4" name="Rectangle 1"/>
            <p:cNvSpPr>
              <a:spLocks noChangeArrowheads="1"/>
            </p:cNvSpPr>
            <p:nvPr/>
          </p:nvSpPr>
          <p:spPr bwMode="auto">
            <a:xfrm>
              <a:off x="292640" y="2374336"/>
              <a:ext cx="6978192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800" b="0" i="0" u="none" strike="noStrike" cap="none" normalizeH="0" baseline="0" dirty="0" smtClean="0">
                  <a:ln>
                    <a:noFill/>
                  </a:ln>
                  <a:solidFill>
                    <a:srgbClr val="121212"/>
                  </a:solidFill>
                  <a:effectLst/>
                  <a:latin typeface="Arial" panose="020B0604020202020204" pitchFamily="34" charset="0"/>
                  <a:ea typeface="-apple-system"/>
                </a:rPr>
                <a:t>设初始点为</a:t>
              </a:r>
              <a:r>
                <a:rPr kumimoji="0" lang="en-US" altLang="zh-CN" sz="2800" b="0" i="0" u="none" strike="noStrike" cap="none" normalizeH="0" baseline="0" dirty="0" smtClean="0">
                  <a:ln>
                    <a:noFill/>
                  </a:ln>
                  <a:solidFill>
                    <a:srgbClr val="121212"/>
                  </a:solidFill>
                  <a:effectLst/>
                  <a:latin typeface="Arial" panose="020B0604020202020204" pitchFamily="34" charset="0"/>
                  <a:ea typeface="-apple-system"/>
                </a:rPr>
                <a:t>    </a:t>
              </a:r>
              <a:r>
                <a:rPr kumimoji="0" lang="zh-CN" altLang="zh-CN" sz="28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  </a:t>
              </a:r>
              <a:r>
                <a:rPr kumimoji="0" lang="zh-CN" altLang="zh-CN" sz="2800" b="0" i="0" u="none" strike="noStrike" cap="none" normalizeH="0" baseline="0" dirty="0" smtClean="0">
                  <a:ln>
                    <a:noFill/>
                  </a:ln>
                  <a:solidFill>
                    <a:srgbClr val="121212"/>
                  </a:solidFill>
                  <a:effectLst/>
                  <a:latin typeface="Arial" panose="020B0604020202020204" pitchFamily="34" charset="0"/>
                  <a:ea typeface="-apple-system"/>
                </a:rPr>
                <a:t> </a:t>
              </a:r>
              <a:r>
                <a:rPr kumimoji="0" lang="en-US" altLang="zh-CN" sz="2800" b="0" i="0" u="none" strike="noStrike" cap="none" normalizeH="0" baseline="0" dirty="0" smtClean="0">
                  <a:ln>
                    <a:noFill/>
                  </a:ln>
                  <a:solidFill>
                    <a:srgbClr val="121212"/>
                  </a:solidFill>
                  <a:effectLst/>
                  <a:latin typeface="Arial" panose="020B0604020202020204" pitchFamily="34" charset="0"/>
                  <a:ea typeface="-apple-system"/>
                </a:rPr>
                <a:t>                 </a:t>
              </a:r>
              <a:r>
                <a:rPr kumimoji="0" lang="zh-CN" altLang="zh-CN" sz="2800" b="0" i="0" u="none" strike="noStrike" cap="none" normalizeH="0" baseline="0" dirty="0" smtClean="0">
                  <a:ln>
                    <a:noFill/>
                  </a:ln>
                  <a:solidFill>
                    <a:srgbClr val="121212"/>
                  </a:solidFill>
                  <a:effectLst/>
                  <a:latin typeface="Arial" panose="020B0604020202020204" pitchFamily="34" charset="0"/>
                  <a:ea typeface="-apple-system"/>
                </a:rPr>
                <a:t>，此时梯度为：</a:t>
              </a:r>
              <a:r>
                <a:rPr kumimoji="0" lang="zh-CN" altLang="zh-CN" sz="28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 </a:t>
              </a:r>
            </a:p>
          </p:txBody>
        </p:sp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54790" y="2455226"/>
              <a:ext cx="2198254" cy="377313"/>
            </a:xfrm>
            <a:prstGeom prst="rect">
              <a:avLst/>
            </a:prstGeom>
          </p:spPr>
        </p:pic>
      </p:grp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8192" y="3009091"/>
            <a:ext cx="6916550" cy="753012"/>
          </a:xfrm>
          <a:prstGeom prst="rect">
            <a:avLst/>
          </a:prstGeom>
        </p:spPr>
      </p:pic>
      <p:sp>
        <p:nvSpPr>
          <p:cNvPr id="11" name="AutoShape 4" descr="[公式]"/>
          <p:cNvSpPr>
            <a:spLocks noChangeAspect="1" noChangeArrowheads="1"/>
          </p:cNvSpPr>
          <p:nvPr/>
        </p:nvSpPr>
        <p:spPr bwMode="auto">
          <a:xfrm>
            <a:off x="967286" y="3989724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2800"/>
          </a:p>
        </p:txBody>
      </p:sp>
      <p:grpSp>
        <p:nvGrpSpPr>
          <p:cNvPr id="14" name="组合 13"/>
          <p:cNvGrpSpPr/>
          <p:nvPr/>
        </p:nvGrpSpPr>
        <p:grpSpPr>
          <a:xfrm>
            <a:off x="418011" y="3872577"/>
            <a:ext cx="5884944" cy="524176"/>
            <a:chOff x="418011" y="3872577"/>
            <a:chExt cx="5884944" cy="524176"/>
          </a:xfrm>
        </p:grpSpPr>
        <p:sp>
          <p:nvSpPr>
            <p:cNvPr id="10" name="Rectangle 3"/>
            <p:cNvSpPr>
              <a:spLocks noChangeArrowheads="1"/>
            </p:cNvSpPr>
            <p:nvPr/>
          </p:nvSpPr>
          <p:spPr bwMode="auto">
            <a:xfrm>
              <a:off x="418011" y="3872577"/>
              <a:ext cx="5884944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800" b="0" i="0" u="none" strike="noStrike" cap="none" normalizeH="0" baseline="0" dirty="0" smtClean="0">
                  <a:ln>
                    <a:noFill/>
                  </a:ln>
                  <a:solidFill>
                    <a:srgbClr val="121212"/>
                  </a:solidFill>
                  <a:effectLst/>
                  <a:latin typeface="Arial" panose="020B0604020202020204" pitchFamily="34" charset="0"/>
                  <a:ea typeface="-apple-system"/>
                </a:rPr>
                <a:t>令步长</a:t>
              </a:r>
              <a:r>
                <a:rPr kumimoji="0" lang="zh-CN" altLang="zh-CN" sz="28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  </a:t>
              </a:r>
              <a:r>
                <a:rPr kumimoji="0" lang="zh-CN" altLang="zh-CN" sz="2800" b="0" i="0" u="none" strike="noStrike" cap="none" normalizeH="0" baseline="0" dirty="0" smtClean="0">
                  <a:ln>
                    <a:noFill/>
                  </a:ln>
                  <a:solidFill>
                    <a:srgbClr val="121212"/>
                  </a:solidFill>
                  <a:effectLst/>
                  <a:latin typeface="Arial" panose="020B0604020202020204" pitchFamily="34" charset="0"/>
                  <a:ea typeface="-apple-system"/>
                </a:rPr>
                <a:t> </a:t>
              </a:r>
              <a:r>
                <a:rPr kumimoji="0" lang="en-US" altLang="zh-CN" sz="2800" b="0" i="0" u="none" strike="noStrike" cap="none" normalizeH="0" baseline="0" dirty="0" smtClean="0">
                  <a:ln>
                    <a:noFill/>
                  </a:ln>
                  <a:solidFill>
                    <a:srgbClr val="121212"/>
                  </a:solidFill>
                  <a:effectLst/>
                  <a:latin typeface="Arial" panose="020B0604020202020204" pitchFamily="34" charset="0"/>
                  <a:ea typeface="-apple-system"/>
                </a:rPr>
                <a:t>          </a:t>
              </a:r>
              <a:r>
                <a:rPr kumimoji="0" lang="zh-CN" altLang="zh-CN" sz="2800" b="0" i="0" u="none" strike="noStrike" cap="none" normalizeH="0" baseline="0" dirty="0" smtClean="0">
                  <a:ln>
                    <a:noFill/>
                  </a:ln>
                  <a:solidFill>
                    <a:srgbClr val="121212"/>
                  </a:solidFill>
                  <a:effectLst/>
                  <a:latin typeface="Arial" panose="020B0604020202020204" pitchFamily="34" charset="0"/>
                  <a:ea typeface="-apple-system"/>
                </a:rPr>
                <a:t>，那么下一个点为：</a:t>
              </a:r>
              <a:r>
                <a:rPr kumimoji="0" lang="zh-CN" altLang="zh-CN" sz="28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 </a:t>
              </a:r>
            </a:p>
          </p:txBody>
        </p:sp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656695" y="3963650"/>
              <a:ext cx="1196189" cy="433103"/>
            </a:xfrm>
            <a:prstGeom prst="rect">
              <a:avLst/>
            </a:prstGeom>
          </p:spPr>
        </p:pic>
      </p:grpSp>
      <p:pic>
        <p:nvPicPr>
          <p:cNvPr id="15" name="图片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38191" y="4731938"/>
            <a:ext cx="5621485" cy="754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5303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10"/>
          <p:cNvSpPr/>
          <p:nvPr/>
        </p:nvSpPr>
        <p:spPr>
          <a:xfrm>
            <a:off x="0" y="-9532"/>
            <a:ext cx="12205648" cy="738010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8"/>
          <p:cNvSpPr/>
          <p:nvPr/>
        </p:nvSpPr>
        <p:spPr>
          <a:xfrm>
            <a:off x="0" y="728478"/>
            <a:ext cx="9400194" cy="5135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9"/>
          <p:cNvSpPr/>
          <p:nvPr/>
        </p:nvSpPr>
        <p:spPr>
          <a:xfrm>
            <a:off x="9135236" y="722278"/>
            <a:ext cx="3070412" cy="45719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292640" y="144950"/>
            <a:ext cx="72327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2800" dirty="0">
                <a:solidFill>
                  <a:schemeClr val="bg1"/>
                </a:solidFill>
              </a:rPr>
              <a:t>2.0 </a:t>
            </a:r>
            <a:endParaRPr kumimoji="1" lang="zh-CN" altLang="en-US" sz="2800" dirty="0">
              <a:solidFill>
                <a:schemeClr val="bg1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292640" y="144950"/>
            <a:ext cx="215956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2800" dirty="0">
                <a:solidFill>
                  <a:schemeClr val="bg1"/>
                </a:solidFill>
              </a:rPr>
              <a:t>2.0 </a:t>
            </a:r>
            <a:r>
              <a:rPr kumimoji="1" lang="zh-CN" altLang="en-US" sz="2800" dirty="0" smtClean="0">
                <a:solidFill>
                  <a:schemeClr val="bg1"/>
                </a:solidFill>
              </a:rPr>
              <a:t>预备知识</a:t>
            </a:r>
            <a:endParaRPr kumimoji="1" lang="zh-CN" altLang="en-US" sz="2800" dirty="0">
              <a:solidFill>
                <a:schemeClr val="bg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292640" y="1097156"/>
            <a:ext cx="592982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solidFill>
                  <a:srgbClr val="121212"/>
                </a:solidFill>
                <a:latin typeface="-apple-system"/>
              </a:rPr>
              <a:t>可以看到向最小值方向前进了一步：</a:t>
            </a:r>
            <a:endParaRPr lang="zh-CN" altLang="en-US" sz="2800" dirty="0"/>
          </a:p>
        </p:txBody>
      </p:sp>
      <p:pic>
        <p:nvPicPr>
          <p:cNvPr id="19458" name="Picture 2" descr="https://pic1.zhimg.com/80/v2-3e8c630cac31ac969e3c727df7ab5afa_720w.jpg?source=1940ef5c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8709" y="2123667"/>
            <a:ext cx="7561485" cy="3780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33329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10"/>
          <p:cNvSpPr/>
          <p:nvPr/>
        </p:nvSpPr>
        <p:spPr>
          <a:xfrm>
            <a:off x="0" y="-9532"/>
            <a:ext cx="12205648" cy="738010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8"/>
          <p:cNvSpPr/>
          <p:nvPr/>
        </p:nvSpPr>
        <p:spPr>
          <a:xfrm>
            <a:off x="0" y="728478"/>
            <a:ext cx="9400194" cy="5135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9"/>
          <p:cNvSpPr/>
          <p:nvPr/>
        </p:nvSpPr>
        <p:spPr>
          <a:xfrm>
            <a:off x="9135236" y="722278"/>
            <a:ext cx="3070412" cy="45719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292640" y="144950"/>
            <a:ext cx="72327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2800" dirty="0">
                <a:solidFill>
                  <a:schemeClr val="bg1"/>
                </a:solidFill>
              </a:rPr>
              <a:t>2.0 </a:t>
            </a:r>
            <a:endParaRPr kumimoji="1" lang="zh-CN" altLang="en-US" sz="2800" dirty="0">
              <a:solidFill>
                <a:schemeClr val="bg1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292640" y="144950"/>
            <a:ext cx="215956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2800" dirty="0">
                <a:solidFill>
                  <a:schemeClr val="bg1"/>
                </a:solidFill>
              </a:rPr>
              <a:t>2.0 </a:t>
            </a:r>
            <a:r>
              <a:rPr kumimoji="1" lang="zh-CN" altLang="en-US" sz="2800" dirty="0" smtClean="0">
                <a:solidFill>
                  <a:schemeClr val="bg1"/>
                </a:solidFill>
              </a:rPr>
              <a:t>预备知识</a:t>
            </a:r>
            <a:endParaRPr kumimoji="1" lang="zh-CN" altLang="en-US" sz="2800" dirty="0">
              <a:solidFill>
                <a:schemeClr val="bg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458711" y="1097156"/>
            <a:ext cx="162736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>
                <a:solidFill>
                  <a:srgbClr val="121212"/>
                </a:solidFill>
                <a:latin typeface="-apple-system"/>
              </a:rPr>
              <a:t>4.2 </a:t>
            </a:r>
            <a:r>
              <a:rPr lang="zh-CN" altLang="en-US" sz="2800" b="1" dirty="0">
                <a:solidFill>
                  <a:srgbClr val="121212"/>
                </a:solidFill>
                <a:latin typeface="-apple-system"/>
              </a:rPr>
              <a:t>迭代</a:t>
            </a:r>
            <a:endParaRPr lang="zh-CN" altLang="en-US" sz="2800" dirty="0"/>
          </a:p>
        </p:txBody>
      </p:sp>
      <p:sp>
        <p:nvSpPr>
          <p:cNvPr id="3" name="矩形 2"/>
          <p:cNvSpPr/>
          <p:nvPr/>
        </p:nvSpPr>
        <p:spPr>
          <a:xfrm>
            <a:off x="458711" y="1753035"/>
            <a:ext cx="449353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solidFill>
                  <a:srgbClr val="121212"/>
                </a:solidFill>
                <a:latin typeface="-apple-system"/>
              </a:rPr>
              <a:t>同样的方法找到下一个点：</a:t>
            </a:r>
            <a:endParaRPr lang="zh-CN" altLang="en-US" sz="28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5480" y="2408914"/>
            <a:ext cx="6144876" cy="713109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458711" y="3122023"/>
            <a:ext cx="413446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solidFill>
                  <a:srgbClr val="121212"/>
                </a:solidFill>
                <a:latin typeface="-apple-system"/>
              </a:rPr>
              <a:t>此时又向最小值靠近了：</a:t>
            </a:r>
            <a:endParaRPr lang="zh-CN" altLang="en-US" sz="2800" dirty="0"/>
          </a:p>
        </p:txBody>
      </p:sp>
      <p:pic>
        <p:nvPicPr>
          <p:cNvPr id="8194" name="Picture 2" descr="https://pic1.zhimg.com/80/v2-b7ff8d88e76dcc65e462cb83d3da0ba9_720w.jpg?source=1940ef5c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432" y="3645243"/>
            <a:ext cx="6054928" cy="3027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77298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10"/>
          <p:cNvSpPr/>
          <p:nvPr/>
        </p:nvSpPr>
        <p:spPr>
          <a:xfrm>
            <a:off x="0" y="-9532"/>
            <a:ext cx="12205648" cy="738010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8"/>
          <p:cNvSpPr/>
          <p:nvPr/>
        </p:nvSpPr>
        <p:spPr>
          <a:xfrm>
            <a:off x="0" y="728478"/>
            <a:ext cx="9400194" cy="5135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9"/>
          <p:cNvSpPr/>
          <p:nvPr/>
        </p:nvSpPr>
        <p:spPr>
          <a:xfrm>
            <a:off x="9135236" y="722278"/>
            <a:ext cx="3070412" cy="45719"/>
          </a:xfrm>
          <a:prstGeom prst="rect">
            <a:avLst/>
          </a:prstGeom>
          <a:solidFill>
            <a:srgbClr val="782C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292640" y="144950"/>
            <a:ext cx="72327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2800" dirty="0">
                <a:solidFill>
                  <a:schemeClr val="bg1"/>
                </a:solidFill>
              </a:rPr>
              <a:t>2.0 </a:t>
            </a:r>
            <a:endParaRPr kumimoji="1" lang="zh-CN" altLang="en-US" sz="2800" dirty="0">
              <a:solidFill>
                <a:schemeClr val="bg1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292640" y="144950"/>
            <a:ext cx="215956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2800" dirty="0">
                <a:solidFill>
                  <a:schemeClr val="bg1"/>
                </a:solidFill>
              </a:rPr>
              <a:t>2.0 </a:t>
            </a:r>
            <a:r>
              <a:rPr kumimoji="1" lang="zh-CN" altLang="en-US" sz="2800" dirty="0" smtClean="0">
                <a:solidFill>
                  <a:schemeClr val="bg1"/>
                </a:solidFill>
              </a:rPr>
              <a:t>预备知识</a:t>
            </a:r>
            <a:endParaRPr kumimoji="1" lang="zh-CN" altLang="en-US" sz="2800" dirty="0">
              <a:solidFill>
                <a:schemeClr val="bg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124883" y="966083"/>
            <a:ext cx="664797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solidFill>
                  <a:srgbClr val="121212"/>
                </a:solidFill>
                <a:latin typeface="-apple-system"/>
              </a:rPr>
              <a:t>如此迭代</a:t>
            </a:r>
            <a:r>
              <a:rPr lang="en-US" altLang="zh-CN" sz="2800" dirty="0">
                <a:solidFill>
                  <a:srgbClr val="121212"/>
                </a:solidFill>
                <a:latin typeface="-apple-system"/>
              </a:rPr>
              <a:t>20</a:t>
            </a:r>
            <a:r>
              <a:rPr lang="zh-CN" altLang="en-US" sz="2800" dirty="0">
                <a:solidFill>
                  <a:srgbClr val="121212"/>
                </a:solidFill>
                <a:latin typeface="-apple-system"/>
              </a:rPr>
              <a:t>次后，差不多找到了最小值：</a:t>
            </a:r>
            <a:endParaRPr lang="zh-CN" altLang="en-US" sz="2800" dirty="0"/>
          </a:p>
        </p:txBody>
      </p:sp>
      <p:pic>
        <p:nvPicPr>
          <p:cNvPr id="7170" name="Picture 2" descr="https://pic1.zhimg.com/50/v2-3d870db979e5a2a07434448bc5100737_hd.webp?source=1940ef5c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8880" y="1886524"/>
            <a:ext cx="8349282" cy="4174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926678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wrap="none">
        <a:spAutoFit/>
      </a:bodyPr>
      <a:lstStyle>
        <a:defPPr>
          <a:defRPr sz="2800" dirty="0">
            <a:solidFill>
              <a:srgbClr val="4D4D4D"/>
            </a:solidFill>
            <a:latin typeface="-apple-system"/>
          </a:defRPr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6807</TotalTime>
  <Words>1207</Words>
  <Application>Microsoft Office PowerPoint</Application>
  <PresentationFormat>宽屏</PresentationFormat>
  <Paragraphs>161</Paragraphs>
  <Slides>44</Slides>
  <Notes>3</Notes>
  <HiddenSlides>0</HiddenSlides>
  <MMClips>1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44</vt:i4>
      </vt:variant>
    </vt:vector>
  </HeadingPairs>
  <TitlesOfParts>
    <vt:vector size="52" baseType="lpstr">
      <vt:lpstr>-apple-system</vt:lpstr>
      <vt:lpstr>PingFang SC</vt:lpstr>
      <vt:lpstr>PingFang SC Light</vt:lpstr>
      <vt:lpstr>等线</vt:lpstr>
      <vt:lpstr>Arial</vt:lpstr>
      <vt:lpstr>Calibri</vt:lpstr>
      <vt:lpstr>Calibri Light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大数据机器学习</dc:title>
  <dc:creator>Xingyu Chen</dc:creator>
  <cp:lastModifiedBy>zhang</cp:lastModifiedBy>
  <cp:revision>185</cp:revision>
  <dcterms:created xsi:type="dcterms:W3CDTF">2019-08-27T19:51:00Z</dcterms:created>
  <dcterms:modified xsi:type="dcterms:W3CDTF">2021-04-28T04:14:50Z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2052-11.1.0.8976</vt:lpwstr>
  </property>
</Properties>
</file>