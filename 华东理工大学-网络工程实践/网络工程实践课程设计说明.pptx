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9"/>
  </p:notesMasterIdLst>
  <p:sldIdLst>
    <p:sldId id="256" r:id="rId2"/>
    <p:sldId id="286" r:id="rId3"/>
    <p:sldId id="289" r:id="rId4"/>
    <p:sldId id="287" r:id="rId5"/>
    <p:sldId id="300" r:id="rId6"/>
    <p:sldId id="288" r:id="rId7"/>
    <p:sldId id="301" r:id="rId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C5AFD20-EF6A-4501-AF2B-DD4340B1F6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8A0A96-0A71-473E-A050-5CD82B1DE5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260972C-813C-43EC-9B63-B47668795E89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6A913C3-8B24-4734-9C93-E3950B4E7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BA0B9EE-7ADF-49EE-BBE2-E0BBF3E36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0E943D-5EB7-4B8D-BF99-AD106B4B2F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767FF9-5940-4EEE-A15E-1ACFD771C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84D7137-C56B-4DD9-9FBF-A2C7E40439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72B71B-0658-4807-9B69-B1F3BD1C6817}"/>
              </a:ext>
            </a:extLst>
          </p:cNvPr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77EF95-0226-4180-98BE-B35E4F6B86BE}"/>
              </a:ext>
            </a:extLst>
          </p:cNvPr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687177-C5E1-4DBE-8C7D-5703F4566A3F}"/>
              </a:ext>
            </a:extLst>
          </p:cNvPr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1DE034-7894-4616-AD99-50D78BF0290C}"/>
              </a:ext>
            </a:extLst>
          </p:cNvPr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EC4707-8113-4AA0-A132-5C24877FE5C8}"/>
              </a:ext>
            </a:extLst>
          </p:cNvPr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11" name="圆角矩形 25">
            <a:extLst>
              <a:ext uri="{FF2B5EF4-FFF2-40B4-BE49-F238E27FC236}">
                <a16:creationId xmlns:a16="http://schemas.microsoft.com/office/drawing/2014/main" id="{424AC374-4404-4FEB-BC14-A225770D3B0E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12" name="圆角矩形 26">
            <a:extLst>
              <a:ext uri="{FF2B5EF4-FFF2-40B4-BE49-F238E27FC236}">
                <a16:creationId xmlns:a16="http://schemas.microsoft.com/office/drawing/2014/main" id="{927E920F-9DC2-4F85-A3B0-FFBB97B40A60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57146A-A707-44E1-A3D4-2C95F3D2E388}"/>
              </a:ext>
            </a:extLst>
          </p:cNvPr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0BAFA4-1B18-42BB-8545-C7D7FBDCC472}"/>
              </a:ext>
            </a:extLst>
          </p:cNvPr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E5AB4C-2E31-473A-B8C2-75BCD0CDE41C}"/>
              </a:ext>
            </a:extLst>
          </p:cNvPr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94E997-DA55-4FC2-909B-94F2A8FEAD08}"/>
              </a:ext>
            </a:extLst>
          </p:cNvPr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7" name="日期占位符 27">
            <a:extLst>
              <a:ext uri="{FF2B5EF4-FFF2-40B4-BE49-F238E27FC236}">
                <a16:creationId xmlns:a16="http://schemas.microsoft.com/office/drawing/2014/main" id="{A7E01057-7B8E-4495-88C2-6134B411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页脚占位符 16">
            <a:extLst>
              <a:ext uri="{FF2B5EF4-FFF2-40B4-BE49-F238E27FC236}">
                <a16:creationId xmlns:a16="http://schemas.microsoft.com/office/drawing/2014/main" id="{9B1F1D16-4801-45C5-ADD6-9EC43420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28">
            <a:extLst>
              <a:ext uri="{FF2B5EF4-FFF2-40B4-BE49-F238E27FC236}">
                <a16:creationId xmlns:a16="http://schemas.microsoft.com/office/drawing/2014/main" id="{BB64E884-2260-4A0D-9730-101FEA21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A058AAA-F503-42E8-B837-AEC422F8FB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201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31D64D04-F5F6-45E7-BB28-69634622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D1D21F79-A280-4C73-ABFF-AFEAAECC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6904F973-515C-4D17-8106-CAF33604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4E6A0-3D5F-446C-A78E-C23D02AE9A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07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1AF18D5A-8502-4D40-84C1-7CEAD1A7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6984D70D-4103-4205-A4CE-169A691B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209E85BB-3452-4B4D-923B-E7885AC5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F7F86-0A50-4E38-A8EE-B92B7E94CB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503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224718F8-3849-4FC4-885B-038F840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D35577BD-1580-4958-AF4D-4A73ED2E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57661BBB-251B-4FF1-A10A-C75E63C7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80625-48BA-4793-BBD1-D6C46201DE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317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25">
            <a:extLst>
              <a:ext uri="{FF2B5EF4-FFF2-40B4-BE49-F238E27FC236}">
                <a16:creationId xmlns:a16="http://schemas.microsoft.com/office/drawing/2014/main" id="{9E7C77A8-D70C-4A4B-9FFF-E74AF0A9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26">
            <a:extLst>
              <a:ext uri="{FF2B5EF4-FFF2-40B4-BE49-F238E27FC236}">
                <a16:creationId xmlns:a16="http://schemas.microsoft.com/office/drawing/2014/main" id="{8041CDA1-C5CD-41FF-9DF9-F50A3F5DE0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B0E9E-6D66-4E1B-AFEF-C2ACA8DC8B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27">
            <a:extLst>
              <a:ext uri="{FF2B5EF4-FFF2-40B4-BE49-F238E27FC236}">
                <a16:creationId xmlns:a16="http://schemas.microsoft.com/office/drawing/2014/main" id="{A4F3008E-C83E-417C-9D3E-D0A0D4E310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93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589C1B-86E2-4CED-A128-9FD7C73F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E40DD7-1574-499B-A8A7-B65436EC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9E95C0-D7B5-4181-91AA-ED5753AA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8017C-446B-4BED-9415-D2685D8D68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93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>
            <a:extLst>
              <a:ext uri="{FF2B5EF4-FFF2-40B4-BE49-F238E27FC236}">
                <a16:creationId xmlns:a16="http://schemas.microsoft.com/office/drawing/2014/main" id="{CF7A9A11-1E4D-41CD-99F3-E72B10AB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36DF30-C6D9-4125-A453-36449C58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22">
            <a:extLst>
              <a:ext uri="{FF2B5EF4-FFF2-40B4-BE49-F238E27FC236}">
                <a16:creationId xmlns:a16="http://schemas.microsoft.com/office/drawing/2014/main" id="{37FACC84-F06A-412B-8E95-2BE300E9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7A744-7DF1-4767-AF87-38A969CB8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5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DF92D298-5CD0-477B-8543-99532311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D4D07446-2AAF-4DAB-B130-36CBE5E1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1991045E-25B2-42A2-89B4-F74E4D62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D644D-5F23-4D20-B197-6C72CDADBF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086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3210E3B0-F8E1-4164-BF4F-B8A7F401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F09166C6-6CDC-434D-8D24-3301FA8C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2BFB90AE-03DB-49DD-A0E7-396396E0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BF7EB-F009-40EE-A664-7EB693937E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47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A16AEC54-6137-441D-9029-8024A46D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D8DDCD73-3F3E-4B77-A434-F6E0506C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8C1C24EE-D6A7-468B-9A15-13AD0626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5A2B5-BEAF-4B3D-83F5-E9D18D4796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89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1540F15A-87B6-41C2-99B8-B9B3BC85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6F10ADC2-37DC-40FD-BA7D-F9188554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0B13794E-589D-491D-BCA3-D1AB8644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C7012-0CBF-4D41-8F09-D4C30B9C6F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130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3ACF1D9-F67F-413E-86FA-38C1B6C342B7}"/>
              </a:ext>
            </a:extLst>
          </p:cNvPr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D5F7A97-4FB2-4D72-9542-B4570251F98C}"/>
              </a:ext>
            </a:extLst>
          </p:cNvPr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744955-01D9-4DE0-85E2-D1441F80D24D}"/>
              </a:ext>
            </a:extLst>
          </p:cNvPr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11C3AD-7F33-4F1F-A8E5-A9855AE803F6}"/>
              </a:ext>
            </a:extLst>
          </p:cNvPr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DB3CF27-703E-4897-A2CD-1F191B6BDE8E}"/>
              </a:ext>
            </a:extLst>
          </p:cNvPr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3" name="圆角矩形 32">
            <a:extLst>
              <a:ext uri="{FF2B5EF4-FFF2-40B4-BE49-F238E27FC236}">
                <a16:creationId xmlns:a16="http://schemas.microsoft.com/office/drawing/2014/main" id="{89D0178D-F6B4-437B-B214-810000C1069E}"/>
              </a:ext>
            </a:extLst>
          </p:cNvPr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4" name="圆角矩形 33">
            <a:extLst>
              <a:ext uri="{FF2B5EF4-FFF2-40B4-BE49-F238E27FC236}">
                <a16:creationId xmlns:a16="http://schemas.microsoft.com/office/drawing/2014/main" id="{3DE3279E-C8BA-463B-84CC-EB942DEF9EC1}"/>
              </a:ext>
            </a:extLst>
          </p:cNvPr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62FF8EB-C4EB-4B9C-B4F1-4E72AA8E157B}"/>
              </a:ext>
            </a:extLst>
          </p:cNvPr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27B4E75-7E5A-497A-97BA-E4403668D6A4}"/>
              </a:ext>
            </a:extLst>
          </p:cNvPr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96F73FB-191C-4A10-9D10-9FEC166B8B9A}"/>
              </a:ext>
            </a:extLst>
          </p:cNvPr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09C02E-12A5-49CB-9AF7-0423DA31CB11}"/>
              </a:ext>
            </a:extLst>
          </p:cNvPr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FF4782D-51AF-49D6-99F4-3F112498C321}"/>
              </a:ext>
            </a:extLst>
          </p:cNvPr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2E647C-28FD-406B-98D9-D4BF8B6FE411}"/>
              </a:ext>
            </a:extLst>
          </p:cNvPr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039" name="标题占位符 21">
            <a:extLst>
              <a:ext uri="{FF2B5EF4-FFF2-40B4-BE49-F238E27FC236}">
                <a16:creationId xmlns:a16="http://schemas.microsoft.com/office/drawing/2014/main" id="{5AFFC1D7-35DA-40B2-B49D-9B9AD53B6A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文本占位符 12">
            <a:extLst>
              <a:ext uri="{FF2B5EF4-FFF2-40B4-BE49-F238E27FC236}">
                <a16:creationId xmlns:a16="http://schemas.microsoft.com/office/drawing/2014/main" id="{5E406A52-DC47-472C-8180-DC87AD7DDE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43E35498-FE92-4649-A507-9FF79FDE6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07C7DB-7719-40B6-9CB2-1F13DBEFD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B415002C-40ED-4F48-A0A3-7B6E930F5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2717E91-20AE-42E0-9AF2-3B6B6A73B3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3" r:id="rId1"/>
    <p:sldLayoutId id="2147484195" r:id="rId2"/>
    <p:sldLayoutId id="2147484196" r:id="rId3"/>
    <p:sldLayoutId id="2147484197" r:id="rId4"/>
    <p:sldLayoutId id="2147484204" r:id="rId5"/>
    <p:sldLayoutId id="2147484205" r:id="rId6"/>
    <p:sldLayoutId id="2147484198" r:id="rId7"/>
    <p:sldLayoutId id="2147484199" r:id="rId8"/>
    <p:sldLayoutId id="2147484200" r:id="rId9"/>
    <p:sldLayoutId id="2147484201" r:id="rId10"/>
    <p:sldLayoutId id="21474842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anose="020B0603020202020204" pitchFamily="34" charset="0"/>
          <a:ea typeface="方正姚体" panose="02010601030101010101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A1A5A97-DAFF-4B34-A126-502048DC0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3" y="1628775"/>
            <a:ext cx="7772400" cy="792163"/>
          </a:xfrm>
        </p:spPr>
        <p:txBody>
          <a:bodyPr/>
          <a:lstStyle/>
          <a:p>
            <a:pPr eaLnBrk="1" hangingPunct="1"/>
            <a:r>
              <a:rPr lang="zh-CN" altLang="en-US" b="1"/>
              <a:t>网络工程实践</a:t>
            </a:r>
          </a:p>
        </p:txBody>
      </p:sp>
      <p:sp>
        <p:nvSpPr>
          <p:cNvPr id="6147" name="副标题 1">
            <a:extLst>
              <a:ext uri="{FF2B5EF4-FFF2-40B4-BE49-F238E27FC236}">
                <a16:creationId xmlns:a16="http://schemas.microsoft.com/office/drawing/2014/main" id="{5C295790-64CD-44D7-95C7-E9DF0147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50" y="4221163"/>
            <a:ext cx="4953000" cy="1223962"/>
          </a:xfrm>
        </p:spPr>
        <p:txBody>
          <a:bodyPr/>
          <a:lstStyle/>
          <a:p>
            <a:pPr marL="63500" eaLnBrk="1" hangingPunct="1"/>
            <a:r>
              <a:rPr lang="zh-CN" altLang="en-US" sz="2800" b="1">
                <a:solidFill>
                  <a:schemeClr val="tx1"/>
                </a:solidFill>
              </a:rPr>
              <a:t>张海腾</a:t>
            </a:r>
            <a:endParaRPr lang="en-US" altLang="zh-CN" sz="2800" b="1">
              <a:solidFill>
                <a:schemeClr val="tx1"/>
              </a:solidFill>
            </a:endParaRPr>
          </a:p>
          <a:p>
            <a:pPr marL="63500" eaLnBrk="1" hangingPunct="1"/>
            <a:r>
              <a:rPr lang="en-US" altLang="zh-CN" sz="2800" b="1">
                <a:solidFill>
                  <a:schemeClr val="tx1"/>
                </a:solidFill>
              </a:rPr>
              <a:t>htzhang@ecust.edu.cn</a:t>
            </a:r>
            <a:endParaRPr lang="zh-CN" altLang="en-US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>
            <a:extLst>
              <a:ext uri="{FF2B5EF4-FFF2-40B4-BE49-F238E27FC236}">
                <a16:creationId xmlns:a16="http://schemas.microsoft.com/office/drawing/2014/main" id="{C516D986-6260-4CA2-8726-A05216B90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844675"/>
            <a:ext cx="8531225" cy="434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通过本课程的学习，达到能分析问题、解决问题和独立规划设计大中型三层交换式局域网络的能力，并能通过配置交换机和路由器等核心网络设备，来具体实现整个网络的规划与组建。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通过实践环节中对网络故障的检测和故障原因的分析，让学生明白在组网过程中，良好的职业道德素质和一丝不苟的敬业精神的重要性，努力培养学生的思想道德素质和业务素质。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835C052C-8EC6-4195-988E-8C9B52F08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765175"/>
            <a:ext cx="41036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rgbClr val="FF0000"/>
                </a:solidFill>
              </a:rPr>
              <a:t>课程设计目标</a:t>
            </a:r>
            <a:endParaRPr lang="en-US" altLang="zh-CN" sz="4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>
            <a:extLst>
              <a:ext uri="{FF2B5EF4-FFF2-40B4-BE49-F238E27FC236}">
                <a16:creationId xmlns:a16="http://schemas.microsoft.com/office/drawing/2014/main" id="{478D9A0C-3420-4B84-9837-3362CB464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400175"/>
            <a:ext cx="8424862" cy="2491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时间：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9-10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周，周一、周三、周五</a:t>
            </a:r>
            <a:endParaRPr kumimoji="1" lang="en-US" altLang="zh-CN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8:30-11:30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（软工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计金）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下午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1:30-4:30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（计科）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地点： 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503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505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机房</a:t>
            </a:r>
            <a:endParaRPr kumimoji="1"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TextBox 1">
            <a:extLst>
              <a:ext uri="{FF2B5EF4-FFF2-40B4-BE49-F238E27FC236}">
                <a16:creationId xmlns:a16="http://schemas.microsoft.com/office/drawing/2014/main" id="{5D1341E0-885B-4E0F-A4C3-B844624A9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692150"/>
            <a:ext cx="4895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</a:rPr>
              <a:t>课程设计时间地点</a:t>
            </a:r>
            <a:endParaRPr lang="en-US" altLang="zh-CN" sz="4000" b="1">
              <a:solidFill>
                <a:srgbClr val="FF0000"/>
              </a:solidFill>
            </a:endParaRPr>
          </a:p>
        </p:txBody>
      </p:sp>
      <p:sp>
        <p:nvSpPr>
          <p:cNvPr id="8196" name="TextBox 1">
            <a:extLst>
              <a:ext uri="{FF2B5EF4-FFF2-40B4-BE49-F238E27FC236}">
                <a16:creationId xmlns:a16="http://schemas.microsoft.com/office/drawing/2014/main" id="{773CD8EA-A314-40F5-A314-F09E0D2EB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3998913"/>
            <a:ext cx="5680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</a:rPr>
              <a:t>课程设计成绩评定方法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sp>
        <p:nvSpPr>
          <p:cNvPr id="8197" name="矩形 1">
            <a:extLst>
              <a:ext uri="{FF2B5EF4-FFF2-40B4-BE49-F238E27FC236}">
                <a16:creationId xmlns:a16="http://schemas.microsoft.com/office/drawing/2014/main" id="{19B0C781-6353-4D67-AF3A-F3DDF745F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4706938"/>
            <a:ext cx="8531225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总体成绩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平时成绩*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30%+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（实验验收成绩* 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实验报告成绩*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）*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*平时成绩组成：考勤*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0.5+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实践过程检查*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53788232-674A-481F-903A-71285A671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59" y="2060848"/>
            <a:ext cx="8470081" cy="372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、每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5~6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人一组（自由组合），每组确定一个组长；组长合理安排好组中每个成员的工作量。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（计科、软工和计金学生分开分组）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kumimoji="1"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、第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周周二之前请各班长把分组名单 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按照附件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中模板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发到邮箱</a:t>
            </a:r>
            <a:r>
              <a:rPr kumimoji="1"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htzhang@ecust.edu.cn</a:t>
            </a:r>
          </a:p>
        </p:txBody>
      </p:sp>
      <p:sp>
        <p:nvSpPr>
          <p:cNvPr id="9219" name="TextBox 1">
            <a:extLst>
              <a:ext uri="{FF2B5EF4-FFF2-40B4-BE49-F238E27FC236}">
                <a16:creationId xmlns:a16="http://schemas.microsoft.com/office/drawing/2014/main" id="{B851E06E-4300-4899-AACB-031CEB38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1" y="980728"/>
            <a:ext cx="7127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>
                <a:solidFill>
                  <a:srgbClr val="FF0000"/>
                </a:solidFill>
              </a:rPr>
              <a:t>课程设计分组</a:t>
            </a:r>
            <a:endParaRPr lang="en-US" altLang="zh-CN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>
            <a:extLst>
              <a:ext uri="{FF2B5EF4-FFF2-40B4-BE49-F238E27FC236}">
                <a16:creationId xmlns:a16="http://schemas.microsoft.com/office/drawing/2014/main" id="{DDD75F7F-BB3D-40EF-89D2-B27A66E2B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916832"/>
            <a:ext cx="7200800" cy="580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25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附件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网络工程实践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任务书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TextBox 1">
            <a:extLst>
              <a:ext uri="{FF2B5EF4-FFF2-40B4-BE49-F238E27FC236}">
                <a16:creationId xmlns:a16="http://schemas.microsoft.com/office/drawing/2014/main" id="{C4B3AB73-549D-47F2-8EC7-960E91BEF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2" y="836712"/>
            <a:ext cx="7127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dirty="0">
                <a:solidFill>
                  <a:srgbClr val="FF0000"/>
                </a:solidFill>
              </a:rPr>
              <a:t>课程设计要求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F8917401-6E64-4BFA-A462-84511FB29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556792"/>
            <a:ext cx="8568952" cy="379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验收时间：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、第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周三、周五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验收完成情况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（软工和计金）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周三、周五下午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验收完成情况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（计科）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C5CEBD3-3ABE-486E-9DFB-15E0B82BC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533400"/>
            <a:ext cx="7127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>
                <a:solidFill>
                  <a:srgbClr val="FF0000"/>
                </a:solidFill>
              </a:rPr>
              <a:t>课程设计验收</a:t>
            </a:r>
            <a:endParaRPr lang="en-US" altLang="zh-CN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F8917401-6E64-4BFA-A462-84511FB29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1341438"/>
            <a:ext cx="8634734" cy="5041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验收要求：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、各组交付实践报告、由组长打包上交，每组一份，以专业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组名命名。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、每组打印纸质版网络工程实践报告文档一份上交。（模板见附件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zh-CN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、每人打印一张考核表（模板见附件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夹在自己小组的报告里。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、每组组长讲解小组工作并演示（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分钟）。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、每人口头讲解自己的工作内容，并接受提问（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分钟）。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C5CEBD3-3ABE-486E-9DFB-15E0B82BC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533400"/>
            <a:ext cx="7127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>
                <a:solidFill>
                  <a:srgbClr val="FF0000"/>
                </a:solidFill>
              </a:rPr>
              <a:t>课程设计验收</a:t>
            </a:r>
            <a:endParaRPr lang="en-US" altLang="zh-CN" sz="4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637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1788</TotalTime>
  <Words>436</Words>
  <Application>Microsoft Office PowerPoint</Application>
  <PresentationFormat>全屏显示(4:3)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Calibri</vt:lpstr>
      <vt:lpstr>Georgia</vt:lpstr>
      <vt:lpstr>Times New Roman</vt:lpstr>
      <vt:lpstr>Trebuchet MS</vt:lpstr>
      <vt:lpstr>Wingdings 2</vt:lpstr>
      <vt:lpstr>都市</vt:lpstr>
      <vt:lpstr>网络工程实践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应用软件开发课程设计</dc:title>
  <dc:creator>V</dc:creator>
  <cp:lastModifiedBy>zhanght</cp:lastModifiedBy>
  <cp:revision>341</cp:revision>
  <dcterms:created xsi:type="dcterms:W3CDTF">2013-09-03T01:04:15Z</dcterms:created>
  <dcterms:modified xsi:type="dcterms:W3CDTF">2024-10-25T08:26:26Z</dcterms:modified>
</cp:coreProperties>
</file>