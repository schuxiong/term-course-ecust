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24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ECUST--Jing Zhang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CB775-49A2-4609-9EC6-7DA026F7E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第五章作业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39825"/>
          </a:xfrm>
        </p:spPr>
        <p:txBody>
          <a:bodyPr/>
          <a:lstStyle/>
          <a:p>
            <a:pPr eaLnBrk="1" hangingPunct="1"/>
            <a:r>
              <a:rPr lang="zh-CN" altLang="en-US" b="1"/>
              <a:t>习题一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65275"/>
            <a:ext cx="8229600" cy="4759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200" b="1"/>
              <a:t>数据库有</a:t>
            </a:r>
            <a:r>
              <a:rPr lang="en-US" altLang="zh-CN" sz="2200" b="1"/>
              <a:t>4</a:t>
            </a:r>
            <a:r>
              <a:rPr lang="zh-CN" altLang="en-US" sz="2200" b="1"/>
              <a:t>个事务。设</a:t>
            </a:r>
            <a:r>
              <a:rPr lang="en-US" altLang="zh-CN" sz="2200" b="1"/>
              <a:t>min_sup=60%,min_conf=80%</a:t>
            </a:r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endParaRPr lang="en-US" altLang="zh-CN" sz="2200" b="1"/>
          </a:p>
          <a:p>
            <a:pPr eaLnBrk="1" hangingPunct="1">
              <a:lnSpc>
                <a:spcPct val="90000"/>
              </a:lnSpc>
            </a:pPr>
            <a:r>
              <a:rPr lang="zh-CN" altLang="en-US" sz="2200" b="1"/>
              <a:t>分别使用</a:t>
            </a:r>
            <a:r>
              <a:rPr lang="en-US" altLang="zh-CN" sz="2200" b="1"/>
              <a:t>Apriori</a:t>
            </a:r>
            <a:r>
              <a:rPr lang="zh-CN" altLang="en-US" sz="2200" b="1"/>
              <a:t>和</a:t>
            </a:r>
            <a:r>
              <a:rPr lang="en-US" altLang="zh-CN" sz="2200" b="1"/>
              <a:t>FP-</a:t>
            </a:r>
            <a:r>
              <a:rPr lang="zh-CN" altLang="en-US" sz="2200" b="1"/>
              <a:t>增长算法找出频繁项集。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b="1"/>
              <a:t>列出所有的强关联规则（带支持度</a:t>
            </a:r>
            <a:r>
              <a:rPr lang="en-US" altLang="zh-CN" sz="2200" b="1"/>
              <a:t>s</a:t>
            </a:r>
            <a:r>
              <a:rPr lang="zh-CN" altLang="en-US" sz="2200" b="1"/>
              <a:t>和置信度</a:t>
            </a:r>
            <a:r>
              <a:rPr lang="en-US" altLang="zh-CN" sz="2200" b="1"/>
              <a:t>c</a:t>
            </a:r>
            <a:r>
              <a:rPr lang="zh-CN" altLang="en-US" sz="2200" b="1"/>
              <a:t>），它们与下面的元规则匹配，其中，</a:t>
            </a:r>
            <a:r>
              <a:rPr lang="en-US" altLang="zh-CN" sz="2200" b="1"/>
              <a:t>X</a:t>
            </a:r>
            <a:r>
              <a:rPr lang="zh-CN" altLang="en-US" sz="2200" b="1"/>
              <a:t>是代表顾客的变量，</a:t>
            </a:r>
            <a:r>
              <a:rPr lang="en-US" altLang="zh-CN" sz="2200" b="1"/>
              <a:t>itmei</a:t>
            </a:r>
            <a:r>
              <a:rPr lang="zh-CN" altLang="en-US" sz="2200" b="1"/>
              <a:t>是表示项的变量（例如：</a:t>
            </a:r>
            <a:r>
              <a:rPr lang="en-US" altLang="zh-CN" sz="2200" b="1"/>
              <a:t>A</a:t>
            </a:r>
            <a:r>
              <a:rPr lang="zh-CN" altLang="en-US" sz="2200" b="1"/>
              <a:t>、</a:t>
            </a:r>
            <a:r>
              <a:rPr lang="en-US" altLang="zh-CN" sz="2200" b="1"/>
              <a:t>B</a:t>
            </a:r>
            <a:r>
              <a:rPr lang="zh-CN" altLang="en-US" sz="2200" b="1"/>
              <a:t>等）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/>
          </a:p>
          <a:p>
            <a:pPr eaLnBrk="1" hangingPunct="1">
              <a:lnSpc>
                <a:spcPct val="90000"/>
              </a:lnSpc>
            </a:pPr>
            <a:endParaRPr lang="en-US" altLang="zh-CN" sz="2400" b="1"/>
          </a:p>
        </p:txBody>
      </p:sp>
      <p:graphicFrame>
        <p:nvGraphicFramePr>
          <p:cNvPr id="4098" name="Object 46"/>
          <p:cNvGraphicFramePr>
            <a:graphicFrameLocks noGrp="1" noChangeAspect="1"/>
          </p:cNvGraphicFramePr>
          <p:nvPr>
            <p:ph sz="half" idx="2"/>
          </p:nvPr>
        </p:nvGraphicFramePr>
        <p:xfrm>
          <a:off x="939800" y="6099175"/>
          <a:ext cx="7493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33840" imgH="228600" progId="Equation.3">
                  <p:embed/>
                </p:oleObj>
              </mc:Choice>
              <mc:Fallback>
                <p:oleObj name="公式" r:id="rId2" imgW="4533840" imgH="2286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6099175"/>
                        <a:ext cx="74930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4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930679"/>
              </p:ext>
            </p:extLst>
          </p:nvPr>
        </p:nvGraphicFramePr>
        <p:xfrm>
          <a:off x="827584" y="2132856"/>
          <a:ext cx="70104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Itmes_bought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{K,A,D,B}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{D,A,C,E,B}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T300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{C,A,B,E}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T400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{B,A,D}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习题二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76400"/>
            <a:ext cx="8382000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sz="2200" b="1"/>
              <a:t>下面的相依表总汇了超级市场的事务数据。其中，</a:t>
            </a:r>
            <a:r>
              <a:rPr lang="en-US" altLang="zh-CN" sz="2200" b="1"/>
              <a:t>hot dogs</a:t>
            </a:r>
            <a:r>
              <a:rPr lang="zh-CN" altLang="en-US" sz="2200" b="1"/>
              <a:t>表示包含热狗的事务，</a:t>
            </a:r>
            <a:r>
              <a:rPr lang="en-US" altLang="zh-CN" sz="2200" b="1"/>
              <a:t>non-hotdogs</a:t>
            </a:r>
            <a:r>
              <a:rPr lang="zh-CN" altLang="en-US" sz="2200" b="1"/>
              <a:t>表示不包含热狗的事务，</a:t>
            </a:r>
            <a:r>
              <a:rPr lang="en-US" altLang="zh-CN" sz="2200" b="1"/>
              <a:t>hamburgers</a:t>
            </a:r>
            <a:r>
              <a:rPr lang="zh-CN" altLang="en-US" sz="2200" b="1"/>
              <a:t>表示包含汉堡的事务，</a:t>
            </a:r>
            <a:r>
              <a:rPr lang="en-US" altLang="zh-CN" sz="2200" b="1"/>
              <a:t>non-hamburgers</a:t>
            </a:r>
            <a:r>
              <a:rPr lang="zh-CN" altLang="en-US" sz="2200" b="1"/>
              <a:t>表示不包含汉堡包的事务。</a:t>
            </a:r>
          </a:p>
          <a:p>
            <a:pPr eaLnBrk="1" hangingPunct="1"/>
            <a:endParaRPr lang="zh-CN" altLang="en-US" sz="2200" b="1"/>
          </a:p>
          <a:p>
            <a:pPr eaLnBrk="1" hangingPunct="1"/>
            <a:endParaRPr lang="zh-CN" altLang="en-US" sz="2200" b="1"/>
          </a:p>
          <a:p>
            <a:pPr eaLnBrk="1" hangingPunct="1"/>
            <a:endParaRPr lang="zh-CN" altLang="en-US" sz="2200" b="1"/>
          </a:p>
          <a:p>
            <a:pPr eaLnBrk="1" hangingPunct="1"/>
            <a:endParaRPr lang="zh-CN" altLang="en-US" sz="2200" b="1"/>
          </a:p>
          <a:p>
            <a:pPr eaLnBrk="1" hangingPunct="1"/>
            <a:endParaRPr lang="zh-CN" altLang="en-US" sz="2200" b="1"/>
          </a:p>
          <a:p>
            <a:pPr eaLnBrk="1" hangingPunct="1"/>
            <a:r>
              <a:rPr lang="zh-CN" altLang="en-US" sz="2200" b="1"/>
              <a:t>假定发现关联规则”</a:t>
            </a:r>
            <a:r>
              <a:rPr lang="en-US" altLang="zh-CN" sz="2200" b="1"/>
              <a:t>hot dog =&gt; hamburgers”</a:t>
            </a:r>
            <a:r>
              <a:rPr lang="zh-CN" altLang="en-US" sz="2200" b="1"/>
              <a:t>。给定最小支持度阈值</a:t>
            </a:r>
            <a:r>
              <a:rPr lang="en-US" altLang="zh-CN" sz="2200" b="1"/>
              <a:t>25%</a:t>
            </a:r>
            <a:r>
              <a:rPr lang="zh-CN" altLang="en-US" sz="2200" b="1"/>
              <a:t>，最小置信度阈值</a:t>
            </a:r>
            <a:r>
              <a:rPr lang="en-US" altLang="zh-CN" sz="2200" b="1"/>
              <a:t>50%</a:t>
            </a:r>
            <a:r>
              <a:rPr lang="zh-CN" altLang="en-US" sz="2200" b="1"/>
              <a:t>，该关联规则是强的么？</a:t>
            </a:r>
          </a:p>
          <a:p>
            <a:pPr eaLnBrk="1" hangingPunct="1"/>
            <a:r>
              <a:rPr lang="zh-CN" altLang="en-US" sz="2200" b="1"/>
              <a:t>根据给定的数据，买</a:t>
            </a:r>
            <a:r>
              <a:rPr lang="en-US" altLang="zh-CN" sz="2200" b="1"/>
              <a:t>hot dog</a:t>
            </a:r>
            <a:r>
              <a:rPr lang="zh-CN" altLang="en-US" sz="2200" b="1"/>
              <a:t>独立于买</a:t>
            </a:r>
            <a:r>
              <a:rPr lang="en-US" altLang="zh-CN" sz="2200" b="1"/>
              <a:t>hamburgers</a:t>
            </a:r>
            <a:r>
              <a:rPr lang="zh-CN" altLang="en-US" sz="2200" b="1"/>
              <a:t>么？如果不是，二者存在何种“相关”关系？</a:t>
            </a:r>
          </a:p>
        </p:txBody>
      </p:sp>
      <p:graphicFrame>
        <p:nvGraphicFramePr>
          <p:cNvPr id="84007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95912"/>
              </p:ext>
            </p:extLst>
          </p:nvPr>
        </p:nvGraphicFramePr>
        <p:xfrm>
          <a:off x="304800" y="2996952"/>
          <a:ext cx="8610600" cy="175260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hotdogs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Non-hotdogs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行汇总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hamburgers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Non-hamburgers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列汇总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</Words>
  <Application>Microsoft Office PowerPoint</Application>
  <PresentationFormat>全屏显示(4:3)</PresentationFormat>
  <Paragraphs>46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Wingdings</vt:lpstr>
      <vt:lpstr>Office 主题</vt:lpstr>
      <vt:lpstr>公式</vt:lpstr>
      <vt:lpstr>第五章作业</vt:lpstr>
      <vt:lpstr>习题一</vt:lpstr>
      <vt:lpstr>习题二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</dc:title>
  <dc:creator>Administrator</dc:creator>
  <cp:lastModifiedBy>楚雄 单</cp:lastModifiedBy>
  <cp:revision>5</cp:revision>
  <dcterms:created xsi:type="dcterms:W3CDTF">2014-04-25T07:14:39Z</dcterms:created>
  <dcterms:modified xsi:type="dcterms:W3CDTF">2024-07-04T12:48:44Z</dcterms:modified>
</cp:coreProperties>
</file>