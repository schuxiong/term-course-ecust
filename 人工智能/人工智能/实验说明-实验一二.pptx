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sldIdLst>
    <p:sldId id="1002" r:id="rId4"/>
    <p:sldId id="1008" r:id="rId6"/>
    <p:sldId id="1017" r:id="rId7"/>
    <p:sldId id="1018" r:id="rId8"/>
    <p:sldId id="1006" r:id="rId9"/>
    <p:sldId id="1009" r:id="rId10"/>
    <p:sldId id="1011" r:id="rId11"/>
    <p:sldId id="1026" r:id="rId12"/>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6991"/>
    <a:srgbClr val="92B6CA"/>
    <a:srgbClr val="1A6790"/>
    <a:srgbClr val="1B67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660"/>
  </p:normalViewPr>
  <p:slideViewPr>
    <p:cSldViewPr snapToGrid="0">
      <p:cViewPr varScale="1">
        <p:scale>
          <a:sx n="61" d="100"/>
          <a:sy n="61" d="100"/>
        </p:scale>
        <p:origin x="7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gs" Target="tags/tag8.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F3C807-1D87-4F05-90CC-E538AA7A23F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560B0C-61EF-4FE3-AD9D-DCE9E4DE9E7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这位同学将动物推理系统改成了植物的推理系统，并且可以通过</a:t>
            </a:r>
            <a:r>
              <a:rPr lang="zh-CN" altLang="en-US"/>
              <a:t>输入</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这位同学将动物推理系统改成了植物的推理系统，并且可以通过</a:t>
            </a:r>
            <a:r>
              <a:rPr lang="zh-CN" altLang="en-US"/>
              <a:t>输入</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左边是隶属函数，得到的模糊关系，和根据设定的污泥、油脂量得到的推理结果，也就是模糊向量；右边是模糊决策的</a:t>
            </a:r>
            <a:r>
              <a:rPr lang="zh-CN" altLang="en-US"/>
              <a:t>结果。</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9EF4F518-1F8B-D049-ACC1-BFC2E0E3F1C3}"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9A8EDA4-F126-F84C-8B92-1FCCFBE33012}" type="slidenum">
              <a:rPr kumimoji="1" lang="zh-CN" altLang="en-US" smtClean="0"/>
            </a:fld>
            <a:endParaRPr kumimoji="1"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9EF4F518-1F8B-D049-ACC1-BFC2E0E3F1C3}"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9A8EDA4-F126-F84C-8B92-1FCCFBE33012}" type="slidenum">
              <a:rPr kumimoji="1" lang="zh-CN" altLang="en-US" smtClean="0"/>
            </a:fld>
            <a:endParaRPr kumimoji="1"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9EF4F518-1F8B-D049-ACC1-BFC2E0E3F1C3}"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9A8EDA4-F126-F84C-8B92-1FCCFBE33012}" type="slidenum">
              <a:rPr kumimoji="1" lang="zh-CN" altLang="en-US" smtClean="0"/>
            </a:fld>
            <a:endParaRPr kumimoji="1"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9EF4F518-1F8B-D049-ACC1-BFC2E0E3F1C3}"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9A8EDA4-F126-F84C-8B92-1FCCFBE33012}" type="slidenum">
              <a:rPr kumimoji="1" lang="zh-CN" altLang="en-US" smtClean="0"/>
            </a:fld>
            <a:endParaRPr kumimoji="1"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9EF4F518-1F8B-D049-ACC1-BFC2E0E3F1C3}" type="datetimeFigureOut">
              <a:rPr kumimoji="1" lang="zh-CN" altLang="en-US" smtClean="0"/>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9A8EDA4-F126-F84C-8B92-1FCCFBE33012}" type="slidenum">
              <a:rPr kumimoji="1" lang="zh-CN" altLang="en-US" smtClean="0"/>
            </a:fld>
            <a:endParaRPr kumimoji="1"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9EF4F518-1F8B-D049-ACC1-BFC2E0E3F1C3}" type="datetimeFigureOut">
              <a:rPr kumimoji="1" lang="zh-CN" altLang="en-US" smtClean="0"/>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9A8EDA4-F126-F84C-8B92-1FCCFBE33012}" type="slidenum">
              <a:rPr kumimoji="1" lang="zh-CN" altLang="en-US" smtClean="0"/>
            </a:fld>
            <a:endParaRPr kumimoji="1"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F4F518-1F8B-D049-ACC1-BFC2E0E3F1C3}" type="datetimeFigureOut">
              <a:rPr kumimoji="1" lang="zh-CN" altLang="en-US" smtClean="0"/>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9A8EDA4-F126-F84C-8B92-1FCCFBE33012}" type="slidenum">
              <a:rPr kumimoji="1" lang="zh-CN" altLang="en-US" smtClean="0"/>
            </a:fld>
            <a:endParaRPr kumimoji="1"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9EF4F518-1F8B-D049-ACC1-BFC2E0E3F1C3}"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9A8EDA4-F126-F84C-8B92-1FCCFBE33012}" type="slidenum">
              <a:rPr kumimoji="1" lang="zh-CN" altLang="en-US" smtClean="0"/>
            </a:fld>
            <a:endParaRPr kumimoji="1"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9EF4F518-1F8B-D049-ACC1-BFC2E0E3F1C3}"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9A8EDA4-F126-F84C-8B92-1FCCFBE33012}" type="slidenum">
              <a:rPr kumimoji="1" lang="zh-CN" altLang="en-US" smtClean="0"/>
            </a:fld>
            <a:endParaRPr kumimoji="1"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9EF4F518-1F8B-D049-ACC1-BFC2E0E3F1C3}"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9A8EDA4-F126-F84C-8B92-1FCCFBE33012}" type="slidenum">
              <a:rPr kumimoji="1" lang="zh-CN" altLang="en-US" smtClean="0"/>
            </a:fld>
            <a:endParaRPr kumimoji="1"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9EF4F518-1F8B-D049-ACC1-BFC2E0E3F1C3}"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9A8EDA4-F126-F84C-8B92-1FCCFBE33012}" type="slidenum">
              <a:rPr kumimoji="1" lang="zh-CN" altLang="en-US" smtClean="0"/>
            </a:fld>
            <a:endParaRPr kumimoji="1"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10" name="Rectangle 9"/>
          <p:cNvSpPr/>
          <p:nvPr/>
        </p:nvSpPr>
        <p:spPr>
          <a:xfrm>
            <a:off x="10889129" y="282574"/>
            <a:ext cx="9144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TextBox 11"/>
          <p:cNvSpPr txBox="1"/>
          <p:nvPr/>
        </p:nvSpPr>
        <p:spPr>
          <a:xfrm>
            <a:off x="297581" y="228600"/>
            <a:ext cx="347879" cy="553998"/>
          </a:xfrm>
          <a:prstGeom prst="rect">
            <a:avLst/>
          </a:prstGeom>
          <a:noFill/>
        </p:spPr>
        <p:txBody>
          <a:bodyPr wrap="square" lIns="0" tIns="0" rIns="0" bIns="0" rtlCol="0">
            <a:spAutoFit/>
          </a:bodyPr>
          <a:lstStyle/>
          <a:p>
            <a:r>
              <a:rPr sz="3600" b="1">
                <a:solidFill>
                  <a:schemeClr val="accent1">
                    <a:lumMod val="60000"/>
                    <a:lumOff val="40000"/>
                  </a:schemeClr>
                </a:solidFill>
              </a:rPr>
              <a:t>+</a:t>
            </a:r>
            <a:endParaRPr sz="3600" b="1">
              <a:solidFill>
                <a:schemeClr val="accent1">
                  <a:lumMod val="60000"/>
                  <a:lumOff val="40000"/>
                </a:schemeClr>
              </a:solidFill>
            </a:endParaRPr>
          </a:p>
        </p:txBody>
      </p:sp>
      <p:sp>
        <p:nvSpPr>
          <p:cNvPr id="2" name="Title 1"/>
          <p:cNvSpPr>
            <a:spLocks noGrp="1"/>
          </p:cNvSpPr>
          <p:nvPr>
            <p:ph type="title"/>
          </p:nvPr>
        </p:nvSpPr>
        <p:spPr/>
        <p:txBody>
          <a:bodyPr/>
          <a:lstStyle>
            <a:lvl1pPr>
              <a:defRPr/>
            </a:lvl1pPr>
          </a:lstStyle>
          <a:p>
            <a:r>
              <a:rPr lang="en-US" altLang="zh-CN"/>
              <a:t>Click to edit Master title style</a:t>
            </a:r>
            <a:endParaRPr lang="en-US" altLang="zh-CN"/>
          </a:p>
        </p:txBody>
      </p:sp>
      <p:sp>
        <p:nvSpPr>
          <p:cNvPr id="4" name="Content Placeholder 3"/>
          <p:cNvSpPr>
            <a:spLocks noGrp="1"/>
          </p:cNvSpPr>
          <p:nvPr>
            <p:ph sz="half" idx="2"/>
          </p:nvPr>
        </p:nvSpPr>
        <p:spPr>
          <a:xfrm>
            <a:off x="663388" y="2447366"/>
            <a:ext cx="48768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dirty="0"/>
          </a:p>
        </p:txBody>
      </p:sp>
      <p:sp>
        <p:nvSpPr>
          <p:cNvPr id="6" name="Content Placeholder 5"/>
          <p:cNvSpPr>
            <a:spLocks noGrp="1"/>
          </p:cNvSpPr>
          <p:nvPr>
            <p:ph sz="quarter" idx="4"/>
          </p:nvPr>
        </p:nvSpPr>
        <p:spPr>
          <a:xfrm>
            <a:off x="5866504" y="2447366"/>
            <a:ext cx="48768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dirty="0"/>
          </a:p>
        </p:txBody>
      </p:sp>
      <p:sp>
        <p:nvSpPr>
          <p:cNvPr id="7" name="Date Placeholder 6"/>
          <p:cNvSpPr>
            <a:spLocks noGrp="1"/>
          </p:cNvSpPr>
          <p:nvPr>
            <p:ph type="dt" sz="half" idx="10"/>
          </p:nvPr>
        </p:nvSpPr>
        <p:spPr/>
        <p:txBody>
          <a:bodyPr/>
          <a:lstStyle/>
          <a:p>
            <a:fld id="{4D277EAC-45CD-4686-8391-398DF0989F8F}"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616485F-6397-4E48-865F-E7A57534367E}" type="slidenum">
              <a:rPr lang="zh-CN" altLang="en-US" smtClean="0"/>
            </a:fld>
            <a:endParaRPr lang="zh-CN" altLang="en-US"/>
          </a:p>
        </p:txBody>
      </p:sp>
      <p:sp>
        <p:nvSpPr>
          <p:cNvPr id="3" name="Text Placeholder 2"/>
          <p:cNvSpPr>
            <a:spLocks noGrp="1"/>
          </p:cNvSpPr>
          <p:nvPr>
            <p:ph type="body" idx="1"/>
          </p:nvPr>
        </p:nvSpPr>
        <p:spPr>
          <a:xfrm>
            <a:off x="663388" y="2070848"/>
            <a:ext cx="48768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5" name="Text Placeholder 4"/>
          <p:cNvSpPr>
            <a:spLocks noGrp="1"/>
          </p:cNvSpPr>
          <p:nvPr>
            <p:ph type="body" sz="quarter" idx="3"/>
          </p:nvPr>
        </p:nvSpPr>
        <p:spPr>
          <a:xfrm>
            <a:off x="5866504" y="2070848"/>
            <a:ext cx="48768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Tree>
  </p:cSld>
  <p:clrMapOvr>
    <a:masterClrMapping/>
  </p:clrMapOvr>
  <p:transition advTm="30000"/>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自定义版式">
    <p:spTree>
      <p:nvGrpSpPr>
        <p:cNvPr id="1" name=""/>
        <p:cNvGrpSpPr/>
        <p:nvPr/>
      </p:nvGrpSpPr>
      <p:grpSpPr>
        <a:xfrm>
          <a:off x="0" y="0"/>
          <a:ext cx="0" cy="0"/>
          <a:chOff x="0" y="0"/>
          <a:chExt cx="0" cy="0"/>
        </a:xfrm>
      </p:grpSpPr>
      <p:sp>
        <p:nvSpPr>
          <p:cNvPr id="3" name="矩形 2"/>
          <p:cNvSpPr/>
          <p:nvPr/>
        </p:nvSpPr>
        <p:spPr>
          <a:xfrm rot="10800000">
            <a:off x="7" y="3"/>
            <a:ext cx="6076711" cy="101791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矩形 3"/>
          <p:cNvSpPr/>
          <p:nvPr/>
        </p:nvSpPr>
        <p:spPr>
          <a:xfrm>
            <a:off x="6076709" y="3"/>
            <a:ext cx="6115291" cy="101791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userDrawn="1"/>
        </p:nvSpPr>
        <p:spPr>
          <a:xfrm rot="10800000">
            <a:off x="7" y="3"/>
            <a:ext cx="6076711" cy="101791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userDrawn="1"/>
        </p:nvSpPr>
        <p:spPr>
          <a:xfrm>
            <a:off x="6076709" y="3"/>
            <a:ext cx="6115291" cy="101791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48F63A3B-78C7-47BE-AE5E-E10140E0464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48F63A3B-78C7-47BE-AE5E-E10140E0464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C764DE79-268F-4C1A-8933-263129D2AF90}"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48F63A3B-78C7-47BE-AE5E-E10140E0464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solidFill>
                  <a:prstClr val="black">
                    <a:tint val="75000"/>
                  </a:prstClr>
                </a:solidFill>
              </a:rPr>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48F63A3B-78C7-47BE-AE5E-E10140E0464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solidFill>
                  <a:prstClr val="black">
                    <a:tint val="75000"/>
                  </a:prstClr>
                </a:solidFill>
              </a:rPr>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48F63A3B-78C7-47BE-AE5E-E10140E0464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solidFill>
                  <a:prstClr val="black">
                    <a:tint val="75000"/>
                  </a:prstClr>
                </a:solidFill>
              </a:rPr>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48F63A3B-78C7-47BE-AE5E-E10140E0464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solidFill>
                  <a:prstClr val="black">
                    <a:tint val="75000"/>
                  </a:prstClr>
                </a:solidFill>
              </a:rPr>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48F63A3B-78C7-47BE-AE5E-E10140E0464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smtClean="0">
                <a:solidFill>
                  <a:prstClr val="black">
                    <a:tint val="75000"/>
                  </a:prstClr>
                </a:solidFill>
              </a:rPr>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48F63A3B-78C7-47BE-AE5E-E10140E0464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smtClean="0">
                <a:solidFill>
                  <a:prstClr val="black">
                    <a:tint val="75000"/>
                  </a:prstClr>
                </a:solidFill>
              </a:rPr>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48F63A3B-78C7-47BE-AE5E-E10140E0464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48F63A3B-78C7-47BE-AE5E-E10140E0464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48F63A3B-78C7-47BE-AE5E-E10140E0464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3" name="矩形 2"/>
          <p:cNvSpPr/>
          <p:nvPr userDrawn="1"/>
        </p:nvSpPr>
        <p:spPr>
          <a:xfrm rot="10800000">
            <a:off x="1" y="2"/>
            <a:ext cx="6076711" cy="101791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矩形 3"/>
          <p:cNvSpPr/>
          <p:nvPr userDrawn="1"/>
        </p:nvSpPr>
        <p:spPr>
          <a:xfrm>
            <a:off x="6076709" y="2"/>
            <a:ext cx="6115291" cy="101791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
        <p:nvSpPr>
          <p:cNvPr id="4" name="矩形 3"/>
          <p:cNvSpPr/>
          <p:nvPr userDrawn="1"/>
        </p:nvSpPr>
        <p:spPr>
          <a:xfrm>
            <a:off x="-2" y="0"/>
            <a:ext cx="6115291" cy="6858000"/>
          </a:xfrm>
          <a:prstGeom prst="rect">
            <a:avLst/>
          </a:prstGeom>
          <a:gradFill flip="none" rotWithShape="1">
            <a:gsLst>
              <a:gs pos="0">
                <a:srgbClr val="163048"/>
              </a:gs>
              <a:gs pos="100000">
                <a:srgbClr val="0A172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矩形 2"/>
          <p:cNvSpPr/>
          <p:nvPr userDrawn="1"/>
        </p:nvSpPr>
        <p:spPr>
          <a:xfrm rot="10800000">
            <a:off x="6115290" y="0"/>
            <a:ext cx="6076711" cy="6858000"/>
          </a:xfrm>
          <a:prstGeom prst="rect">
            <a:avLst/>
          </a:prstGeom>
          <a:gradFill flip="none" rotWithShape="1">
            <a:gsLst>
              <a:gs pos="0">
                <a:srgbClr val="163048"/>
              </a:gs>
              <a:gs pos="100000">
                <a:srgbClr val="0A172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矩形 3"/>
          <p:cNvSpPr/>
          <p:nvPr userDrawn="1"/>
        </p:nvSpPr>
        <p:spPr>
          <a:xfrm>
            <a:off x="-2" y="0"/>
            <a:ext cx="6115291" cy="6858000"/>
          </a:xfrm>
          <a:prstGeom prst="rect">
            <a:avLst/>
          </a:prstGeom>
          <a:gradFill flip="none" rotWithShape="1">
            <a:gsLst>
              <a:gs pos="0">
                <a:srgbClr val="163048"/>
              </a:gs>
              <a:gs pos="100000">
                <a:srgbClr val="0A172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绪论">
    <p:spTree>
      <p:nvGrpSpPr>
        <p:cNvPr id="1" name=""/>
        <p:cNvGrpSpPr/>
        <p:nvPr/>
      </p:nvGrpSpPr>
      <p:grpSpPr>
        <a:xfrm>
          <a:off x="0" y="0"/>
          <a:ext cx="0" cy="0"/>
          <a:chOff x="0" y="0"/>
          <a:chExt cx="0" cy="0"/>
        </a:xfrm>
      </p:grpSpPr>
      <p:cxnSp>
        <p:nvCxnSpPr>
          <p:cNvPr id="13" name="直接连接符 12"/>
          <p:cNvCxnSpPr/>
          <p:nvPr userDrawn="1"/>
        </p:nvCxnSpPr>
        <p:spPr>
          <a:xfrm flipV="1">
            <a:off x="879895" y="1268763"/>
            <a:ext cx="10221152" cy="252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直角三角形 17"/>
          <p:cNvSpPr/>
          <p:nvPr userDrawn="1"/>
        </p:nvSpPr>
        <p:spPr>
          <a:xfrm flipH="1">
            <a:off x="11277601" y="6019803"/>
            <a:ext cx="950295" cy="853427"/>
          </a:xfrm>
          <a:prstGeom prst="rtTriangle">
            <a:avLst/>
          </a:prstGeom>
          <a:solidFill>
            <a:srgbClr val="15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研究方法">
    <p:spTree>
      <p:nvGrpSpPr>
        <p:cNvPr id="1" name=""/>
        <p:cNvGrpSpPr/>
        <p:nvPr/>
      </p:nvGrpSpPr>
      <p:grpSpPr>
        <a:xfrm>
          <a:off x="0" y="0"/>
          <a:ext cx="0" cy="0"/>
          <a:chOff x="0" y="0"/>
          <a:chExt cx="0" cy="0"/>
        </a:xfrm>
      </p:grpSpPr>
      <p:sp>
        <p:nvSpPr>
          <p:cNvPr id="7" name="矩形 6"/>
          <p:cNvSpPr/>
          <p:nvPr userDrawn="1"/>
        </p:nvSpPr>
        <p:spPr>
          <a:xfrm>
            <a:off x="0" y="0"/>
            <a:ext cx="169168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aphicFrame>
        <p:nvGraphicFramePr>
          <p:cNvPr id="8" name="表格 7"/>
          <p:cNvGraphicFramePr>
            <a:graphicFrameLocks noGrp="1"/>
          </p:cNvGraphicFramePr>
          <p:nvPr userDrawn="1"/>
        </p:nvGraphicFramePr>
        <p:xfrm>
          <a:off x="0" y="1268760"/>
          <a:ext cx="1691680" cy="4752000"/>
        </p:xfrm>
        <a:graphic>
          <a:graphicData uri="http://schemas.openxmlformats.org/drawingml/2006/table">
            <a:tbl>
              <a:tblPr>
                <a:tableStyleId>{2D5ABB26-0587-4C30-8999-92F81FD0307C}</a:tableStyleId>
              </a:tblPr>
              <a:tblGrid>
                <a:gridCol w="1691680"/>
              </a:tblGrid>
              <a:tr h="792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endPar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研究方法与思路</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关键技术与难点</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成果与应用</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相关建议</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论文总结</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cxnSp>
        <p:nvCxnSpPr>
          <p:cNvPr id="13" name="直接连接符 12"/>
          <p:cNvCxnSpPr/>
          <p:nvPr userDrawn="1"/>
        </p:nvCxnSpPr>
        <p:spPr>
          <a:xfrm>
            <a:off x="2788986"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userDrawn="1"/>
        </p:nvGrpSpPr>
        <p:grpSpPr>
          <a:xfrm>
            <a:off x="0" y="2060848"/>
            <a:ext cx="1691680" cy="788186"/>
            <a:chOff x="0" y="1272662"/>
            <a:chExt cx="1691680" cy="788186"/>
          </a:xfrm>
        </p:grpSpPr>
        <p:sp>
          <p:nvSpPr>
            <p:cNvPr id="15" name="矩形 14"/>
            <p:cNvSpPr/>
            <p:nvPr userDrawn="1"/>
          </p:nvSpPr>
          <p:spPr>
            <a:xfrm>
              <a:off x="0" y="1272662"/>
              <a:ext cx="1691680" cy="788186"/>
            </a:xfrm>
            <a:prstGeom prst="rect">
              <a:avLst/>
            </a:prstGeom>
            <a:solidFill>
              <a:srgbClr val="15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prstClr val="white"/>
                  </a:solidFill>
                  <a:latin typeface="微软雅黑" panose="020B0503020204020204" pitchFamily="34" charset="-122"/>
                  <a:ea typeface="微软雅黑" panose="020B0503020204020204" pitchFamily="34" charset="-122"/>
                </a:rPr>
                <a:t>研究方法与思路</a:t>
              </a:r>
              <a:endParaRPr lang="zh-CN" altLang="en-US" sz="1600" dirty="0">
                <a:solidFill>
                  <a:prstClr val="white"/>
                </a:solidFill>
                <a:latin typeface="微软雅黑" panose="020B0503020204020204" pitchFamily="34" charset="-122"/>
                <a:ea typeface="微软雅黑" panose="020B0503020204020204" pitchFamily="34" charset="-122"/>
              </a:endParaRPr>
            </a:p>
          </p:txBody>
        </p:sp>
        <p:sp>
          <p:nvSpPr>
            <p:cNvPr id="17" name="等腰三角形 16"/>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2" name="直角三角形 11"/>
          <p:cNvSpPr/>
          <p:nvPr userDrawn="1"/>
        </p:nvSpPr>
        <p:spPr>
          <a:xfrm flipH="1">
            <a:off x="11277601" y="6019803"/>
            <a:ext cx="950295" cy="853427"/>
          </a:xfrm>
          <a:prstGeom prst="rtTriangle">
            <a:avLst/>
          </a:prstGeom>
          <a:solidFill>
            <a:srgbClr val="15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8" name="五边形 17"/>
          <p:cNvSpPr/>
          <p:nvPr userDrawn="1"/>
        </p:nvSpPr>
        <p:spPr>
          <a:xfrm flipH="1">
            <a:off x="11382167" y="6369172"/>
            <a:ext cx="986607" cy="504056"/>
          </a:xfrm>
          <a:prstGeom prst="homePlate">
            <a:avLst/>
          </a:prstGeom>
          <a:no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fld id="{170C0C04-E408-48A9-82A4-3716296300DE}" type="slidenum">
              <a:rPr lang="zh-CN" altLang="en-US" smtClean="0">
                <a:solidFill>
                  <a:prstClr val="white"/>
                </a:solidFill>
                <a:latin typeface="Arial Unicode MS" panose="020B0604020202020204" pitchFamily="34" charset="-122"/>
                <a:ea typeface="Arial Unicode MS" panose="020B0604020202020204" pitchFamily="34" charset="-122"/>
                <a:cs typeface="Arial Unicode MS" panose="020B0604020202020204" pitchFamily="34" charset="-122"/>
              </a:rPr>
            </a:fld>
            <a:endParaRPr lang="zh-CN" altLang="en-US" kern="0" dirty="0">
              <a:solidFill>
                <a:sysClr val="window" lastClr="FFFFFF"/>
              </a:solidFill>
              <a:ea typeface="宋体" panose="02010600030101010101" pitchFamily="2" charset="-122"/>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关键技术">
    <p:spTree>
      <p:nvGrpSpPr>
        <p:cNvPr id="1" name=""/>
        <p:cNvGrpSpPr/>
        <p:nvPr/>
      </p:nvGrpSpPr>
      <p:grpSpPr>
        <a:xfrm>
          <a:off x="0" y="0"/>
          <a:ext cx="0" cy="0"/>
          <a:chOff x="0" y="0"/>
          <a:chExt cx="0" cy="0"/>
        </a:xfrm>
      </p:grpSpPr>
      <p:sp>
        <p:nvSpPr>
          <p:cNvPr id="7" name="矩形 6"/>
          <p:cNvSpPr/>
          <p:nvPr userDrawn="1"/>
        </p:nvSpPr>
        <p:spPr>
          <a:xfrm>
            <a:off x="0" y="0"/>
            <a:ext cx="169168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aphicFrame>
        <p:nvGraphicFramePr>
          <p:cNvPr id="8" name="表格 7"/>
          <p:cNvGraphicFramePr>
            <a:graphicFrameLocks noGrp="1"/>
          </p:cNvGraphicFramePr>
          <p:nvPr userDrawn="1"/>
        </p:nvGraphicFramePr>
        <p:xfrm>
          <a:off x="0" y="1268760"/>
          <a:ext cx="1691680" cy="4752000"/>
        </p:xfrm>
        <a:graphic>
          <a:graphicData uri="http://schemas.openxmlformats.org/drawingml/2006/table">
            <a:tbl>
              <a:tblPr>
                <a:tableStyleId>{2D5ABB26-0587-4C30-8999-92F81FD0307C}</a:tableStyleId>
              </a:tblPr>
              <a:tblGrid>
                <a:gridCol w="1691680"/>
              </a:tblGrid>
              <a:tr h="792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endPar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研究方法与思路</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关键技术与难点</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成果与应用</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相关建议</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论文总结</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cxnSp>
        <p:nvCxnSpPr>
          <p:cNvPr id="13" name="直接连接符 12"/>
          <p:cNvCxnSpPr/>
          <p:nvPr userDrawn="1"/>
        </p:nvCxnSpPr>
        <p:spPr>
          <a:xfrm>
            <a:off x="2788986"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userDrawn="1"/>
        </p:nvGrpSpPr>
        <p:grpSpPr>
          <a:xfrm>
            <a:off x="0" y="2854273"/>
            <a:ext cx="1691680" cy="788186"/>
            <a:chOff x="0" y="1272662"/>
            <a:chExt cx="1691680" cy="788186"/>
          </a:xfrm>
        </p:grpSpPr>
        <p:sp>
          <p:nvSpPr>
            <p:cNvPr id="15" name="矩形 14"/>
            <p:cNvSpPr/>
            <p:nvPr userDrawn="1"/>
          </p:nvSpPr>
          <p:spPr>
            <a:xfrm>
              <a:off x="0" y="1272662"/>
              <a:ext cx="1691680" cy="788186"/>
            </a:xfrm>
            <a:prstGeom prst="rect">
              <a:avLst/>
            </a:prstGeom>
            <a:solidFill>
              <a:srgbClr val="15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zh-CN" altLang="en-US" sz="1600" dirty="0">
                  <a:solidFill>
                    <a:prstClr val="white"/>
                  </a:solidFill>
                  <a:latin typeface="微软雅黑" panose="020B0503020204020204" pitchFamily="34" charset="-122"/>
                  <a:ea typeface="微软雅黑" panose="020B0503020204020204" pitchFamily="34" charset="-122"/>
                </a:rPr>
                <a:t>关键技术与难点</a:t>
              </a:r>
              <a:endParaRPr lang="zh-CN" altLang="en-US" sz="1600" dirty="0">
                <a:solidFill>
                  <a:prstClr val="white"/>
                </a:solidFill>
                <a:latin typeface="微软雅黑" panose="020B0503020204020204" pitchFamily="34" charset="-122"/>
                <a:ea typeface="微软雅黑" panose="020B0503020204020204" pitchFamily="34" charset="-122"/>
              </a:endParaRPr>
            </a:p>
          </p:txBody>
        </p:sp>
        <p:sp>
          <p:nvSpPr>
            <p:cNvPr id="17" name="等腰三角形 16"/>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0" name="直角三角形 9"/>
          <p:cNvSpPr/>
          <p:nvPr userDrawn="1"/>
        </p:nvSpPr>
        <p:spPr>
          <a:xfrm flipH="1">
            <a:off x="11277601" y="6019803"/>
            <a:ext cx="950295" cy="853427"/>
          </a:xfrm>
          <a:prstGeom prst="rtTriangle">
            <a:avLst/>
          </a:prstGeom>
          <a:solidFill>
            <a:srgbClr val="15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五边形 10"/>
          <p:cNvSpPr/>
          <p:nvPr userDrawn="1"/>
        </p:nvSpPr>
        <p:spPr>
          <a:xfrm flipH="1">
            <a:off x="11382167" y="6369172"/>
            <a:ext cx="986607" cy="504056"/>
          </a:xfrm>
          <a:prstGeom prst="homePlate">
            <a:avLst/>
          </a:prstGeom>
          <a:no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fld id="{170C0C04-E408-48A9-82A4-3716296300DE}" type="slidenum">
              <a:rPr lang="zh-CN" altLang="en-US" smtClean="0">
                <a:solidFill>
                  <a:prstClr val="white"/>
                </a:solidFill>
                <a:latin typeface="Arial Unicode MS" panose="020B0604020202020204" pitchFamily="34" charset="-122"/>
                <a:ea typeface="Arial Unicode MS" panose="020B0604020202020204" pitchFamily="34" charset="-122"/>
                <a:cs typeface="Arial Unicode MS" panose="020B0604020202020204" pitchFamily="34" charset="-122"/>
              </a:rPr>
            </a:fld>
            <a:endParaRPr lang="zh-CN" altLang="en-US" kern="0" dirty="0">
              <a:solidFill>
                <a:sysClr val="window" lastClr="FFFFFF"/>
              </a:solidFill>
              <a:ea typeface="宋体" panose="02010600030101010101" pitchFamily="2" charset="-122"/>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成果与应用">
    <p:spTree>
      <p:nvGrpSpPr>
        <p:cNvPr id="1" name=""/>
        <p:cNvGrpSpPr/>
        <p:nvPr/>
      </p:nvGrpSpPr>
      <p:grpSpPr>
        <a:xfrm>
          <a:off x="0" y="0"/>
          <a:ext cx="0" cy="0"/>
          <a:chOff x="0" y="0"/>
          <a:chExt cx="0" cy="0"/>
        </a:xfrm>
      </p:grpSpPr>
      <p:sp>
        <p:nvSpPr>
          <p:cNvPr id="7" name="矩形 6"/>
          <p:cNvSpPr/>
          <p:nvPr userDrawn="1"/>
        </p:nvSpPr>
        <p:spPr>
          <a:xfrm>
            <a:off x="0" y="0"/>
            <a:ext cx="169168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aphicFrame>
        <p:nvGraphicFramePr>
          <p:cNvPr id="8" name="表格 7"/>
          <p:cNvGraphicFramePr>
            <a:graphicFrameLocks noGrp="1"/>
          </p:cNvGraphicFramePr>
          <p:nvPr userDrawn="1"/>
        </p:nvGraphicFramePr>
        <p:xfrm>
          <a:off x="0" y="1268760"/>
          <a:ext cx="1691680" cy="4752000"/>
        </p:xfrm>
        <a:graphic>
          <a:graphicData uri="http://schemas.openxmlformats.org/drawingml/2006/table">
            <a:tbl>
              <a:tblPr>
                <a:tableStyleId>{2D5ABB26-0587-4C30-8999-92F81FD0307C}</a:tableStyleId>
              </a:tblPr>
              <a:tblGrid>
                <a:gridCol w="1691680"/>
              </a:tblGrid>
              <a:tr h="792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endPar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研究方法与思路</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关键技术与难点</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成果与应用</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相关建议</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论文总结</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cxnSp>
        <p:nvCxnSpPr>
          <p:cNvPr id="13" name="直接连接符 12"/>
          <p:cNvCxnSpPr/>
          <p:nvPr userDrawn="1"/>
        </p:nvCxnSpPr>
        <p:spPr>
          <a:xfrm>
            <a:off x="2788986"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0" y="3648260"/>
            <a:ext cx="1691680" cy="788186"/>
            <a:chOff x="0" y="1272662"/>
            <a:chExt cx="1691680" cy="788186"/>
          </a:xfrm>
        </p:grpSpPr>
        <p:sp>
          <p:nvSpPr>
            <p:cNvPr id="11" name="矩形 10"/>
            <p:cNvSpPr/>
            <p:nvPr userDrawn="1"/>
          </p:nvSpPr>
          <p:spPr>
            <a:xfrm>
              <a:off x="0" y="1272662"/>
              <a:ext cx="1691680" cy="788186"/>
            </a:xfrm>
            <a:prstGeom prst="rect">
              <a:avLst/>
            </a:prstGeom>
            <a:solidFill>
              <a:srgbClr val="15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zh-CN" altLang="en-US" sz="1600" dirty="0">
                  <a:solidFill>
                    <a:prstClr val="white"/>
                  </a:solidFill>
                  <a:latin typeface="微软雅黑" panose="020B0503020204020204" pitchFamily="34" charset="-122"/>
                  <a:ea typeface="微软雅黑" panose="020B0503020204020204" pitchFamily="34" charset="-122"/>
                </a:rPr>
                <a:t>成果与应用</a:t>
              </a:r>
              <a:endParaRPr lang="zh-CN" altLang="en-US" sz="1600" dirty="0">
                <a:solidFill>
                  <a:prstClr val="white"/>
                </a:solidFill>
                <a:latin typeface="微软雅黑" panose="020B0503020204020204" pitchFamily="34" charset="-122"/>
                <a:ea typeface="微软雅黑" panose="020B0503020204020204" pitchFamily="34" charset="-122"/>
              </a:endParaRPr>
            </a:p>
          </p:txBody>
        </p:sp>
        <p:sp>
          <p:nvSpPr>
            <p:cNvPr id="12" name="等腰三角形 11"/>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4" name="直角三角形 13"/>
          <p:cNvSpPr/>
          <p:nvPr userDrawn="1"/>
        </p:nvSpPr>
        <p:spPr>
          <a:xfrm flipH="1">
            <a:off x="11277601" y="6019803"/>
            <a:ext cx="950295" cy="853427"/>
          </a:xfrm>
          <a:prstGeom prst="rtTriangle">
            <a:avLst/>
          </a:prstGeom>
          <a:solidFill>
            <a:srgbClr val="15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5" name="五边形 14"/>
          <p:cNvSpPr/>
          <p:nvPr userDrawn="1"/>
        </p:nvSpPr>
        <p:spPr>
          <a:xfrm flipH="1">
            <a:off x="11382167" y="6369172"/>
            <a:ext cx="986607" cy="504056"/>
          </a:xfrm>
          <a:prstGeom prst="homePlate">
            <a:avLst/>
          </a:prstGeom>
          <a:no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fld id="{170C0C04-E408-48A9-82A4-3716296300DE}" type="slidenum">
              <a:rPr lang="zh-CN" altLang="en-US" smtClean="0">
                <a:solidFill>
                  <a:prstClr val="white"/>
                </a:solidFill>
                <a:latin typeface="Arial Unicode MS" panose="020B0604020202020204" pitchFamily="34" charset="-122"/>
                <a:ea typeface="Arial Unicode MS" panose="020B0604020202020204" pitchFamily="34" charset="-122"/>
                <a:cs typeface="Arial Unicode MS" panose="020B0604020202020204" pitchFamily="34" charset="-122"/>
              </a:rPr>
            </a:fld>
            <a:endParaRPr lang="zh-CN" altLang="en-US" kern="0" dirty="0">
              <a:solidFill>
                <a:sysClr val="window" lastClr="FFFFFF"/>
              </a:solidFill>
              <a:ea typeface="宋体" panose="02010600030101010101" pitchFamily="2" charset="-122"/>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相关建议">
    <p:spTree>
      <p:nvGrpSpPr>
        <p:cNvPr id="1" name=""/>
        <p:cNvGrpSpPr/>
        <p:nvPr/>
      </p:nvGrpSpPr>
      <p:grpSpPr>
        <a:xfrm>
          <a:off x="0" y="0"/>
          <a:ext cx="0" cy="0"/>
          <a:chOff x="0" y="0"/>
          <a:chExt cx="0" cy="0"/>
        </a:xfrm>
      </p:grpSpPr>
      <p:sp>
        <p:nvSpPr>
          <p:cNvPr id="7" name="矩形 6"/>
          <p:cNvSpPr/>
          <p:nvPr userDrawn="1"/>
        </p:nvSpPr>
        <p:spPr>
          <a:xfrm>
            <a:off x="0" y="0"/>
            <a:ext cx="169168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aphicFrame>
        <p:nvGraphicFramePr>
          <p:cNvPr id="8" name="表格 7"/>
          <p:cNvGraphicFramePr>
            <a:graphicFrameLocks noGrp="1"/>
          </p:cNvGraphicFramePr>
          <p:nvPr userDrawn="1"/>
        </p:nvGraphicFramePr>
        <p:xfrm>
          <a:off x="0" y="1268760"/>
          <a:ext cx="1691680" cy="4752000"/>
        </p:xfrm>
        <a:graphic>
          <a:graphicData uri="http://schemas.openxmlformats.org/drawingml/2006/table">
            <a:tbl>
              <a:tblPr>
                <a:tableStyleId>{2D5ABB26-0587-4C30-8999-92F81FD0307C}</a:tableStyleId>
              </a:tblPr>
              <a:tblGrid>
                <a:gridCol w="1691680"/>
              </a:tblGrid>
              <a:tr h="792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endPar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研究方法与思路</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关键技术与难点</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研究成果与应用</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相关建议</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论文总结</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cxnSp>
        <p:nvCxnSpPr>
          <p:cNvPr id="13" name="直接连接符 12"/>
          <p:cNvCxnSpPr/>
          <p:nvPr userDrawn="1"/>
        </p:nvCxnSpPr>
        <p:spPr>
          <a:xfrm>
            <a:off x="2788986"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userDrawn="1"/>
        </p:nvGrpSpPr>
        <p:grpSpPr>
          <a:xfrm>
            <a:off x="0" y="4439981"/>
            <a:ext cx="1691680" cy="788186"/>
            <a:chOff x="0" y="1272662"/>
            <a:chExt cx="1691680" cy="788186"/>
          </a:xfrm>
        </p:grpSpPr>
        <p:sp>
          <p:nvSpPr>
            <p:cNvPr id="15" name="矩形 14"/>
            <p:cNvSpPr/>
            <p:nvPr userDrawn="1"/>
          </p:nvSpPr>
          <p:spPr>
            <a:xfrm>
              <a:off x="0" y="1272662"/>
              <a:ext cx="1691680" cy="788186"/>
            </a:xfrm>
            <a:prstGeom prst="rect">
              <a:avLst/>
            </a:prstGeom>
            <a:solidFill>
              <a:srgbClr val="15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prstClr val="white"/>
                  </a:solidFill>
                  <a:latin typeface="微软雅黑" panose="020B0503020204020204" pitchFamily="34" charset="-122"/>
                  <a:ea typeface="微软雅黑" panose="020B0503020204020204" pitchFamily="34" charset="-122"/>
                </a:rPr>
                <a:t>相关建议</a:t>
              </a:r>
              <a:endParaRPr lang="zh-CN" altLang="en-US" sz="1600" dirty="0">
                <a:solidFill>
                  <a:prstClr val="white"/>
                </a:solidFill>
                <a:latin typeface="微软雅黑" panose="020B0503020204020204" pitchFamily="34" charset="-122"/>
                <a:ea typeface="微软雅黑" panose="020B0503020204020204" pitchFamily="34" charset="-122"/>
              </a:endParaRPr>
            </a:p>
          </p:txBody>
        </p:sp>
        <p:sp>
          <p:nvSpPr>
            <p:cNvPr id="17" name="等腰三角形 16"/>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0" name="直角三角形 9"/>
          <p:cNvSpPr/>
          <p:nvPr userDrawn="1"/>
        </p:nvSpPr>
        <p:spPr>
          <a:xfrm flipH="1">
            <a:off x="11277601" y="6019803"/>
            <a:ext cx="950295" cy="853427"/>
          </a:xfrm>
          <a:prstGeom prst="rtTriangle">
            <a:avLst/>
          </a:prstGeom>
          <a:solidFill>
            <a:srgbClr val="15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五边形 10"/>
          <p:cNvSpPr/>
          <p:nvPr userDrawn="1"/>
        </p:nvSpPr>
        <p:spPr>
          <a:xfrm flipH="1">
            <a:off x="11382167" y="6369172"/>
            <a:ext cx="986607" cy="504056"/>
          </a:xfrm>
          <a:prstGeom prst="homePlate">
            <a:avLst/>
          </a:prstGeom>
          <a:no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fld id="{170C0C04-E408-48A9-82A4-3716296300DE}" type="slidenum">
              <a:rPr lang="zh-CN" altLang="en-US" smtClean="0">
                <a:solidFill>
                  <a:prstClr val="white"/>
                </a:solidFill>
                <a:latin typeface="Arial Unicode MS" panose="020B0604020202020204" pitchFamily="34" charset="-122"/>
                <a:ea typeface="Arial Unicode MS" panose="020B0604020202020204" pitchFamily="34" charset="-122"/>
                <a:cs typeface="Arial Unicode MS" panose="020B0604020202020204" pitchFamily="34" charset="-122"/>
              </a:rPr>
            </a:fld>
            <a:endParaRPr lang="zh-CN" altLang="en-US" kern="0" dirty="0">
              <a:solidFill>
                <a:sysClr val="window" lastClr="FFFFFF"/>
              </a:solidFill>
              <a:ea typeface="宋体" panose="02010600030101010101" pitchFamily="2" charset="-122"/>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论文总结">
    <p:spTree>
      <p:nvGrpSpPr>
        <p:cNvPr id="1" name=""/>
        <p:cNvGrpSpPr/>
        <p:nvPr/>
      </p:nvGrpSpPr>
      <p:grpSpPr>
        <a:xfrm>
          <a:off x="0" y="0"/>
          <a:ext cx="0" cy="0"/>
          <a:chOff x="0" y="0"/>
          <a:chExt cx="0" cy="0"/>
        </a:xfrm>
      </p:grpSpPr>
      <p:sp>
        <p:nvSpPr>
          <p:cNvPr id="7" name="矩形 6"/>
          <p:cNvSpPr/>
          <p:nvPr userDrawn="1"/>
        </p:nvSpPr>
        <p:spPr>
          <a:xfrm>
            <a:off x="0" y="0"/>
            <a:ext cx="169168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aphicFrame>
        <p:nvGraphicFramePr>
          <p:cNvPr id="8" name="表格 7"/>
          <p:cNvGraphicFramePr>
            <a:graphicFrameLocks noGrp="1"/>
          </p:cNvGraphicFramePr>
          <p:nvPr userDrawn="1"/>
        </p:nvGraphicFramePr>
        <p:xfrm>
          <a:off x="0" y="1268760"/>
          <a:ext cx="1691680" cy="4752000"/>
        </p:xfrm>
        <a:graphic>
          <a:graphicData uri="http://schemas.openxmlformats.org/drawingml/2006/table">
            <a:tbl>
              <a:tblPr>
                <a:tableStyleId>{2D5ABB26-0587-4C30-8999-92F81FD0307C}</a:tableStyleId>
              </a:tblPr>
              <a:tblGrid>
                <a:gridCol w="1691680"/>
              </a:tblGrid>
              <a:tr h="792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endPar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研究方法与思路</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关键技术与难点</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研究成果与应用</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相关建议</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论文总结</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cxnSp>
        <p:nvCxnSpPr>
          <p:cNvPr id="13" name="直接连接符 12"/>
          <p:cNvCxnSpPr/>
          <p:nvPr userDrawn="1"/>
        </p:nvCxnSpPr>
        <p:spPr>
          <a:xfrm>
            <a:off x="2788986" y="1268760"/>
            <a:ext cx="831206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userDrawn="1"/>
        </p:nvGrpSpPr>
        <p:grpSpPr>
          <a:xfrm>
            <a:off x="0" y="5231615"/>
            <a:ext cx="1691680" cy="788186"/>
            <a:chOff x="0" y="1272662"/>
            <a:chExt cx="1691680" cy="788186"/>
          </a:xfrm>
        </p:grpSpPr>
        <p:sp>
          <p:nvSpPr>
            <p:cNvPr id="15" name="矩形 14"/>
            <p:cNvSpPr/>
            <p:nvPr userDrawn="1"/>
          </p:nvSpPr>
          <p:spPr>
            <a:xfrm>
              <a:off x="0" y="1272662"/>
              <a:ext cx="1691680" cy="788186"/>
            </a:xfrm>
            <a:prstGeom prst="rect">
              <a:avLst/>
            </a:prstGeom>
            <a:solidFill>
              <a:srgbClr val="15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prstClr val="white"/>
                  </a:solidFill>
                  <a:latin typeface="微软雅黑" panose="020B0503020204020204" pitchFamily="34" charset="-122"/>
                  <a:ea typeface="微软雅黑" panose="020B0503020204020204" pitchFamily="34" charset="-122"/>
                </a:rPr>
                <a:t>论文总结</a:t>
              </a:r>
              <a:endParaRPr lang="zh-CN" altLang="en-US" sz="1600" dirty="0">
                <a:solidFill>
                  <a:prstClr val="white"/>
                </a:solidFill>
                <a:latin typeface="微软雅黑" panose="020B0503020204020204" pitchFamily="34" charset="-122"/>
                <a:ea typeface="微软雅黑" panose="020B0503020204020204" pitchFamily="34" charset="-122"/>
              </a:endParaRPr>
            </a:p>
          </p:txBody>
        </p:sp>
        <p:sp>
          <p:nvSpPr>
            <p:cNvPr id="17" name="等腰三角形 16"/>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0" name="直角三角形 9"/>
          <p:cNvSpPr/>
          <p:nvPr userDrawn="1"/>
        </p:nvSpPr>
        <p:spPr>
          <a:xfrm flipH="1">
            <a:off x="11277601" y="6019803"/>
            <a:ext cx="950295" cy="853427"/>
          </a:xfrm>
          <a:prstGeom prst="rtTriangle">
            <a:avLst/>
          </a:prstGeom>
          <a:solidFill>
            <a:srgbClr val="15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五边形 10"/>
          <p:cNvSpPr/>
          <p:nvPr userDrawn="1"/>
        </p:nvSpPr>
        <p:spPr>
          <a:xfrm flipH="1">
            <a:off x="11382167" y="6369172"/>
            <a:ext cx="986607" cy="504056"/>
          </a:xfrm>
          <a:prstGeom prst="homePlate">
            <a:avLst/>
          </a:prstGeom>
          <a:no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fld id="{170C0C04-E408-48A9-82A4-3716296300DE}" type="slidenum">
              <a:rPr lang="zh-CN" altLang="en-US" smtClean="0">
                <a:solidFill>
                  <a:prstClr val="white"/>
                </a:solidFill>
                <a:latin typeface="Arial Unicode MS" panose="020B0604020202020204" pitchFamily="34" charset="-122"/>
                <a:ea typeface="Arial Unicode MS" panose="020B0604020202020204" pitchFamily="34" charset="-122"/>
                <a:cs typeface="Arial Unicode MS" panose="020B0604020202020204" pitchFamily="34" charset="-122"/>
              </a:rPr>
            </a:fld>
            <a:endParaRPr lang="zh-CN" altLang="en-US" kern="0" dirty="0">
              <a:solidFill>
                <a:sysClr val="window" lastClr="FFFFFF"/>
              </a:solidFill>
              <a:ea typeface="宋体" panose="02010600030101010101" pitchFamily="2" charset="-122"/>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矩形 2"/>
          <p:cNvSpPr/>
          <p:nvPr userDrawn="1"/>
        </p:nvSpPr>
        <p:spPr>
          <a:xfrm>
            <a:off x="0" y="0"/>
            <a:ext cx="12192000" cy="190500"/>
          </a:xfrm>
          <a:prstGeom prst="rect">
            <a:avLst/>
          </a:prstGeom>
          <a:solidFill>
            <a:srgbClr val="B920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endParaRPr>
          </a:p>
        </p:txBody>
      </p:sp>
      <p:sp>
        <p:nvSpPr>
          <p:cNvPr id="4" name="矩形 3"/>
          <p:cNvSpPr/>
          <p:nvPr userDrawn="1"/>
        </p:nvSpPr>
        <p:spPr>
          <a:xfrm>
            <a:off x="533403" y="0"/>
            <a:ext cx="209548" cy="76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prstClr val="white"/>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3" Type="http://schemas.openxmlformats.org/officeDocument/2006/relationships/theme" Target="../theme/theme2.xml"/><Relationship Id="rId22" Type="http://schemas.openxmlformats.org/officeDocument/2006/relationships/slideLayout" Target="../slideLayouts/slideLayout35.xml"/><Relationship Id="rId21" Type="http://schemas.openxmlformats.org/officeDocument/2006/relationships/slideLayout" Target="../slideLayouts/slideLayout34.xml"/><Relationship Id="rId20" Type="http://schemas.openxmlformats.org/officeDocument/2006/relationships/slideLayout" Target="../slideLayouts/slideLayout33.xml"/><Relationship Id="rId2" Type="http://schemas.openxmlformats.org/officeDocument/2006/relationships/slideLayout" Target="../slideLayouts/slideLayout15.xml"/><Relationship Id="rId19" Type="http://schemas.openxmlformats.org/officeDocument/2006/relationships/slideLayout" Target="../slideLayouts/slideLayout32.xml"/><Relationship Id="rId18" Type="http://schemas.openxmlformats.org/officeDocument/2006/relationships/slideLayout" Target="../slideLayouts/slideLayout31.xml"/><Relationship Id="rId17" Type="http://schemas.openxmlformats.org/officeDocument/2006/relationships/slideLayout" Target="../slideLayouts/slideLayout30.xml"/><Relationship Id="rId16" Type="http://schemas.openxmlformats.org/officeDocument/2006/relationships/slideLayout" Target="../slideLayouts/slideLayout29.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F4F518-1F8B-D049-ACC1-BFC2E0E3F1C3}" type="datetimeFigureOut">
              <a:rPr kumimoji="1" lang="zh-CN" altLang="en-US" smtClean="0"/>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A8EDA4-F126-F84C-8B92-1FCCFBE33012}"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solidFill>
                  <a:prstClr val="black">
                    <a:tint val="75000"/>
                  </a:prstClr>
                </a:solidFill>
              </a:rPr>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5.xml"/><Relationship Id="rId4" Type="http://schemas.openxmlformats.org/officeDocument/2006/relationships/tags" Target="../tags/tag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5.xml"/><Relationship Id="rId4" Type="http://schemas.openxmlformats.org/officeDocument/2006/relationships/tags" Target="../tags/tag3.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5.xml"/><Relationship Id="rId3" Type="http://schemas.openxmlformats.org/officeDocument/2006/relationships/tags" Target="../tags/tag6.xml"/><Relationship Id="rId2" Type="http://schemas.openxmlformats.org/officeDocument/2006/relationships/image" Target="../media/image8.png"/><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5.xml"/><Relationship Id="rId3" Type="http://schemas.openxmlformats.org/officeDocument/2006/relationships/tags" Target="../tags/tag7.xml"/><Relationship Id="rId2" Type="http://schemas.openxmlformats.org/officeDocument/2006/relationships/image" Target="../media/image10.pn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t="-2000" b="-9000"/>
          </a:stretch>
        </a:blipFill>
        <a:effectLst/>
      </p:bgPr>
    </p:bg>
    <p:spTree>
      <p:nvGrpSpPr>
        <p:cNvPr id="1" name=""/>
        <p:cNvGrpSpPr/>
        <p:nvPr/>
      </p:nvGrpSpPr>
      <p:grpSpPr>
        <a:xfrm>
          <a:off x="0" y="0"/>
          <a:ext cx="0" cy="0"/>
          <a:chOff x="0" y="0"/>
          <a:chExt cx="0" cy="0"/>
        </a:xfrm>
      </p:grpSpPr>
      <p:sp>
        <p:nvSpPr>
          <p:cNvPr id="21" name="标题 1"/>
          <p:cNvSpPr txBox="1"/>
          <p:nvPr/>
        </p:nvSpPr>
        <p:spPr>
          <a:xfrm>
            <a:off x="1371601" y="1983105"/>
            <a:ext cx="9577070" cy="73152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50000"/>
              </a:lnSpc>
              <a:spcBef>
                <a:spcPct val="0"/>
              </a:spcBef>
              <a:spcAft>
                <a:spcPts val="0"/>
              </a:spcAft>
              <a:buClrTx/>
              <a:buSzTx/>
              <a:buFontTx/>
              <a:buNone/>
              <a:defRPr/>
            </a:pPr>
            <a:r>
              <a:rPr lang="zh-CN" altLang="en-US" sz="4000" b="1" dirty="0">
                <a:solidFill>
                  <a:prstClr val="black"/>
                </a:solidFill>
                <a:effectLst>
                  <a:outerShdw blurRad="38100" dist="19050" dir="2700000" algn="tl" rotWithShape="0">
                    <a:prstClr val="black">
                      <a:alpha val="40000"/>
                    </a:prstClr>
                  </a:outerShdw>
                </a:effectLst>
                <a:latin typeface="微软雅黑" panose="020B0503020204020204" pitchFamily="34" charset="-122"/>
                <a:ea typeface="微软雅黑" panose="020B0503020204020204" pitchFamily="34" charset="-122"/>
              </a:rPr>
              <a:t>人工智能实验说明</a:t>
            </a:r>
            <a:endParaRPr kumimoji="0" lang="zh-CN" altLang="en-US" sz="4000" b="1"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59"/>
          <p:cNvSpPr txBox="1">
            <a:spLocks noChangeArrowheads="1"/>
          </p:cNvSpPr>
          <p:nvPr/>
        </p:nvSpPr>
        <p:spPr bwMode="auto">
          <a:xfrm flipH="1">
            <a:off x="338454" y="191770"/>
            <a:ext cx="8527249" cy="645160"/>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实验</a:t>
            </a:r>
            <a:r>
              <a:rPr kumimoji="0" lang="en-US" altLang="zh-CN"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1 </a:t>
            </a: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产生式系统实验</a:t>
            </a:r>
            <a:endPar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endParaRPr>
          </a:p>
        </p:txBody>
      </p:sp>
      <p:sp>
        <p:nvSpPr>
          <p:cNvPr id="6" name="文本框 5"/>
          <p:cNvSpPr txBox="1"/>
          <p:nvPr/>
        </p:nvSpPr>
        <p:spPr>
          <a:xfrm>
            <a:off x="868017" y="1589109"/>
            <a:ext cx="10654748" cy="368300"/>
          </a:xfrm>
          <a:prstGeom prst="rect">
            <a:avLst/>
          </a:prstGeom>
          <a:noFill/>
        </p:spPr>
        <p:txBody>
          <a:bodyPr wrap="square">
            <a:spAutoFit/>
          </a:bodyPr>
          <a:lstStyle/>
          <a:p>
            <a:pPr indent="304800"/>
            <a:r>
              <a:rPr lang="zh-CN" altLang="zh-CN" sz="1800" dirty="0">
                <a:effectLst/>
                <a:latin typeface="宋体" panose="02010600030101010101" pitchFamily="2" charset="-122"/>
                <a:ea typeface="宋体" panose="02010600030101010101" pitchFamily="2" charset="-122"/>
                <a:cs typeface="宋体" panose="02010600030101010101" pitchFamily="2" charset="-122"/>
              </a:rPr>
              <a:t>熟悉一阶谓词逻辑和产生式表示法，掌握产生式系统的运行机制，以及基于规则推理的基本方法。</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496955" y="1178292"/>
            <a:ext cx="10654748" cy="461665"/>
          </a:xfrm>
          <a:prstGeom prst="rect">
            <a:avLst/>
          </a:prstGeom>
          <a:noFill/>
        </p:spPr>
        <p:txBody>
          <a:bodyPr wrap="square">
            <a:spAutoFit/>
          </a:bodyPr>
          <a:lstStyle/>
          <a:p>
            <a:pPr indent="304800"/>
            <a:r>
              <a:rPr lang="zh-CN" altLang="en-US" sz="2400" dirty="0">
                <a:effectLst/>
                <a:latin typeface="宋体" panose="02010600030101010101" pitchFamily="2" charset="-122"/>
                <a:ea typeface="宋体" panose="02010600030101010101" pitchFamily="2" charset="-122"/>
                <a:cs typeface="宋体" panose="02010600030101010101" pitchFamily="2" charset="-122"/>
              </a:rPr>
              <a:t>实验目的</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1" name="文本框 10"/>
          <p:cNvSpPr txBox="1"/>
          <p:nvPr/>
        </p:nvSpPr>
        <p:spPr>
          <a:xfrm>
            <a:off x="496955" y="2477005"/>
            <a:ext cx="10654748" cy="460375"/>
          </a:xfrm>
          <a:prstGeom prst="rect">
            <a:avLst/>
          </a:prstGeom>
          <a:noFill/>
        </p:spPr>
        <p:txBody>
          <a:bodyPr wrap="square">
            <a:spAutoFit/>
          </a:bodyPr>
          <a:lstStyle/>
          <a:p>
            <a:pPr indent="304800"/>
            <a:r>
              <a:rPr lang="zh-CN" altLang="en-US" sz="2400" dirty="0">
                <a:effectLst/>
                <a:latin typeface="宋体" panose="02010600030101010101" pitchFamily="2" charset="-122"/>
                <a:ea typeface="宋体" panose="02010600030101010101" pitchFamily="2" charset="-122"/>
                <a:cs typeface="宋体" panose="02010600030101010101" pitchFamily="2" charset="-122"/>
              </a:rPr>
              <a:t>实验</a:t>
            </a:r>
            <a:r>
              <a:rPr lang="zh-CN" altLang="en-US" sz="2400" dirty="0">
                <a:effectLst/>
                <a:latin typeface="宋体" panose="02010600030101010101" pitchFamily="2" charset="-122"/>
                <a:ea typeface="宋体" panose="02010600030101010101" pitchFamily="2" charset="-122"/>
                <a:cs typeface="宋体" panose="02010600030101010101" pitchFamily="2" charset="-122"/>
              </a:rPr>
              <a:t>内容</a:t>
            </a:r>
            <a:endParaRPr lang="zh-CN" altLang="en-US" sz="2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4" name="文本框 13"/>
          <p:cNvSpPr txBox="1"/>
          <p:nvPr/>
        </p:nvSpPr>
        <p:spPr>
          <a:xfrm>
            <a:off x="868016" y="3014768"/>
            <a:ext cx="9362661" cy="645160"/>
          </a:xfrm>
          <a:prstGeom prst="rect">
            <a:avLst/>
          </a:prstGeom>
          <a:noFill/>
        </p:spPr>
        <p:txBody>
          <a:bodyPr wrap="square">
            <a:spAutoFit/>
          </a:bodyPr>
          <a:lstStyle/>
          <a:p>
            <a:pPr indent="304800"/>
            <a:r>
              <a:rPr altLang="zh-CN" dirty="0">
                <a:latin typeface="宋体" panose="02010600030101010101" pitchFamily="2" charset="-122"/>
                <a:ea typeface="宋体" panose="02010600030101010101" pitchFamily="2" charset="-122"/>
              </a:rPr>
              <a:t>运用所学知识，设计并编程实现产生式系统，输入相应的条件，根据知识库推理得出相应的知识</a:t>
            </a:r>
            <a:endParaRPr altLang="zh-CN" dirty="0">
              <a:latin typeface="宋体" panose="02010600030101010101" pitchFamily="2" charset="-122"/>
              <a:ea typeface="宋体" panose="02010600030101010101" pitchFamily="2" charset="-122"/>
            </a:endParaRPr>
          </a:p>
        </p:txBody>
      </p:sp>
      <p:sp>
        <p:nvSpPr>
          <p:cNvPr id="2" name="文本框 1"/>
          <p:cNvSpPr txBox="1"/>
          <p:nvPr/>
        </p:nvSpPr>
        <p:spPr>
          <a:xfrm>
            <a:off x="496955" y="4261990"/>
            <a:ext cx="10654748" cy="461665"/>
          </a:xfrm>
          <a:prstGeom prst="rect">
            <a:avLst/>
          </a:prstGeom>
          <a:noFill/>
        </p:spPr>
        <p:txBody>
          <a:bodyPr wrap="square">
            <a:spAutoFit/>
          </a:bodyPr>
          <a:p>
            <a:pPr indent="304800"/>
            <a:r>
              <a:rPr lang="zh-CN" altLang="en-US" sz="2400" dirty="0">
                <a:effectLst/>
                <a:latin typeface="宋体" panose="02010600030101010101" pitchFamily="2" charset="-122"/>
                <a:ea typeface="宋体" panose="02010600030101010101" pitchFamily="2" charset="-122"/>
                <a:cs typeface="宋体" panose="02010600030101010101" pitchFamily="2" charset="-122"/>
              </a:rPr>
              <a:t>实验要求</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p:cNvSpPr txBox="1"/>
          <p:nvPr/>
        </p:nvSpPr>
        <p:spPr>
          <a:xfrm>
            <a:off x="868016" y="4799753"/>
            <a:ext cx="9362661" cy="922020"/>
          </a:xfrm>
          <a:prstGeom prst="rect">
            <a:avLst/>
          </a:prstGeom>
          <a:noFill/>
        </p:spPr>
        <p:txBody>
          <a:bodyPr wrap="square">
            <a:spAutoFit/>
          </a:bodyPr>
          <a:p>
            <a:pPr indent="304800"/>
            <a:r>
              <a:rPr lang="zh-CN" dirty="0">
                <a:latin typeface="宋体" panose="02010600030101010101" pitchFamily="2" charset="-122"/>
                <a:ea typeface="宋体" panose="02010600030101010101" pitchFamily="2" charset="-122"/>
              </a:rPr>
              <a:t>①</a:t>
            </a:r>
            <a:r>
              <a:rPr altLang="zh-CN" dirty="0">
                <a:latin typeface="宋体" panose="02010600030101010101" pitchFamily="2" charset="-122"/>
                <a:ea typeface="宋体" panose="02010600030101010101" pitchFamily="2" charset="-122"/>
              </a:rPr>
              <a:t>具体应用领域自选，具体系统名称自定。</a:t>
            </a:r>
            <a:endParaRPr altLang="zh-CN" dirty="0">
              <a:latin typeface="宋体" panose="02010600030101010101" pitchFamily="2" charset="-122"/>
              <a:ea typeface="宋体" panose="02010600030101010101" pitchFamily="2" charset="-122"/>
            </a:endParaRPr>
          </a:p>
          <a:p>
            <a:pPr indent="304800"/>
            <a:r>
              <a:rPr lang="zh-CN" dirty="0">
                <a:latin typeface="宋体" panose="02010600030101010101" pitchFamily="2" charset="-122"/>
                <a:ea typeface="宋体" panose="02010600030101010101" pitchFamily="2" charset="-122"/>
              </a:rPr>
              <a:t>②</a:t>
            </a:r>
            <a:r>
              <a:rPr altLang="zh-CN" dirty="0">
                <a:latin typeface="宋体" panose="02010600030101010101" pitchFamily="2" charset="-122"/>
                <a:ea typeface="宋体" panose="02010600030101010101" pitchFamily="2" charset="-122"/>
              </a:rPr>
              <a:t>用产生式规则作为知识表示，利用产生式系统实验程序，建立知识库，分别运行正、反向推理。</a:t>
            </a:r>
            <a:endParaRPr altLang="zh-CN" dirty="0">
              <a:latin typeface="宋体" panose="02010600030101010101" pitchFamily="2" charset="-122"/>
              <a:ea typeface="宋体" panose="02010600030101010101" pitchFamily="2" charset="-122"/>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59"/>
          <p:cNvSpPr txBox="1">
            <a:spLocks noChangeArrowheads="1"/>
          </p:cNvSpPr>
          <p:nvPr/>
        </p:nvSpPr>
        <p:spPr bwMode="auto">
          <a:xfrm flipH="1">
            <a:off x="338454" y="191770"/>
            <a:ext cx="8527249" cy="645160"/>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实验</a:t>
            </a:r>
            <a:r>
              <a:rPr kumimoji="0" lang="en-US" altLang="zh-CN"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1 </a:t>
            </a: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产生式系统实验</a:t>
            </a:r>
            <a:endPar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endParaRPr>
          </a:p>
        </p:txBody>
      </p:sp>
      <p:sp>
        <p:nvSpPr>
          <p:cNvPr id="9" name="文本框 8"/>
          <p:cNvSpPr txBox="1"/>
          <p:nvPr/>
        </p:nvSpPr>
        <p:spPr>
          <a:xfrm>
            <a:off x="496955" y="1178292"/>
            <a:ext cx="10654748" cy="460375"/>
          </a:xfrm>
          <a:prstGeom prst="rect">
            <a:avLst/>
          </a:prstGeom>
          <a:noFill/>
        </p:spPr>
        <p:txBody>
          <a:bodyPr wrap="square">
            <a:spAutoFit/>
          </a:bodyPr>
          <a:lstStyle/>
          <a:p>
            <a:pPr indent="304800"/>
            <a:r>
              <a:rPr lang="zh-CN" altLang="en-US" sz="2400" dirty="0">
                <a:latin typeface="宋体" panose="02010600030101010101" pitchFamily="2" charset="-122"/>
                <a:ea typeface="宋体" panose="02010600030101010101" pitchFamily="2" charset="-122"/>
                <a:cs typeface="宋体" panose="02010600030101010101" pitchFamily="2" charset="-122"/>
              </a:rPr>
              <a:t>实验示例展示</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5" name="文本框 4"/>
          <p:cNvSpPr txBox="1"/>
          <p:nvPr/>
        </p:nvSpPr>
        <p:spPr>
          <a:xfrm>
            <a:off x="824865" y="1815465"/>
            <a:ext cx="3420745" cy="368300"/>
          </a:xfrm>
          <a:prstGeom prst="rect">
            <a:avLst/>
          </a:prstGeom>
          <a:noFill/>
        </p:spPr>
        <p:txBody>
          <a:bodyPr wrap="square">
            <a:spAutoFit/>
          </a:bodyPr>
          <a:p>
            <a:pPr indent="0" fontAlgn="auto"/>
            <a:r>
              <a:rPr lang="zh-CN" altLang="zh-CN" b="1" dirty="0">
                <a:latin typeface="宋体" panose="02010600030101010101" pitchFamily="2" charset="-122"/>
                <a:ea typeface="宋体" panose="02010600030101010101" pitchFamily="2" charset="-122"/>
                <a:cs typeface="宋体" panose="02010600030101010101" pitchFamily="2" charset="-122"/>
              </a:rPr>
              <a:t>①输入条件，进行正向推理</a:t>
            </a:r>
            <a:endParaRPr lang="zh-CN" altLang="zh-CN" b="1" dirty="0">
              <a:latin typeface="宋体" panose="02010600030101010101" pitchFamily="2" charset="-122"/>
              <a:ea typeface="宋体" panose="02010600030101010101" pitchFamily="2" charset="-122"/>
              <a:cs typeface="宋体" panose="02010600030101010101" pitchFamily="2" charset="-122"/>
            </a:endParaRPr>
          </a:p>
        </p:txBody>
      </p:sp>
      <p:pic>
        <p:nvPicPr>
          <p:cNvPr id="2" name="图片 70"/>
          <p:cNvPicPr>
            <a:picLocks noChangeAspect="1"/>
          </p:cNvPicPr>
          <p:nvPr/>
        </p:nvPicPr>
        <p:blipFill>
          <a:blip r:embed="rId1"/>
          <a:stretch>
            <a:fillRect/>
          </a:stretch>
        </p:blipFill>
        <p:spPr>
          <a:xfrm>
            <a:off x="1285875" y="2360295"/>
            <a:ext cx="7980045" cy="1931670"/>
          </a:xfrm>
          <a:prstGeom prst="rect">
            <a:avLst/>
          </a:prstGeom>
          <a:noFill/>
          <a:ln w="9525">
            <a:noFill/>
          </a:ln>
        </p:spPr>
      </p:pic>
      <p:pic>
        <p:nvPicPr>
          <p:cNvPr id="3" name="图片 3"/>
          <p:cNvPicPr>
            <a:picLocks noChangeAspect="1"/>
          </p:cNvPicPr>
          <p:nvPr/>
        </p:nvPicPr>
        <p:blipFill>
          <a:blip r:embed="rId2"/>
          <a:srcRect t="4954" r="57335"/>
          <a:stretch>
            <a:fillRect/>
          </a:stretch>
        </p:blipFill>
        <p:spPr>
          <a:xfrm>
            <a:off x="9441180" y="2703830"/>
            <a:ext cx="1447800" cy="1449705"/>
          </a:xfrm>
          <a:prstGeom prst="rect">
            <a:avLst/>
          </a:prstGeom>
          <a:noFill/>
          <a:ln w="9525">
            <a:noFill/>
          </a:ln>
        </p:spPr>
      </p:pic>
      <p:pic>
        <p:nvPicPr>
          <p:cNvPr id="4" name="图片 4"/>
          <p:cNvPicPr>
            <a:picLocks noChangeAspect="1"/>
          </p:cNvPicPr>
          <p:nvPr/>
        </p:nvPicPr>
        <p:blipFill>
          <a:blip r:embed="rId3"/>
          <a:stretch>
            <a:fillRect/>
          </a:stretch>
        </p:blipFill>
        <p:spPr>
          <a:xfrm>
            <a:off x="1285875" y="4383405"/>
            <a:ext cx="8530590" cy="1900555"/>
          </a:xfrm>
          <a:prstGeom prst="rect">
            <a:avLst/>
          </a:prstGeom>
          <a:noFill/>
          <a:ln w="9525">
            <a:noFill/>
          </a:ln>
        </p:spPr>
      </p:pic>
      <p:sp>
        <p:nvSpPr>
          <p:cNvPr id="7" name="文本框 6"/>
          <p:cNvSpPr txBox="1"/>
          <p:nvPr/>
        </p:nvSpPr>
        <p:spPr>
          <a:xfrm>
            <a:off x="652780" y="2911475"/>
            <a:ext cx="457835" cy="829945"/>
          </a:xfrm>
          <a:prstGeom prst="rect">
            <a:avLst/>
          </a:prstGeom>
          <a:noFill/>
        </p:spPr>
        <p:txBody>
          <a:bodyPr wrap="square" rtlCol="0">
            <a:spAutoFit/>
          </a:bodyPr>
          <a:p>
            <a:r>
              <a:rPr lang="zh-CN" altLang="en-US" sz="2400"/>
              <a:t>输入</a:t>
            </a:r>
            <a:endParaRPr lang="zh-CN" altLang="en-US" sz="2400"/>
          </a:p>
        </p:txBody>
      </p:sp>
      <p:sp>
        <p:nvSpPr>
          <p:cNvPr id="8" name="文本框 7"/>
          <p:cNvSpPr txBox="1"/>
          <p:nvPr/>
        </p:nvSpPr>
        <p:spPr>
          <a:xfrm>
            <a:off x="652780" y="4870450"/>
            <a:ext cx="457835" cy="829945"/>
          </a:xfrm>
          <a:prstGeom prst="rect">
            <a:avLst/>
          </a:prstGeom>
          <a:noFill/>
        </p:spPr>
        <p:txBody>
          <a:bodyPr wrap="square" rtlCol="0">
            <a:spAutoFit/>
          </a:bodyPr>
          <a:p>
            <a:r>
              <a:rPr lang="zh-CN" altLang="en-US" sz="2400"/>
              <a:t>输</a:t>
            </a:r>
            <a:r>
              <a:rPr lang="zh-CN" altLang="en-US" sz="2400"/>
              <a:t>出</a:t>
            </a:r>
            <a:endParaRPr lang="zh-CN" altLang="en-US" sz="2400"/>
          </a:p>
        </p:txBody>
      </p:sp>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59"/>
          <p:cNvSpPr txBox="1">
            <a:spLocks noChangeArrowheads="1"/>
          </p:cNvSpPr>
          <p:nvPr/>
        </p:nvSpPr>
        <p:spPr bwMode="auto">
          <a:xfrm flipH="1">
            <a:off x="338454" y="191770"/>
            <a:ext cx="8527249" cy="645160"/>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实验</a:t>
            </a:r>
            <a:r>
              <a:rPr kumimoji="0" lang="en-US" altLang="zh-CN"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1 </a:t>
            </a: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产生式系统实验</a:t>
            </a:r>
            <a:endPar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endParaRPr>
          </a:p>
        </p:txBody>
      </p:sp>
      <p:sp>
        <p:nvSpPr>
          <p:cNvPr id="9" name="文本框 8"/>
          <p:cNvSpPr txBox="1"/>
          <p:nvPr/>
        </p:nvSpPr>
        <p:spPr>
          <a:xfrm>
            <a:off x="496955" y="1178292"/>
            <a:ext cx="10654748" cy="460375"/>
          </a:xfrm>
          <a:prstGeom prst="rect">
            <a:avLst/>
          </a:prstGeom>
          <a:noFill/>
        </p:spPr>
        <p:txBody>
          <a:bodyPr wrap="square">
            <a:spAutoFit/>
          </a:bodyPr>
          <a:lstStyle/>
          <a:p>
            <a:pPr indent="304800"/>
            <a:r>
              <a:rPr lang="zh-CN" altLang="en-US" sz="2400" dirty="0">
                <a:latin typeface="宋体" panose="02010600030101010101" pitchFamily="2" charset="-122"/>
                <a:ea typeface="宋体" panose="02010600030101010101" pitchFamily="2" charset="-122"/>
                <a:cs typeface="宋体" panose="02010600030101010101" pitchFamily="2" charset="-122"/>
              </a:rPr>
              <a:t>实验示例展示</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5" name="文本框 4"/>
          <p:cNvSpPr txBox="1"/>
          <p:nvPr/>
        </p:nvSpPr>
        <p:spPr>
          <a:xfrm>
            <a:off x="824865" y="1815465"/>
            <a:ext cx="5127625" cy="368300"/>
          </a:xfrm>
          <a:prstGeom prst="rect">
            <a:avLst/>
          </a:prstGeom>
          <a:noFill/>
        </p:spPr>
        <p:txBody>
          <a:bodyPr wrap="square">
            <a:spAutoFit/>
          </a:bodyPr>
          <a:p>
            <a:pPr indent="0" fontAlgn="auto"/>
            <a:r>
              <a:rPr lang="zh-CN" altLang="zh-CN" b="1" dirty="0">
                <a:latin typeface="宋体" panose="02010600030101010101" pitchFamily="2" charset="-122"/>
                <a:ea typeface="宋体" panose="02010600030101010101" pitchFamily="2" charset="-122"/>
                <a:cs typeface="宋体" panose="02010600030101010101" pitchFamily="2" charset="-122"/>
              </a:rPr>
              <a:t>②输入植物，进行反向推理，给出所具有条件</a:t>
            </a:r>
            <a:endParaRPr lang="zh-CN" altLang="zh-CN" b="1" dirty="0">
              <a:latin typeface="宋体" panose="02010600030101010101" pitchFamily="2" charset="-122"/>
              <a:ea typeface="宋体" panose="02010600030101010101" pitchFamily="2" charset="-122"/>
              <a:cs typeface="宋体" panose="02010600030101010101" pitchFamily="2" charset="-122"/>
            </a:endParaRPr>
          </a:p>
        </p:txBody>
      </p:sp>
      <p:pic>
        <p:nvPicPr>
          <p:cNvPr id="2" name="图片 5"/>
          <p:cNvPicPr>
            <a:picLocks noChangeAspect="1"/>
          </p:cNvPicPr>
          <p:nvPr/>
        </p:nvPicPr>
        <p:blipFill>
          <a:blip r:embed="rId1"/>
          <a:stretch>
            <a:fillRect/>
          </a:stretch>
        </p:blipFill>
        <p:spPr>
          <a:xfrm>
            <a:off x="1165225" y="2476500"/>
            <a:ext cx="8376920" cy="1791970"/>
          </a:xfrm>
          <a:prstGeom prst="rect">
            <a:avLst/>
          </a:prstGeom>
          <a:noFill/>
          <a:ln w="9525">
            <a:noFill/>
          </a:ln>
        </p:spPr>
      </p:pic>
      <p:pic>
        <p:nvPicPr>
          <p:cNvPr id="3" name="图片 6"/>
          <p:cNvPicPr>
            <a:picLocks noChangeAspect="1"/>
          </p:cNvPicPr>
          <p:nvPr/>
        </p:nvPicPr>
        <p:blipFill>
          <a:blip r:embed="rId2"/>
          <a:stretch>
            <a:fillRect/>
          </a:stretch>
        </p:blipFill>
        <p:spPr>
          <a:xfrm>
            <a:off x="9620250" y="2888615"/>
            <a:ext cx="1871980" cy="967740"/>
          </a:xfrm>
          <a:prstGeom prst="rect">
            <a:avLst/>
          </a:prstGeom>
          <a:noFill/>
          <a:ln w="9525">
            <a:noFill/>
          </a:ln>
        </p:spPr>
      </p:pic>
      <p:pic>
        <p:nvPicPr>
          <p:cNvPr id="4" name="图片 7"/>
          <p:cNvPicPr>
            <a:picLocks noChangeAspect="1"/>
          </p:cNvPicPr>
          <p:nvPr/>
        </p:nvPicPr>
        <p:blipFill>
          <a:blip r:embed="rId3"/>
          <a:stretch>
            <a:fillRect/>
          </a:stretch>
        </p:blipFill>
        <p:spPr>
          <a:xfrm>
            <a:off x="1165225" y="4490720"/>
            <a:ext cx="6899910" cy="1718310"/>
          </a:xfrm>
          <a:prstGeom prst="rect">
            <a:avLst/>
          </a:prstGeom>
          <a:noFill/>
          <a:ln w="9525">
            <a:noFill/>
          </a:ln>
        </p:spPr>
      </p:pic>
      <p:sp>
        <p:nvSpPr>
          <p:cNvPr id="7" name="文本框 6"/>
          <p:cNvSpPr txBox="1"/>
          <p:nvPr/>
        </p:nvSpPr>
        <p:spPr>
          <a:xfrm>
            <a:off x="532130" y="2911475"/>
            <a:ext cx="457835" cy="829945"/>
          </a:xfrm>
          <a:prstGeom prst="rect">
            <a:avLst/>
          </a:prstGeom>
          <a:noFill/>
        </p:spPr>
        <p:txBody>
          <a:bodyPr wrap="square" rtlCol="0">
            <a:spAutoFit/>
          </a:bodyPr>
          <a:p>
            <a:r>
              <a:rPr lang="zh-CN" altLang="en-US" sz="2400"/>
              <a:t>输入</a:t>
            </a:r>
            <a:endParaRPr lang="zh-CN" altLang="en-US" sz="2400"/>
          </a:p>
        </p:txBody>
      </p:sp>
      <p:sp>
        <p:nvSpPr>
          <p:cNvPr id="8" name="文本框 7"/>
          <p:cNvSpPr txBox="1"/>
          <p:nvPr/>
        </p:nvSpPr>
        <p:spPr>
          <a:xfrm>
            <a:off x="532130" y="4870450"/>
            <a:ext cx="457835" cy="829945"/>
          </a:xfrm>
          <a:prstGeom prst="rect">
            <a:avLst/>
          </a:prstGeom>
          <a:noFill/>
        </p:spPr>
        <p:txBody>
          <a:bodyPr wrap="square" rtlCol="0">
            <a:spAutoFit/>
          </a:bodyPr>
          <a:p>
            <a:r>
              <a:rPr lang="zh-CN" altLang="en-US" sz="2400"/>
              <a:t>输</a:t>
            </a:r>
            <a:r>
              <a:rPr lang="zh-CN" altLang="en-US" sz="2400"/>
              <a:t>出</a:t>
            </a:r>
            <a:endParaRPr lang="zh-CN" altLang="en-US" sz="2400"/>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59"/>
          <p:cNvSpPr txBox="1">
            <a:spLocks noChangeArrowheads="1"/>
          </p:cNvSpPr>
          <p:nvPr/>
        </p:nvSpPr>
        <p:spPr bwMode="auto">
          <a:xfrm flipH="1">
            <a:off x="338454" y="191770"/>
            <a:ext cx="10362675" cy="646331"/>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评分标准</a:t>
            </a:r>
            <a:endPar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endParaRPr>
          </a:p>
        </p:txBody>
      </p:sp>
      <p:sp>
        <p:nvSpPr>
          <p:cNvPr id="5" name="文本框 4"/>
          <p:cNvSpPr txBox="1"/>
          <p:nvPr/>
        </p:nvSpPr>
        <p:spPr>
          <a:xfrm>
            <a:off x="1020416" y="1482300"/>
            <a:ext cx="9773479" cy="4407535"/>
          </a:xfrm>
          <a:prstGeom prst="rect">
            <a:avLst/>
          </a:prstGeom>
          <a:noFill/>
        </p:spPr>
        <p:txBody>
          <a:bodyPr wrap="square">
            <a:spAutoFit/>
          </a:bodyPr>
          <a:lstStyle/>
          <a:p>
            <a:pPr indent="0" algn="just" fontAlgn="auto">
              <a:lnSpc>
                <a:spcPct val="130000"/>
              </a:lnSpc>
            </a:pPr>
            <a:r>
              <a:rPr altLang="zh-CN" sz="1800" kern="100" dirty="0">
                <a:effectLst/>
                <a:latin typeface="等线" panose="02010600030101010101" pitchFamily="2" charset="-122"/>
                <a:ea typeface="等线" panose="02010600030101010101" pitchFamily="2" charset="-122"/>
                <a:cs typeface="Times New Roman" panose="02020603050405020304" pitchFamily="18" charset="0"/>
              </a:rPr>
              <a:t>等级A – 95分</a:t>
            </a:r>
            <a:endParaRPr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just" fontAlgn="auto">
              <a:lnSpc>
                <a:spcPct val="130000"/>
              </a:lnSpc>
            </a:pPr>
            <a:r>
              <a:rPr altLang="zh-CN" sz="1800" kern="100" dirty="0">
                <a:effectLst/>
                <a:latin typeface="等线" panose="02010600030101010101" pitchFamily="2" charset="-122"/>
                <a:ea typeface="等线" panose="02010600030101010101" pitchFamily="2" charset="-122"/>
                <a:cs typeface="Times New Roman" panose="02020603050405020304" pitchFamily="18" charset="0"/>
              </a:rPr>
              <a:t>1、完成实验所有内容，流程与步骤正确</a:t>
            </a:r>
            <a:endParaRPr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just" fontAlgn="auto">
              <a:lnSpc>
                <a:spcPct val="130000"/>
              </a:lnSpc>
            </a:pPr>
            <a:r>
              <a:rPr altLang="zh-CN" sz="1800" kern="100" dirty="0">
                <a:effectLst/>
                <a:latin typeface="等线" panose="02010600030101010101" pitchFamily="2" charset="-122"/>
                <a:ea typeface="等线" panose="02010600030101010101" pitchFamily="2" charset="-122"/>
                <a:cs typeface="Times New Roman" panose="02020603050405020304" pitchFamily="18" charset="0"/>
              </a:rPr>
              <a:t>2、掌握代码的核心内容，对代码功能作了较大改动，并能达成较好的效果</a:t>
            </a:r>
            <a:endParaRPr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just" fontAlgn="auto">
              <a:lnSpc>
                <a:spcPct val="130000"/>
              </a:lnSpc>
            </a:pPr>
            <a:r>
              <a:rPr altLang="zh-CN" sz="1800" kern="100" dirty="0">
                <a:effectLst/>
                <a:latin typeface="等线" panose="02010600030101010101" pitchFamily="2" charset="-122"/>
                <a:ea typeface="等线" panose="02010600030101010101" pitchFamily="2" charset="-122"/>
                <a:cs typeface="Times New Roman" panose="02020603050405020304" pitchFamily="18" charset="0"/>
              </a:rPr>
              <a:t>3、心得体会深刻、对实验有自己的思考与展望</a:t>
            </a:r>
            <a:endParaRPr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just" fontAlgn="auto">
              <a:lnSpc>
                <a:spcPct val="130000"/>
              </a:lnSpc>
            </a:pPr>
            <a:r>
              <a:rPr altLang="zh-CN" sz="1800" kern="100" dirty="0">
                <a:effectLst/>
                <a:latin typeface="等线" panose="02010600030101010101" pitchFamily="2" charset="-122"/>
                <a:ea typeface="等线" panose="02010600030101010101" pitchFamily="2" charset="-122"/>
                <a:cs typeface="Times New Roman" panose="02020603050405020304" pitchFamily="18" charset="0"/>
              </a:rPr>
              <a:t>等级B – 85分</a:t>
            </a:r>
            <a:endParaRPr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just" fontAlgn="auto">
              <a:lnSpc>
                <a:spcPct val="130000"/>
              </a:lnSpc>
            </a:pPr>
            <a:r>
              <a:rPr altLang="zh-CN" sz="1800" kern="100" dirty="0">
                <a:effectLst/>
                <a:latin typeface="等线" panose="02010600030101010101" pitchFamily="2" charset="-122"/>
                <a:ea typeface="等线" panose="02010600030101010101" pitchFamily="2" charset="-122"/>
                <a:cs typeface="Times New Roman" panose="02020603050405020304" pitchFamily="18" charset="0"/>
              </a:rPr>
              <a:t>1、完成了实验所有内容，步骤或流程有一些瑕疵或错误</a:t>
            </a:r>
            <a:endParaRPr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just" fontAlgn="auto">
              <a:lnSpc>
                <a:spcPct val="130000"/>
              </a:lnSpc>
            </a:pPr>
            <a:r>
              <a:rPr altLang="zh-CN" sz="1800" kern="100" dirty="0">
                <a:effectLst/>
                <a:latin typeface="等线" panose="02010600030101010101" pitchFamily="2" charset="-122"/>
                <a:ea typeface="等线" panose="02010600030101010101" pitchFamily="2" charset="-122"/>
                <a:cs typeface="Times New Roman" panose="02020603050405020304" pitchFamily="18" charset="0"/>
              </a:rPr>
              <a:t>2、理解代码中的参数，对代码作出修改，并能成功完成达成功能</a:t>
            </a:r>
            <a:endParaRPr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just" fontAlgn="auto">
              <a:lnSpc>
                <a:spcPct val="130000"/>
              </a:lnSpc>
            </a:pPr>
            <a:r>
              <a:rPr altLang="zh-CN" sz="1800" kern="100" dirty="0">
                <a:effectLst/>
                <a:latin typeface="等线" panose="02010600030101010101" pitchFamily="2" charset="-122"/>
                <a:ea typeface="等线" panose="02010600030101010101" pitchFamily="2" charset="-122"/>
                <a:cs typeface="Times New Roman" panose="02020603050405020304" pitchFamily="18" charset="0"/>
              </a:rPr>
              <a:t>3、心得体会浅显、缺少自己的思考</a:t>
            </a:r>
            <a:endParaRPr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just" fontAlgn="auto">
              <a:lnSpc>
                <a:spcPct val="130000"/>
              </a:lnSpc>
            </a:pPr>
            <a:r>
              <a:rPr altLang="zh-CN" sz="1800" kern="100" dirty="0">
                <a:effectLst/>
                <a:latin typeface="等线" panose="02010600030101010101" pitchFamily="2" charset="-122"/>
                <a:ea typeface="等线" panose="02010600030101010101" pitchFamily="2" charset="-122"/>
                <a:cs typeface="Times New Roman" panose="02020603050405020304" pitchFamily="18" charset="0"/>
              </a:rPr>
              <a:t>等级C – 75分</a:t>
            </a:r>
            <a:endParaRPr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just" fontAlgn="auto">
              <a:lnSpc>
                <a:spcPct val="130000"/>
              </a:lnSpc>
            </a:pPr>
            <a:r>
              <a:rPr altLang="zh-CN" sz="1800" kern="100" dirty="0">
                <a:effectLst/>
                <a:latin typeface="等线" panose="02010600030101010101" pitchFamily="2" charset="-122"/>
                <a:ea typeface="等线" panose="02010600030101010101" pitchFamily="2" charset="-122"/>
                <a:cs typeface="Times New Roman" panose="02020603050405020304" pitchFamily="18" charset="0"/>
              </a:rPr>
              <a:t>1、实验内容有缺失、实验步骤不完整</a:t>
            </a:r>
            <a:endParaRPr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just" fontAlgn="auto">
              <a:lnSpc>
                <a:spcPct val="130000"/>
              </a:lnSpc>
            </a:pPr>
            <a:r>
              <a:rPr altLang="zh-CN" sz="1800" kern="100" dirty="0">
                <a:effectLst/>
                <a:latin typeface="等线" panose="02010600030101010101" pitchFamily="2" charset="-122"/>
                <a:ea typeface="等线" panose="02010600030101010101" pitchFamily="2" charset="-122"/>
                <a:cs typeface="Times New Roman" panose="02020603050405020304" pitchFamily="18" charset="0"/>
              </a:rPr>
              <a:t>2、没有创新、全是已给内容与代码</a:t>
            </a:r>
            <a:endParaRPr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just" fontAlgn="auto">
              <a:lnSpc>
                <a:spcPct val="130000"/>
              </a:lnSpc>
            </a:pPr>
            <a:r>
              <a:rPr lang="en-US"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altLang="zh-CN" sz="1800" kern="100" dirty="0">
                <a:effectLst/>
                <a:latin typeface="等线" panose="02010600030101010101" pitchFamily="2" charset="-122"/>
                <a:ea typeface="等线" panose="02010600030101010101" pitchFamily="2" charset="-122"/>
                <a:cs typeface="Times New Roman" panose="02020603050405020304" pitchFamily="18" charset="0"/>
              </a:rPr>
              <a:t>心得体会没有或太假，有明显漏洞</a:t>
            </a:r>
            <a:endParaRPr lang="zh-CN" alt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59"/>
          <p:cNvSpPr txBox="1">
            <a:spLocks noChangeArrowheads="1"/>
          </p:cNvSpPr>
          <p:nvPr/>
        </p:nvSpPr>
        <p:spPr bwMode="auto">
          <a:xfrm flipH="1">
            <a:off x="338454" y="191770"/>
            <a:ext cx="8527249" cy="645160"/>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实验</a:t>
            </a:r>
            <a:r>
              <a:rPr kumimoji="0" lang="en-US" altLang="zh-CN"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2 </a:t>
            </a: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模糊推理系统实验</a:t>
            </a:r>
            <a:endPar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endParaRPr>
          </a:p>
        </p:txBody>
      </p:sp>
      <p:sp>
        <p:nvSpPr>
          <p:cNvPr id="6" name="文本框 5"/>
          <p:cNvSpPr txBox="1"/>
          <p:nvPr/>
        </p:nvSpPr>
        <p:spPr>
          <a:xfrm>
            <a:off x="868017" y="1589109"/>
            <a:ext cx="10654748" cy="368300"/>
          </a:xfrm>
          <a:prstGeom prst="rect">
            <a:avLst/>
          </a:prstGeom>
          <a:noFill/>
        </p:spPr>
        <p:txBody>
          <a:bodyPr wrap="square">
            <a:spAutoFit/>
          </a:bodyPr>
          <a:lstStyle/>
          <a:p>
            <a:pPr indent="304800"/>
            <a:r>
              <a:rPr lang="zh-CN" altLang="zh-CN" sz="1800" dirty="0">
                <a:effectLst/>
                <a:latin typeface="宋体" panose="02010600030101010101" pitchFamily="2" charset="-122"/>
                <a:ea typeface="宋体" panose="02010600030101010101" pitchFamily="2" charset="-122"/>
                <a:cs typeface="宋体" panose="02010600030101010101" pitchFamily="2" charset="-122"/>
              </a:rPr>
              <a:t>理解模糊逻辑推理的原理及特点，熟练应用模糊推理，了解可能性理论。</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496955" y="1178292"/>
            <a:ext cx="10654748" cy="461665"/>
          </a:xfrm>
          <a:prstGeom prst="rect">
            <a:avLst/>
          </a:prstGeom>
          <a:noFill/>
        </p:spPr>
        <p:txBody>
          <a:bodyPr wrap="square">
            <a:spAutoFit/>
          </a:bodyPr>
          <a:lstStyle/>
          <a:p>
            <a:pPr indent="304800"/>
            <a:r>
              <a:rPr lang="zh-CN" altLang="en-US" sz="2400" dirty="0">
                <a:effectLst/>
                <a:latin typeface="宋体" panose="02010600030101010101" pitchFamily="2" charset="-122"/>
                <a:ea typeface="宋体" panose="02010600030101010101" pitchFamily="2" charset="-122"/>
                <a:cs typeface="宋体" panose="02010600030101010101" pitchFamily="2" charset="-122"/>
              </a:rPr>
              <a:t>实验目的</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1" name="文本框 10"/>
          <p:cNvSpPr txBox="1"/>
          <p:nvPr/>
        </p:nvSpPr>
        <p:spPr>
          <a:xfrm>
            <a:off x="496955" y="2323335"/>
            <a:ext cx="10654748" cy="460375"/>
          </a:xfrm>
          <a:prstGeom prst="rect">
            <a:avLst/>
          </a:prstGeom>
          <a:noFill/>
        </p:spPr>
        <p:txBody>
          <a:bodyPr wrap="square">
            <a:spAutoFit/>
          </a:bodyPr>
          <a:lstStyle/>
          <a:p>
            <a:pPr indent="304800"/>
            <a:r>
              <a:rPr lang="zh-CN" altLang="en-US" sz="2400" dirty="0">
                <a:effectLst/>
                <a:latin typeface="宋体" panose="02010600030101010101" pitchFamily="2" charset="-122"/>
                <a:ea typeface="宋体" panose="02010600030101010101" pitchFamily="2" charset="-122"/>
                <a:cs typeface="宋体" panose="02010600030101010101" pitchFamily="2" charset="-122"/>
              </a:rPr>
              <a:t>实验</a:t>
            </a:r>
            <a:r>
              <a:rPr lang="zh-CN" altLang="en-US" sz="2400" dirty="0">
                <a:effectLst/>
                <a:latin typeface="宋体" panose="02010600030101010101" pitchFamily="2" charset="-122"/>
                <a:ea typeface="宋体" panose="02010600030101010101" pitchFamily="2" charset="-122"/>
                <a:cs typeface="宋体" panose="02010600030101010101" pitchFamily="2" charset="-122"/>
              </a:rPr>
              <a:t>原理</a:t>
            </a:r>
            <a:endParaRPr lang="zh-CN" altLang="en-US" sz="2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4" name="文本框 13"/>
          <p:cNvSpPr txBox="1"/>
          <p:nvPr/>
        </p:nvSpPr>
        <p:spPr>
          <a:xfrm>
            <a:off x="868016" y="2861098"/>
            <a:ext cx="9362661" cy="1198880"/>
          </a:xfrm>
          <a:prstGeom prst="rect">
            <a:avLst/>
          </a:prstGeom>
          <a:noFill/>
        </p:spPr>
        <p:txBody>
          <a:bodyPr wrap="square">
            <a:spAutoFit/>
          </a:bodyPr>
          <a:lstStyle/>
          <a:p>
            <a:pPr indent="304800"/>
            <a:r>
              <a:rPr altLang="zh-CN" dirty="0">
                <a:latin typeface="宋体" panose="02010600030101010101" pitchFamily="2" charset="-122"/>
                <a:ea typeface="宋体" panose="02010600030101010101" pitchFamily="2" charset="-122"/>
              </a:rPr>
              <a:t>模糊推理所处理的事物自身是模糊的，概念本身没有明确的外延，一个对象是否符合这个概念难以明确地确定模糊推理是对这种不确定性，即模糊性的表示与处理。</a:t>
            </a:r>
            <a:endParaRPr altLang="zh-CN" dirty="0">
              <a:latin typeface="宋体" panose="02010600030101010101" pitchFamily="2" charset="-122"/>
              <a:ea typeface="宋体" panose="02010600030101010101" pitchFamily="2" charset="-122"/>
            </a:endParaRPr>
          </a:p>
          <a:p>
            <a:pPr indent="304800"/>
            <a:r>
              <a:rPr altLang="zh-CN" dirty="0">
                <a:latin typeface="宋体" panose="02010600030101010101" pitchFamily="2" charset="-122"/>
                <a:ea typeface="宋体" panose="02010600030101010101" pitchFamily="2" charset="-122"/>
              </a:rPr>
              <a:t>模糊逻辑推理是基于模糊性知识(模糊规则)的一种近似推理，一般采用Zadeh提出的语言变量、语言值、模糊集和模糊关系合成的方法进行推理。</a:t>
            </a:r>
            <a:endParaRPr lang="zh-CN" altLang="en-US" dirty="0">
              <a:latin typeface="宋体" panose="02010600030101010101" pitchFamily="2" charset="-122"/>
              <a:ea typeface="宋体" panose="02010600030101010101" pitchFamily="2" charset="-122"/>
            </a:endParaRPr>
          </a:p>
        </p:txBody>
      </p:sp>
      <p:sp>
        <p:nvSpPr>
          <p:cNvPr id="3" name="文本框 2"/>
          <p:cNvSpPr txBox="1"/>
          <p:nvPr/>
        </p:nvSpPr>
        <p:spPr>
          <a:xfrm>
            <a:off x="496955" y="4340730"/>
            <a:ext cx="10654748" cy="460375"/>
          </a:xfrm>
          <a:prstGeom prst="rect">
            <a:avLst/>
          </a:prstGeom>
          <a:noFill/>
        </p:spPr>
        <p:txBody>
          <a:bodyPr wrap="square">
            <a:spAutoFit/>
          </a:bodyPr>
          <a:p>
            <a:pPr indent="304800"/>
            <a:r>
              <a:rPr lang="zh-CN" altLang="en-US" sz="2400" dirty="0">
                <a:effectLst/>
                <a:latin typeface="宋体" panose="02010600030101010101" pitchFamily="2" charset="-122"/>
                <a:ea typeface="宋体" panose="02010600030101010101" pitchFamily="2" charset="-122"/>
                <a:cs typeface="宋体" panose="02010600030101010101" pitchFamily="2" charset="-122"/>
              </a:rPr>
              <a:t>实验</a:t>
            </a:r>
            <a:r>
              <a:rPr lang="zh-CN" altLang="en-US" sz="2400" dirty="0">
                <a:effectLst/>
                <a:latin typeface="宋体" panose="02010600030101010101" pitchFamily="2" charset="-122"/>
                <a:ea typeface="宋体" panose="02010600030101010101" pitchFamily="2" charset="-122"/>
                <a:cs typeface="宋体" panose="02010600030101010101" pitchFamily="2" charset="-122"/>
              </a:rPr>
              <a:t>步骤</a:t>
            </a:r>
            <a:endParaRPr lang="zh-CN" altLang="en-US" sz="2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4" name="文本框 3"/>
          <p:cNvSpPr txBox="1"/>
          <p:nvPr/>
        </p:nvSpPr>
        <p:spPr>
          <a:xfrm>
            <a:off x="868016" y="4878493"/>
            <a:ext cx="9362661" cy="1129665"/>
          </a:xfrm>
          <a:prstGeom prst="rect">
            <a:avLst/>
          </a:prstGeom>
          <a:noFill/>
        </p:spPr>
        <p:txBody>
          <a:bodyPr wrap="square">
            <a:spAutoFit/>
          </a:bodyPr>
          <a:p>
            <a:pPr indent="304800" fontAlgn="auto">
              <a:lnSpc>
                <a:spcPct val="125000"/>
              </a:lnSpc>
            </a:pPr>
            <a:r>
              <a:rPr lang="zh-CN" dirty="0">
                <a:latin typeface="宋体" panose="02010600030101010101" pitchFamily="2" charset="-122"/>
                <a:ea typeface="宋体" panose="02010600030101010101" pitchFamily="2" charset="-122"/>
              </a:rPr>
              <a:t>①确定模糊关系，并对模糊关系进行</a:t>
            </a:r>
            <a:r>
              <a:rPr lang="zh-CN" dirty="0">
                <a:latin typeface="宋体" panose="02010600030101010101" pitchFamily="2" charset="-122"/>
                <a:ea typeface="宋体" panose="02010600030101010101" pitchFamily="2" charset="-122"/>
              </a:rPr>
              <a:t>合成</a:t>
            </a:r>
            <a:endParaRPr lang="zh-CN" dirty="0">
              <a:latin typeface="宋体" panose="02010600030101010101" pitchFamily="2" charset="-122"/>
              <a:ea typeface="宋体" panose="02010600030101010101" pitchFamily="2" charset="-122"/>
            </a:endParaRPr>
          </a:p>
          <a:p>
            <a:pPr indent="304800" fontAlgn="auto">
              <a:lnSpc>
                <a:spcPct val="125000"/>
              </a:lnSpc>
            </a:pPr>
            <a:r>
              <a:rPr lang="zh-CN" dirty="0">
                <a:latin typeface="宋体" panose="02010600030101010101" pitchFamily="2" charset="-122"/>
                <a:ea typeface="宋体" panose="02010600030101010101" pitchFamily="2" charset="-122"/>
              </a:rPr>
              <a:t>②根据条件与得到的模糊关系，进行</a:t>
            </a:r>
            <a:r>
              <a:rPr lang="zh-CN" dirty="0">
                <a:latin typeface="宋体" panose="02010600030101010101" pitchFamily="2" charset="-122"/>
                <a:ea typeface="宋体" panose="02010600030101010101" pitchFamily="2" charset="-122"/>
              </a:rPr>
              <a:t>模糊推理得到模糊</a:t>
            </a:r>
            <a:r>
              <a:rPr lang="zh-CN" dirty="0">
                <a:latin typeface="宋体" panose="02010600030101010101" pitchFamily="2" charset="-122"/>
                <a:ea typeface="宋体" panose="02010600030101010101" pitchFamily="2" charset="-122"/>
              </a:rPr>
              <a:t>向量</a:t>
            </a:r>
            <a:endParaRPr lang="zh-CN" dirty="0">
              <a:latin typeface="宋体" panose="02010600030101010101" pitchFamily="2" charset="-122"/>
              <a:ea typeface="宋体" panose="02010600030101010101" pitchFamily="2" charset="-122"/>
            </a:endParaRPr>
          </a:p>
          <a:p>
            <a:pPr indent="304800" fontAlgn="auto">
              <a:lnSpc>
                <a:spcPct val="125000"/>
              </a:lnSpc>
            </a:pPr>
            <a:r>
              <a:rPr lang="zh-CN" dirty="0">
                <a:latin typeface="宋体" panose="02010600030101010101" pitchFamily="2" charset="-122"/>
                <a:ea typeface="宋体" panose="02010600030101010101" pitchFamily="2" charset="-122"/>
              </a:rPr>
              <a:t>③将模糊向量转化为模糊决策（最大隶属度法</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加权平均判决法</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中位数法</a:t>
            </a:r>
            <a:r>
              <a:rPr lang="zh-CN" dirty="0">
                <a:latin typeface="宋体" panose="02010600030101010101" pitchFamily="2" charset="-122"/>
                <a:ea typeface="宋体" panose="02010600030101010101" pitchFamily="2" charset="-122"/>
              </a:rPr>
              <a:t>）</a:t>
            </a:r>
            <a:endParaRPr lang="zh-CN" dirty="0">
              <a:latin typeface="宋体" panose="02010600030101010101" pitchFamily="2" charset="-122"/>
              <a:ea typeface="宋体" panose="02010600030101010101" pitchFamily="2" charset="-122"/>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59"/>
          <p:cNvSpPr txBox="1">
            <a:spLocks noChangeArrowheads="1"/>
          </p:cNvSpPr>
          <p:nvPr/>
        </p:nvSpPr>
        <p:spPr bwMode="auto">
          <a:xfrm flipH="1">
            <a:off x="338454" y="191770"/>
            <a:ext cx="8527249" cy="645160"/>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实验</a:t>
            </a:r>
            <a:r>
              <a:rPr kumimoji="0" lang="en-US" altLang="zh-CN"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2 </a:t>
            </a: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模糊推理系统实验</a:t>
            </a:r>
            <a:endPar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endParaRPr>
          </a:p>
        </p:txBody>
      </p:sp>
      <p:sp>
        <p:nvSpPr>
          <p:cNvPr id="6" name="文本框 5"/>
          <p:cNvSpPr txBox="1"/>
          <p:nvPr/>
        </p:nvSpPr>
        <p:spPr>
          <a:xfrm>
            <a:off x="868017" y="1589109"/>
            <a:ext cx="10654748" cy="2861310"/>
          </a:xfrm>
          <a:prstGeom prst="rect">
            <a:avLst/>
          </a:prstGeom>
          <a:noFill/>
        </p:spPr>
        <p:txBody>
          <a:bodyPr wrap="square">
            <a:spAutoFit/>
          </a:bodyPr>
          <a:p>
            <a:pPr indent="304800"/>
            <a:r>
              <a:rPr lang="zh-CN" altLang="zh-CN" dirty="0">
                <a:latin typeface="宋体" panose="02010600030101010101" pitchFamily="2" charset="-122"/>
                <a:ea typeface="宋体" panose="02010600030101010101" pitchFamily="2" charset="-122"/>
                <a:cs typeface="宋体" panose="02010600030101010101" pitchFamily="2" charset="-122"/>
              </a:rPr>
              <a:t>设计洗衣机洗涤时间的模糊控制。已知人的操作经验为：</a:t>
            </a:r>
            <a:endParaRPr lang="zh-CN" altLang="zh-CN" dirty="0">
              <a:latin typeface="宋体" panose="02010600030101010101" pitchFamily="2" charset="-122"/>
              <a:ea typeface="宋体" panose="02010600030101010101" pitchFamily="2" charset="-122"/>
              <a:cs typeface="宋体" panose="02010600030101010101" pitchFamily="2" charset="-122"/>
            </a:endParaRPr>
          </a:p>
          <a:p>
            <a:pPr indent="304800"/>
            <a:r>
              <a:rPr lang="zh-CN" altLang="zh-CN" dirty="0">
                <a:latin typeface="宋体" panose="02010600030101010101" pitchFamily="2" charset="-122"/>
                <a:ea typeface="宋体" panose="02010600030101010101" pitchFamily="2" charset="-122"/>
                <a:cs typeface="宋体" panose="02010600030101010101" pitchFamily="2" charset="-122"/>
              </a:rPr>
              <a:t>“污泥越多，油脂越多，洗涤时间越长”；</a:t>
            </a:r>
            <a:endParaRPr lang="zh-CN" altLang="zh-CN" dirty="0">
              <a:latin typeface="宋体" panose="02010600030101010101" pitchFamily="2" charset="-122"/>
              <a:ea typeface="宋体" panose="02010600030101010101" pitchFamily="2" charset="-122"/>
              <a:cs typeface="宋体" panose="02010600030101010101" pitchFamily="2" charset="-122"/>
            </a:endParaRPr>
          </a:p>
          <a:p>
            <a:pPr indent="304800"/>
            <a:r>
              <a:rPr lang="zh-CN" altLang="zh-CN" dirty="0">
                <a:latin typeface="宋体" panose="02010600030101010101" pitchFamily="2" charset="-122"/>
                <a:ea typeface="宋体" panose="02010600030101010101" pitchFamily="2" charset="-122"/>
                <a:cs typeface="宋体" panose="02010600030101010101" pitchFamily="2" charset="-122"/>
              </a:rPr>
              <a:t>“污泥适中，油脂适中，洗涤时间适中”；</a:t>
            </a:r>
            <a:endParaRPr lang="zh-CN" altLang="zh-CN" dirty="0">
              <a:latin typeface="宋体" panose="02010600030101010101" pitchFamily="2" charset="-122"/>
              <a:ea typeface="宋体" panose="02010600030101010101" pitchFamily="2" charset="-122"/>
              <a:cs typeface="宋体" panose="02010600030101010101" pitchFamily="2" charset="-122"/>
            </a:endParaRPr>
          </a:p>
          <a:p>
            <a:pPr indent="304800"/>
            <a:r>
              <a:rPr lang="zh-CN" altLang="zh-CN" dirty="0">
                <a:latin typeface="宋体" panose="02010600030101010101" pitchFamily="2" charset="-122"/>
                <a:ea typeface="宋体" panose="02010600030101010101" pitchFamily="2" charset="-122"/>
                <a:cs typeface="宋体" panose="02010600030101010101" pitchFamily="2" charset="-122"/>
              </a:rPr>
              <a:t>“污泥越少，油脂越少，洗涤时间越短”。</a:t>
            </a:r>
            <a:endParaRPr lang="zh-CN" altLang="zh-CN" dirty="0">
              <a:latin typeface="宋体" panose="02010600030101010101" pitchFamily="2" charset="-122"/>
              <a:ea typeface="宋体" panose="02010600030101010101" pitchFamily="2" charset="-122"/>
              <a:cs typeface="宋体" panose="02010600030101010101" pitchFamily="2" charset="-122"/>
            </a:endParaRPr>
          </a:p>
          <a:p>
            <a:pPr indent="0" fontAlgn="auto"/>
            <a:r>
              <a:rPr lang="zh-CN" altLang="zh-CN" dirty="0">
                <a:latin typeface="宋体" panose="02010600030101010101" pitchFamily="2" charset="-122"/>
                <a:ea typeface="宋体" panose="02010600030101010101" pitchFamily="2" charset="-122"/>
                <a:cs typeface="宋体" panose="02010600030101010101" pitchFamily="2" charset="-122"/>
              </a:rPr>
              <a:t>要求：</a:t>
            </a:r>
            <a:endParaRPr lang="zh-CN" altLang="zh-CN" dirty="0">
              <a:latin typeface="宋体" panose="02010600030101010101" pitchFamily="2" charset="-122"/>
              <a:ea typeface="宋体" panose="02010600030101010101" pitchFamily="2" charset="-122"/>
              <a:cs typeface="宋体" panose="02010600030101010101" pitchFamily="2" charset="-122"/>
            </a:endParaRPr>
          </a:p>
          <a:p>
            <a:pPr indent="304800"/>
            <a:r>
              <a:rPr lang="zh-CN" altLang="zh-CN" dirty="0">
                <a:latin typeface="宋体" panose="02010600030101010101" pitchFamily="2" charset="-122"/>
                <a:ea typeface="宋体" panose="02010600030101010101" pitchFamily="2" charset="-122"/>
                <a:cs typeface="宋体" panose="02010600030101010101" pitchFamily="2" charset="-122"/>
              </a:rPr>
              <a:t>（1）设计相应的模糊控制器，给出输入、输出语言变量的隶属函数图，模糊控制规则表和推论结果立体图。</a:t>
            </a:r>
            <a:endParaRPr lang="zh-CN" altLang="zh-CN" dirty="0">
              <a:latin typeface="宋体" panose="02010600030101010101" pitchFamily="2" charset="-122"/>
              <a:ea typeface="宋体" panose="02010600030101010101" pitchFamily="2" charset="-122"/>
              <a:cs typeface="宋体" panose="02010600030101010101" pitchFamily="2" charset="-122"/>
            </a:endParaRPr>
          </a:p>
          <a:p>
            <a:pPr indent="304800"/>
            <a:r>
              <a:rPr lang="zh-CN" altLang="zh-CN" dirty="0">
                <a:latin typeface="宋体" panose="02010600030101010101" pitchFamily="2" charset="-122"/>
                <a:ea typeface="宋体" panose="02010600030101010101" pitchFamily="2" charset="-122"/>
                <a:cs typeface="宋体" panose="02010600030101010101" pitchFamily="2" charset="-122"/>
              </a:rPr>
              <a:t>（2）自己假定当前传感器测得的信息（污泥与油脂），进行洗衣机的模糊推理。</a:t>
            </a:r>
            <a:endParaRPr lang="zh-CN" altLang="zh-CN" dirty="0">
              <a:latin typeface="宋体" panose="02010600030101010101" pitchFamily="2" charset="-122"/>
              <a:ea typeface="宋体" panose="02010600030101010101" pitchFamily="2" charset="-122"/>
              <a:cs typeface="宋体" panose="02010600030101010101" pitchFamily="2" charset="-122"/>
            </a:endParaRPr>
          </a:p>
          <a:p>
            <a:pPr indent="0" fontAlgn="auto"/>
            <a:endParaRPr lang="zh-CN" altLang="zh-CN" dirty="0">
              <a:latin typeface="宋体" panose="02010600030101010101" pitchFamily="2" charset="-122"/>
              <a:ea typeface="宋体" panose="02010600030101010101" pitchFamily="2" charset="-122"/>
              <a:cs typeface="宋体" panose="02010600030101010101" pitchFamily="2" charset="-122"/>
            </a:endParaRPr>
          </a:p>
          <a:p>
            <a:pPr indent="0" fontAlgn="auto"/>
            <a:endParaRPr lang="zh-CN" altLang="zh-CN"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496955" y="1178292"/>
            <a:ext cx="10654748" cy="460375"/>
          </a:xfrm>
          <a:prstGeom prst="rect">
            <a:avLst/>
          </a:prstGeom>
          <a:noFill/>
        </p:spPr>
        <p:txBody>
          <a:bodyPr wrap="square">
            <a:spAutoFit/>
          </a:bodyPr>
          <a:p>
            <a:pPr indent="304800"/>
            <a:r>
              <a:rPr lang="zh-CN" altLang="en-US" sz="2400" dirty="0">
                <a:latin typeface="宋体" panose="02010600030101010101" pitchFamily="2" charset="-122"/>
                <a:ea typeface="宋体" panose="02010600030101010101" pitchFamily="2" charset="-122"/>
                <a:cs typeface="宋体" panose="02010600030101010101" pitchFamily="2" charset="-122"/>
              </a:rPr>
              <a:t>实验要求</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2" name="Object 1"/>
          <p:cNvGraphicFramePr>
            <a:graphicFrameLocks noChangeAspect="1"/>
          </p:cNvGraphicFramePr>
          <p:nvPr/>
        </p:nvGraphicFramePr>
        <p:xfrm>
          <a:off x="6553835" y="3975100"/>
          <a:ext cx="5017770" cy="2634615"/>
        </p:xfrm>
        <a:graphic>
          <a:graphicData uri="http://schemas.openxmlformats.org/presentationml/2006/ole">
            <mc:AlternateContent xmlns:mc="http://schemas.openxmlformats.org/markup-compatibility/2006">
              <mc:Choice xmlns:v="urn:schemas-microsoft-com:vml" Requires="v">
                <p:oleObj spid="_x0000_s3076" name="" r:id="rId1" imgW="2162175" imgH="1133475" progId="PBrush">
                  <p:embed/>
                </p:oleObj>
              </mc:Choice>
              <mc:Fallback>
                <p:oleObj name="" r:id="rId1" imgW="2162175" imgH="1133475" progId="PBrush">
                  <p:embed/>
                  <p:pic>
                    <p:nvPicPr>
                      <p:cNvPr id="0" name="图片 3075"/>
                      <p:cNvPicPr/>
                      <p:nvPr/>
                    </p:nvPicPr>
                    <p:blipFill>
                      <a:blip r:embed="rId2"/>
                      <a:stretch>
                        <a:fillRect/>
                      </a:stretch>
                    </p:blipFill>
                    <p:spPr>
                      <a:xfrm>
                        <a:off x="6553835" y="3975100"/>
                        <a:ext cx="5017770" cy="2634615"/>
                      </a:xfrm>
                      <a:prstGeom prst="rect">
                        <a:avLst/>
                      </a:prstGeom>
                      <a:noFill/>
                      <a:ln w="38100">
                        <a:noFill/>
                        <a:miter/>
                      </a:ln>
                    </p:spPr>
                  </p:pic>
                </p:oleObj>
              </mc:Fallback>
            </mc:AlternateContent>
          </a:graphicData>
        </a:graphic>
      </p:graphicFrame>
      <p:sp>
        <p:nvSpPr>
          <p:cNvPr id="3" name="文本框 2"/>
          <p:cNvSpPr txBox="1"/>
          <p:nvPr/>
        </p:nvSpPr>
        <p:spPr>
          <a:xfrm>
            <a:off x="868045" y="4100830"/>
            <a:ext cx="5457825" cy="2030095"/>
          </a:xfrm>
          <a:prstGeom prst="rect">
            <a:avLst/>
          </a:prstGeom>
          <a:noFill/>
        </p:spPr>
        <p:txBody>
          <a:bodyPr wrap="square" rtlCol="0">
            <a:spAutoFit/>
          </a:bodyPr>
          <a:p>
            <a:pPr indent="0" fontAlgn="auto"/>
            <a:r>
              <a:rPr lang="zh-CN" altLang="zh-CN" dirty="0">
                <a:latin typeface="宋体" panose="02010600030101010101" pitchFamily="2" charset="-122"/>
                <a:ea typeface="宋体" panose="02010600030101010101" pitchFamily="2" charset="-122"/>
                <a:cs typeface="宋体" panose="02010600030101010101" pitchFamily="2" charset="-122"/>
                <a:sym typeface="+mn-ea"/>
              </a:rPr>
              <a:t>提示：</a:t>
            </a:r>
            <a:endParaRPr lang="zh-CN" altLang="zh-CN" dirty="0">
              <a:latin typeface="宋体" panose="02010600030101010101" pitchFamily="2" charset="-122"/>
              <a:ea typeface="宋体" panose="02010600030101010101" pitchFamily="2" charset="-122"/>
              <a:cs typeface="宋体" panose="02010600030101010101" pitchFamily="2" charset="-122"/>
            </a:endParaRPr>
          </a:p>
          <a:p>
            <a:pPr indent="304800"/>
            <a:r>
              <a:rPr lang="zh-CN" altLang="zh-CN" dirty="0">
                <a:latin typeface="宋体" panose="02010600030101010101" pitchFamily="2" charset="-122"/>
                <a:ea typeface="宋体" panose="02010600030101010101" pitchFamily="2" charset="-122"/>
                <a:cs typeface="宋体" panose="02010600030101010101" pitchFamily="2" charset="-122"/>
                <a:sym typeface="+mn-ea"/>
              </a:rPr>
              <a:t>如图。其中SD（污泥少）、MD（污泥中）、LD（污泥多）、NG（油脂少）、MG（油脂中）、LG（油脂多）、VS（洗涤时间很短）、S（洗涤时间短）、M（洗涤时间中等）、L（洗涤时间长）、VL（洗涤时间很长）。</a:t>
            </a:r>
            <a:endParaRPr lang="zh-CN" altLang="zh-CN" dirty="0">
              <a:latin typeface="宋体" panose="02010600030101010101" pitchFamily="2" charset="-122"/>
              <a:ea typeface="宋体" panose="02010600030101010101" pitchFamily="2" charset="-122"/>
              <a:cs typeface="宋体" panose="02010600030101010101" pitchFamily="2" charset="-122"/>
            </a:endParaRPr>
          </a:p>
          <a:p>
            <a:endParaRPr lang="zh-CN" alt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59"/>
          <p:cNvSpPr txBox="1">
            <a:spLocks noChangeArrowheads="1"/>
          </p:cNvSpPr>
          <p:nvPr/>
        </p:nvSpPr>
        <p:spPr bwMode="auto">
          <a:xfrm flipH="1">
            <a:off x="338454" y="191770"/>
            <a:ext cx="8527249" cy="645160"/>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实验</a:t>
            </a:r>
            <a:r>
              <a:rPr kumimoji="0" lang="en-US" altLang="zh-CN"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2 </a:t>
            </a:r>
            <a:r>
              <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rPr>
              <a:t>模糊推理系统实验</a:t>
            </a:r>
            <a:endParaRPr kumimoji="0" lang="zh-CN" altLang="en-US" sz="3600" b="1"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ea"/>
              <a:sym typeface="+mn-lt"/>
            </a:endParaRPr>
          </a:p>
        </p:txBody>
      </p:sp>
      <p:sp>
        <p:nvSpPr>
          <p:cNvPr id="9" name="文本框 8"/>
          <p:cNvSpPr txBox="1"/>
          <p:nvPr/>
        </p:nvSpPr>
        <p:spPr>
          <a:xfrm>
            <a:off x="496955" y="1178292"/>
            <a:ext cx="10654748" cy="460375"/>
          </a:xfrm>
          <a:prstGeom prst="rect">
            <a:avLst/>
          </a:prstGeom>
          <a:noFill/>
        </p:spPr>
        <p:txBody>
          <a:bodyPr wrap="square">
            <a:spAutoFit/>
          </a:bodyPr>
          <a:p>
            <a:pPr indent="304800"/>
            <a:r>
              <a:rPr lang="zh-CN" altLang="en-US" sz="2400" dirty="0">
                <a:latin typeface="宋体" panose="02010600030101010101" pitchFamily="2" charset="-122"/>
                <a:ea typeface="宋体" panose="02010600030101010101" pitchFamily="2" charset="-122"/>
                <a:cs typeface="宋体" panose="02010600030101010101" pitchFamily="2" charset="-122"/>
              </a:rPr>
              <a:t>实验示例</a:t>
            </a:r>
            <a:r>
              <a:rPr lang="zh-CN" altLang="en-US" sz="2400" dirty="0">
                <a:latin typeface="宋体" panose="02010600030101010101" pitchFamily="2" charset="-122"/>
                <a:ea typeface="宋体" panose="02010600030101010101" pitchFamily="2" charset="-122"/>
                <a:cs typeface="宋体" panose="02010600030101010101" pitchFamily="2" charset="-122"/>
              </a:rPr>
              <a:t>展示</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1"/>
          <a:stretch>
            <a:fillRect/>
          </a:stretch>
        </p:blipFill>
        <p:spPr>
          <a:xfrm>
            <a:off x="922655" y="1746250"/>
            <a:ext cx="4318000" cy="4866640"/>
          </a:xfrm>
          <a:prstGeom prst="rect">
            <a:avLst/>
          </a:prstGeom>
        </p:spPr>
      </p:pic>
      <p:pic>
        <p:nvPicPr>
          <p:cNvPr id="3" name="图片 2"/>
          <p:cNvPicPr>
            <a:picLocks noChangeAspect="1"/>
          </p:cNvPicPr>
          <p:nvPr/>
        </p:nvPicPr>
        <p:blipFill>
          <a:blip r:embed="rId2"/>
          <a:stretch>
            <a:fillRect/>
          </a:stretch>
        </p:blipFill>
        <p:spPr>
          <a:xfrm>
            <a:off x="5655945" y="1745615"/>
            <a:ext cx="6101080" cy="4473575"/>
          </a:xfrm>
          <a:prstGeom prst="rect">
            <a:avLst/>
          </a:prstGeom>
        </p:spPr>
      </p:pic>
    </p:spTree>
    <p:custDataLst>
      <p:tags r:id="rId3"/>
    </p:custDataLst>
  </p:cSld>
  <p:clrMapOvr>
    <a:masterClrMapping/>
  </p:clrMapOvr>
</p:sld>
</file>

<file path=ppt/tags/tag1.xml><?xml version="1.0" encoding="utf-8"?>
<p:tagLst xmlns:p="http://schemas.openxmlformats.org/presentationml/2006/main">
  <p:tag name="KSO_WM_SLIDE_MODEL_TYPE" val="timeline"/>
</p:tagLst>
</file>

<file path=ppt/tags/tag2.xml><?xml version="1.0" encoding="utf-8"?>
<p:tagLst xmlns:p="http://schemas.openxmlformats.org/presentationml/2006/main">
  <p:tag name="KSO_WM_SLIDE_MODEL_TYPE" val="timeline"/>
</p:tagLst>
</file>

<file path=ppt/tags/tag3.xml><?xml version="1.0" encoding="utf-8"?>
<p:tagLst xmlns:p="http://schemas.openxmlformats.org/presentationml/2006/main">
  <p:tag name="KSO_WM_SLIDE_MODEL_TYPE" val="timeline"/>
</p:tagLst>
</file>

<file path=ppt/tags/tag4.xml><?xml version="1.0" encoding="utf-8"?>
<p:tagLst xmlns:p="http://schemas.openxmlformats.org/presentationml/2006/main">
  <p:tag name="KSO_WM_SLIDE_MODEL_TYPE" val="timeline"/>
</p:tagLst>
</file>

<file path=ppt/tags/tag5.xml><?xml version="1.0" encoding="utf-8"?>
<p:tagLst xmlns:p="http://schemas.openxmlformats.org/presentationml/2006/main">
  <p:tag name="KSO_WM_SLIDE_MODEL_TYPE" val="timeline"/>
</p:tagLst>
</file>

<file path=ppt/tags/tag6.xml><?xml version="1.0" encoding="utf-8"?>
<p:tagLst xmlns:p="http://schemas.openxmlformats.org/presentationml/2006/main">
  <p:tag name="KSO_WM_SLIDE_MODEL_TYPE" val="timeline"/>
</p:tagLst>
</file>

<file path=ppt/tags/tag7.xml><?xml version="1.0" encoding="utf-8"?>
<p:tagLst xmlns:p="http://schemas.openxmlformats.org/presentationml/2006/main">
  <p:tag name="KSO_WM_SLIDE_MODEL_TYPE" val="timeline"/>
</p:tagLst>
</file>

<file path=ppt/tags/tag8.xml><?xml version="1.0" encoding="utf-8"?>
<p:tagLst xmlns:p="http://schemas.openxmlformats.org/presentationml/2006/main">
  <p:tag name="COMMONDATA" val="eyJoZGlkIjoiYTUyMTI4YmNkOTIyNDlmNjY5Y2I2ZmJlYzNmNTlmMmEifQ=="/>
  <p:tag name="commondata" val="eyJoZGlkIjoiNGYzY2Y3YjdlNWFjYjUyMzFlMzhhZDRhYWUxOTExNjUifQ=="/>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spPr>
      <a:bodyPr rtlCol="0" anchor="ctr"/>
      <a:lstStyle>
        <a:defPPr algn="ctr">
          <a:defRPr lang="zh-CN" altLang="en-US"/>
        </a:defPPr>
      </a:lstStyle>
      <a:style>
        <a:lnRef idx="2">
          <a:schemeClr val="accent1">
            <a:shade val="50000"/>
          </a:schemeClr>
        </a:lnRef>
        <a:fillRef idx="1">
          <a:schemeClr val="accent1"/>
        </a:fillRef>
        <a:effectRef idx="0">
          <a:schemeClr val="accent1"/>
        </a:effectRef>
        <a:fontRef idx="minor">
          <a:schemeClr val="lt1"/>
        </a:fontRef>
      </a:style>
    </a:spDef>
    <a:lnDef>
      <a:spPr>
        <a:ln>
          <a:tailEnd type="arrow"/>
        </a:ln>
      </a:spPr>
      <a:bodyPr/>
      <a:lstStyle/>
      <a:style>
        <a:lnRef idx="1">
          <a:schemeClr val="accent1"/>
        </a:lnRef>
        <a:fillRef idx="0">
          <a:schemeClr val="accent1"/>
        </a:fillRef>
        <a:effectRef idx="0">
          <a:schemeClr val="accent1"/>
        </a:effectRef>
        <a:fontRef idx="minor">
          <a:schemeClr val="tx1"/>
        </a:fontRef>
      </a:style>
    </a:lnDef>
    <a:txDef>
      <a:spPr>
        <a:solidFill>
          <a:schemeClr val="accent5">
            <a:lumMod val="75000"/>
          </a:schemeClr>
        </a:solidFill>
      </a:spPr>
      <a:bodyPr wrap="square" rtlCol="0">
        <a:spAutoFit/>
      </a:bodyPr>
      <a:lstStyle>
        <a:defPPr algn="ctr">
          <a:defRPr lang="zh-CN" altLang="en-US" sz="28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1057</Words>
  <Application>WPS 演示</Application>
  <PresentationFormat>宽屏</PresentationFormat>
  <Paragraphs>91</Paragraphs>
  <Slides>8</Slides>
  <Notes>1</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8</vt:i4>
      </vt:variant>
    </vt:vector>
  </HeadingPairs>
  <TitlesOfParts>
    <vt:vector size="22" baseType="lpstr">
      <vt:lpstr>Arial</vt:lpstr>
      <vt:lpstr>宋体</vt:lpstr>
      <vt:lpstr>Wingdings</vt:lpstr>
      <vt:lpstr>微软雅黑</vt:lpstr>
      <vt:lpstr>Arial Unicode MS</vt:lpstr>
      <vt:lpstr>Calibri</vt:lpstr>
      <vt:lpstr>等线</vt:lpstr>
      <vt:lpstr>Times New Roman</vt:lpstr>
      <vt:lpstr>Arial Unicode MS</vt:lpstr>
      <vt:lpstr>等线 Light</vt:lpstr>
      <vt:lpstr>Calibri Light</vt:lpstr>
      <vt:lpstr>1_Office 主题​​</vt:lpstr>
      <vt:lpstr>2_Office 主题</vt:lpstr>
      <vt:lpstr>PBrush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2645858448@qq.com</dc:creator>
  <cp:lastModifiedBy>trying</cp:lastModifiedBy>
  <cp:revision>106</cp:revision>
  <dcterms:created xsi:type="dcterms:W3CDTF">2022-11-12T11:53:00Z</dcterms:created>
  <dcterms:modified xsi:type="dcterms:W3CDTF">2024-03-13T00:55:47Z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4BB1A203F02F4EB4A0D602C7F375511C</vt:lpwstr>
  </property>
  <property fmtid="{D5CDD505-2E9C-101B-9397-08002B2CF9AE}" pid="3" name="KSOProductBuildVer">
    <vt:lpwstr>2052-12.1.0.16388</vt:lpwstr>
  </property>
</Properties>
</file>