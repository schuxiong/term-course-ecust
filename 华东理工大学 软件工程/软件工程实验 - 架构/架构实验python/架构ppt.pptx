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72" r:id="rId2"/>
    <p:sldId id="270" r:id="rId3"/>
    <p:sldId id="273" r:id="rId4"/>
    <p:sldId id="304" r:id="rId5"/>
    <p:sldId id="305" r:id="rId6"/>
    <p:sldId id="274" r:id="rId7"/>
    <p:sldId id="284" r:id="rId8"/>
    <p:sldId id="306" r:id="rId9"/>
    <p:sldId id="277" r:id="rId10"/>
    <p:sldId id="285" r:id="rId11"/>
    <p:sldId id="286" r:id="rId12"/>
    <p:sldId id="287" r:id="rId13"/>
    <p:sldId id="308" r:id="rId14"/>
    <p:sldId id="288" r:id="rId15"/>
    <p:sldId id="290" r:id="rId16"/>
    <p:sldId id="291" r:id="rId17"/>
    <p:sldId id="307" r:id="rId18"/>
    <p:sldId id="294" r:id="rId19"/>
    <p:sldId id="283" r:id="rId20"/>
    <p:sldId id="275" r:id="rId21"/>
    <p:sldId id="278" r:id="rId22"/>
    <p:sldId id="295" r:id="rId23"/>
    <p:sldId id="296" r:id="rId24"/>
    <p:sldId id="298" r:id="rId25"/>
    <p:sldId id="297" r:id="rId26"/>
    <p:sldId id="299" r:id="rId27"/>
    <p:sldId id="300" r:id="rId28"/>
    <p:sldId id="301" r:id="rId29"/>
    <p:sldId id="302"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B6B"/>
    <a:srgbClr val="005D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33" autoAdjust="0"/>
    <p:restoredTop sz="94694"/>
  </p:normalViewPr>
  <p:slideViewPr>
    <p:cSldViewPr snapToGrid="0" showGuides="1">
      <p:cViewPr varScale="1">
        <p:scale>
          <a:sx n="121" d="100"/>
          <a:sy n="121" d="100"/>
        </p:scale>
        <p:origin x="928"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A5684B-F4FE-4DF9-A7AD-653E382D5334}" type="datetimeFigureOut">
              <a:rPr lang="zh-CN" altLang="en-US" smtClean="0"/>
              <a:t>2024/4/29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215B1-82A0-445D-85B9-0F7883FF3103}" type="slidenum">
              <a:rPr lang="zh-CN" altLang="en-US" smtClean="0"/>
              <a:t>‹#›</a:t>
            </a:fld>
            <a:endParaRPr lang="zh-CN" altLang="en-US"/>
          </a:p>
        </p:txBody>
      </p:sp>
    </p:spTree>
    <p:extLst>
      <p:ext uri="{BB962C8B-B14F-4D97-AF65-F5344CB8AC3E}">
        <p14:creationId xmlns:p14="http://schemas.microsoft.com/office/powerpoint/2010/main" val="644001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E0215B1-82A0-445D-85B9-0F7883FF3103}" type="slidenum">
              <a:rPr lang="zh-CN" altLang="en-US" smtClean="0"/>
              <a:t>5</a:t>
            </a:fld>
            <a:endParaRPr lang="zh-CN" altLang="en-US"/>
          </a:p>
        </p:txBody>
      </p:sp>
    </p:spTree>
    <p:extLst>
      <p:ext uri="{BB962C8B-B14F-4D97-AF65-F5344CB8AC3E}">
        <p14:creationId xmlns:p14="http://schemas.microsoft.com/office/powerpoint/2010/main" val="609386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E0215B1-82A0-445D-85B9-0F7883FF3103}" type="slidenum">
              <a:rPr lang="zh-CN" altLang="en-US" smtClean="0"/>
              <a:t>12</a:t>
            </a:fld>
            <a:endParaRPr lang="zh-CN" altLang="en-US"/>
          </a:p>
        </p:txBody>
      </p:sp>
    </p:spTree>
    <p:extLst>
      <p:ext uri="{BB962C8B-B14F-4D97-AF65-F5344CB8AC3E}">
        <p14:creationId xmlns:p14="http://schemas.microsoft.com/office/powerpoint/2010/main" val="1081046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124083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2648487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322728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3818097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3577986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3531784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3397909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581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1724026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2212671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C6C0FA0-6C4B-4932-B60C-180C1A98241E}" type="datetimeFigureOut">
              <a:rPr lang="zh-CN" altLang="en-US" smtClean="0"/>
              <a:t>2024/4/29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2676533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5123152"/>
      </p:ext>
    </p:extLst>
  </p:cSld>
  <p:clrMapOvr>
    <a:masterClrMapping/>
  </p:clrMapOvr>
  <p:transition spd="slow" advTm="0">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6C0FA0-6C4B-4932-B60C-180C1A98241E}" type="datetimeFigureOut">
              <a:rPr lang="zh-CN" altLang="en-US" smtClean="0"/>
              <a:t>2024/4/29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1ED67C-E04A-40CD-943C-0B4CF32CF20F}" type="slidenum">
              <a:rPr lang="zh-CN" altLang="en-US" smtClean="0"/>
              <a:t>‹#›</a:t>
            </a:fld>
            <a:endParaRPr lang="zh-CN" altLang="en-US"/>
          </a:p>
        </p:txBody>
      </p:sp>
    </p:spTree>
    <p:extLst>
      <p:ext uri="{BB962C8B-B14F-4D97-AF65-F5344CB8AC3E}">
        <p14:creationId xmlns:p14="http://schemas.microsoft.com/office/powerpoint/2010/main" val="2145230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6.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5.pn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hyperlink" Target="http://127.0.0.1:8000/" TargetMode="External"/><Relationship Id="rId5" Type="http://schemas.openxmlformats.org/officeDocument/2006/relationships/hyperlink" Target="http://127.0.0.1:8080/" TargetMode="External"/><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23726" t="9765" b="7114"/>
          <a:stretch/>
        </p:blipFill>
        <p:spPr>
          <a:xfrm>
            <a:off x="0" y="2"/>
            <a:ext cx="12192000" cy="6878782"/>
          </a:xfrm>
          <a:prstGeom prst="rect">
            <a:avLst/>
          </a:prstGeom>
        </p:spPr>
      </p:pic>
      <p:sp>
        <p:nvSpPr>
          <p:cNvPr id="10" name="文本框 9"/>
          <p:cNvSpPr txBox="1"/>
          <p:nvPr/>
        </p:nvSpPr>
        <p:spPr>
          <a:xfrm>
            <a:off x="4495421" y="2091814"/>
            <a:ext cx="6074184" cy="923330"/>
          </a:xfrm>
          <a:prstGeom prst="rect">
            <a:avLst/>
          </a:prstGeom>
          <a:noFill/>
        </p:spPr>
        <p:txBody>
          <a:bodyPr wrap="square" rtlCol="0">
            <a:spAutoFit/>
          </a:bodyPr>
          <a:lstStyle/>
          <a:p>
            <a:r>
              <a:rPr lang="zh-CN" altLang="en-US" sz="5400" b="1" dirty="0">
                <a:solidFill>
                  <a:schemeClr val="bg1"/>
                </a:solidFill>
                <a:latin typeface="微软雅黑" panose="020B0503020204020204" pitchFamily="34" charset="-122"/>
                <a:ea typeface="微软雅黑" panose="020B0503020204020204" pitchFamily="34" charset="-122"/>
              </a:rPr>
              <a:t>软件架构</a:t>
            </a:r>
            <a:r>
              <a:rPr lang="en-US" altLang="zh-CN" sz="5400" b="1" dirty="0">
                <a:solidFill>
                  <a:schemeClr val="bg1"/>
                </a:solidFill>
                <a:latin typeface="微软雅黑" panose="020B0503020204020204" pitchFamily="34" charset="-122"/>
                <a:ea typeface="微软雅黑" panose="020B0503020204020204" pitchFamily="34" charset="-122"/>
              </a:rPr>
              <a:t>Demo</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4495421" y="2960971"/>
            <a:ext cx="5634810" cy="369332"/>
          </a:xfrm>
          <a:prstGeom prst="rect">
            <a:avLst/>
          </a:prstGeom>
          <a:noFill/>
        </p:spPr>
        <p:txBody>
          <a:bodyPr wrap="square" rtlCol="0">
            <a:spAutoFit/>
          </a:bodyPr>
          <a:lstStyle/>
          <a:p>
            <a:r>
              <a:rPr lang="zh-CN" altLang="en-US" dirty="0">
                <a:solidFill>
                  <a:schemeClr val="bg1">
                    <a:lumMod val="85000"/>
                  </a:schemeClr>
                </a:solidFill>
                <a:latin typeface="微软雅黑" panose="020B0503020204020204" pitchFamily="34" charset="-122"/>
                <a:ea typeface="微软雅黑" panose="020B0503020204020204" pitchFamily="34" charset="-122"/>
              </a:rPr>
              <a:t>说明文档</a:t>
            </a:r>
          </a:p>
        </p:txBody>
      </p:sp>
      <p:sp>
        <p:nvSpPr>
          <p:cNvPr id="3" name="燕尾形 2"/>
          <p:cNvSpPr/>
          <p:nvPr/>
        </p:nvSpPr>
        <p:spPr>
          <a:xfrm>
            <a:off x="11618636" y="5901033"/>
            <a:ext cx="364564" cy="490071"/>
          </a:xfrm>
          <a:prstGeom prst="chevron">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8" name="组合 17"/>
          <p:cNvGrpSpPr/>
          <p:nvPr/>
        </p:nvGrpSpPr>
        <p:grpSpPr>
          <a:xfrm>
            <a:off x="252584" y="2231643"/>
            <a:ext cx="3366200" cy="614003"/>
            <a:chOff x="8482002" y="88145"/>
            <a:chExt cx="3125988" cy="570188"/>
          </a:xfrm>
        </p:grpSpPr>
        <p:pic>
          <p:nvPicPr>
            <p:cNvPr id="20" name="Picture 3" descr="校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4" descr="校名 标准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文本框 3">
            <a:extLst>
              <a:ext uri="{FF2B5EF4-FFF2-40B4-BE49-F238E27FC236}">
                <a16:creationId xmlns:a16="http://schemas.microsoft.com/office/drawing/2014/main" id="{1D720E27-C732-E1F2-1EE0-932D1DC3644B}"/>
              </a:ext>
            </a:extLst>
          </p:cNvPr>
          <p:cNvSpPr txBox="1"/>
          <p:nvPr/>
        </p:nvSpPr>
        <p:spPr>
          <a:xfrm>
            <a:off x="7638394" y="5812391"/>
            <a:ext cx="6742386" cy="923330"/>
          </a:xfrm>
          <a:prstGeom prst="rect">
            <a:avLst/>
          </a:prstGeom>
          <a:noFill/>
        </p:spPr>
        <p:txBody>
          <a:bodyPr wrap="square">
            <a:spAutoFit/>
          </a:bodyPr>
          <a:lstStyle/>
          <a:p>
            <a:pPr algn="l"/>
            <a:r>
              <a:rPr lang="en" altLang="zh-CN" b="0" i="0" dirty="0">
                <a:solidFill>
                  <a:schemeClr val="bg1"/>
                </a:solidFill>
                <a:effectLst/>
                <a:latin typeface="-apple-system"/>
              </a:rPr>
              <a:t>https://</a:t>
            </a:r>
            <a:r>
              <a:rPr lang="en" altLang="zh-CN" b="0" i="0" dirty="0" err="1">
                <a:solidFill>
                  <a:schemeClr val="bg1"/>
                </a:solidFill>
                <a:effectLst/>
                <a:latin typeface="-apple-system"/>
              </a:rPr>
              <a:t>github.com</a:t>
            </a:r>
            <a:r>
              <a:rPr lang="en" altLang="zh-CN" b="0" i="0" dirty="0">
                <a:solidFill>
                  <a:schemeClr val="bg1"/>
                </a:solidFill>
                <a:effectLst/>
                <a:latin typeface="-apple-system"/>
              </a:rPr>
              <a:t>/ChoCoo1/</a:t>
            </a:r>
            <a:r>
              <a:rPr lang="en" altLang="zh-CN" b="0" i="0" dirty="0" err="1">
                <a:solidFill>
                  <a:schemeClr val="bg1"/>
                </a:solidFill>
                <a:effectLst/>
                <a:latin typeface="-apple-system"/>
              </a:rPr>
              <a:t>TodoList</a:t>
            </a:r>
            <a:endParaRPr lang="en" altLang="zh-CN" b="0" i="0" dirty="0">
              <a:solidFill>
                <a:schemeClr val="bg1"/>
              </a:solidFill>
              <a:effectLst/>
              <a:latin typeface="-apple-system"/>
            </a:endParaRPr>
          </a:p>
          <a:p>
            <a:pPr algn="l"/>
            <a:r>
              <a:rPr lang="en" altLang="zh-CN" b="0" i="0" dirty="0">
                <a:solidFill>
                  <a:schemeClr val="bg1"/>
                </a:solidFill>
                <a:effectLst/>
                <a:latin typeface="-apple-system"/>
              </a:rPr>
              <a:t>https://</a:t>
            </a:r>
            <a:r>
              <a:rPr lang="en" altLang="zh-CN" b="0" i="0" dirty="0" err="1">
                <a:solidFill>
                  <a:schemeClr val="bg1"/>
                </a:solidFill>
                <a:effectLst/>
                <a:latin typeface="-apple-system"/>
              </a:rPr>
              <a:t>gitee.com</a:t>
            </a:r>
            <a:r>
              <a:rPr lang="en" altLang="zh-CN" b="0" i="0" dirty="0">
                <a:solidFill>
                  <a:schemeClr val="bg1"/>
                </a:solidFill>
                <a:effectLst/>
                <a:latin typeface="-apple-system"/>
              </a:rPr>
              <a:t>/</a:t>
            </a:r>
            <a:r>
              <a:rPr lang="en" altLang="zh-CN" b="0" i="0" dirty="0" err="1">
                <a:solidFill>
                  <a:schemeClr val="bg1"/>
                </a:solidFill>
                <a:effectLst/>
                <a:latin typeface="-apple-system"/>
              </a:rPr>
              <a:t>ChoCool</a:t>
            </a:r>
            <a:r>
              <a:rPr lang="en" altLang="zh-CN" b="0" i="0" dirty="0">
                <a:solidFill>
                  <a:schemeClr val="bg1"/>
                </a:solidFill>
                <a:effectLst/>
                <a:latin typeface="-apple-system"/>
              </a:rPr>
              <a:t>/</a:t>
            </a:r>
            <a:r>
              <a:rPr lang="en" altLang="zh-CN" b="0" i="0" dirty="0" err="1">
                <a:solidFill>
                  <a:schemeClr val="bg1"/>
                </a:solidFill>
                <a:effectLst/>
                <a:latin typeface="-apple-system"/>
              </a:rPr>
              <a:t>todo</a:t>
            </a:r>
            <a:r>
              <a:rPr lang="en" altLang="zh-CN" b="0" i="0" dirty="0">
                <a:solidFill>
                  <a:schemeClr val="bg1"/>
                </a:solidFill>
                <a:effectLst/>
                <a:latin typeface="-apple-system"/>
              </a:rPr>
              <a:t>-list</a:t>
            </a:r>
          </a:p>
          <a:p>
            <a:pPr algn="l"/>
            <a:endParaRPr lang="en" altLang="zh-CN" b="0" i="0" dirty="0">
              <a:solidFill>
                <a:srgbClr val="40485B"/>
              </a:solidFill>
              <a:effectLst/>
              <a:highlight>
                <a:srgbClr val="FFFFFF"/>
              </a:highlight>
              <a:latin typeface="-apple-system"/>
            </a:endParaRPr>
          </a:p>
        </p:txBody>
      </p:sp>
    </p:spTree>
    <p:extLst>
      <p:ext uri="{BB962C8B-B14F-4D97-AF65-F5344CB8AC3E}">
        <p14:creationId xmlns:p14="http://schemas.microsoft.com/office/powerpoint/2010/main" val="733959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l="20251" r="38854" b="3001"/>
          <a:stretch/>
        </p:blipFill>
        <p:spPr>
          <a:xfrm>
            <a:off x="0" y="6032"/>
            <a:ext cx="4457700" cy="6843232"/>
          </a:xfrm>
          <a:prstGeom prst="rect">
            <a:avLst/>
          </a:prstGeom>
        </p:spPr>
      </p:pic>
      <p:sp>
        <p:nvSpPr>
          <p:cNvPr id="4" name="矩形 3"/>
          <p:cNvSpPr/>
          <p:nvPr/>
        </p:nvSpPr>
        <p:spPr>
          <a:xfrm>
            <a:off x="0" y="0"/>
            <a:ext cx="4457700" cy="6858000"/>
          </a:xfrm>
          <a:prstGeom prst="rect">
            <a:avLst/>
          </a:prstGeom>
          <a:gradFill>
            <a:gsLst>
              <a:gs pos="0">
                <a:schemeClr val="accent1">
                  <a:lumMod val="60000"/>
                  <a:lumOff val="40000"/>
                  <a:alpha val="70000"/>
                </a:schemeClr>
              </a:gs>
              <a:gs pos="100000">
                <a:schemeClr val="accent1">
                  <a:lumMod val="75000"/>
                  <a:alpha val="7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86409" y="864704"/>
            <a:ext cx="3525479" cy="769441"/>
          </a:xfrm>
          <a:prstGeom prst="rect">
            <a:avLst/>
          </a:prstGeom>
          <a:noFill/>
        </p:spPr>
        <p:txBody>
          <a:bodyPr wrap="square" rtlCol="0">
            <a:spAutoFit/>
          </a:bodyPr>
          <a:lstStyle/>
          <a:p>
            <a:r>
              <a:rPr lang="zh-CN" altLang="en-US" sz="4000" b="1" spc="600" dirty="0">
                <a:solidFill>
                  <a:schemeClr val="bg1"/>
                </a:solidFill>
                <a:latin typeface="微软雅黑" panose="020B0503020204020204" pitchFamily="34" charset="-122"/>
                <a:ea typeface="微软雅黑" panose="020B0503020204020204" pitchFamily="34" charset="-122"/>
              </a:rPr>
              <a:t>目录</a:t>
            </a:r>
            <a:r>
              <a:rPr lang="zh-CN" altLang="en-US" sz="44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CONTENTS</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541045" y="1634145"/>
            <a:ext cx="1162879" cy="646331"/>
          </a:xfrm>
          <a:prstGeom prst="rect">
            <a:avLst/>
          </a:prstGeom>
          <a:noFill/>
        </p:spPr>
        <p:txBody>
          <a:bodyPr wrap="square" rtlCol="0">
            <a:spAutoFit/>
          </a:bodyPr>
          <a:lstStyle/>
          <a:p>
            <a:r>
              <a:rPr lang="en-US" altLang="zh-CN" sz="3600" b="1" dirty="0">
                <a:ln>
                  <a:solidFill>
                    <a:schemeClr val="bg1">
                      <a:lumMod val="50000"/>
                    </a:schemeClr>
                  </a:solidFill>
                </a:ln>
                <a:noFill/>
                <a:latin typeface="微软雅黑" panose="020B0503020204020204" pitchFamily="34" charset="-122"/>
                <a:ea typeface="微软雅黑" panose="020B0503020204020204" pitchFamily="34" charset="-122"/>
              </a:rPr>
              <a:t>01</a:t>
            </a:r>
            <a:endParaRPr lang="zh-CN" altLang="en-US" sz="3600" b="1" dirty="0">
              <a:ln>
                <a:solidFill>
                  <a:schemeClr val="bg1">
                    <a:lumMod val="50000"/>
                  </a:schemeClr>
                </a:solidFill>
              </a:ln>
              <a:noFill/>
              <a:latin typeface="微软雅黑" panose="020B0503020204020204" pitchFamily="34" charset="-122"/>
              <a:ea typeface="微软雅黑" panose="020B0503020204020204" pitchFamily="34" charset="-122"/>
            </a:endParaRPr>
          </a:p>
        </p:txBody>
      </p:sp>
      <p:sp>
        <p:nvSpPr>
          <p:cNvPr id="31" name="文本框 30"/>
          <p:cNvSpPr txBox="1"/>
          <p:nvPr/>
        </p:nvSpPr>
        <p:spPr>
          <a:xfrm>
            <a:off x="6534469" y="2675470"/>
            <a:ext cx="1162879" cy="646331"/>
          </a:xfrm>
          <a:prstGeom prst="rect">
            <a:avLst/>
          </a:prstGeom>
          <a:noFill/>
        </p:spPr>
        <p:txBody>
          <a:bodyPr wrap="square" rtlCol="0">
            <a:spAutoFit/>
          </a:bodyPr>
          <a:lstStyle/>
          <a:p>
            <a:r>
              <a:rPr lang="en-US" altLang="zh-CN" sz="3600" b="1" dirty="0">
                <a:ln>
                  <a:solidFill>
                    <a:schemeClr val="bg1">
                      <a:lumMod val="50000"/>
                    </a:schemeClr>
                  </a:solidFill>
                </a:ln>
                <a:noFill/>
                <a:latin typeface="微软雅黑" panose="020B0503020204020204" pitchFamily="34" charset="-122"/>
                <a:ea typeface="微软雅黑" panose="020B0503020204020204" pitchFamily="34" charset="-122"/>
              </a:rPr>
              <a:t>02</a:t>
            </a:r>
            <a:endParaRPr lang="zh-CN" altLang="en-US" sz="3600" b="1" dirty="0">
              <a:ln>
                <a:solidFill>
                  <a:schemeClr val="bg1">
                    <a:lumMod val="50000"/>
                  </a:schemeClr>
                </a:solidFill>
              </a:ln>
              <a:noFill/>
              <a:latin typeface="微软雅黑" panose="020B0503020204020204" pitchFamily="34" charset="-122"/>
              <a:ea typeface="微软雅黑" panose="020B0503020204020204" pitchFamily="34" charset="-122"/>
            </a:endParaRPr>
          </a:p>
        </p:txBody>
      </p:sp>
      <p:sp>
        <p:nvSpPr>
          <p:cNvPr id="32" name="文本框 31"/>
          <p:cNvSpPr txBox="1"/>
          <p:nvPr/>
        </p:nvSpPr>
        <p:spPr>
          <a:xfrm>
            <a:off x="6534468" y="3713457"/>
            <a:ext cx="1162879" cy="646331"/>
          </a:xfrm>
          <a:prstGeom prst="rect">
            <a:avLst/>
          </a:prstGeom>
          <a:noFill/>
        </p:spPr>
        <p:txBody>
          <a:bodyPr wrap="square" rtlCol="0">
            <a:spAutoFit/>
          </a:bodyPr>
          <a:lstStyle/>
          <a:p>
            <a:r>
              <a:rPr lang="en-US" altLang="zh-CN" sz="3600" b="1" dirty="0">
                <a:ln>
                  <a:solidFill>
                    <a:schemeClr val="bg1">
                      <a:lumMod val="50000"/>
                    </a:schemeClr>
                  </a:solidFill>
                </a:ln>
                <a:noFill/>
                <a:latin typeface="微软雅黑" panose="020B0503020204020204" pitchFamily="34" charset="-122"/>
                <a:ea typeface="微软雅黑" panose="020B0503020204020204" pitchFamily="34" charset="-122"/>
              </a:rPr>
              <a:t>03</a:t>
            </a:r>
            <a:endParaRPr lang="zh-CN" altLang="en-US" sz="3600" b="1" dirty="0">
              <a:ln>
                <a:solidFill>
                  <a:schemeClr val="bg1">
                    <a:lumMod val="50000"/>
                  </a:schemeClr>
                </a:solidFill>
              </a:ln>
              <a:noFill/>
              <a:latin typeface="微软雅黑" panose="020B0503020204020204" pitchFamily="34" charset="-122"/>
              <a:ea typeface="微软雅黑" panose="020B0503020204020204" pitchFamily="34" charset="-122"/>
            </a:endParaRPr>
          </a:p>
        </p:txBody>
      </p:sp>
      <p:sp>
        <p:nvSpPr>
          <p:cNvPr id="33" name="文本框 32"/>
          <p:cNvSpPr txBox="1"/>
          <p:nvPr/>
        </p:nvSpPr>
        <p:spPr>
          <a:xfrm>
            <a:off x="6541045" y="4740458"/>
            <a:ext cx="1162879" cy="646331"/>
          </a:xfrm>
          <a:prstGeom prst="rect">
            <a:avLst/>
          </a:prstGeom>
          <a:noFill/>
        </p:spPr>
        <p:txBody>
          <a:bodyPr wrap="square" rtlCol="0">
            <a:spAutoFit/>
          </a:bodyPr>
          <a:lstStyle/>
          <a:p>
            <a:r>
              <a:rPr lang="en-US" altLang="zh-CN" sz="3600" b="1" dirty="0">
                <a:ln>
                  <a:solidFill>
                    <a:schemeClr val="bg1">
                      <a:lumMod val="50000"/>
                    </a:schemeClr>
                  </a:solidFill>
                </a:ln>
                <a:noFill/>
                <a:latin typeface="微软雅黑" panose="020B0503020204020204" pitchFamily="34" charset="-122"/>
                <a:ea typeface="微软雅黑" panose="020B0503020204020204" pitchFamily="34" charset="-122"/>
              </a:rPr>
              <a:t>04</a:t>
            </a:r>
            <a:endParaRPr lang="zh-CN" altLang="en-US" sz="3600" b="1" dirty="0">
              <a:ln>
                <a:solidFill>
                  <a:schemeClr val="bg1">
                    <a:lumMod val="50000"/>
                  </a:schemeClr>
                </a:solidFill>
              </a:ln>
              <a:noFill/>
              <a:latin typeface="微软雅黑" panose="020B0503020204020204" pitchFamily="34" charset="-122"/>
              <a:ea typeface="微软雅黑" panose="020B0503020204020204" pitchFamily="34" charset="-122"/>
            </a:endParaRPr>
          </a:p>
        </p:txBody>
      </p:sp>
      <p:sp>
        <p:nvSpPr>
          <p:cNvPr id="34" name="文本框 33"/>
          <p:cNvSpPr txBox="1"/>
          <p:nvPr/>
        </p:nvSpPr>
        <p:spPr>
          <a:xfrm>
            <a:off x="7697347" y="1718602"/>
            <a:ext cx="3140849" cy="461665"/>
          </a:xfrm>
          <a:prstGeom prst="rect">
            <a:avLst/>
          </a:prstGeom>
          <a:noFill/>
        </p:spPr>
        <p:txBody>
          <a:bodyPr wrap="square" rtlCol="0">
            <a:spAutoFit/>
          </a:bodyPr>
          <a:lstStyle/>
          <a:p>
            <a:r>
              <a:rPr lang="zh-CN" altLang="en-US" sz="2400" b="1" dirty="0">
                <a:solidFill>
                  <a:schemeClr val="bg2">
                    <a:lumMod val="50000"/>
                  </a:schemeClr>
                </a:solidFill>
                <a:latin typeface="微软雅黑" panose="020B0503020204020204" pitchFamily="34" charset="-122"/>
                <a:ea typeface="微软雅黑" panose="020B0503020204020204" pitchFamily="34" charset="-122"/>
              </a:rPr>
              <a:t>软件架构</a:t>
            </a:r>
          </a:p>
        </p:txBody>
      </p:sp>
      <p:sp>
        <p:nvSpPr>
          <p:cNvPr id="35" name="文本框 34"/>
          <p:cNvSpPr txBox="1"/>
          <p:nvPr/>
        </p:nvSpPr>
        <p:spPr>
          <a:xfrm>
            <a:off x="7697346" y="2763038"/>
            <a:ext cx="4311461" cy="461665"/>
          </a:xfrm>
          <a:prstGeom prst="rect">
            <a:avLst/>
          </a:prstGeom>
          <a:noFill/>
        </p:spPr>
        <p:txBody>
          <a:bodyPr wrap="square" rtlCol="0">
            <a:spAutoFit/>
          </a:bodyPr>
          <a:lstStyle/>
          <a:p>
            <a:r>
              <a:rPr lang="en-US" altLang="zh-CN" sz="2400" b="1" dirty="0">
                <a:solidFill>
                  <a:schemeClr val="bg2">
                    <a:lumMod val="50000"/>
                  </a:schemeClr>
                </a:solidFill>
                <a:latin typeface="微软雅黑" panose="020B0503020204020204" pitchFamily="34" charset="-122"/>
                <a:ea typeface="微软雅黑" panose="020B0503020204020204" pitchFamily="34" charset="-122"/>
              </a:rPr>
              <a:t>MVC</a:t>
            </a:r>
            <a:r>
              <a:rPr lang="zh-CN" altLang="en-US" sz="2400" b="1" dirty="0">
                <a:solidFill>
                  <a:schemeClr val="bg2">
                    <a:lumMod val="50000"/>
                  </a:schemeClr>
                </a:solidFill>
                <a:latin typeface="微软雅黑" panose="020B0503020204020204" pitchFamily="34" charset="-122"/>
                <a:ea typeface="微软雅黑" panose="020B0503020204020204" pitchFamily="34" charset="-122"/>
              </a:rPr>
              <a:t> 架构下的前后端</a:t>
            </a:r>
          </a:p>
        </p:txBody>
      </p:sp>
      <p:sp>
        <p:nvSpPr>
          <p:cNvPr id="36" name="文本框 35"/>
          <p:cNvSpPr txBox="1"/>
          <p:nvPr/>
        </p:nvSpPr>
        <p:spPr>
          <a:xfrm>
            <a:off x="7697345" y="3805789"/>
            <a:ext cx="4311461" cy="461665"/>
          </a:xfrm>
          <a:prstGeom prst="rect">
            <a:avLst/>
          </a:prstGeom>
          <a:noFill/>
        </p:spPr>
        <p:txBody>
          <a:bodyPr wrap="square" rtlCol="0">
            <a:spAutoFit/>
          </a:bodyPr>
          <a:lstStyle/>
          <a:p>
            <a:r>
              <a:rPr lang="zh-CN" altLang="en-US" sz="2400" b="1" dirty="0">
                <a:solidFill>
                  <a:schemeClr val="bg2">
                    <a:lumMod val="50000"/>
                  </a:schemeClr>
                </a:solidFill>
                <a:latin typeface="微软雅黑" panose="020B0503020204020204" pitchFamily="34" charset="-122"/>
                <a:ea typeface="微软雅黑" panose="020B0503020204020204" pitchFamily="34" charset="-122"/>
              </a:rPr>
              <a:t>启动前后端服务</a:t>
            </a:r>
          </a:p>
        </p:txBody>
      </p:sp>
      <p:sp>
        <p:nvSpPr>
          <p:cNvPr id="37" name="文本框 36"/>
          <p:cNvSpPr txBox="1"/>
          <p:nvPr/>
        </p:nvSpPr>
        <p:spPr>
          <a:xfrm>
            <a:off x="7697344" y="4848542"/>
            <a:ext cx="4311461" cy="461665"/>
          </a:xfrm>
          <a:prstGeom prst="rect">
            <a:avLst/>
          </a:prstGeom>
          <a:noFill/>
        </p:spPr>
        <p:txBody>
          <a:bodyPr wrap="square" rtlCol="0">
            <a:spAutoFit/>
          </a:bodyPr>
          <a:lstStyle/>
          <a:p>
            <a:r>
              <a:rPr lang="zh-CN" altLang="en-US" sz="2400" b="1" dirty="0">
                <a:solidFill>
                  <a:schemeClr val="bg2">
                    <a:lumMod val="50000"/>
                  </a:schemeClr>
                </a:solidFill>
                <a:latin typeface="微软雅黑" panose="020B0503020204020204" pitchFamily="34" charset="-122"/>
                <a:ea typeface="微软雅黑" panose="020B0503020204020204" pitchFamily="34" charset="-122"/>
              </a:rPr>
              <a:t>前端、后端、数据库交互</a:t>
            </a:r>
          </a:p>
        </p:txBody>
      </p:sp>
      <p:grpSp>
        <p:nvGrpSpPr>
          <p:cNvPr id="39" name="组合 38"/>
          <p:cNvGrpSpPr/>
          <p:nvPr/>
        </p:nvGrpSpPr>
        <p:grpSpPr>
          <a:xfrm>
            <a:off x="9255810" y="110683"/>
            <a:ext cx="2334353" cy="425792"/>
            <a:chOff x="8482002" y="88145"/>
            <a:chExt cx="3125988" cy="570188"/>
          </a:xfrm>
        </p:grpSpPr>
        <p:pic>
          <p:nvPicPr>
            <p:cNvPr id="41" name="Picture 3" descr="校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4" descr="校名 标准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椭圆 1"/>
          <p:cNvSpPr/>
          <p:nvPr/>
        </p:nvSpPr>
        <p:spPr>
          <a:xfrm>
            <a:off x="5909106" y="1883693"/>
            <a:ext cx="131482" cy="13148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5909106" y="2928129"/>
            <a:ext cx="131482" cy="13148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5909106" y="3972565"/>
            <a:ext cx="131482" cy="13148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909106" y="4997882"/>
            <a:ext cx="131482" cy="13148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96963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400799" y="1808911"/>
            <a:ext cx="5014191" cy="2758209"/>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t="5644" b="6782"/>
          <a:stretch/>
        </p:blipFill>
        <p:spPr>
          <a:xfrm>
            <a:off x="6667422" y="2085109"/>
            <a:ext cx="5067378" cy="2895600"/>
          </a:xfrm>
          <a:prstGeom prst="rect">
            <a:avLst/>
          </a:prstGeom>
        </p:spPr>
      </p:pic>
      <p:sp>
        <p:nvSpPr>
          <p:cNvPr id="5" name="矩形 4"/>
          <p:cNvSpPr/>
          <p:nvPr/>
        </p:nvSpPr>
        <p:spPr>
          <a:xfrm>
            <a:off x="6667422" y="2085108"/>
            <a:ext cx="5067378" cy="2895601"/>
          </a:xfrm>
          <a:prstGeom prst="rect">
            <a:avLst/>
          </a:prstGeom>
          <a:solidFill>
            <a:schemeClr val="bg1">
              <a:lumMod val="95000"/>
              <a:alpha val="6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61307" y="2368580"/>
            <a:ext cx="2555571" cy="738664"/>
          </a:xfrm>
          <a:prstGeom prst="rect">
            <a:avLst/>
          </a:prstGeom>
          <a:noFill/>
        </p:spPr>
        <p:txBody>
          <a:bodyPr wrap="none" lIns="0" tIns="0" rIns="0" bIns="0" rtlCol="0" anchor="b">
            <a:spAutoFit/>
          </a:bodyPr>
          <a:lstStyle/>
          <a:p>
            <a:r>
              <a:rPr lang="en-US" altLang="zh-CN" sz="4800" b="1"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PART   1</a:t>
            </a:r>
          </a:p>
        </p:txBody>
      </p:sp>
      <p:sp>
        <p:nvSpPr>
          <p:cNvPr id="9" name="文本框 8"/>
          <p:cNvSpPr txBox="1"/>
          <p:nvPr/>
        </p:nvSpPr>
        <p:spPr>
          <a:xfrm>
            <a:off x="561307" y="3300626"/>
            <a:ext cx="3539430" cy="1015663"/>
          </a:xfrm>
          <a:prstGeom prst="rect">
            <a:avLst/>
          </a:prstGeom>
          <a:noFill/>
        </p:spPr>
        <p:txBody>
          <a:bodyPr wrap="none" lIns="0" tIns="0" rIns="0" bIns="0" rtlCol="0">
            <a:spAutoFit/>
          </a:bodyPr>
          <a:lstStyle/>
          <a:p>
            <a:r>
              <a:rPr lang="zh-CN" altLang="en-US" sz="6600" b="1" spc="300" dirty="0">
                <a:solidFill>
                  <a:srgbClr val="005D97"/>
                </a:solidFill>
                <a:latin typeface="微软雅黑" panose="020B0503020204020204" pitchFamily="34" charset="-122"/>
                <a:ea typeface="微软雅黑" panose="020B0503020204020204" pitchFamily="34" charset="-122"/>
              </a:rPr>
              <a:t>软件架构</a:t>
            </a:r>
          </a:p>
        </p:txBody>
      </p:sp>
    </p:spTree>
    <p:extLst>
      <p:ext uri="{BB962C8B-B14F-4D97-AF65-F5344CB8AC3E}">
        <p14:creationId xmlns:p14="http://schemas.microsoft.com/office/powerpoint/2010/main" val="2110451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78850" y="540149"/>
            <a:ext cx="3720184"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为什么需要 </a:t>
            </a:r>
            <a:r>
              <a:rPr lang="en-US" altLang="zh-CN" sz="2400" b="1" dirty="0">
                <a:latin typeface="微软雅黑" panose="020B0503020204020204" pitchFamily="34" charset="-122"/>
                <a:ea typeface="微软雅黑" panose="020B0503020204020204" pitchFamily="34" charset="-122"/>
              </a:rPr>
              <a:t>MVC</a:t>
            </a:r>
            <a:r>
              <a:rPr lang="zh-CN" altLang="en-US" sz="2400" b="1" dirty="0">
                <a:latin typeface="微软雅黑" panose="020B0503020204020204" pitchFamily="34" charset="-122"/>
                <a:ea typeface="微软雅黑" panose="020B0503020204020204" pitchFamily="34" charset="-122"/>
              </a:rPr>
              <a:t> 架构？</a:t>
            </a:r>
          </a:p>
        </p:txBody>
      </p:sp>
      <p:cxnSp>
        <p:nvCxnSpPr>
          <p:cNvPr id="7" name="直接连接符 6"/>
          <p:cNvCxnSpPr>
            <a:cxnSpLocks/>
            <a:endCxn id="13" idx="1"/>
          </p:cNvCxnSpPr>
          <p:nvPr/>
        </p:nvCxnSpPr>
        <p:spPr>
          <a:xfrm>
            <a:off x="0" y="6438900"/>
            <a:ext cx="986961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869618" y="6177290"/>
            <a:ext cx="1449545" cy="523220"/>
          </a:xfrm>
          <a:prstGeom prst="rect">
            <a:avLst/>
          </a:prstGeom>
          <a:noFill/>
        </p:spPr>
        <p:txBody>
          <a:bodyPr wrap="square" rtlCol="0">
            <a:spAutoFit/>
          </a:bodyPr>
          <a:lstStyle/>
          <a:p>
            <a:r>
              <a:rPr lang="en-US" altLang="zh-CN" sz="2800" b="1" spc="300" dirty="0">
                <a:ln>
                  <a:solidFill>
                    <a:schemeClr val="bg1">
                      <a:lumMod val="65000"/>
                    </a:schemeClr>
                  </a:solidFill>
                </a:ln>
                <a:noFill/>
              </a:rPr>
              <a:t>ECUST</a:t>
            </a:r>
            <a:endParaRPr lang="zh-CN" altLang="en-US" sz="2800" b="1" spc="300" dirty="0">
              <a:ln>
                <a:solidFill>
                  <a:schemeClr val="bg1">
                    <a:lumMod val="65000"/>
                  </a:schemeClr>
                </a:solidFill>
              </a:ln>
              <a:noFill/>
            </a:endParaRPr>
          </a:p>
        </p:txBody>
      </p:sp>
      <p:sp>
        <p:nvSpPr>
          <p:cNvPr id="21" name="矩形 20"/>
          <p:cNvSpPr/>
          <p:nvPr/>
        </p:nvSpPr>
        <p:spPr>
          <a:xfrm>
            <a:off x="11165019" y="6334125"/>
            <a:ext cx="1043154" cy="222250"/>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9255810" y="309314"/>
            <a:ext cx="2334353" cy="425792"/>
            <a:chOff x="8482002" y="88145"/>
            <a:chExt cx="3125988" cy="570188"/>
          </a:xfrm>
        </p:grpSpPr>
        <p:pic>
          <p:nvPicPr>
            <p:cNvPr id="15"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 name="文本框 17">
            <a:extLst>
              <a:ext uri="{FF2B5EF4-FFF2-40B4-BE49-F238E27FC236}">
                <a16:creationId xmlns:a16="http://schemas.microsoft.com/office/drawing/2014/main" id="{0FC82CC3-4274-4DBB-AC8F-674BBF02B84E}"/>
              </a:ext>
            </a:extLst>
          </p:cNvPr>
          <p:cNvSpPr txBox="1"/>
          <p:nvPr/>
        </p:nvSpPr>
        <p:spPr>
          <a:xfrm>
            <a:off x="378850" y="1026686"/>
            <a:ext cx="4413586" cy="5446363"/>
          </a:xfrm>
          <a:prstGeom prst="rect">
            <a:avLst/>
          </a:prstGeom>
          <a:noFill/>
        </p:spPr>
        <p:txBody>
          <a:bodyPr wrap="square">
            <a:spAutoFit/>
          </a:bodyPr>
          <a:lstStyle/>
          <a:p>
            <a:pPr>
              <a:lnSpc>
                <a:spcPct val="150000"/>
              </a:lnSpc>
            </a:pPr>
            <a:r>
              <a:rPr lang="zh-CN" altLang="en-US" dirty="0"/>
              <a:t>在最初的网页中，像数据库查询语句</a:t>
            </a:r>
            <a:r>
              <a:rPr lang="en-US" altLang="zh-CN" dirty="0"/>
              <a:t>(</a:t>
            </a:r>
            <a:r>
              <a:rPr lang="en" altLang="zh-CN" dirty="0"/>
              <a:t>SQL query)</a:t>
            </a:r>
            <a:r>
              <a:rPr lang="zh-CN" altLang="en-US" dirty="0"/>
              <a:t>这样的数据层代码和像</a:t>
            </a:r>
            <a:r>
              <a:rPr lang="en" altLang="zh-CN" dirty="0"/>
              <a:t>HTML</a:t>
            </a:r>
            <a:r>
              <a:rPr lang="zh-CN" altLang="en-US" dirty="0"/>
              <a:t>这样的表示层代码是混在一起。</a:t>
            </a:r>
            <a:endParaRPr lang="en-US" altLang="zh-CN" dirty="0"/>
          </a:p>
          <a:p>
            <a:pPr>
              <a:lnSpc>
                <a:spcPct val="150000"/>
              </a:lnSpc>
            </a:pPr>
            <a:endParaRPr lang="en-US" altLang="zh-CN" dirty="0"/>
          </a:p>
          <a:p>
            <a:pPr>
              <a:lnSpc>
                <a:spcPct val="150000"/>
              </a:lnSpc>
            </a:pPr>
            <a:r>
              <a:rPr lang="zh-CN" altLang="en-US" dirty="0"/>
              <a:t>主要的危害：</a:t>
            </a:r>
            <a:endParaRPr lang="en-US" altLang="zh-CN" dirty="0"/>
          </a:p>
          <a:p>
            <a:pPr>
              <a:lnSpc>
                <a:spcPct val="150000"/>
              </a:lnSpc>
            </a:pPr>
            <a:r>
              <a:rPr lang="en-US" altLang="zh-CN" dirty="0"/>
              <a:t>1</a:t>
            </a:r>
            <a:r>
              <a:rPr lang="zh-CN" altLang="en-US" dirty="0"/>
              <a:t>、代码无法重用并且难以维护：混合代码降低了代码的重用性，因为数据访问逻辑和表示逻辑紧密耦合。</a:t>
            </a:r>
            <a:endParaRPr lang="en-US" altLang="zh-CN" dirty="0"/>
          </a:p>
          <a:p>
            <a:pPr>
              <a:lnSpc>
                <a:spcPct val="150000"/>
              </a:lnSpc>
            </a:pPr>
            <a:r>
              <a:rPr lang="en-US" altLang="zh-CN" dirty="0"/>
              <a:t>2.</a:t>
            </a:r>
            <a:r>
              <a:rPr lang="zh-CN" altLang="en-US" dirty="0"/>
              <a:t>、</a:t>
            </a:r>
            <a:r>
              <a:rPr lang="en-US" altLang="zh-CN" dirty="0"/>
              <a:t>SQL</a:t>
            </a:r>
            <a:r>
              <a:rPr lang="zh-CN" altLang="en-US" dirty="0"/>
              <a:t>注入攻击：如果用户输入的数据没有得到适当的过滤和转义，攻击者可以利用</a:t>
            </a:r>
            <a:r>
              <a:rPr lang="en-US" altLang="zh-CN" dirty="0"/>
              <a:t>SQL</a:t>
            </a:r>
            <a:r>
              <a:rPr lang="zh-CN" altLang="en-US" dirty="0"/>
              <a:t>注入漏洞向数据库发送恶意的</a:t>
            </a:r>
            <a:r>
              <a:rPr lang="en-US" altLang="zh-CN" dirty="0"/>
              <a:t>SQL</a:t>
            </a:r>
            <a:r>
              <a:rPr lang="zh-CN" altLang="en-US" dirty="0"/>
              <a:t>语句，导致数据泄露、数据篡改或数据库服务中断。</a:t>
            </a:r>
          </a:p>
        </p:txBody>
      </p:sp>
      <p:sp>
        <p:nvSpPr>
          <p:cNvPr id="6" name="文本框 5">
            <a:extLst>
              <a:ext uri="{FF2B5EF4-FFF2-40B4-BE49-F238E27FC236}">
                <a16:creationId xmlns:a16="http://schemas.microsoft.com/office/drawing/2014/main" id="{01EE3D6A-410C-41E3-95EF-AEC7BA6F42E1}"/>
              </a:ext>
            </a:extLst>
          </p:cNvPr>
          <p:cNvSpPr txBox="1"/>
          <p:nvPr/>
        </p:nvSpPr>
        <p:spPr>
          <a:xfrm>
            <a:off x="5204113" y="604002"/>
            <a:ext cx="6115050" cy="5909310"/>
          </a:xfrm>
          <a:prstGeom prst="rect">
            <a:avLst/>
          </a:prstGeom>
          <a:noFill/>
        </p:spPr>
        <p:txBody>
          <a:bodyPr wrap="square">
            <a:spAutoFit/>
          </a:bodyPr>
          <a:lstStyle/>
          <a:p>
            <a:endParaRPr kumimoji="1" lang="en" altLang="zh-CN" dirty="0"/>
          </a:p>
          <a:p>
            <a:r>
              <a:rPr kumimoji="1" lang="en" altLang="zh-CN" dirty="0"/>
              <a:t>    &lt;script&gt;</a:t>
            </a:r>
          </a:p>
          <a:p>
            <a:r>
              <a:rPr kumimoji="1" lang="zh-CN" altLang="en-US" dirty="0"/>
              <a:t>    </a:t>
            </a:r>
            <a:r>
              <a:rPr kumimoji="1" lang="en-US" altLang="zh-CN" dirty="0"/>
              <a:t>(</a:t>
            </a:r>
            <a:r>
              <a:rPr kumimoji="1" lang="en" altLang="zh-CN" dirty="0"/>
              <a:t>function() {</a:t>
            </a:r>
          </a:p>
          <a:p>
            <a:r>
              <a:rPr kumimoji="1" lang="en" altLang="zh-CN" dirty="0"/>
              <a:t>        // </a:t>
            </a:r>
            <a:r>
              <a:rPr kumimoji="1" lang="zh-CN" altLang="en-US" dirty="0"/>
              <a:t>假设有一个</a:t>
            </a:r>
            <a:r>
              <a:rPr kumimoji="1" lang="en" altLang="zh-CN" dirty="0"/>
              <a:t>API</a:t>
            </a:r>
            <a:r>
              <a:rPr kumimoji="1" lang="zh-CN" altLang="en-US" dirty="0"/>
              <a:t>端点可以查询用户数据</a:t>
            </a:r>
          </a:p>
          <a:p>
            <a:r>
              <a:rPr kumimoji="1" lang="zh-CN" altLang="en-US" dirty="0"/>
              <a:t>        </a:t>
            </a:r>
            <a:r>
              <a:rPr kumimoji="1" lang="en" altLang="zh-CN" dirty="0"/>
              <a:t>var </a:t>
            </a:r>
            <a:r>
              <a:rPr kumimoji="1" lang="en" altLang="zh-CN" dirty="0" err="1"/>
              <a:t>xhr</a:t>
            </a:r>
            <a:r>
              <a:rPr kumimoji="1" lang="en" altLang="zh-CN" dirty="0"/>
              <a:t> = new </a:t>
            </a:r>
            <a:r>
              <a:rPr kumimoji="1" lang="en" altLang="zh-CN" dirty="0" err="1"/>
              <a:t>XMLHttpRequest</a:t>
            </a:r>
            <a:r>
              <a:rPr kumimoji="1" lang="en" altLang="zh-CN" dirty="0"/>
              <a:t>();</a:t>
            </a:r>
          </a:p>
          <a:p>
            <a:r>
              <a:rPr kumimoji="1" lang="en" altLang="zh-CN" dirty="0"/>
              <a:t>        </a:t>
            </a:r>
            <a:r>
              <a:rPr kumimoji="1" lang="en" altLang="zh-CN" dirty="0" err="1"/>
              <a:t>xhr.open</a:t>
            </a:r>
            <a:r>
              <a:rPr kumimoji="1" lang="en" altLang="zh-CN" dirty="0"/>
              <a:t>('GET', 'http://</a:t>
            </a:r>
            <a:r>
              <a:rPr kumimoji="1" lang="en" altLang="zh-CN" dirty="0" err="1"/>
              <a:t>yourserver.com</a:t>
            </a:r>
            <a:r>
              <a:rPr kumimoji="1" lang="en" altLang="zh-CN" dirty="0"/>
              <a:t>/</a:t>
            </a:r>
            <a:r>
              <a:rPr kumimoji="1" lang="en" altLang="zh-CN" dirty="0" err="1"/>
              <a:t>api</a:t>
            </a:r>
            <a:r>
              <a:rPr kumimoji="1" lang="en" altLang="zh-CN" dirty="0"/>
              <a:t>/users', true);</a:t>
            </a:r>
          </a:p>
          <a:p>
            <a:r>
              <a:rPr kumimoji="1" lang="en" altLang="zh-CN" dirty="0"/>
              <a:t>        </a:t>
            </a:r>
            <a:r>
              <a:rPr kumimoji="1" lang="en" altLang="zh-CN" dirty="0" err="1"/>
              <a:t>xhr.onreadystatechange</a:t>
            </a:r>
            <a:r>
              <a:rPr kumimoji="1" lang="en" altLang="zh-CN" dirty="0"/>
              <a:t> = function() {</a:t>
            </a:r>
          </a:p>
          <a:p>
            <a:r>
              <a:rPr kumimoji="1" lang="en" altLang="zh-CN" dirty="0"/>
              <a:t>            if (</a:t>
            </a:r>
            <a:r>
              <a:rPr kumimoji="1" lang="en" altLang="zh-CN" dirty="0" err="1"/>
              <a:t>xhr.readyState</a:t>
            </a:r>
            <a:r>
              <a:rPr kumimoji="1" lang="en" altLang="zh-CN" dirty="0"/>
              <a:t> == 4 &amp;&amp; </a:t>
            </a:r>
            <a:r>
              <a:rPr kumimoji="1" lang="en" altLang="zh-CN" dirty="0" err="1"/>
              <a:t>xhr.status</a:t>
            </a:r>
            <a:r>
              <a:rPr kumimoji="1" lang="en" altLang="zh-CN" dirty="0"/>
              <a:t> == 200) {</a:t>
            </a:r>
          </a:p>
          <a:p>
            <a:r>
              <a:rPr kumimoji="1" lang="en" altLang="zh-CN" dirty="0"/>
              <a:t>                var users = </a:t>
            </a:r>
            <a:r>
              <a:rPr kumimoji="1" lang="en" altLang="zh-CN" dirty="0" err="1"/>
              <a:t>JSON.parse</a:t>
            </a:r>
            <a:r>
              <a:rPr kumimoji="1" lang="en" altLang="zh-CN" dirty="0"/>
              <a:t>(</a:t>
            </a:r>
            <a:r>
              <a:rPr kumimoji="1" lang="en" altLang="zh-CN" dirty="0" err="1"/>
              <a:t>xhr.responseText</a:t>
            </a:r>
            <a:r>
              <a:rPr kumimoji="1" lang="en" altLang="zh-CN" dirty="0"/>
              <a:t>);</a:t>
            </a:r>
          </a:p>
          <a:p>
            <a:r>
              <a:rPr kumimoji="1" lang="en" altLang="zh-CN" dirty="0"/>
              <a:t>                var </a:t>
            </a:r>
            <a:r>
              <a:rPr kumimoji="1" lang="en" altLang="zh-CN" dirty="0" err="1"/>
              <a:t>userRows</a:t>
            </a:r>
            <a:r>
              <a:rPr kumimoji="1" lang="en" altLang="zh-CN" dirty="0"/>
              <a:t> = </a:t>
            </a:r>
            <a:r>
              <a:rPr kumimoji="1" lang="en" altLang="zh-CN" dirty="0" err="1"/>
              <a:t>document.getElementById</a:t>
            </a:r>
            <a:r>
              <a:rPr kumimoji="1" lang="en" altLang="zh-CN" dirty="0"/>
              <a:t>('</a:t>
            </a:r>
            <a:r>
              <a:rPr kumimoji="1" lang="en" altLang="zh-CN" dirty="0" err="1"/>
              <a:t>userRows</a:t>
            </a:r>
            <a:r>
              <a:rPr kumimoji="1" lang="en" altLang="zh-CN" dirty="0"/>
              <a:t>');</a:t>
            </a:r>
          </a:p>
          <a:p>
            <a:r>
              <a:rPr kumimoji="1" lang="en" altLang="zh-CN" dirty="0"/>
              <a:t>                </a:t>
            </a:r>
            <a:r>
              <a:rPr kumimoji="1" lang="en" altLang="zh-CN" dirty="0" err="1"/>
              <a:t>users.forEach</a:t>
            </a:r>
            <a:r>
              <a:rPr kumimoji="1" lang="en" altLang="zh-CN" dirty="0"/>
              <a:t>(function(user) {</a:t>
            </a:r>
          </a:p>
          <a:p>
            <a:r>
              <a:rPr kumimoji="1" lang="en" altLang="zh-CN" dirty="0"/>
              <a:t>                    var row = </a:t>
            </a:r>
            <a:r>
              <a:rPr kumimoji="1" lang="en" altLang="zh-CN" dirty="0" err="1"/>
              <a:t>userRows.insertRow</a:t>
            </a:r>
            <a:r>
              <a:rPr kumimoji="1" lang="en" altLang="zh-CN" dirty="0"/>
              <a:t>();</a:t>
            </a:r>
          </a:p>
          <a:p>
            <a:r>
              <a:rPr kumimoji="1" lang="en" altLang="zh-CN" dirty="0"/>
              <a:t>                    </a:t>
            </a:r>
            <a:r>
              <a:rPr kumimoji="1" lang="en" altLang="zh-CN" dirty="0" err="1"/>
              <a:t>row.insertCell</a:t>
            </a:r>
            <a:r>
              <a:rPr kumimoji="1" lang="en" altLang="zh-CN" dirty="0"/>
              <a:t>(0).</a:t>
            </a:r>
            <a:r>
              <a:rPr kumimoji="1" lang="en" altLang="zh-CN" dirty="0" err="1"/>
              <a:t>textContent</a:t>
            </a:r>
            <a:r>
              <a:rPr kumimoji="1" lang="en" altLang="zh-CN" dirty="0"/>
              <a:t> = </a:t>
            </a:r>
            <a:r>
              <a:rPr kumimoji="1" lang="en" altLang="zh-CN" dirty="0" err="1"/>
              <a:t>user.id</a:t>
            </a:r>
            <a:r>
              <a:rPr kumimoji="1" lang="en" altLang="zh-CN" dirty="0"/>
              <a:t>;</a:t>
            </a:r>
          </a:p>
          <a:p>
            <a:r>
              <a:rPr kumimoji="1" lang="en" altLang="zh-CN" dirty="0"/>
              <a:t>                    </a:t>
            </a:r>
            <a:r>
              <a:rPr kumimoji="1" lang="en" altLang="zh-CN" dirty="0" err="1"/>
              <a:t>row.insertCell</a:t>
            </a:r>
            <a:r>
              <a:rPr kumimoji="1" lang="en" altLang="zh-CN" dirty="0"/>
              <a:t>(1).</a:t>
            </a:r>
            <a:r>
              <a:rPr kumimoji="1" lang="en" altLang="zh-CN" dirty="0" err="1"/>
              <a:t>textContent</a:t>
            </a:r>
            <a:r>
              <a:rPr kumimoji="1" lang="en" altLang="zh-CN" dirty="0"/>
              <a:t> = </a:t>
            </a:r>
            <a:r>
              <a:rPr kumimoji="1" lang="en" altLang="zh-CN" dirty="0" err="1"/>
              <a:t>user.username</a:t>
            </a:r>
            <a:r>
              <a:rPr kumimoji="1" lang="en" altLang="zh-CN" dirty="0"/>
              <a:t>;</a:t>
            </a:r>
          </a:p>
          <a:p>
            <a:r>
              <a:rPr kumimoji="1" lang="en" altLang="zh-CN" dirty="0"/>
              <a:t>                    </a:t>
            </a:r>
            <a:r>
              <a:rPr kumimoji="1" lang="en" altLang="zh-CN" dirty="0" err="1"/>
              <a:t>row.insertCell</a:t>
            </a:r>
            <a:r>
              <a:rPr kumimoji="1" lang="en" altLang="zh-CN" dirty="0"/>
              <a:t>(2).</a:t>
            </a:r>
            <a:r>
              <a:rPr kumimoji="1" lang="en" altLang="zh-CN" dirty="0" err="1"/>
              <a:t>textContent</a:t>
            </a:r>
            <a:r>
              <a:rPr kumimoji="1" lang="en" altLang="zh-CN" dirty="0"/>
              <a:t> = </a:t>
            </a:r>
            <a:r>
              <a:rPr kumimoji="1" lang="en" altLang="zh-CN" dirty="0" err="1"/>
              <a:t>user.email</a:t>
            </a:r>
            <a:r>
              <a:rPr kumimoji="1" lang="en" altLang="zh-CN" dirty="0"/>
              <a:t>;</a:t>
            </a:r>
          </a:p>
          <a:p>
            <a:r>
              <a:rPr kumimoji="1" lang="en" altLang="zh-CN" dirty="0"/>
              <a:t>                });</a:t>
            </a:r>
          </a:p>
          <a:p>
            <a:r>
              <a:rPr kumimoji="1" lang="en" altLang="zh-CN" dirty="0"/>
              <a:t>            }</a:t>
            </a:r>
          </a:p>
          <a:p>
            <a:r>
              <a:rPr kumimoji="1" lang="en" altLang="zh-CN" dirty="0"/>
              <a:t>        };</a:t>
            </a:r>
          </a:p>
          <a:p>
            <a:r>
              <a:rPr kumimoji="1" lang="en" altLang="zh-CN" dirty="0"/>
              <a:t>        </a:t>
            </a:r>
            <a:r>
              <a:rPr kumimoji="1" lang="en" altLang="zh-CN" dirty="0" err="1"/>
              <a:t>xhr.send</a:t>
            </a:r>
            <a:r>
              <a:rPr kumimoji="1" lang="en" altLang="zh-CN" dirty="0"/>
              <a:t>();</a:t>
            </a:r>
          </a:p>
          <a:p>
            <a:r>
              <a:rPr kumimoji="1" lang="en" altLang="zh-CN" dirty="0"/>
              <a:t>    })();</a:t>
            </a:r>
          </a:p>
          <a:p>
            <a:r>
              <a:rPr kumimoji="1" lang="en" altLang="zh-CN" dirty="0"/>
              <a:t>    &lt;/script&gt;</a:t>
            </a:r>
          </a:p>
        </p:txBody>
      </p:sp>
    </p:spTree>
    <p:extLst>
      <p:ext uri="{BB962C8B-B14F-4D97-AF65-F5344CB8AC3E}">
        <p14:creationId xmlns:p14="http://schemas.microsoft.com/office/powerpoint/2010/main" val="2943995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78850" y="423500"/>
            <a:ext cx="3300248"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MVC</a:t>
            </a:r>
            <a:r>
              <a:rPr lang="zh-CN" altLang="en-US" sz="2400" b="1" dirty="0">
                <a:latin typeface="微软雅黑" panose="020B0503020204020204" pitchFamily="34" charset="-122"/>
                <a:ea typeface="微软雅黑" panose="020B0503020204020204" pitchFamily="34" charset="-122"/>
              </a:rPr>
              <a:t> 架构</a:t>
            </a:r>
          </a:p>
        </p:txBody>
      </p:sp>
      <p:cxnSp>
        <p:nvCxnSpPr>
          <p:cNvPr id="7" name="直接连接符 6"/>
          <p:cNvCxnSpPr>
            <a:cxnSpLocks/>
            <a:endCxn id="13" idx="1"/>
          </p:cNvCxnSpPr>
          <p:nvPr/>
        </p:nvCxnSpPr>
        <p:spPr>
          <a:xfrm>
            <a:off x="0" y="6438900"/>
            <a:ext cx="986961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869618" y="6177290"/>
            <a:ext cx="1449545" cy="523220"/>
          </a:xfrm>
          <a:prstGeom prst="rect">
            <a:avLst/>
          </a:prstGeom>
          <a:noFill/>
        </p:spPr>
        <p:txBody>
          <a:bodyPr wrap="square" rtlCol="0">
            <a:spAutoFit/>
          </a:bodyPr>
          <a:lstStyle/>
          <a:p>
            <a:r>
              <a:rPr lang="en-US" altLang="zh-CN" sz="2800" b="1" spc="300" dirty="0">
                <a:ln>
                  <a:solidFill>
                    <a:schemeClr val="bg1">
                      <a:lumMod val="65000"/>
                    </a:schemeClr>
                  </a:solidFill>
                </a:ln>
                <a:noFill/>
              </a:rPr>
              <a:t>ECUST</a:t>
            </a:r>
            <a:endParaRPr lang="zh-CN" altLang="en-US" sz="2800" b="1" spc="300" dirty="0">
              <a:ln>
                <a:solidFill>
                  <a:schemeClr val="bg1">
                    <a:lumMod val="65000"/>
                  </a:schemeClr>
                </a:solidFill>
              </a:ln>
              <a:noFill/>
            </a:endParaRPr>
          </a:p>
        </p:txBody>
      </p:sp>
      <p:sp>
        <p:nvSpPr>
          <p:cNvPr id="21" name="矩形 20"/>
          <p:cNvSpPr/>
          <p:nvPr/>
        </p:nvSpPr>
        <p:spPr>
          <a:xfrm>
            <a:off x="11165019" y="6334125"/>
            <a:ext cx="1043154" cy="222250"/>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9255810" y="309314"/>
            <a:ext cx="2334353" cy="425792"/>
            <a:chOff x="8482002" y="88145"/>
            <a:chExt cx="3125988" cy="570188"/>
          </a:xfrm>
        </p:grpSpPr>
        <p:pic>
          <p:nvPicPr>
            <p:cNvPr id="15" name="Picture 3" descr="校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descr="校名 标准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 name="文本框 17">
            <a:extLst>
              <a:ext uri="{FF2B5EF4-FFF2-40B4-BE49-F238E27FC236}">
                <a16:creationId xmlns:a16="http://schemas.microsoft.com/office/drawing/2014/main" id="{0FC82CC3-4274-4DBB-AC8F-674BBF02B84E}"/>
              </a:ext>
            </a:extLst>
          </p:cNvPr>
          <p:cNvSpPr txBox="1"/>
          <p:nvPr/>
        </p:nvSpPr>
        <p:spPr>
          <a:xfrm>
            <a:off x="378849" y="946222"/>
            <a:ext cx="11667910" cy="2957861"/>
          </a:xfrm>
          <a:prstGeom prst="rect">
            <a:avLst/>
          </a:prstGeom>
          <a:noFill/>
        </p:spPr>
        <p:txBody>
          <a:bodyPr wrap="square">
            <a:spAutoFit/>
          </a:bodyPr>
          <a:lstStyle/>
          <a:p>
            <a:pPr>
              <a:lnSpc>
                <a:spcPct val="150000"/>
              </a:lnSpc>
            </a:pPr>
            <a:r>
              <a:rPr lang="en" altLang="zh-CN" dirty="0"/>
              <a:t>MVC</a:t>
            </a:r>
            <a:r>
              <a:rPr lang="zh-CN" altLang="en-US" dirty="0"/>
              <a:t>模式最早由</a:t>
            </a:r>
            <a:r>
              <a:rPr lang="en" altLang="zh-CN" dirty="0"/>
              <a:t>Trygve </a:t>
            </a:r>
            <a:r>
              <a:rPr lang="en" altLang="zh-CN" dirty="0" err="1"/>
              <a:t>Reenskaug</a:t>
            </a:r>
            <a:r>
              <a:rPr lang="zh-CN" altLang="en-US" dirty="0"/>
              <a:t>在</a:t>
            </a:r>
            <a:r>
              <a:rPr lang="en-US" altLang="zh-CN" dirty="0"/>
              <a:t>1978</a:t>
            </a:r>
            <a:r>
              <a:rPr lang="zh-CN" altLang="en-US" dirty="0"/>
              <a:t>年提出</a:t>
            </a:r>
            <a:r>
              <a:rPr lang="en-US" altLang="zh-CN" baseline="30000" dirty="0"/>
              <a:t>[1]</a:t>
            </a:r>
            <a:r>
              <a:rPr lang="zh-CN" altLang="en-US" dirty="0"/>
              <a:t> 。</a:t>
            </a:r>
            <a:r>
              <a:rPr lang="en" altLang="zh-CN" dirty="0"/>
              <a:t>MVC</a:t>
            </a:r>
            <a:r>
              <a:rPr lang="zh-CN" altLang="en-US" dirty="0"/>
              <a:t>模式的目的是实现一种动态的程序设计，使后续对程序的修改和扩展简化，并且使程序某一部分的重复利用成为可能。除此之外，此模式透过对复杂度的简化，使程序结构更加直观。软件系统透过对自身基本部分分离的同时也赋予了各个基本部分应有的功能。专业人员可以依据自身的专长分组：</a:t>
            </a:r>
            <a:r>
              <a:rPr lang="zh-CN" altLang="en-US" b="1" dirty="0"/>
              <a:t>模型（</a:t>
            </a:r>
            <a:r>
              <a:rPr lang="en" altLang="zh-CN" b="1" dirty="0"/>
              <a:t>Model</a:t>
            </a:r>
            <a:r>
              <a:rPr lang="zh-CN" altLang="en" b="1" dirty="0"/>
              <a:t>） </a:t>
            </a:r>
            <a:r>
              <a:rPr lang="en" altLang="zh-CN" dirty="0"/>
              <a:t>- </a:t>
            </a:r>
            <a:r>
              <a:rPr lang="zh-CN" altLang="en-US" dirty="0"/>
              <a:t>程序员编写程序应有的功能、数据库专家进行数据管理和数据库设计。</a:t>
            </a:r>
          </a:p>
          <a:p>
            <a:pPr>
              <a:lnSpc>
                <a:spcPct val="150000"/>
              </a:lnSpc>
            </a:pPr>
            <a:r>
              <a:rPr lang="zh-CN" altLang="en-US" b="1" dirty="0"/>
              <a:t>视图（</a:t>
            </a:r>
            <a:r>
              <a:rPr lang="en" altLang="zh-CN" b="1" dirty="0"/>
              <a:t>View</a:t>
            </a:r>
            <a:r>
              <a:rPr lang="zh-CN" altLang="en" b="1" dirty="0"/>
              <a:t>） </a:t>
            </a:r>
            <a:r>
              <a:rPr lang="en" altLang="zh-CN" dirty="0"/>
              <a:t>- </a:t>
            </a:r>
            <a:r>
              <a:rPr lang="zh-CN" altLang="en-US" dirty="0"/>
              <a:t>界面设计人员进行图形界面设计。</a:t>
            </a:r>
          </a:p>
          <a:p>
            <a:pPr>
              <a:lnSpc>
                <a:spcPct val="150000"/>
              </a:lnSpc>
            </a:pPr>
            <a:r>
              <a:rPr lang="zh-CN" altLang="en-US" b="1" dirty="0"/>
              <a:t>控制器（</a:t>
            </a:r>
            <a:r>
              <a:rPr lang="en" altLang="zh-CN" b="1" dirty="0"/>
              <a:t>Controller</a:t>
            </a:r>
            <a:r>
              <a:rPr lang="zh-CN" altLang="en" b="1" dirty="0"/>
              <a:t>）</a:t>
            </a:r>
            <a:r>
              <a:rPr lang="en" altLang="zh-CN" dirty="0"/>
              <a:t>- </a:t>
            </a:r>
            <a:r>
              <a:rPr lang="zh-CN" altLang="en-US" dirty="0"/>
              <a:t>负责转发请求，对请求进行处理。</a:t>
            </a:r>
            <a:endParaRPr lang="en" altLang="zh-CN" dirty="0"/>
          </a:p>
          <a:p>
            <a:pPr>
              <a:lnSpc>
                <a:spcPct val="150000"/>
              </a:lnSpc>
            </a:pPr>
            <a:endParaRPr lang="zh-CN" altLang="en-US" dirty="0"/>
          </a:p>
        </p:txBody>
      </p:sp>
      <p:sp>
        <p:nvSpPr>
          <p:cNvPr id="5" name="文本框 4">
            <a:extLst>
              <a:ext uri="{FF2B5EF4-FFF2-40B4-BE49-F238E27FC236}">
                <a16:creationId xmlns:a16="http://schemas.microsoft.com/office/drawing/2014/main" id="{4C2BE9EC-D029-76D9-7B17-F9B3BEAE614C}"/>
              </a:ext>
            </a:extLst>
          </p:cNvPr>
          <p:cNvSpPr txBox="1"/>
          <p:nvPr/>
        </p:nvSpPr>
        <p:spPr>
          <a:xfrm>
            <a:off x="378849" y="6504368"/>
            <a:ext cx="9724377" cy="276999"/>
          </a:xfrm>
          <a:prstGeom prst="rect">
            <a:avLst/>
          </a:prstGeom>
          <a:noFill/>
        </p:spPr>
        <p:txBody>
          <a:bodyPr wrap="square">
            <a:spAutoFit/>
          </a:bodyPr>
          <a:lstStyle/>
          <a:p>
            <a:r>
              <a:rPr lang="en-US" altLang="zh-CN" sz="1200" dirty="0">
                <a:latin typeface="Times New Roman" panose="02020603050405020304" pitchFamily="18" charset="0"/>
                <a:cs typeface="Times New Roman" panose="02020603050405020304" pitchFamily="18" charset="0"/>
              </a:rPr>
              <a:t>[1] </a:t>
            </a:r>
            <a:r>
              <a:rPr lang="en" altLang="zh-CN" sz="1200" dirty="0">
                <a:latin typeface="Times New Roman" panose="02020603050405020304" pitchFamily="18" charset="0"/>
                <a:cs typeface="Times New Roman" panose="02020603050405020304" pitchFamily="18" charset="0"/>
              </a:rPr>
              <a:t>To L R G, </a:t>
            </a:r>
            <a:r>
              <a:rPr lang="en" altLang="zh-CN" sz="1200" dirty="0" err="1">
                <a:latin typeface="Times New Roman" panose="02020603050405020304" pitchFamily="18" charset="0"/>
                <a:cs typeface="Times New Roman" panose="02020603050405020304" pitchFamily="18" charset="0"/>
              </a:rPr>
              <a:t>Reenskaug</a:t>
            </a:r>
            <a:r>
              <a:rPr lang="en" altLang="zh-CN" sz="1200" dirty="0">
                <a:latin typeface="Times New Roman" panose="02020603050405020304" pitchFamily="18" charset="0"/>
                <a:cs typeface="Times New Roman" panose="02020603050405020304" pitchFamily="18" charset="0"/>
              </a:rPr>
              <a:t> F T. THING-MODEL-VIEW-EDITOR an Example from a </a:t>
            </a:r>
            <a:r>
              <a:rPr lang="en" altLang="zh-CN" sz="1200" dirty="0" err="1">
                <a:latin typeface="Times New Roman" panose="02020603050405020304" pitchFamily="18" charset="0"/>
                <a:cs typeface="Times New Roman" panose="02020603050405020304" pitchFamily="18" charset="0"/>
              </a:rPr>
              <a:t>planningsystem</a:t>
            </a:r>
            <a:r>
              <a:rPr lang="en" altLang="zh-CN" sz="1200" dirty="0">
                <a:latin typeface="Times New Roman" panose="02020603050405020304" pitchFamily="18" charset="0"/>
                <a:cs typeface="Times New Roman" panose="02020603050405020304" pitchFamily="18" charset="0"/>
              </a:rPr>
              <a:t>[J]. 1979.</a:t>
            </a:r>
            <a:endParaRPr lang="zh-CN" altLang="en-US" sz="12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0F5D6953-AC79-BE54-66DC-E763786D0DC0}"/>
              </a:ext>
            </a:extLst>
          </p:cNvPr>
          <p:cNvPicPr>
            <a:picLocks noChangeAspect="1"/>
          </p:cNvPicPr>
          <p:nvPr/>
        </p:nvPicPr>
        <p:blipFill>
          <a:blip r:embed="rId5"/>
          <a:stretch>
            <a:fillRect/>
          </a:stretch>
        </p:blipFill>
        <p:spPr>
          <a:xfrm>
            <a:off x="2209800" y="3679768"/>
            <a:ext cx="7772400" cy="2595593"/>
          </a:xfrm>
          <a:prstGeom prst="rect">
            <a:avLst/>
          </a:prstGeom>
        </p:spPr>
      </p:pic>
    </p:spTree>
    <p:extLst>
      <p:ext uri="{BB962C8B-B14F-4D97-AF65-F5344CB8AC3E}">
        <p14:creationId xmlns:p14="http://schemas.microsoft.com/office/powerpoint/2010/main" val="315781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78850" y="423500"/>
            <a:ext cx="3300248"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B/S</a:t>
            </a:r>
            <a:r>
              <a:rPr lang="zh-CN" altLang="en-US" sz="2400" b="1" dirty="0">
                <a:latin typeface="微软雅黑" panose="020B0503020204020204" pitchFamily="34" charset="-122"/>
                <a:ea typeface="微软雅黑" panose="020B0503020204020204" pitchFamily="34" charset="-122"/>
              </a:rPr>
              <a:t> 架构</a:t>
            </a:r>
          </a:p>
        </p:txBody>
      </p:sp>
      <p:cxnSp>
        <p:nvCxnSpPr>
          <p:cNvPr id="7" name="直接连接符 6"/>
          <p:cNvCxnSpPr>
            <a:cxnSpLocks/>
            <a:endCxn id="13" idx="1"/>
          </p:cNvCxnSpPr>
          <p:nvPr/>
        </p:nvCxnSpPr>
        <p:spPr>
          <a:xfrm>
            <a:off x="0" y="6438900"/>
            <a:ext cx="9869619"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869618" y="6177290"/>
            <a:ext cx="1449545" cy="523220"/>
          </a:xfrm>
          <a:prstGeom prst="rect">
            <a:avLst/>
          </a:prstGeom>
          <a:noFill/>
        </p:spPr>
        <p:txBody>
          <a:bodyPr wrap="square" rtlCol="0">
            <a:spAutoFit/>
          </a:bodyPr>
          <a:lstStyle/>
          <a:p>
            <a:r>
              <a:rPr lang="en-US" altLang="zh-CN" sz="2800" b="1" spc="300" dirty="0">
                <a:ln>
                  <a:solidFill>
                    <a:schemeClr val="bg1">
                      <a:lumMod val="65000"/>
                    </a:schemeClr>
                  </a:solidFill>
                </a:ln>
                <a:noFill/>
              </a:rPr>
              <a:t>ECUST</a:t>
            </a:r>
            <a:endParaRPr lang="zh-CN" altLang="en-US" sz="2800" b="1" spc="300" dirty="0">
              <a:ln>
                <a:solidFill>
                  <a:schemeClr val="bg1">
                    <a:lumMod val="65000"/>
                  </a:schemeClr>
                </a:solidFill>
              </a:ln>
              <a:noFill/>
            </a:endParaRPr>
          </a:p>
        </p:txBody>
      </p:sp>
      <p:sp>
        <p:nvSpPr>
          <p:cNvPr id="21" name="矩形 20"/>
          <p:cNvSpPr/>
          <p:nvPr/>
        </p:nvSpPr>
        <p:spPr>
          <a:xfrm>
            <a:off x="11165019" y="6334125"/>
            <a:ext cx="1043154" cy="222250"/>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9255810" y="309314"/>
            <a:ext cx="2334353" cy="425792"/>
            <a:chOff x="8482002" y="88145"/>
            <a:chExt cx="3125988" cy="570188"/>
          </a:xfrm>
        </p:grpSpPr>
        <p:pic>
          <p:nvPicPr>
            <p:cNvPr id="15"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 name="文本框 17">
            <a:extLst>
              <a:ext uri="{FF2B5EF4-FFF2-40B4-BE49-F238E27FC236}">
                <a16:creationId xmlns:a16="http://schemas.microsoft.com/office/drawing/2014/main" id="{0FC82CC3-4274-4DBB-AC8F-674BBF02B84E}"/>
              </a:ext>
            </a:extLst>
          </p:cNvPr>
          <p:cNvSpPr txBox="1"/>
          <p:nvPr/>
        </p:nvSpPr>
        <p:spPr>
          <a:xfrm>
            <a:off x="378849" y="1212243"/>
            <a:ext cx="11312407" cy="875881"/>
          </a:xfrm>
          <a:prstGeom prst="rect">
            <a:avLst/>
          </a:prstGeom>
          <a:noFill/>
        </p:spPr>
        <p:txBody>
          <a:bodyPr wrap="square">
            <a:spAutoFit/>
          </a:bodyPr>
          <a:lstStyle/>
          <a:p>
            <a:pPr>
              <a:lnSpc>
                <a:spcPct val="150000"/>
              </a:lnSpc>
            </a:pPr>
            <a:r>
              <a:rPr lang="en-US" altLang="zh-CN" dirty="0"/>
              <a:t>B/S</a:t>
            </a:r>
            <a:r>
              <a:rPr lang="zh-CN" altLang="en-US" dirty="0"/>
              <a:t>架构，即</a:t>
            </a:r>
            <a:r>
              <a:rPr lang="zh-CN" altLang="en-US" b="1" dirty="0"/>
              <a:t>浏览器</a:t>
            </a:r>
            <a:r>
              <a:rPr lang="en-US" altLang="zh-CN" b="1" dirty="0"/>
              <a:t>/</a:t>
            </a:r>
            <a:r>
              <a:rPr lang="zh-CN" altLang="en-US" b="1" dirty="0"/>
              <a:t>服务器（</a:t>
            </a:r>
            <a:r>
              <a:rPr lang="en-US" altLang="zh-CN" b="1" dirty="0"/>
              <a:t>Browser/Server</a:t>
            </a:r>
            <a:r>
              <a:rPr lang="zh-CN" altLang="en-US" b="1" dirty="0"/>
              <a:t>）</a:t>
            </a:r>
            <a:r>
              <a:rPr lang="zh-CN" altLang="en-US" dirty="0"/>
              <a:t>架构，是一种网络应用程序的架构模式。在这种架构下，用户通过互联网上的浏览器访问服务器上的应用程序，而所有的数据处理和存储都集中在服务器端进行。</a:t>
            </a:r>
          </a:p>
        </p:txBody>
      </p:sp>
      <p:sp>
        <p:nvSpPr>
          <p:cNvPr id="5" name="文本框 4">
            <a:extLst>
              <a:ext uri="{FF2B5EF4-FFF2-40B4-BE49-F238E27FC236}">
                <a16:creationId xmlns:a16="http://schemas.microsoft.com/office/drawing/2014/main" id="{A4716050-7B86-01FE-8A4A-4E498F199F18}"/>
              </a:ext>
            </a:extLst>
          </p:cNvPr>
          <p:cNvSpPr txBox="1"/>
          <p:nvPr/>
        </p:nvSpPr>
        <p:spPr>
          <a:xfrm>
            <a:off x="439796" y="2053866"/>
            <a:ext cx="11312407" cy="4619854"/>
          </a:xfrm>
          <a:prstGeom prst="rect">
            <a:avLst/>
          </a:prstGeom>
          <a:noFill/>
        </p:spPr>
        <p:txBody>
          <a:bodyPr wrap="square">
            <a:spAutoFit/>
          </a:bodyPr>
          <a:lstStyle/>
          <a:p>
            <a:pPr>
              <a:lnSpc>
                <a:spcPct val="150000"/>
              </a:lnSpc>
            </a:pPr>
            <a:r>
              <a:rPr lang="zh-CN" altLang="en-US" b="1" dirty="0"/>
              <a:t>优点：</a:t>
            </a:r>
            <a:endParaRPr lang="en-US" altLang="zh-CN" b="1" dirty="0"/>
          </a:p>
          <a:p>
            <a:pPr>
              <a:lnSpc>
                <a:spcPct val="150000"/>
              </a:lnSpc>
            </a:pPr>
            <a:r>
              <a:rPr lang="en-US" altLang="zh-CN" b="1" dirty="0"/>
              <a:t>1</a:t>
            </a:r>
            <a:r>
              <a:rPr lang="zh-CN" altLang="en-US" b="1" dirty="0"/>
              <a:t>、易于维护和升级：</a:t>
            </a:r>
            <a:r>
              <a:rPr lang="zh-CN" altLang="en-US" dirty="0"/>
              <a:t>由于应用程序的逻辑和数据都集中在服务器端，因此对应用程序的维护和升级只需要在服务器端进行，不需要对每个客户端进行单独更新。</a:t>
            </a:r>
          </a:p>
          <a:p>
            <a:pPr>
              <a:lnSpc>
                <a:spcPct val="150000"/>
              </a:lnSpc>
            </a:pPr>
            <a:r>
              <a:rPr lang="en-US" altLang="zh-CN" b="1" dirty="0"/>
              <a:t>2</a:t>
            </a:r>
            <a:r>
              <a:rPr lang="zh-CN" altLang="en-US" b="1" dirty="0"/>
              <a:t>、跨平台兼容性：</a:t>
            </a:r>
            <a:r>
              <a:rPr lang="zh-CN" altLang="en-US" dirty="0"/>
              <a:t>用户可以通过任何操作系统上的浏览器访问应用程序，无需关心底层平台的差异。</a:t>
            </a:r>
          </a:p>
          <a:p>
            <a:pPr>
              <a:lnSpc>
                <a:spcPct val="150000"/>
              </a:lnSpc>
            </a:pPr>
            <a:r>
              <a:rPr lang="en-US" altLang="zh-CN" b="1" dirty="0"/>
              <a:t>3</a:t>
            </a:r>
            <a:r>
              <a:rPr lang="zh-CN" altLang="en-US" b="1" dirty="0"/>
              <a:t>、集中式数据管理：</a:t>
            </a:r>
            <a:r>
              <a:rPr lang="zh-CN" altLang="en-US" dirty="0"/>
              <a:t>数据存储在服务器上，便于进行集中的数据备份、恢复和安全性管理。</a:t>
            </a:r>
          </a:p>
          <a:p>
            <a:pPr>
              <a:lnSpc>
                <a:spcPct val="150000"/>
              </a:lnSpc>
            </a:pPr>
            <a:r>
              <a:rPr lang="en-US" altLang="zh-CN" b="1" dirty="0"/>
              <a:t>4</a:t>
            </a:r>
            <a:r>
              <a:rPr lang="zh-CN" altLang="en-US" b="1" dirty="0"/>
              <a:t>、安全性：</a:t>
            </a:r>
            <a:r>
              <a:rPr lang="zh-CN" altLang="en-US" dirty="0"/>
              <a:t>敏感的业务逻辑和数据不存储在客户端，减少了数据泄露的风险。</a:t>
            </a:r>
          </a:p>
          <a:p>
            <a:pPr>
              <a:lnSpc>
                <a:spcPct val="150000"/>
              </a:lnSpc>
            </a:pPr>
            <a:r>
              <a:rPr lang="en-US" altLang="zh-CN" b="1" dirty="0"/>
              <a:t>5</a:t>
            </a:r>
            <a:r>
              <a:rPr lang="zh-CN" altLang="en-US" b="1" dirty="0"/>
              <a:t>、用户界面统一：</a:t>
            </a:r>
            <a:r>
              <a:rPr lang="zh-CN" altLang="en-US" dirty="0"/>
              <a:t>所有用户都使用相同的浏览器界面访问应用程序，界面的一致性更容易实现。</a:t>
            </a:r>
          </a:p>
          <a:p>
            <a:pPr>
              <a:lnSpc>
                <a:spcPct val="150000"/>
              </a:lnSpc>
            </a:pPr>
            <a:r>
              <a:rPr lang="en-US" altLang="zh-CN" b="1" dirty="0"/>
              <a:t>6</a:t>
            </a:r>
            <a:r>
              <a:rPr lang="zh-CN" altLang="en-US" b="1" dirty="0"/>
              <a:t>、减少客户端资源消耗：</a:t>
            </a:r>
            <a:r>
              <a:rPr lang="zh-CN" altLang="en-US" dirty="0"/>
              <a:t>客户端不需要运行复杂的应用程序，因此对客户端硬件的要求较低。</a:t>
            </a:r>
          </a:p>
          <a:p>
            <a:pPr>
              <a:lnSpc>
                <a:spcPct val="150000"/>
              </a:lnSpc>
            </a:pPr>
            <a:r>
              <a:rPr lang="en-US" altLang="zh-CN" b="1" dirty="0"/>
              <a:t>7</a:t>
            </a:r>
            <a:r>
              <a:rPr lang="zh-CN" altLang="en-US" b="1" dirty="0"/>
              <a:t>、易于集成：</a:t>
            </a:r>
            <a:r>
              <a:rPr lang="en" altLang="zh-CN" dirty="0"/>
              <a:t>B/S</a:t>
            </a:r>
            <a:r>
              <a:rPr lang="zh-CN" altLang="en-US" dirty="0"/>
              <a:t>架构的应用程序更容易与互联网上的其他服务和应用程序进行集成。</a:t>
            </a:r>
          </a:p>
          <a:p>
            <a:pPr>
              <a:lnSpc>
                <a:spcPct val="150000"/>
              </a:lnSpc>
            </a:pPr>
            <a:r>
              <a:rPr lang="en-US" altLang="zh-CN" b="1" dirty="0"/>
              <a:t>8</a:t>
            </a:r>
            <a:r>
              <a:rPr lang="zh-CN" altLang="en-US" b="1" dirty="0"/>
              <a:t>、快速部署：</a:t>
            </a:r>
            <a:r>
              <a:rPr lang="zh-CN" altLang="en-US" dirty="0"/>
              <a:t>新用户或系统升级可以迅速完成，无需在每个客户端上进行安装。</a:t>
            </a:r>
          </a:p>
          <a:p>
            <a:pPr>
              <a:lnSpc>
                <a:spcPct val="150000"/>
              </a:lnSpc>
            </a:pPr>
            <a:endParaRPr lang="zh-CN" altLang="en-US" b="1" dirty="0"/>
          </a:p>
        </p:txBody>
      </p:sp>
    </p:spTree>
    <p:extLst>
      <p:ext uri="{BB962C8B-B14F-4D97-AF65-F5344CB8AC3E}">
        <p14:creationId xmlns:p14="http://schemas.microsoft.com/office/powerpoint/2010/main" val="2315398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400799" y="1808911"/>
            <a:ext cx="5014191" cy="2758209"/>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t="5644" b="6782"/>
          <a:stretch/>
        </p:blipFill>
        <p:spPr>
          <a:xfrm>
            <a:off x="6667422" y="2085109"/>
            <a:ext cx="5067378" cy="2895600"/>
          </a:xfrm>
          <a:prstGeom prst="rect">
            <a:avLst/>
          </a:prstGeom>
        </p:spPr>
      </p:pic>
      <p:sp>
        <p:nvSpPr>
          <p:cNvPr id="5" name="矩形 4"/>
          <p:cNvSpPr/>
          <p:nvPr/>
        </p:nvSpPr>
        <p:spPr>
          <a:xfrm>
            <a:off x="6667422" y="2085108"/>
            <a:ext cx="5067378" cy="2895601"/>
          </a:xfrm>
          <a:prstGeom prst="rect">
            <a:avLst/>
          </a:prstGeom>
          <a:solidFill>
            <a:schemeClr val="bg1">
              <a:lumMod val="95000"/>
              <a:alpha val="6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61307" y="2368580"/>
            <a:ext cx="2555571" cy="738664"/>
          </a:xfrm>
          <a:prstGeom prst="rect">
            <a:avLst/>
          </a:prstGeom>
          <a:noFill/>
        </p:spPr>
        <p:txBody>
          <a:bodyPr wrap="none" lIns="0" tIns="0" rIns="0" bIns="0" rtlCol="0" anchor="b">
            <a:spAutoFit/>
          </a:bodyPr>
          <a:lstStyle/>
          <a:p>
            <a:r>
              <a:rPr lang="en-US" altLang="zh-CN" sz="4800" b="1"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PART   2</a:t>
            </a:r>
          </a:p>
        </p:txBody>
      </p:sp>
      <p:sp>
        <p:nvSpPr>
          <p:cNvPr id="9" name="文本框 8"/>
          <p:cNvSpPr txBox="1"/>
          <p:nvPr/>
        </p:nvSpPr>
        <p:spPr>
          <a:xfrm>
            <a:off x="561307" y="3300626"/>
            <a:ext cx="5682518" cy="2031325"/>
          </a:xfrm>
          <a:prstGeom prst="rect">
            <a:avLst/>
          </a:prstGeom>
          <a:noFill/>
        </p:spPr>
        <p:txBody>
          <a:bodyPr wrap="none" lIns="0" tIns="0" rIns="0" bIns="0" rtlCol="0">
            <a:spAutoFit/>
          </a:bodyPr>
          <a:lstStyle/>
          <a:p>
            <a:r>
              <a:rPr lang="en-US" altLang="zh-CN" sz="6600" b="1" spc="300" dirty="0">
                <a:solidFill>
                  <a:srgbClr val="005D97"/>
                </a:solidFill>
                <a:latin typeface="微软雅黑" panose="020B0503020204020204" pitchFamily="34" charset="-122"/>
                <a:ea typeface="微软雅黑" panose="020B0503020204020204" pitchFamily="34" charset="-122"/>
              </a:rPr>
              <a:t>MVC</a:t>
            </a:r>
            <a:r>
              <a:rPr lang="zh-CN" altLang="en-US" sz="6600" b="1" spc="300" dirty="0">
                <a:solidFill>
                  <a:srgbClr val="005D97"/>
                </a:solidFill>
                <a:latin typeface="微软雅黑" panose="020B0503020204020204" pitchFamily="34" charset="-122"/>
                <a:ea typeface="微软雅黑" panose="020B0503020204020204" pitchFamily="34" charset="-122"/>
              </a:rPr>
              <a:t>架构下的</a:t>
            </a:r>
            <a:endParaRPr lang="en-US" altLang="zh-CN" sz="6600" b="1" spc="300" dirty="0">
              <a:solidFill>
                <a:srgbClr val="005D97"/>
              </a:solidFill>
              <a:latin typeface="微软雅黑" panose="020B0503020204020204" pitchFamily="34" charset="-122"/>
              <a:ea typeface="微软雅黑" panose="020B0503020204020204" pitchFamily="34" charset="-122"/>
            </a:endParaRPr>
          </a:p>
          <a:p>
            <a:r>
              <a:rPr lang="zh-CN" altLang="en-US" sz="6600" b="1" spc="300" dirty="0">
                <a:solidFill>
                  <a:srgbClr val="005D97"/>
                </a:solidFill>
                <a:latin typeface="微软雅黑" panose="020B0503020204020204" pitchFamily="34" charset="-122"/>
                <a:ea typeface="微软雅黑" panose="020B0503020204020204" pitchFamily="34" charset="-122"/>
              </a:rPr>
              <a:t>前端和后端</a:t>
            </a:r>
          </a:p>
        </p:txBody>
      </p:sp>
    </p:spTree>
    <p:extLst>
      <p:ext uri="{BB962C8B-B14F-4D97-AF65-F5344CB8AC3E}">
        <p14:creationId xmlns:p14="http://schemas.microsoft.com/office/powerpoint/2010/main" val="384478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83820" y="504273"/>
            <a:ext cx="4111508"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将</a:t>
            </a:r>
            <a:r>
              <a:rPr lang="en-US" altLang="zh-CN" sz="2400" b="1" dirty="0">
                <a:latin typeface="微软雅黑" panose="020B0503020204020204" pitchFamily="34" charset="-122"/>
                <a:ea typeface="微软雅黑" panose="020B0503020204020204" pitchFamily="34" charset="-122"/>
              </a:rPr>
              <a:t>MVC</a:t>
            </a:r>
            <a:r>
              <a:rPr lang="zh-CN" altLang="en-US" sz="2400" b="1" dirty="0">
                <a:latin typeface="微软雅黑" panose="020B0503020204020204" pitchFamily="34" charset="-122"/>
                <a:ea typeface="微软雅黑" panose="020B0503020204020204" pitchFamily="34" charset="-122"/>
              </a:rPr>
              <a:t>架构与</a:t>
            </a:r>
            <a:r>
              <a:rPr lang="en-US" altLang="zh-CN" sz="2400" b="1" dirty="0">
                <a:latin typeface="微软雅黑" panose="020B0503020204020204" pitchFamily="34" charset="-122"/>
                <a:ea typeface="微软雅黑" panose="020B0503020204020204" pitchFamily="34" charset="-122"/>
              </a:rPr>
              <a:t>B/S</a:t>
            </a:r>
            <a:r>
              <a:rPr lang="zh-CN" altLang="en-US" sz="2400" b="1" dirty="0">
                <a:latin typeface="微软雅黑" panose="020B0503020204020204" pitchFamily="34" charset="-122"/>
                <a:ea typeface="微软雅黑" panose="020B0503020204020204" pitchFamily="34" charset="-122"/>
              </a:rPr>
              <a:t>架构融合</a:t>
            </a:r>
          </a:p>
        </p:txBody>
      </p:sp>
      <p:grpSp>
        <p:nvGrpSpPr>
          <p:cNvPr id="49" name="组合 48"/>
          <p:cNvGrpSpPr/>
          <p:nvPr/>
        </p:nvGrpSpPr>
        <p:grpSpPr>
          <a:xfrm>
            <a:off x="9255810" y="488393"/>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 name="图片 1">
            <a:extLst>
              <a:ext uri="{FF2B5EF4-FFF2-40B4-BE49-F238E27FC236}">
                <a16:creationId xmlns:a16="http://schemas.microsoft.com/office/drawing/2014/main" id="{A6862FCF-EC1D-0390-DF90-8EE416DDAEEF}"/>
              </a:ext>
            </a:extLst>
          </p:cNvPr>
          <p:cNvPicPr>
            <a:picLocks noChangeAspect="1"/>
          </p:cNvPicPr>
          <p:nvPr/>
        </p:nvPicPr>
        <p:blipFill>
          <a:blip r:embed="rId4"/>
          <a:stretch>
            <a:fillRect/>
          </a:stretch>
        </p:blipFill>
        <p:spPr>
          <a:xfrm>
            <a:off x="719780" y="1672429"/>
            <a:ext cx="10519960" cy="3513141"/>
          </a:xfrm>
          <a:prstGeom prst="rect">
            <a:avLst/>
          </a:prstGeom>
        </p:spPr>
      </p:pic>
      <p:pic>
        <p:nvPicPr>
          <p:cNvPr id="3" name="图片 2">
            <a:extLst>
              <a:ext uri="{FF2B5EF4-FFF2-40B4-BE49-F238E27FC236}">
                <a16:creationId xmlns:a16="http://schemas.microsoft.com/office/drawing/2014/main" id="{B17927C0-FC9A-0FA2-DA60-F3B4E3D96F9A}"/>
              </a:ext>
            </a:extLst>
          </p:cNvPr>
          <p:cNvPicPr>
            <a:picLocks noChangeAspect="1"/>
          </p:cNvPicPr>
          <p:nvPr/>
        </p:nvPicPr>
        <p:blipFill>
          <a:blip r:embed="rId5"/>
          <a:stretch>
            <a:fillRect/>
          </a:stretch>
        </p:blipFill>
        <p:spPr>
          <a:xfrm>
            <a:off x="603540" y="1241940"/>
            <a:ext cx="10752440" cy="5095491"/>
          </a:xfrm>
          <a:prstGeom prst="rect">
            <a:avLst/>
          </a:prstGeom>
        </p:spPr>
      </p:pic>
    </p:spTree>
    <p:extLst>
      <p:ext uri="{BB962C8B-B14F-4D97-AF65-F5344CB8AC3E}">
        <p14:creationId xmlns:p14="http://schemas.microsoft.com/office/powerpoint/2010/main" val="272709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83820" y="504273"/>
            <a:ext cx="3781977"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MVC</a:t>
            </a:r>
            <a:r>
              <a:rPr lang="zh-CN" altLang="en-US" sz="2400" b="1" dirty="0">
                <a:latin typeface="微软雅黑" panose="020B0503020204020204" pitchFamily="34" charset="-122"/>
                <a:ea typeface="微软雅黑" panose="020B0503020204020204" pitchFamily="34" charset="-122"/>
              </a:rPr>
              <a:t> 架构下的前端和后端</a:t>
            </a:r>
          </a:p>
        </p:txBody>
      </p:sp>
      <p:grpSp>
        <p:nvGrpSpPr>
          <p:cNvPr id="49" name="组合 48"/>
          <p:cNvGrpSpPr/>
          <p:nvPr/>
        </p:nvGrpSpPr>
        <p:grpSpPr>
          <a:xfrm>
            <a:off x="9220431" y="522209"/>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文本框 10">
            <a:extLst>
              <a:ext uri="{FF2B5EF4-FFF2-40B4-BE49-F238E27FC236}">
                <a16:creationId xmlns:a16="http://schemas.microsoft.com/office/drawing/2014/main" id="{65D7231C-4D04-42A3-982A-27412595EA3C}"/>
              </a:ext>
            </a:extLst>
          </p:cNvPr>
          <p:cNvSpPr txBox="1"/>
          <p:nvPr/>
        </p:nvSpPr>
        <p:spPr>
          <a:xfrm>
            <a:off x="637216" y="1330286"/>
            <a:ext cx="10917568" cy="4524315"/>
          </a:xfrm>
          <a:prstGeom prst="rect">
            <a:avLst/>
          </a:prstGeom>
          <a:noFill/>
        </p:spPr>
        <p:txBody>
          <a:bodyPr wrap="square">
            <a:spAutoFit/>
          </a:bodyPr>
          <a:lstStyle/>
          <a:p>
            <a:r>
              <a:rPr lang="zh-CN" altLang="en-US" dirty="0"/>
              <a:t>那么前端是什么，后端是什么，他们之间又是怎么来完成交互的：</a:t>
            </a:r>
          </a:p>
          <a:p>
            <a:endParaRPr lang="zh-CN" altLang="en-US" dirty="0"/>
          </a:p>
          <a:p>
            <a:r>
              <a:rPr lang="zh-CN" altLang="en-US" dirty="0"/>
              <a:t>- 前端：</a:t>
            </a:r>
          </a:p>
          <a:p>
            <a:r>
              <a:rPr lang="zh-CN" altLang="en-US" dirty="0"/>
              <a:t>  </a:t>
            </a:r>
            <a:r>
              <a:rPr lang="en-US" altLang="zh-CN" dirty="0"/>
              <a:t>	</a:t>
            </a:r>
            <a:r>
              <a:rPr lang="zh-CN" altLang="en-US" dirty="0"/>
              <a:t>通过在页面上绑定的事件，获取到用户的信息，</a:t>
            </a:r>
            <a:r>
              <a:rPr lang="zh-CN" altLang="en-US" dirty="0">
                <a:solidFill>
                  <a:srgbClr val="FF0000"/>
                </a:solidFill>
              </a:rPr>
              <a:t>把信息传递给后端</a:t>
            </a:r>
            <a:r>
              <a:rPr lang="zh-CN" altLang="en-US" dirty="0"/>
              <a:t>，让后端存储起来，同时</a:t>
            </a:r>
            <a:r>
              <a:rPr lang="zh-CN" altLang="en-US" dirty="0">
                <a:solidFill>
                  <a:srgbClr val="FF0000"/>
                </a:solidFill>
              </a:rPr>
              <a:t>把后端给的数据展示在页面上。</a:t>
            </a:r>
          </a:p>
          <a:p>
            <a:endParaRPr lang="zh-CN" altLang="en-US" dirty="0"/>
          </a:p>
          <a:p>
            <a:r>
              <a:rPr lang="zh-CN" altLang="en-US" dirty="0"/>
              <a:t>- 后端：</a:t>
            </a:r>
          </a:p>
          <a:p>
            <a:r>
              <a:rPr lang="zh-CN" altLang="en-US" dirty="0"/>
              <a:t>  ​	当前端需要数据的时候，后端从数据库拿到数据给前端，同时把前端传进来的数据存到数据库里。注意的是：数据库是专门让后端进行数据的增、删、改、查的。并且</a:t>
            </a:r>
            <a:r>
              <a:rPr lang="zh-CN" altLang="en-US" dirty="0">
                <a:solidFill>
                  <a:srgbClr val="FF0000"/>
                </a:solidFill>
              </a:rPr>
              <a:t>前端是不能够操作数据库</a:t>
            </a:r>
            <a:r>
              <a:rPr lang="zh-CN" altLang="en-US" dirty="0"/>
              <a:t>的，我们只有通过和后端的相互交互来实现共同的效果。</a:t>
            </a:r>
          </a:p>
          <a:p>
            <a:endParaRPr lang="zh-CN" altLang="en-US" dirty="0"/>
          </a:p>
          <a:p>
            <a:r>
              <a:rPr lang="zh-CN" altLang="en-US" dirty="0"/>
              <a:t>前端和后端的交互基于http协议（或https协议），前端在浏览器中使用POST，DELETE，PUT和GET四种请求方式分别对指定的URL资源进行增删改查操作。</a:t>
            </a:r>
          </a:p>
          <a:p>
            <a:endParaRPr lang="zh-CN" altLang="en-US" dirty="0"/>
          </a:p>
          <a:p>
            <a:r>
              <a:rPr lang="zh-CN" altLang="en-US" dirty="0"/>
              <a:t>该Demo是一个</a:t>
            </a:r>
            <a:r>
              <a:rPr lang="zh-CN" altLang="en-US" dirty="0">
                <a:solidFill>
                  <a:srgbClr val="FF0000"/>
                </a:solidFill>
              </a:rPr>
              <a:t>基于Http的前后端分离的B/S架构</a:t>
            </a:r>
            <a:r>
              <a:rPr lang="zh-CN" altLang="en-US" dirty="0"/>
              <a:t>，浏览器（</a:t>
            </a:r>
            <a:r>
              <a:rPr lang="zh-CN" altLang="en-US" dirty="0">
                <a:solidFill>
                  <a:srgbClr val="FF0000"/>
                </a:solidFill>
              </a:rPr>
              <a:t>Browser</a:t>
            </a:r>
            <a:r>
              <a:rPr lang="zh-CN" altLang="en-US" dirty="0"/>
              <a:t> ）承担与用户交互的工作（包括构建DOM树，解析javascript，渲染CSS等工作），服务器（</a:t>
            </a:r>
            <a:r>
              <a:rPr lang="zh-CN" altLang="en-US" dirty="0">
                <a:solidFill>
                  <a:srgbClr val="FF0000"/>
                </a:solidFill>
              </a:rPr>
              <a:t>Server</a:t>
            </a:r>
            <a:r>
              <a:rPr lang="zh-CN" altLang="en-US" dirty="0"/>
              <a:t>）存储用户数据和操作用户数据的方法。</a:t>
            </a:r>
          </a:p>
        </p:txBody>
      </p:sp>
    </p:spTree>
    <p:extLst>
      <p:ext uri="{BB962C8B-B14F-4D97-AF65-F5344CB8AC3E}">
        <p14:creationId xmlns:p14="http://schemas.microsoft.com/office/powerpoint/2010/main" val="3946483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3781977"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HTTP</a:t>
            </a:r>
            <a:r>
              <a:rPr lang="zh-CN" altLang="en-US" sz="2400" b="1" dirty="0">
                <a:latin typeface="微软雅黑" panose="020B0503020204020204" pitchFamily="34" charset="-122"/>
                <a:ea typeface="微软雅黑" panose="020B0503020204020204" pitchFamily="34" charset="-122"/>
              </a:rPr>
              <a:t>协议</a:t>
            </a: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文本框 10">
            <a:extLst>
              <a:ext uri="{FF2B5EF4-FFF2-40B4-BE49-F238E27FC236}">
                <a16:creationId xmlns:a16="http://schemas.microsoft.com/office/drawing/2014/main" id="{65D7231C-4D04-42A3-982A-27412595EA3C}"/>
              </a:ext>
            </a:extLst>
          </p:cNvPr>
          <p:cNvSpPr txBox="1"/>
          <p:nvPr/>
        </p:nvSpPr>
        <p:spPr>
          <a:xfrm>
            <a:off x="378849" y="1071200"/>
            <a:ext cx="10917568" cy="5030864"/>
          </a:xfrm>
          <a:prstGeom prst="rect">
            <a:avLst/>
          </a:prstGeom>
          <a:noFill/>
        </p:spPr>
        <p:txBody>
          <a:bodyPr wrap="square">
            <a:spAutoFit/>
          </a:bodyPr>
          <a:lstStyle/>
          <a:p>
            <a:pPr>
              <a:lnSpc>
                <a:spcPct val="150000"/>
              </a:lnSpc>
            </a:pPr>
            <a:r>
              <a:rPr lang="en" altLang="zh-CN" dirty="0"/>
              <a:t>HTTP </a:t>
            </a:r>
            <a:r>
              <a:rPr lang="zh-CN" altLang="en-US" dirty="0"/>
              <a:t>是 </a:t>
            </a:r>
            <a:r>
              <a:rPr lang="en" altLang="zh-CN" dirty="0" err="1"/>
              <a:t>HyperText</a:t>
            </a:r>
            <a:r>
              <a:rPr lang="en" altLang="zh-CN" dirty="0"/>
              <a:t> Transfer Protocol</a:t>
            </a:r>
            <a:r>
              <a:rPr lang="zh-CN" altLang="en" dirty="0"/>
              <a:t>（</a:t>
            </a:r>
            <a:r>
              <a:rPr lang="zh-CN" altLang="en-US" dirty="0"/>
              <a:t>超文本传输协议）的简写，它是 </a:t>
            </a:r>
            <a:r>
              <a:rPr lang="en" altLang="zh-CN" dirty="0"/>
              <a:t>TCP/IP </a:t>
            </a:r>
            <a:r>
              <a:rPr lang="zh-CN" altLang="en-US" dirty="0"/>
              <a:t>协议集中的一个应用层协议，是客户端与服务端进行交互时必须遵循的规则。它用于定义 </a:t>
            </a:r>
            <a:r>
              <a:rPr lang="en" altLang="zh-CN" dirty="0"/>
              <a:t>Web </a:t>
            </a:r>
            <a:r>
              <a:rPr lang="zh-CN" altLang="en-US" dirty="0"/>
              <a:t>浏览器与 </a:t>
            </a:r>
            <a:r>
              <a:rPr lang="en" altLang="zh-CN" dirty="0"/>
              <a:t>Web </a:t>
            </a:r>
            <a:r>
              <a:rPr lang="zh-CN" altLang="en-US" dirty="0"/>
              <a:t>服务器之间交换数据的过程以及数据本身的格式，底层是靠 </a:t>
            </a:r>
            <a:r>
              <a:rPr lang="en" altLang="zh-CN" dirty="0"/>
              <a:t>TCP </a:t>
            </a:r>
            <a:r>
              <a:rPr lang="zh-CN" altLang="en-US" dirty="0"/>
              <a:t>进行可靠地信息传输。</a:t>
            </a:r>
            <a:endParaRPr lang="en-US" altLang="zh-CN" dirty="0"/>
          </a:p>
          <a:p>
            <a:pPr>
              <a:lnSpc>
                <a:spcPct val="150000"/>
              </a:lnSpc>
            </a:pPr>
            <a:r>
              <a:rPr lang="zh-CN" altLang="en" dirty="0"/>
              <a:t>其</a:t>
            </a:r>
            <a:r>
              <a:rPr lang="zh-CN" altLang="en-US" dirty="0"/>
              <a:t>本身是一种</a:t>
            </a:r>
            <a:r>
              <a:rPr lang="zh-CN" altLang="en-US" dirty="0">
                <a:solidFill>
                  <a:srgbClr val="FF0000"/>
                </a:solidFill>
              </a:rPr>
              <a:t>无状态 </a:t>
            </a:r>
            <a:r>
              <a:rPr lang="en-US" altLang="zh-CN" dirty="0">
                <a:solidFill>
                  <a:srgbClr val="FF0000"/>
                </a:solidFill>
              </a:rPr>
              <a:t>(</a:t>
            </a:r>
            <a:r>
              <a:rPr lang="en" altLang="zh-CN" dirty="0">
                <a:solidFill>
                  <a:srgbClr val="FF0000"/>
                </a:solidFill>
              </a:rPr>
              <a:t>stateless) </a:t>
            </a:r>
            <a:r>
              <a:rPr lang="zh-CN" altLang="en-US" dirty="0">
                <a:solidFill>
                  <a:srgbClr val="FF0000"/>
                </a:solidFill>
              </a:rPr>
              <a:t>协议</a:t>
            </a:r>
            <a:r>
              <a:rPr lang="en-US" altLang="zh-CN" dirty="0"/>
              <a:t>, </a:t>
            </a:r>
            <a:r>
              <a:rPr lang="en" altLang="zh-CN" dirty="0"/>
              <a:t>HTTP</a:t>
            </a:r>
            <a:r>
              <a:rPr lang="zh-CN" altLang="en-US" dirty="0"/>
              <a:t>协议本身不会对发送过的请求和相应的通信状态进行持久化处理。这样做的目的是为了保持</a:t>
            </a:r>
            <a:r>
              <a:rPr lang="en" altLang="zh-CN" dirty="0"/>
              <a:t>HTTP</a:t>
            </a:r>
            <a:r>
              <a:rPr lang="zh-CN" altLang="en-US" dirty="0"/>
              <a:t>协议的简单性，从而能够快速处理大量的事务</a:t>
            </a:r>
            <a:r>
              <a:rPr lang="en-US" altLang="zh-CN" dirty="0"/>
              <a:t>, </a:t>
            </a:r>
            <a:r>
              <a:rPr lang="zh-CN" altLang="en-US" dirty="0"/>
              <a:t>提高效率。</a:t>
            </a:r>
            <a:endParaRPr lang="en-US" altLang="zh-CN" dirty="0"/>
          </a:p>
          <a:p>
            <a:pPr>
              <a:lnSpc>
                <a:spcPct val="150000"/>
              </a:lnSpc>
            </a:pPr>
            <a:endParaRPr lang="en-US" altLang="zh-CN" dirty="0"/>
          </a:p>
          <a:p>
            <a:pPr>
              <a:lnSpc>
                <a:spcPct val="150000"/>
              </a:lnSpc>
            </a:pPr>
            <a:r>
              <a:rPr lang="zh-CN" altLang="en-US" dirty="0"/>
              <a:t>POST，DELETE，PUT和GET四种请求方式分别对指定的URL资源进行增删改查操作：</a:t>
            </a:r>
            <a:endParaRPr lang="en-US" altLang="zh-CN" dirty="0"/>
          </a:p>
          <a:p>
            <a:pPr>
              <a:lnSpc>
                <a:spcPct val="150000"/>
              </a:lnSpc>
            </a:pPr>
            <a:endParaRPr lang="zh-CN" altLang="en-US" dirty="0"/>
          </a:p>
          <a:p>
            <a:pPr>
              <a:lnSpc>
                <a:spcPct val="150000"/>
              </a:lnSpc>
            </a:pPr>
            <a:r>
              <a:rPr lang="en" altLang="zh-CN" b="1" dirty="0"/>
              <a:t>GET</a:t>
            </a:r>
            <a:r>
              <a:rPr lang="zh-CN" altLang="en" b="1" dirty="0"/>
              <a:t>（</a:t>
            </a:r>
            <a:r>
              <a:rPr lang="en" altLang="zh-CN" b="1" dirty="0"/>
              <a:t>SELECT</a:t>
            </a:r>
            <a:r>
              <a:rPr lang="zh-CN" altLang="en" b="1" dirty="0"/>
              <a:t>）</a:t>
            </a:r>
            <a:r>
              <a:rPr lang="zh-CN" altLang="en" dirty="0"/>
              <a:t>：</a:t>
            </a:r>
            <a:r>
              <a:rPr lang="zh-CN" altLang="en-US" dirty="0"/>
              <a:t>从服务器取出资源（一项或多项）</a:t>
            </a:r>
          </a:p>
          <a:p>
            <a:pPr>
              <a:lnSpc>
                <a:spcPct val="150000"/>
              </a:lnSpc>
            </a:pPr>
            <a:r>
              <a:rPr lang="en" altLang="zh-CN" b="1" dirty="0"/>
              <a:t>POST</a:t>
            </a:r>
            <a:r>
              <a:rPr lang="zh-CN" altLang="en" b="1" dirty="0"/>
              <a:t>（</a:t>
            </a:r>
            <a:r>
              <a:rPr lang="en" altLang="zh-CN" b="1" dirty="0"/>
              <a:t>CREATE</a:t>
            </a:r>
            <a:r>
              <a:rPr lang="zh-CN" altLang="en" b="1" dirty="0"/>
              <a:t>）</a:t>
            </a:r>
            <a:r>
              <a:rPr lang="zh-CN" altLang="en" dirty="0"/>
              <a:t>：</a:t>
            </a:r>
            <a:r>
              <a:rPr lang="zh-CN" altLang="en-US" dirty="0"/>
              <a:t>在服务器新建一个资源</a:t>
            </a:r>
            <a:r>
              <a:rPr lang="en-US" altLang="zh-CN" dirty="0"/>
              <a:t>(</a:t>
            </a:r>
            <a:r>
              <a:rPr lang="zh-CN" altLang="en-US" dirty="0"/>
              <a:t>动作类：无法用</a:t>
            </a:r>
            <a:r>
              <a:rPr lang="en" altLang="zh-CN" dirty="0"/>
              <a:t>http</a:t>
            </a:r>
            <a:r>
              <a:rPr lang="zh-CN" altLang="en-US" dirty="0"/>
              <a:t>动词表示的</a:t>
            </a:r>
            <a:r>
              <a:rPr lang="en-US" altLang="zh-CN" dirty="0"/>
              <a:t>)</a:t>
            </a:r>
          </a:p>
          <a:p>
            <a:pPr>
              <a:lnSpc>
                <a:spcPct val="150000"/>
              </a:lnSpc>
            </a:pPr>
            <a:r>
              <a:rPr lang="en" altLang="zh-CN" b="1" dirty="0"/>
              <a:t>PUT</a:t>
            </a:r>
            <a:r>
              <a:rPr lang="zh-CN" altLang="en" b="1" dirty="0"/>
              <a:t>（</a:t>
            </a:r>
            <a:r>
              <a:rPr lang="en" altLang="zh-CN" b="1" dirty="0"/>
              <a:t>UPDATE</a:t>
            </a:r>
            <a:r>
              <a:rPr lang="zh-CN" altLang="en" b="1" dirty="0"/>
              <a:t>）</a:t>
            </a:r>
            <a:r>
              <a:rPr lang="zh-CN" altLang="en" dirty="0"/>
              <a:t>：</a:t>
            </a:r>
            <a:r>
              <a:rPr lang="zh-CN" altLang="en-US" dirty="0"/>
              <a:t>在服务器更新资源</a:t>
            </a:r>
          </a:p>
          <a:p>
            <a:pPr>
              <a:lnSpc>
                <a:spcPct val="150000"/>
              </a:lnSpc>
            </a:pPr>
            <a:r>
              <a:rPr lang="en" altLang="zh-CN" b="1" dirty="0"/>
              <a:t>DELETE</a:t>
            </a:r>
            <a:r>
              <a:rPr lang="zh-CN" altLang="en" b="1" dirty="0"/>
              <a:t>（</a:t>
            </a:r>
            <a:r>
              <a:rPr lang="en" altLang="zh-CN" b="1" dirty="0"/>
              <a:t>DELETE</a:t>
            </a:r>
            <a:r>
              <a:rPr lang="zh-CN" altLang="en" b="1" dirty="0"/>
              <a:t>）</a:t>
            </a:r>
            <a:r>
              <a:rPr lang="zh-CN" altLang="en" dirty="0"/>
              <a:t>：</a:t>
            </a:r>
            <a:r>
              <a:rPr lang="zh-CN" altLang="en-US" dirty="0"/>
              <a:t>从服务器删除资源</a:t>
            </a:r>
          </a:p>
        </p:txBody>
      </p:sp>
    </p:spTree>
    <p:extLst>
      <p:ext uri="{BB962C8B-B14F-4D97-AF65-F5344CB8AC3E}">
        <p14:creationId xmlns:p14="http://schemas.microsoft.com/office/powerpoint/2010/main" val="2171798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400799" y="1808911"/>
            <a:ext cx="5014191" cy="2758209"/>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t="5644" b="6782"/>
          <a:stretch/>
        </p:blipFill>
        <p:spPr>
          <a:xfrm>
            <a:off x="6667422" y="2085109"/>
            <a:ext cx="5067378" cy="2895600"/>
          </a:xfrm>
          <a:prstGeom prst="rect">
            <a:avLst/>
          </a:prstGeom>
        </p:spPr>
      </p:pic>
      <p:sp>
        <p:nvSpPr>
          <p:cNvPr id="5" name="矩形 4"/>
          <p:cNvSpPr/>
          <p:nvPr/>
        </p:nvSpPr>
        <p:spPr>
          <a:xfrm>
            <a:off x="6667422" y="2085108"/>
            <a:ext cx="5067378" cy="2895601"/>
          </a:xfrm>
          <a:prstGeom prst="rect">
            <a:avLst/>
          </a:prstGeom>
          <a:solidFill>
            <a:schemeClr val="bg1">
              <a:lumMod val="95000"/>
              <a:alpha val="6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61307" y="2368580"/>
            <a:ext cx="2555571" cy="738664"/>
          </a:xfrm>
          <a:prstGeom prst="rect">
            <a:avLst/>
          </a:prstGeom>
          <a:noFill/>
        </p:spPr>
        <p:txBody>
          <a:bodyPr wrap="none" lIns="0" tIns="0" rIns="0" bIns="0" rtlCol="0" anchor="b">
            <a:spAutoFit/>
          </a:bodyPr>
          <a:lstStyle/>
          <a:p>
            <a:r>
              <a:rPr lang="en-US" altLang="zh-CN" sz="4800" b="1"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PART   3</a:t>
            </a:r>
          </a:p>
        </p:txBody>
      </p:sp>
      <p:sp>
        <p:nvSpPr>
          <p:cNvPr id="9" name="文本框 8"/>
          <p:cNvSpPr txBox="1"/>
          <p:nvPr/>
        </p:nvSpPr>
        <p:spPr>
          <a:xfrm>
            <a:off x="561307" y="3300626"/>
            <a:ext cx="6194003" cy="1015663"/>
          </a:xfrm>
          <a:prstGeom prst="rect">
            <a:avLst/>
          </a:prstGeom>
          <a:noFill/>
        </p:spPr>
        <p:txBody>
          <a:bodyPr wrap="none" lIns="0" tIns="0" rIns="0" bIns="0" rtlCol="0">
            <a:spAutoFit/>
          </a:bodyPr>
          <a:lstStyle/>
          <a:p>
            <a:r>
              <a:rPr lang="zh-CN" altLang="en-US" sz="6600" b="1" spc="300" dirty="0">
                <a:solidFill>
                  <a:srgbClr val="005D97"/>
                </a:solidFill>
                <a:latin typeface="微软雅黑" panose="020B0503020204020204" pitchFamily="34" charset="-122"/>
                <a:ea typeface="微软雅黑" panose="020B0503020204020204" pitchFamily="34" charset="-122"/>
              </a:rPr>
              <a:t>启动前后端服务</a:t>
            </a:r>
          </a:p>
        </p:txBody>
      </p:sp>
    </p:spTree>
    <p:extLst>
      <p:ext uri="{BB962C8B-B14F-4D97-AF65-F5344CB8AC3E}">
        <p14:creationId xmlns:p14="http://schemas.microsoft.com/office/powerpoint/2010/main" val="1482422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59667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启动后端服务前需要知道的</a:t>
            </a:r>
            <a:r>
              <a:rPr lang="en-US" altLang="zh-CN" sz="2400" b="1" dirty="0">
                <a:latin typeface="微软雅黑" panose="020B0503020204020204" pitchFamily="34" charset="-122"/>
                <a:ea typeface="微软雅黑" panose="020B0503020204020204" pitchFamily="34" charset="-122"/>
              </a:rPr>
              <a:t>--Django</a:t>
            </a:r>
            <a:endParaRPr lang="zh-CN" altLang="en-US" sz="24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文本框 10">
            <a:extLst>
              <a:ext uri="{FF2B5EF4-FFF2-40B4-BE49-F238E27FC236}">
                <a16:creationId xmlns:a16="http://schemas.microsoft.com/office/drawing/2014/main" id="{65D7231C-4D04-42A3-982A-27412595EA3C}"/>
              </a:ext>
            </a:extLst>
          </p:cNvPr>
          <p:cNvSpPr txBox="1"/>
          <p:nvPr/>
        </p:nvSpPr>
        <p:spPr>
          <a:xfrm>
            <a:off x="440218" y="1353427"/>
            <a:ext cx="10917568" cy="5030864"/>
          </a:xfrm>
          <a:prstGeom prst="rect">
            <a:avLst/>
          </a:prstGeom>
          <a:noFill/>
        </p:spPr>
        <p:txBody>
          <a:bodyPr wrap="square">
            <a:spAutoFit/>
          </a:bodyPr>
          <a:lstStyle/>
          <a:p>
            <a:r>
              <a:rPr lang="en-US" altLang="zh-CN" sz="3600" b="1" dirty="0"/>
              <a:t>Why</a:t>
            </a:r>
            <a:r>
              <a:rPr lang="zh-CN" altLang="en-US" sz="3600" b="1" dirty="0"/>
              <a:t> </a:t>
            </a:r>
            <a:r>
              <a:rPr lang="en-US" altLang="zh-CN" sz="3600" b="1" dirty="0"/>
              <a:t>Django</a:t>
            </a:r>
            <a:r>
              <a:rPr lang="zh-CN" altLang="en-US" sz="3600" b="1" dirty="0"/>
              <a:t>？</a:t>
            </a:r>
            <a:endParaRPr lang="en-US" altLang="zh-CN" sz="3600" b="1" dirty="0"/>
          </a:p>
          <a:p>
            <a:endParaRPr lang="en-US" altLang="zh-CN" dirty="0"/>
          </a:p>
          <a:p>
            <a:pPr marL="342900" indent="-342900">
              <a:lnSpc>
                <a:spcPct val="150000"/>
              </a:lnSpc>
              <a:buAutoNum type="arabicPeriod"/>
            </a:pPr>
            <a:r>
              <a:rPr lang="zh-CN" altLang="en-US" b="1" dirty="0"/>
              <a:t>快速开发</a:t>
            </a:r>
            <a:r>
              <a:rPr lang="zh-CN" altLang="en-US" dirty="0"/>
              <a:t>：</a:t>
            </a:r>
            <a:r>
              <a:rPr lang="en" altLang="zh-CN" dirty="0"/>
              <a:t>Django </a:t>
            </a:r>
            <a:r>
              <a:rPr lang="zh-CN" altLang="en-US" dirty="0"/>
              <a:t>遵循“不要重复自己”（</a:t>
            </a:r>
            <a:r>
              <a:rPr lang="en" altLang="zh-CN" dirty="0"/>
              <a:t>DRY</a:t>
            </a:r>
            <a:r>
              <a:rPr lang="zh-CN" altLang="en" dirty="0"/>
              <a:t>）</a:t>
            </a:r>
            <a:r>
              <a:rPr lang="zh-CN" altLang="en-US" dirty="0"/>
              <a:t>的原则，提供了</a:t>
            </a:r>
            <a:r>
              <a:rPr lang="zh-CN" altLang="en-US" dirty="0">
                <a:solidFill>
                  <a:srgbClr val="FF0000"/>
                </a:solidFill>
              </a:rPr>
              <a:t>许多内置的工具和库</a:t>
            </a:r>
            <a:r>
              <a:rPr lang="zh-CN" altLang="en-US" dirty="0"/>
              <a:t>，可以快速生成常见的</a:t>
            </a:r>
            <a:r>
              <a:rPr lang="en" altLang="zh-CN" dirty="0"/>
              <a:t>Web</a:t>
            </a:r>
            <a:r>
              <a:rPr lang="zh-CN" altLang="en-US" dirty="0"/>
              <a:t>应用功能。</a:t>
            </a:r>
          </a:p>
          <a:p>
            <a:pPr marL="342900" indent="-342900">
              <a:lnSpc>
                <a:spcPct val="150000"/>
              </a:lnSpc>
              <a:buAutoNum type="arabicPeriod"/>
            </a:pPr>
            <a:r>
              <a:rPr lang="zh-CN" altLang="en-US" b="1" dirty="0"/>
              <a:t>可重用性</a:t>
            </a:r>
            <a:r>
              <a:rPr lang="zh-CN" altLang="en-US" dirty="0"/>
              <a:t>：</a:t>
            </a:r>
            <a:r>
              <a:rPr lang="en" altLang="zh-CN" dirty="0"/>
              <a:t>Django </a:t>
            </a:r>
            <a:r>
              <a:rPr lang="zh-CN" altLang="en-US" dirty="0"/>
              <a:t>的组件设计为可重用的，例如模型、视图、表单和模板，这有助于减少重复代码。</a:t>
            </a:r>
          </a:p>
          <a:p>
            <a:pPr marL="342900" indent="-342900">
              <a:lnSpc>
                <a:spcPct val="150000"/>
              </a:lnSpc>
              <a:buAutoNum type="arabicPeriod"/>
            </a:pPr>
            <a:r>
              <a:rPr lang="zh-CN" altLang="en-US" b="1" dirty="0">
                <a:solidFill>
                  <a:srgbClr val="FF0000"/>
                </a:solidFill>
              </a:rPr>
              <a:t>自动化管理界面</a:t>
            </a:r>
            <a:r>
              <a:rPr lang="zh-CN" altLang="en-US" dirty="0"/>
              <a:t>：</a:t>
            </a:r>
            <a:r>
              <a:rPr lang="en" altLang="zh-CN" dirty="0"/>
              <a:t>Django </a:t>
            </a:r>
            <a:r>
              <a:rPr lang="zh-CN" altLang="en-US" dirty="0"/>
              <a:t>提供了一个自动生成的管理界面，用于管理数据库中的内容，无需编写任何代码。</a:t>
            </a:r>
          </a:p>
          <a:p>
            <a:pPr marL="342900" indent="-342900">
              <a:lnSpc>
                <a:spcPct val="150000"/>
              </a:lnSpc>
              <a:buFontTx/>
              <a:buAutoNum type="arabicPeriod"/>
            </a:pPr>
            <a:r>
              <a:rPr lang="zh-CN" altLang="en-US" b="1" dirty="0">
                <a:solidFill>
                  <a:srgbClr val="FF0000"/>
                </a:solidFill>
              </a:rPr>
              <a:t>强大的</a:t>
            </a:r>
            <a:r>
              <a:rPr lang="en" altLang="zh-CN" b="1" dirty="0">
                <a:solidFill>
                  <a:srgbClr val="FF0000"/>
                </a:solidFill>
              </a:rPr>
              <a:t>ORM</a:t>
            </a:r>
            <a:r>
              <a:rPr lang="zh-CN" altLang="en-US" b="1" dirty="0"/>
              <a:t>（对象关系映射）</a:t>
            </a:r>
            <a:r>
              <a:rPr lang="zh-CN" altLang="en" dirty="0"/>
              <a:t>：</a:t>
            </a:r>
            <a:r>
              <a:rPr lang="en-US" altLang="zh-CN" dirty="0"/>
              <a:t>ORM</a:t>
            </a:r>
            <a:r>
              <a:rPr lang="zh-CN" altLang="en-US" dirty="0"/>
              <a:t>把面向对象的概念跟数据库中表的概念对应起来。 </a:t>
            </a:r>
            <a:r>
              <a:rPr lang="en" altLang="zh-CN" dirty="0"/>
              <a:t>Django </a:t>
            </a:r>
            <a:r>
              <a:rPr lang="zh-CN" altLang="en-US" dirty="0"/>
              <a:t>的 </a:t>
            </a:r>
            <a:r>
              <a:rPr lang="en" altLang="zh-CN" dirty="0"/>
              <a:t>ORM </a:t>
            </a:r>
            <a:r>
              <a:rPr lang="zh-CN" altLang="en-US" dirty="0"/>
              <a:t>允许你使用 </a:t>
            </a:r>
            <a:r>
              <a:rPr lang="en" altLang="zh-CN" dirty="0"/>
              <a:t>Python </a:t>
            </a:r>
            <a:r>
              <a:rPr lang="zh-CN" altLang="en-US" dirty="0"/>
              <a:t>代码与数据库交互，而无需编写 </a:t>
            </a:r>
            <a:r>
              <a:rPr lang="en" altLang="zh-CN" dirty="0"/>
              <a:t>SQL </a:t>
            </a:r>
            <a:r>
              <a:rPr lang="zh-CN" altLang="en-US" dirty="0"/>
              <a:t>语句。</a:t>
            </a:r>
            <a:endParaRPr lang="en-US" altLang="zh-CN" dirty="0"/>
          </a:p>
          <a:p>
            <a:pPr marL="342900" indent="-342900">
              <a:lnSpc>
                <a:spcPct val="150000"/>
              </a:lnSpc>
              <a:buAutoNum type="arabicPeriod"/>
            </a:pPr>
            <a:r>
              <a:rPr lang="en" altLang="zh-CN" b="1" dirty="0"/>
              <a:t>REST</a:t>
            </a:r>
            <a:r>
              <a:rPr lang="zh-CN" altLang="en-US" b="1" dirty="0"/>
              <a:t>框架支持</a:t>
            </a:r>
            <a:r>
              <a:rPr lang="en" altLang="zh-CN" b="1" dirty="0"/>
              <a:t>Django REST framework </a:t>
            </a:r>
            <a:r>
              <a:rPr lang="zh-CN" altLang="en-US" dirty="0"/>
              <a:t>是一个强大的工具，用于构建 </a:t>
            </a:r>
            <a:r>
              <a:rPr lang="en" altLang="zh-CN" dirty="0"/>
              <a:t>RESTful API</a:t>
            </a:r>
            <a:r>
              <a:rPr lang="zh-CN" altLang="en" dirty="0"/>
              <a:t>。</a:t>
            </a:r>
            <a:endParaRPr lang="en-US" altLang="zh-CN" dirty="0"/>
          </a:p>
          <a:p>
            <a:pPr marL="342900" indent="-342900">
              <a:lnSpc>
                <a:spcPct val="150000"/>
              </a:lnSpc>
              <a:buAutoNum type="arabicPeriod"/>
            </a:pPr>
            <a:r>
              <a:rPr lang="zh-CN" altLang="en-US" b="1" dirty="0"/>
              <a:t>数据库支持</a:t>
            </a:r>
            <a:r>
              <a:rPr lang="zh-CN" altLang="en-US" dirty="0"/>
              <a:t>：</a:t>
            </a:r>
            <a:r>
              <a:rPr lang="en" altLang="zh-CN" dirty="0"/>
              <a:t>Django </a:t>
            </a:r>
            <a:r>
              <a:rPr lang="zh-CN" altLang="en-US" dirty="0"/>
              <a:t>支持多种数据库后端，如 </a:t>
            </a:r>
            <a:r>
              <a:rPr lang="en" altLang="zh-CN" dirty="0"/>
              <a:t>PostgreSQL</a:t>
            </a:r>
            <a:r>
              <a:rPr lang="zh-CN" altLang="en" dirty="0"/>
              <a:t>、</a:t>
            </a:r>
            <a:r>
              <a:rPr lang="en" altLang="zh-CN" dirty="0"/>
              <a:t>MySQL</a:t>
            </a:r>
            <a:r>
              <a:rPr lang="zh-CN" altLang="en" dirty="0"/>
              <a:t>、</a:t>
            </a:r>
            <a:r>
              <a:rPr lang="en" altLang="zh-CN" dirty="0"/>
              <a:t>SQLite </a:t>
            </a:r>
            <a:r>
              <a:rPr lang="zh-CN" altLang="en-US" dirty="0"/>
              <a:t>等。</a:t>
            </a:r>
          </a:p>
          <a:p>
            <a:pPr marL="342900" indent="-342900">
              <a:lnSpc>
                <a:spcPct val="150000"/>
              </a:lnSpc>
              <a:buAutoNum type="arabicPeriod"/>
            </a:pPr>
            <a:r>
              <a:rPr lang="zh-CN" altLang="en-US" b="1" dirty="0"/>
              <a:t>社区和生态系统</a:t>
            </a:r>
            <a:r>
              <a:rPr lang="zh-CN" altLang="en-US" dirty="0"/>
              <a:t>：</a:t>
            </a:r>
            <a:r>
              <a:rPr lang="en" altLang="zh-CN" dirty="0"/>
              <a:t>Django </a:t>
            </a:r>
            <a:r>
              <a:rPr lang="zh-CN" altLang="en-US" dirty="0"/>
              <a:t>有一个活跃的社区，提供了大量的文档、教程和第三方库。</a:t>
            </a:r>
            <a:endParaRPr lang="en-US" altLang="zh-CN" dirty="0"/>
          </a:p>
        </p:txBody>
      </p:sp>
    </p:spTree>
    <p:extLst>
      <p:ext uri="{BB962C8B-B14F-4D97-AF65-F5344CB8AC3E}">
        <p14:creationId xmlns:p14="http://schemas.microsoft.com/office/powerpoint/2010/main" val="3195815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59667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启动后端服务前需要知道的</a:t>
            </a:r>
            <a:r>
              <a:rPr lang="en-US" altLang="zh-CN" sz="2400" b="1" dirty="0">
                <a:latin typeface="微软雅黑" panose="020B0503020204020204" pitchFamily="34" charset="-122"/>
                <a:ea typeface="微软雅黑" panose="020B0503020204020204" pitchFamily="34" charset="-122"/>
              </a:rPr>
              <a:t>--Django</a:t>
            </a:r>
            <a:endParaRPr lang="zh-CN" altLang="en-US" sz="24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文本框 10">
            <a:extLst>
              <a:ext uri="{FF2B5EF4-FFF2-40B4-BE49-F238E27FC236}">
                <a16:creationId xmlns:a16="http://schemas.microsoft.com/office/drawing/2014/main" id="{65D7231C-4D04-42A3-982A-27412595EA3C}"/>
              </a:ext>
            </a:extLst>
          </p:cNvPr>
          <p:cNvSpPr txBox="1"/>
          <p:nvPr/>
        </p:nvSpPr>
        <p:spPr>
          <a:xfrm>
            <a:off x="457692" y="1012258"/>
            <a:ext cx="5088086" cy="583108"/>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Django</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MVC</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架构之间的映射关系</a:t>
            </a:r>
            <a:endParaRPr lang="zh-CN" altLang="en-US" sz="2400" dirty="0"/>
          </a:p>
        </p:txBody>
      </p:sp>
      <p:sp>
        <p:nvSpPr>
          <p:cNvPr id="6" name="文本框 5">
            <a:extLst>
              <a:ext uri="{FF2B5EF4-FFF2-40B4-BE49-F238E27FC236}">
                <a16:creationId xmlns:a16="http://schemas.microsoft.com/office/drawing/2014/main" id="{1CED3879-7F53-58D8-8F77-79FEBEECDFDD}"/>
              </a:ext>
            </a:extLst>
          </p:cNvPr>
          <p:cNvSpPr txBox="1"/>
          <p:nvPr/>
        </p:nvSpPr>
        <p:spPr>
          <a:xfrm>
            <a:off x="457691" y="1877934"/>
            <a:ext cx="10952018" cy="3784369"/>
          </a:xfrm>
          <a:prstGeom prst="rect">
            <a:avLst/>
          </a:prstGeom>
          <a:noFill/>
        </p:spPr>
        <p:txBody>
          <a:bodyPr wrap="square">
            <a:spAutoFit/>
          </a:bodyPr>
          <a:lstStyle/>
          <a:p>
            <a:pPr>
              <a:lnSpc>
                <a:spcPct val="150000"/>
              </a:lnSpc>
            </a:pPr>
            <a:r>
              <a:rPr lang="en-US" altLang="zh-CN" dirty="0"/>
              <a:t>Django</a:t>
            </a:r>
            <a:r>
              <a:rPr lang="zh-CN" altLang="en-US" dirty="0"/>
              <a:t>的</a:t>
            </a:r>
            <a:r>
              <a:rPr lang="en-US" altLang="zh-CN" dirty="0"/>
              <a:t>MVT</a:t>
            </a:r>
            <a:r>
              <a:rPr lang="zh-CN" altLang="en-US" dirty="0"/>
              <a:t>设计模式由</a:t>
            </a:r>
            <a:r>
              <a:rPr lang="en-US" altLang="zh-CN" b="1" dirty="0"/>
              <a:t>Model(</a:t>
            </a:r>
            <a:r>
              <a:rPr lang="zh-CN" altLang="en-US" b="1" dirty="0"/>
              <a:t>模型</a:t>
            </a:r>
            <a:r>
              <a:rPr lang="en-US" altLang="zh-CN" b="1" dirty="0"/>
              <a:t>), View(</a:t>
            </a:r>
            <a:r>
              <a:rPr lang="zh-CN" altLang="en-US" b="1" dirty="0"/>
              <a:t>视图</a:t>
            </a:r>
            <a:r>
              <a:rPr lang="en-US" altLang="zh-CN" b="1" dirty="0"/>
              <a:t>) </a:t>
            </a:r>
            <a:r>
              <a:rPr lang="zh-CN" altLang="en-US" b="1" dirty="0"/>
              <a:t>和</a:t>
            </a:r>
            <a:r>
              <a:rPr lang="en-US" altLang="zh-CN" b="1" dirty="0"/>
              <a:t>Template(</a:t>
            </a:r>
            <a:r>
              <a:rPr lang="zh-CN" altLang="en-US" b="1" dirty="0"/>
              <a:t>模板</a:t>
            </a:r>
            <a:r>
              <a:rPr lang="en-US" altLang="zh-CN" b="1" dirty="0"/>
              <a:t>)</a:t>
            </a:r>
            <a:r>
              <a:rPr lang="zh-CN" altLang="en-US" dirty="0"/>
              <a:t>三部分组成，分别对应单个</a:t>
            </a:r>
            <a:r>
              <a:rPr lang="en-US" altLang="zh-CN" dirty="0"/>
              <a:t>app</a:t>
            </a:r>
            <a:r>
              <a:rPr lang="zh-CN" altLang="en-US" dirty="0"/>
              <a:t>目录下的</a:t>
            </a:r>
            <a:r>
              <a:rPr lang="en-US" altLang="zh-CN" dirty="0"/>
              <a:t>models.py, views.py</a:t>
            </a:r>
            <a:r>
              <a:rPr lang="zh-CN" altLang="en-US" dirty="0"/>
              <a:t>和</a:t>
            </a:r>
            <a:r>
              <a:rPr lang="en-US" altLang="zh-CN" dirty="0"/>
              <a:t>templates</a:t>
            </a:r>
            <a:r>
              <a:rPr lang="zh-CN" altLang="en-US" dirty="0"/>
              <a:t>文件夹。它们看似与</a:t>
            </a:r>
            <a:r>
              <a:rPr lang="en-US" altLang="zh-CN" dirty="0"/>
              <a:t>MVC</a:t>
            </a:r>
            <a:r>
              <a:rPr lang="zh-CN" altLang="en-US" dirty="0"/>
              <a:t>设计模式不太一致，其实本质是相同的。</a:t>
            </a:r>
            <a:endParaRPr lang="en-US" altLang="zh-CN" dirty="0"/>
          </a:p>
          <a:p>
            <a:pPr>
              <a:lnSpc>
                <a:spcPct val="150000"/>
              </a:lnSpc>
            </a:pPr>
            <a:endParaRPr lang="en-US" altLang="zh-CN" dirty="0"/>
          </a:p>
          <a:p>
            <a:pPr>
              <a:lnSpc>
                <a:spcPct val="150000"/>
              </a:lnSpc>
            </a:pPr>
            <a:r>
              <a:rPr lang="en-US" altLang="zh-CN" b="1" dirty="0"/>
              <a:t>Django</a:t>
            </a:r>
            <a:r>
              <a:rPr lang="zh-CN" altLang="en-US" b="1" dirty="0"/>
              <a:t>的</a:t>
            </a:r>
            <a:r>
              <a:rPr lang="en-US" altLang="zh-CN" b="1" dirty="0"/>
              <a:t>MVT</a:t>
            </a:r>
            <a:r>
              <a:rPr lang="zh-CN" altLang="en-US" b="1" dirty="0"/>
              <a:t>设计模式与经典的</a:t>
            </a:r>
            <a:r>
              <a:rPr lang="en-US" altLang="zh-CN" b="1" dirty="0"/>
              <a:t>MVC</a:t>
            </a:r>
            <a:r>
              <a:rPr lang="zh-CN" altLang="en-US" b="1" dirty="0"/>
              <a:t>对应关系如下：</a:t>
            </a:r>
            <a:endParaRPr lang="en-US" altLang="zh-CN" b="1" dirty="0"/>
          </a:p>
          <a:p>
            <a:pPr>
              <a:lnSpc>
                <a:spcPct val="150000"/>
              </a:lnSpc>
            </a:pPr>
            <a:r>
              <a:rPr lang="en-US" altLang="zh-CN" b="1" dirty="0"/>
              <a:t>Django Model(</a:t>
            </a:r>
            <a:r>
              <a:rPr lang="zh-CN" altLang="en-US" b="1" dirty="0"/>
              <a:t>模型</a:t>
            </a:r>
            <a:r>
              <a:rPr lang="en-US" altLang="zh-CN" b="1" dirty="0"/>
              <a:t>): </a:t>
            </a:r>
            <a:r>
              <a:rPr lang="zh-CN" altLang="en-US" dirty="0"/>
              <a:t>这个与经典</a:t>
            </a:r>
            <a:r>
              <a:rPr lang="en-US" altLang="zh-CN" dirty="0"/>
              <a:t>MVC</a:t>
            </a:r>
            <a:r>
              <a:rPr lang="zh-CN" altLang="en-US" dirty="0"/>
              <a:t>模式下的模型</a:t>
            </a:r>
            <a:r>
              <a:rPr lang="en-US" altLang="zh-CN" dirty="0"/>
              <a:t>Model</a:t>
            </a:r>
            <a:r>
              <a:rPr lang="zh-CN" altLang="en-US" dirty="0"/>
              <a:t>差不多。</a:t>
            </a:r>
          </a:p>
          <a:p>
            <a:pPr>
              <a:lnSpc>
                <a:spcPct val="150000"/>
              </a:lnSpc>
            </a:pPr>
            <a:r>
              <a:rPr lang="en-US" altLang="zh-CN" b="1" dirty="0"/>
              <a:t>Django View(</a:t>
            </a:r>
            <a:r>
              <a:rPr lang="zh-CN" altLang="en-US" b="1" dirty="0"/>
              <a:t>视图</a:t>
            </a:r>
            <a:r>
              <a:rPr lang="en-US" altLang="zh-CN" b="1" dirty="0"/>
              <a:t>): </a:t>
            </a:r>
            <a:r>
              <a:rPr lang="zh-CN" altLang="en-US" dirty="0"/>
              <a:t>这个与</a:t>
            </a:r>
            <a:r>
              <a:rPr lang="en-US" altLang="zh-CN" dirty="0"/>
              <a:t>MVC</a:t>
            </a:r>
            <a:r>
              <a:rPr lang="zh-CN" altLang="en-US" dirty="0"/>
              <a:t>下的控制器</a:t>
            </a:r>
            <a:r>
              <a:rPr lang="en-US" altLang="zh-CN" dirty="0"/>
              <a:t>Controller</a:t>
            </a:r>
            <a:r>
              <a:rPr lang="zh-CN" altLang="en-US" dirty="0"/>
              <a:t>更像。视图不仅负责根据用户请求从数据库读取数据、指定向用户展示数据的方式</a:t>
            </a:r>
            <a:r>
              <a:rPr lang="en-US" altLang="zh-CN" dirty="0"/>
              <a:t>(</a:t>
            </a:r>
            <a:r>
              <a:rPr lang="zh-CN" altLang="en-US" dirty="0"/>
              <a:t>网页或</a:t>
            </a:r>
            <a:r>
              <a:rPr lang="en-US" altLang="zh-CN" dirty="0" err="1"/>
              <a:t>json</a:t>
            </a:r>
            <a:r>
              <a:rPr lang="zh-CN" altLang="en-US" dirty="0"/>
              <a:t>数据</a:t>
            </a:r>
            <a:r>
              <a:rPr lang="en-US" altLang="zh-CN" dirty="0"/>
              <a:t>), </a:t>
            </a:r>
            <a:r>
              <a:rPr lang="zh-CN" altLang="en-US" dirty="0"/>
              <a:t>还可以指定渲染模板并处理用户提交的数据。</a:t>
            </a:r>
          </a:p>
          <a:p>
            <a:pPr>
              <a:lnSpc>
                <a:spcPct val="150000"/>
              </a:lnSpc>
            </a:pPr>
            <a:r>
              <a:rPr lang="en-US" altLang="zh-CN" b="1" dirty="0"/>
              <a:t>Django Template(</a:t>
            </a:r>
            <a:r>
              <a:rPr lang="zh-CN" altLang="en-US" b="1" dirty="0"/>
              <a:t>模板</a:t>
            </a:r>
            <a:r>
              <a:rPr lang="en-US" altLang="zh-CN" b="1" dirty="0"/>
              <a:t>): </a:t>
            </a:r>
            <a:r>
              <a:rPr lang="zh-CN" altLang="en-US" dirty="0"/>
              <a:t>这个与经典</a:t>
            </a:r>
            <a:r>
              <a:rPr lang="en-US" altLang="zh-CN" dirty="0"/>
              <a:t>MVC</a:t>
            </a:r>
            <a:r>
              <a:rPr lang="zh-CN" altLang="en-US" dirty="0"/>
              <a:t>模式下的视图</a:t>
            </a:r>
            <a:r>
              <a:rPr lang="en-US" altLang="zh-CN" dirty="0"/>
              <a:t>View</a:t>
            </a:r>
            <a:r>
              <a:rPr lang="zh-CN" altLang="en-US" dirty="0"/>
              <a:t>一致。模板用来呈现</a:t>
            </a:r>
            <a:r>
              <a:rPr lang="en-US" altLang="zh-CN" dirty="0"/>
              <a:t>Django view</a:t>
            </a:r>
            <a:r>
              <a:rPr lang="zh-CN" altLang="en-US" dirty="0"/>
              <a:t>传来的数据，也决定了用户界面的外观。</a:t>
            </a:r>
            <a:r>
              <a:rPr lang="en-US" altLang="zh-CN" dirty="0"/>
              <a:t>Template</a:t>
            </a:r>
            <a:r>
              <a:rPr lang="zh-CN" altLang="en-US" dirty="0"/>
              <a:t>里面也包含了表单，可以用来搜集用户的输入内容。</a:t>
            </a:r>
          </a:p>
        </p:txBody>
      </p:sp>
      <p:pic>
        <p:nvPicPr>
          <p:cNvPr id="8" name="图片 7" descr="图示&#10;&#10;描述已自动生成">
            <a:extLst>
              <a:ext uri="{FF2B5EF4-FFF2-40B4-BE49-F238E27FC236}">
                <a16:creationId xmlns:a16="http://schemas.microsoft.com/office/drawing/2014/main" id="{3E5630F7-74A8-E313-A1F7-69B82AB51A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849" y="2786276"/>
            <a:ext cx="11495314" cy="3938095"/>
          </a:xfrm>
          <a:prstGeom prst="rect">
            <a:avLst/>
          </a:prstGeom>
        </p:spPr>
      </p:pic>
    </p:spTree>
    <p:extLst>
      <p:ext uri="{BB962C8B-B14F-4D97-AF65-F5344CB8AC3E}">
        <p14:creationId xmlns:p14="http://schemas.microsoft.com/office/powerpoint/2010/main" val="259960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59667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启动后端服务前需要知道的</a:t>
            </a:r>
            <a:r>
              <a:rPr lang="en-US" altLang="zh-CN" sz="2400" b="1" dirty="0">
                <a:latin typeface="微软雅黑" panose="020B0503020204020204" pitchFamily="34" charset="-122"/>
                <a:ea typeface="微软雅黑" panose="020B0503020204020204" pitchFamily="34" charset="-122"/>
              </a:rPr>
              <a:t>--Django</a:t>
            </a:r>
            <a:endParaRPr lang="zh-CN" altLang="en-US" sz="24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文本框 10">
            <a:extLst>
              <a:ext uri="{FF2B5EF4-FFF2-40B4-BE49-F238E27FC236}">
                <a16:creationId xmlns:a16="http://schemas.microsoft.com/office/drawing/2014/main" id="{65D7231C-4D04-42A3-982A-27412595EA3C}"/>
              </a:ext>
            </a:extLst>
          </p:cNvPr>
          <p:cNvSpPr txBox="1"/>
          <p:nvPr/>
        </p:nvSpPr>
        <p:spPr>
          <a:xfrm>
            <a:off x="440218" y="1097036"/>
            <a:ext cx="7936339" cy="2122376"/>
          </a:xfrm>
          <a:prstGeom prst="rect">
            <a:avLst/>
          </a:prstGeom>
          <a:noFill/>
        </p:spPr>
        <p:txBody>
          <a:bodyPr wrap="square">
            <a:spAutoFit/>
          </a:bodyPr>
          <a:lstStyle/>
          <a:p>
            <a:pPr>
              <a:lnSpc>
                <a:spcPct val="150000"/>
              </a:lnSpc>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Django</a:t>
            </a:r>
            <a:r>
              <a:rPr lang="zh-CN" altLang="en-US" b="1" dirty="0">
                <a:latin typeface="黑体" panose="02010609060101010101" pitchFamily="49" charset="-122"/>
                <a:ea typeface="黑体" panose="02010609060101010101" pitchFamily="49" charset="-122"/>
              </a:rPr>
              <a:t>项目结构</a:t>
            </a:r>
            <a:endParaRPr lang="zh-CN" altLang="en-US" dirty="0"/>
          </a:p>
          <a:p>
            <a:pPr>
              <a:lnSpc>
                <a:spcPct val="150000"/>
              </a:lnSpc>
            </a:pPr>
            <a:r>
              <a:rPr lang="zh-CN" altLang="en-US" dirty="0"/>
              <a:t>一个使用</a:t>
            </a:r>
            <a:r>
              <a:rPr lang="en-US" altLang="zh-CN" dirty="0"/>
              <a:t>Django</a:t>
            </a:r>
            <a:r>
              <a:rPr lang="zh-CN" altLang="en-US" dirty="0"/>
              <a:t>创建的项目，它的目录结构默认如右图：创建一个名为</a:t>
            </a:r>
            <a:r>
              <a:rPr lang="en-US" altLang="zh-CN" dirty="0"/>
              <a:t>Django</a:t>
            </a:r>
            <a:r>
              <a:rPr lang="en" altLang="zh-CN" dirty="0"/>
              <a:t>Project</a:t>
            </a:r>
            <a:r>
              <a:rPr lang="zh-CN" altLang="en-US" dirty="0"/>
              <a:t>的文件夹，其中包含了</a:t>
            </a:r>
            <a:r>
              <a:rPr lang="en" altLang="zh-CN" dirty="0"/>
              <a:t>Django</a:t>
            </a:r>
            <a:r>
              <a:rPr lang="zh-CN" altLang="en-US" dirty="0"/>
              <a:t>项目的基本结构。在</a:t>
            </a:r>
            <a:r>
              <a:rPr lang="en" altLang="zh-CN" dirty="0"/>
              <a:t>Django</a:t>
            </a:r>
            <a:r>
              <a:rPr lang="zh-CN" altLang="en-US" dirty="0"/>
              <a:t>中，应用程序是</a:t>
            </a:r>
            <a:r>
              <a:rPr lang="en" altLang="zh-CN" dirty="0"/>
              <a:t>Web</a:t>
            </a:r>
            <a:r>
              <a:rPr lang="zh-CN" altLang="en-US" dirty="0"/>
              <a:t>项目的模块化组件。我们可以在项目文件夹中创建一个名为</a:t>
            </a:r>
            <a:r>
              <a:rPr lang="en" altLang="zh-CN" dirty="0" err="1"/>
              <a:t>myapp</a:t>
            </a:r>
            <a:r>
              <a:rPr lang="zh-CN" altLang="en-US" dirty="0"/>
              <a:t>的应用程序。</a:t>
            </a:r>
          </a:p>
        </p:txBody>
      </p:sp>
      <p:sp>
        <p:nvSpPr>
          <p:cNvPr id="12" name="文本框 11">
            <a:extLst>
              <a:ext uri="{FF2B5EF4-FFF2-40B4-BE49-F238E27FC236}">
                <a16:creationId xmlns:a16="http://schemas.microsoft.com/office/drawing/2014/main" id="{33AAE941-4D68-469C-BE25-8EC355307EC6}"/>
              </a:ext>
            </a:extLst>
          </p:cNvPr>
          <p:cNvSpPr txBox="1"/>
          <p:nvPr/>
        </p:nvSpPr>
        <p:spPr>
          <a:xfrm>
            <a:off x="440218" y="3358734"/>
            <a:ext cx="7307689" cy="1754326"/>
          </a:xfrm>
          <a:prstGeom prst="rect">
            <a:avLst/>
          </a:prstGeom>
          <a:noFill/>
        </p:spPr>
        <p:txBody>
          <a:bodyPr wrap="square">
            <a:spAutoFit/>
          </a:bodyPr>
          <a:lstStyle/>
          <a:p>
            <a:r>
              <a:rPr lang="zh-CN" altLang="en-US" dirty="0"/>
              <a:t>         项目的根目录</a:t>
            </a:r>
            <a:r>
              <a:rPr lang="en-US" altLang="zh-CN" dirty="0" err="1">
                <a:solidFill>
                  <a:srgbClr val="FF0000"/>
                </a:solidFill>
              </a:rPr>
              <a:t>DjangoProject</a:t>
            </a:r>
            <a:r>
              <a:rPr lang="zh-CN" altLang="en-US" dirty="0"/>
              <a:t>是项目名，它有一个项目设置文件（大部分的项目配置都安放在内）</a:t>
            </a:r>
            <a:r>
              <a:rPr lang="en-US" altLang="zh-CN" dirty="0" err="1">
                <a:solidFill>
                  <a:srgbClr val="FF0000"/>
                </a:solidFill>
              </a:rPr>
              <a:t>DjangoProject</a:t>
            </a:r>
            <a:r>
              <a:rPr lang="en-US" altLang="zh-CN" dirty="0">
                <a:solidFill>
                  <a:srgbClr val="FF0000"/>
                </a:solidFill>
              </a:rPr>
              <a:t>/</a:t>
            </a:r>
            <a:r>
              <a:rPr lang="en-US" altLang="zh-CN" dirty="0" err="1">
                <a:solidFill>
                  <a:srgbClr val="FF0000"/>
                </a:solidFill>
              </a:rPr>
              <a:t>settings.py</a:t>
            </a:r>
            <a:r>
              <a:rPr lang="zh-CN" altLang="en-US" dirty="0"/>
              <a:t>，存放对数据库进行操作的目录是</a:t>
            </a:r>
            <a:r>
              <a:rPr lang="en-US" altLang="zh-CN" dirty="0" err="1">
                <a:solidFill>
                  <a:srgbClr val="FF0000"/>
                </a:solidFill>
              </a:rPr>
              <a:t>myapp</a:t>
            </a:r>
            <a:r>
              <a:rPr lang="en-US" altLang="zh-CN" dirty="0">
                <a:solidFill>
                  <a:srgbClr val="FF0000"/>
                </a:solidFill>
              </a:rPr>
              <a:t>/migrations</a:t>
            </a:r>
            <a:r>
              <a:rPr lang="zh-CN" altLang="en-US" dirty="0"/>
              <a:t>，设置数据结构的目录是</a:t>
            </a:r>
            <a:r>
              <a:rPr lang="en-US" altLang="zh-CN" dirty="0" err="1">
                <a:solidFill>
                  <a:srgbClr val="FF0000"/>
                </a:solidFill>
              </a:rPr>
              <a:t>myapp</a:t>
            </a:r>
            <a:r>
              <a:rPr lang="en-US" altLang="zh-CN" dirty="0">
                <a:solidFill>
                  <a:srgbClr val="FF0000"/>
                </a:solidFill>
              </a:rPr>
              <a:t>/</a:t>
            </a:r>
            <a:r>
              <a:rPr lang="en-US" altLang="zh-CN" dirty="0" err="1">
                <a:solidFill>
                  <a:srgbClr val="FF0000"/>
                </a:solidFill>
              </a:rPr>
              <a:t>models.py</a:t>
            </a:r>
            <a:r>
              <a:rPr lang="zh-CN" altLang="en-US" dirty="0"/>
              <a:t>，存放视图 </a:t>
            </a:r>
            <a:r>
              <a:rPr lang="en-US" altLang="zh-CN" dirty="0"/>
              <a:t>View</a:t>
            </a:r>
            <a:r>
              <a:rPr lang="zh-CN" altLang="en-US" dirty="0"/>
              <a:t> 部分的的目录是</a:t>
            </a:r>
            <a:r>
              <a:rPr lang="en-US" altLang="zh-CN" dirty="0" err="1">
                <a:solidFill>
                  <a:srgbClr val="FF0000"/>
                </a:solidFill>
              </a:rPr>
              <a:t>myapp</a:t>
            </a:r>
            <a:r>
              <a:rPr lang="en-US" altLang="zh-CN" dirty="0">
                <a:solidFill>
                  <a:srgbClr val="FF0000"/>
                </a:solidFill>
              </a:rPr>
              <a:t>/</a:t>
            </a:r>
            <a:r>
              <a:rPr lang="en-US" altLang="zh-CN" dirty="0" err="1">
                <a:solidFill>
                  <a:srgbClr val="FF0000"/>
                </a:solidFill>
              </a:rPr>
              <a:t>views.py</a:t>
            </a:r>
            <a:r>
              <a:rPr lang="zh-CN" altLang="en-US" dirty="0"/>
              <a:t>，启动</a:t>
            </a:r>
            <a:r>
              <a:rPr lang="en-US" altLang="zh-CN" dirty="0"/>
              <a:t>Django</a:t>
            </a:r>
            <a:r>
              <a:rPr lang="zh-CN" altLang="en-US" dirty="0"/>
              <a:t>项目的文件是</a:t>
            </a:r>
            <a:r>
              <a:rPr lang="en-US" altLang="zh-CN" dirty="0" err="1">
                <a:solidFill>
                  <a:srgbClr val="FF0000"/>
                </a:solidFill>
              </a:rPr>
              <a:t>manage.py</a:t>
            </a:r>
            <a:r>
              <a:rPr lang="zh-CN" altLang="en-US" dirty="0"/>
              <a:t>，这些就是一个</a:t>
            </a:r>
            <a:r>
              <a:rPr lang="en-US" altLang="zh-CN" dirty="0"/>
              <a:t>Django</a:t>
            </a:r>
            <a:r>
              <a:rPr lang="zh-CN" altLang="en-US" dirty="0"/>
              <a:t>项目的标准目录结构。</a:t>
            </a:r>
          </a:p>
        </p:txBody>
      </p:sp>
      <p:pic>
        <p:nvPicPr>
          <p:cNvPr id="4" name="图片 3">
            <a:extLst>
              <a:ext uri="{FF2B5EF4-FFF2-40B4-BE49-F238E27FC236}">
                <a16:creationId xmlns:a16="http://schemas.microsoft.com/office/drawing/2014/main" id="{7A41C314-B344-8003-8F86-9895D8C5FFBC}"/>
              </a:ext>
            </a:extLst>
          </p:cNvPr>
          <p:cNvPicPr>
            <a:picLocks noChangeAspect="1"/>
          </p:cNvPicPr>
          <p:nvPr/>
        </p:nvPicPr>
        <p:blipFill>
          <a:blip r:embed="rId4"/>
          <a:stretch>
            <a:fillRect/>
          </a:stretch>
        </p:blipFill>
        <p:spPr>
          <a:xfrm>
            <a:off x="8538827" y="885165"/>
            <a:ext cx="3376604" cy="5861864"/>
          </a:xfrm>
          <a:prstGeom prst="rect">
            <a:avLst/>
          </a:prstGeom>
        </p:spPr>
      </p:pic>
      <p:sp>
        <p:nvSpPr>
          <p:cNvPr id="5" name="文本框 4">
            <a:extLst>
              <a:ext uri="{FF2B5EF4-FFF2-40B4-BE49-F238E27FC236}">
                <a16:creationId xmlns:a16="http://schemas.microsoft.com/office/drawing/2014/main" id="{DFB05F78-E68C-A5C5-DC21-77D4654F3CD5}"/>
              </a:ext>
            </a:extLst>
          </p:cNvPr>
          <p:cNvSpPr txBox="1"/>
          <p:nvPr/>
        </p:nvSpPr>
        <p:spPr>
          <a:xfrm>
            <a:off x="501123" y="5113060"/>
            <a:ext cx="7936339" cy="1200329"/>
          </a:xfrm>
          <a:prstGeom prst="rect">
            <a:avLst/>
          </a:prstGeom>
          <a:noFill/>
        </p:spPr>
        <p:txBody>
          <a:bodyPr wrap="square">
            <a:spAutoFit/>
          </a:bodyPr>
          <a:lstStyle/>
          <a:p>
            <a:r>
              <a:rPr lang="zh-CN" altLang="en-US" dirty="0"/>
              <a:t>运行方式：</a:t>
            </a:r>
            <a:endParaRPr lang="en-US" altLang="zh-CN" dirty="0"/>
          </a:p>
          <a:p>
            <a:r>
              <a:rPr lang="en-US" altLang="zh-CN" dirty="0">
                <a:solidFill>
                  <a:schemeClr val="accent5">
                    <a:lumMod val="60000"/>
                    <a:lumOff val="40000"/>
                  </a:schemeClr>
                </a:solidFill>
              </a:rPr>
              <a:t>python </a:t>
            </a:r>
            <a:r>
              <a:rPr lang="en-US" altLang="zh-CN" dirty="0" err="1">
                <a:solidFill>
                  <a:schemeClr val="accent5">
                    <a:lumMod val="60000"/>
                    <a:lumOff val="40000"/>
                  </a:schemeClr>
                </a:solidFill>
              </a:rPr>
              <a:t>manage.py</a:t>
            </a:r>
            <a:r>
              <a:rPr lang="en-US" altLang="zh-CN" dirty="0">
                <a:solidFill>
                  <a:schemeClr val="accent5">
                    <a:lumMod val="60000"/>
                    <a:lumOff val="40000"/>
                  </a:schemeClr>
                </a:solidFill>
              </a:rPr>
              <a:t> </a:t>
            </a:r>
            <a:r>
              <a:rPr lang="en-US" altLang="zh-CN" dirty="0" err="1">
                <a:solidFill>
                  <a:schemeClr val="accent5">
                    <a:lumMod val="60000"/>
                    <a:lumOff val="40000"/>
                  </a:schemeClr>
                </a:solidFill>
              </a:rPr>
              <a:t>makemigrations</a:t>
            </a:r>
            <a:r>
              <a:rPr lang="zh-CN" altLang="en-US" dirty="0">
                <a:solidFill>
                  <a:schemeClr val="accent5">
                    <a:lumMod val="60000"/>
                    <a:lumOff val="40000"/>
                  </a:schemeClr>
                </a:solidFill>
              </a:rPr>
              <a:t> </a:t>
            </a:r>
            <a:r>
              <a:rPr lang="en-US" altLang="zh-CN" dirty="0">
                <a:solidFill>
                  <a:schemeClr val="accent5">
                    <a:lumMod val="60000"/>
                    <a:lumOff val="40000"/>
                  </a:schemeClr>
                </a:solidFill>
              </a:rPr>
              <a:t> </a:t>
            </a:r>
            <a:r>
              <a:rPr lang="en-US" altLang="zh-CN" dirty="0"/>
              <a:t>#</a:t>
            </a:r>
            <a:r>
              <a:rPr lang="zh-CN" altLang="en-US" dirty="0"/>
              <a:t>将</a:t>
            </a:r>
            <a:r>
              <a:rPr lang="en-US" altLang="zh-CN" dirty="0" err="1"/>
              <a:t>models.py</a:t>
            </a:r>
            <a:r>
              <a:rPr lang="zh-CN" altLang="en-US" dirty="0"/>
              <a:t>中的对象转换为脚本</a:t>
            </a:r>
            <a:endParaRPr lang="en-US" altLang="zh-CN" dirty="0"/>
          </a:p>
          <a:p>
            <a:r>
              <a:rPr lang="en-US" altLang="zh-CN" dirty="0">
                <a:solidFill>
                  <a:schemeClr val="accent5">
                    <a:lumMod val="60000"/>
                    <a:lumOff val="40000"/>
                  </a:schemeClr>
                </a:solidFill>
              </a:rPr>
              <a:t>python </a:t>
            </a:r>
            <a:r>
              <a:rPr lang="en-US" altLang="zh-CN" dirty="0" err="1">
                <a:solidFill>
                  <a:schemeClr val="accent5">
                    <a:lumMod val="60000"/>
                    <a:lumOff val="40000"/>
                  </a:schemeClr>
                </a:solidFill>
              </a:rPr>
              <a:t>manage.py</a:t>
            </a:r>
            <a:r>
              <a:rPr lang="en-US" altLang="zh-CN" dirty="0">
                <a:solidFill>
                  <a:schemeClr val="accent5">
                    <a:lumMod val="60000"/>
                    <a:lumOff val="40000"/>
                  </a:schemeClr>
                </a:solidFill>
              </a:rPr>
              <a:t> migrate</a:t>
            </a:r>
            <a:r>
              <a:rPr lang="zh-CN" altLang="en-US" dirty="0">
                <a:solidFill>
                  <a:schemeClr val="accent5">
                    <a:lumMod val="60000"/>
                    <a:lumOff val="40000"/>
                  </a:schemeClr>
                </a:solidFill>
              </a:rPr>
              <a:t> </a:t>
            </a:r>
            <a:r>
              <a:rPr lang="en-US" altLang="zh-CN" dirty="0"/>
              <a:t>#</a:t>
            </a:r>
            <a:r>
              <a:rPr lang="zh-CN" altLang="en-US" dirty="0"/>
              <a:t>运行上一步生成的脚本，将对象转换为数据库的表</a:t>
            </a:r>
            <a:endParaRPr lang="en-US" altLang="zh-CN" dirty="0"/>
          </a:p>
          <a:p>
            <a:r>
              <a:rPr lang="en-US" altLang="zh-CN" dirty="0">
                <a:solidFill>
                  <a:schemeClr val="accent5">
                    <a:lumMod val="60000"/>
                    <a:lumOff val="40000"/>
                  </a:schemeClr>
                </a:solidFill>
              </a:rPr>
              <a:t>python </a:t>
            </a:r>
            <a:r>
              <a:rPr lang="en-US" altLang="zh-CN" dirty="0" err="1">
                <a:solidFill>
                  <a:schemeClr val="accent5">
                    <a:lumMod val="60000"/>
                    <a:lumOff val="40000"/>
                  </a:schemeClr>
                </a:solidFill>
              </a:rPr>
              <a:t>manage.py</a:t>
            </a:r>
            <a:r>
              <a:rPr lang="en-US" altLang="zh-CN" dirty="0">
                <a:solidFill>
                  <a:schemeClr val="accent5">
                    <a:lumMod val="60000"/>
                    <a:lumOff val="40000"/>
                  </a:schemeClr>
                </a:solidFill>
              </a:rPr>
              <a:t> </a:t>
            </a:r>
            <a:r>
              <a:rPr lang="en-US" altLang="zh-CN" dirty="0" err="1">
                <a:solidFill>
                  <a:schemeClr val="accent5">
                    <a:lumMod val="60000"/>
                    <a:lumOff val="40000"/>
                  </a:schemeClr>
                </a:solidFill>
              </a:rPr>
              <a:t>runserver</a:t>
            </a:r>
            <a:r>
              <a:rPr lang="zh-CN" altLang="en-US" dirty="0">
                <a:solidFill>
                  <a:schemeClr val="accent5">
                    <a:lumMod val="60000"/>
                    <a:lumOff val="40000"/>
                  </a:schemeClr>
                </a:solidFill>
              </a:rPr>
              <a:t> </a:t>
            </a:r>
            <a:r>
              <a:rPr lang="en-US" altLang="zh-CN" dirty="0"/>
              <a:t>#</a:t>
            </a:r>
            <a:r>
              <a:rPr lang="zh-CN" altLang="en-US" dirty="0"/>
              <a:t>启动项目</a:t>
            </a:r>
            <a:endParaRPr lang="en-US" altLang="zh-CN" dirty="0"/>
          </a:p>
        </p:txBody>
      </p:sp>
    </p:spTree>
    <p:extLst>
      <p:ext uri="{BB962C8B-B14F-4D97-AF65-F5344CB8AC3E}">
        <p14:creationId xmlns:p14="http://schemas.microsoft.com/office/powerpoint/2010/main" val="1283946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59667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启动前端服务前需要知道的</a:t>
            </a:r>
            <a:r>
              <a:rPr lang="en-US" altLang="zh-CN" sz="2400" b="1" dirty="0">
                <a:latin typeface="微软雅黑" panose="020B0503020204020204" pitchFamily="34" charset="-122"/>
                <a:ea typeface="微软雅黑" panose="020B0503020204020204" pitchFamily="34" charset="-122"/>
              </a:rPr>
              <a:t>--Node</a:t>
            </a:r>
            <a:endParaRPr lang="zh-CN" altLang="en-US" sz="24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文本框 11">
            <a:extLst>
              <a:ext uri="{FF2B5EF4-FFF2-40B4-BE49-F238E27FC236}">
                <a16:creationId xmlns:a16="http://schemas.microsoft.com/office/drawing/2014/main" id="{C6B217D9-E7CB-4E33-BD3D-AC3ECEC3977F}"/>
              </a:ext>
            </a:extLst>
          </p:cNvPr>
          <p:cNvSpPr txBox="1"/>
          <p:nvPr/>
        </p:nvSpPr>
        <p:spPr>
          <a:xfrm>
            <a:off x="378849" y="1288735"/>
            <a:ext cx="11040306" cy="4801314"/>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N</a:t>
            </a:r>
            <a:r>
              <a:rPr lang="zh-CN" altLang="en-US" sz="2000" b="1" dirty="0">
                <a:latin typeface="黑体" panose="02010609060101010101" pitchFamily="49" charset="-122"/>
                <a:ea typeface="黑体" panose="02010609060101010101" pitchFamily="49" charset="-122"/>
              </a:rPr>
              <a:t>ode：</a:t>
            </a:r>
          </a:p>
          <a:p>
            <a:endParaRPr lang="zh-CN" altLang="en-US" dirty="0"/>
          </a:p>
          <a:p>
            <a:r>
              <a:rPr lang="en-US" altLang="zh-CN" dirty="0"/>
              <a:t>N</a:t>
            </a:r>
            <a:r>
              <a:rPr lang="zh-CN" altLang="en-US" dirty="0"/>
              <a:t>ode（Node.js） 是一个开源和跨平台的 JavaScript 运行时环境。 要运行一个JavaScript程序，只需要将代码片段另存为 </a:t>
            </a:r>
            <a:r>
              <a:rPr lang="zh-CN" altLang="en-US" dirty="0">
                <a:solidFill>
                  <a:srgbClr val="FF0000"/>
                </a:solidFill>
              </a:rPr>
              <a:t>test.js</a:t>
            </a:r>
            <a:r>
              <a:rPr lang="zh-CN" altLang="en-US" dirty="0"/>
              <a:t>，并在终端中输入 </a:t>
            </a:r>
            <a:r>
              <a:rPr lang="zh-CN" altLang="en-US" dirty="0">
                <a:solidFill>
                  <a:srgbClr val="FF0000"/>
                </a:solidFill>
              </a:rPr>
              <a:t>node test.js </a:t>
            </a:r>
            <a:r>
              <a:rPr lang="zh-CN" altLang="en-US" dirty="0"/>
              <a:t>就能运行该程序。</a:t>
            </a:r>
          </a:p>
          <a:p>
            <a:endParaRPr lang="zh-CN" altLang="en-US" dirty="0"/>
          </a:p>
          <a:p>
            <a:r>
              <a:rPr lang="zh-CN" altLang="en-US" dirty="0"/>
              <a:t>Node.js 应用程序在单个进程中运行，无需为每个请求创建新的线程。 Node.js 在其标准库中提供了一组异步的 I/O 原语，以防止 JavaScript 代码阻塞，通常，Node.js 中的库是使用非阻塞范式编写的，使得阻塞行为成为异常而不是常态。</a:t>
            </a:r>
          </a:p>
          <a:p>
            <a:endParaRPr lang="zh-CN" altLang="en-US" dirty="0"/>
          </a:p>
          <a:p>
            <a:r>
              <a:rPr lang="zh-CN" altLang="en-US" dirty="0"/>
              <a:t>当 Node.js 执行 I/O 操作时（比如从网络读取、访问数据库或文件系统），Node.js 将在响应返回时恢复操作（而不是阻塞线程和浪费 CPU 周期等待）。</a:t>
            </a:r>
          </a:p>
          <a:p>
            <a:endParaRPr lang="zh-CN" altLang="en-US" dirty="0"/>
          </a:p>
          <a:p>
            <a:r>
              <a:rPr lang="zh-CN" altLang="en-US" dirty="0"/>
              <a:t>这允许 Node.js 使用单个服务器处理数千个并发连接，而不会引入管理线程并发（这可能是错误的重要来源）的负担。</a:t>
            </a:r>
          </a:p>
          <a:p>
            <a:endParaRPr lang="zh-CN" altLang="en-US" dirty="0"/>
          </a:p>
          <a:p>
            <a:r>
              <a:rPr lang="zh-CN" altLang="en-US" dirty="0"/>
              <a:t>Node.js 具有独特的优势，因为数百万为浏览器编写 JavaScript 的前端开发者现在无需学习完全不同的语言，就可以编写除客户端代码之外的服务器端代码。</a:t>
            </a:r>
          </a:p>
        </p:txBody>
      </p:sp>
    </p:spTree>
    <p:extLst>
      <p:ext uri="{BB962C8B-B14F-4D97-AF65-F5344CB8AC3E}">
        <p14:creationId xmlns:p14="http://schemas.microsoft.com/office/powerpoint/2010/main" val="2223805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59667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启动前端服务前需要知道的</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npm</a:t>
            </a:r>
            <a:endParaRPr lang="zh-CN" altLang="en-US" sz="24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文本框 11">
            <a:extLst>
              <a:ext uri="{FF2B5EF4-FFF2-40B4-BE49-F238E27FC236}">
                <a16:creationId xmlns:a16="http://schemas.microsoft.com/office/drawing/2014/main" id="{C6B217D9-E7CB-4E33-BD3D-AC3ECEC3977F}"/>
              </a:ext>
            </a:extLst>
          </p:cNvPr>
          <p:cNvSpPr txBox="1"/>
          <p:nvPr/>
        </p:nvSpPr>
        <p:spPr>
          <a:xfrm>
            <a:off x="378849" y="1288734"/>
            <a:ext cx="11040306" cy="3447098"/>
          </a:xfrm>
          <a:prstGeom prst="rect">
            <a:avLst/>
          </a:prstGeom>
          <a:noFill/>
        </p:spPr>
        <p:txBody>
          <a:bodyPr wrap="square">
            <a:spAutoFit/>
          </a:bodyPr>
          <a:lstStyle/>
          <a:p>
            <a:r>
              <a:rPr lang="en-US" altLang="zh-CN" sz="2000" b="1" dirty="0" err="1">
                <a:latin typeface="黑体" panose="02010609060101010101" pitchFamily="49" charset="-122"/>
                <a:ea typeface="黑体" panose="02010609060101010101" pitchFamily="49" charset="-122"/>
              </a:rPr>
              <a:t>npm</a:t>
            </a:r>
            <a:r>
              <a:rPr lang="zh-CN" altLang="en-US" sz="2000" b="1" dirty="0">
                <a:latin typeface="黑体" panose="02010609060101010101" pitchFamily="49" charset="-122"/>
                <a:ea typeface="黑体" panose="02010609060101010101" pitchFamily="49" charset="-122"/>
              </a:rPr>
              <a:t>：</a:t>
            </a:r>
          </a:p>
          <a:p>
            <a:endParaRPr lang="zh-CN" altLang="en-US" dirty="0"/>
          </a:p>
          <a:p>
            <a:r>
              <a:rPr lang="en-US" altLang="zh-CN" dirty="0" err="1"/>
              <a:t>npm</a:t>
            </a:r>
            <a:r>
              <a:rPr lang="en-US" altLang="zh-CN" dirty="0"/>
              <a:t> </a:t>
            </a:r>
            <a:r>
              <a:rPr lang="zh-CN" altLang="en-US" dirty="0"/>
              <a:t>全称是 </a:t>
            </a:r>
            <a:r>
              <a:rPr lang="en-US" altLang="zh-CN" dirty="0"/>
              <a:t>Node Package Manager</a:t>
            </a:r>
            <a:r>
              <a:rPr lang="zh-CN" altLang="en-US" dirty="0"/>
              <a:t>，它存储了大量</a:t>
            </a:r>
            <a:r>
              <a:rPr lang="en-US" altLang="zh-CN" dirty="0" err="1"/>
              <a:t>js</a:t>
            </a:r>
            <a:r>
              <a:rPr lang="zh-CN" altLang="en-US" dirty="0"/>
              <a:t>库，</a:t>
            </a:r>
            <a:r>
              <a:rPr lang="en-US" altLang="zh-CN" dirty="0" err="1"/>
              <a:t>npm</a:t>
            </a:r>
            <a:r>
              <a:rPr lang="en-US" altLang="zh-CN" dirty="0"/>
              <a:t> </a:t>
            </a:r>
            <a:r>
              <a:rPr lang="zh-CN" altLang="en-US" dirty="0"/>
              <a:t>帮助 </a:t>
            </a:r>
            <a:r>
              <a:rPr lang="en-US" altLang="zh-CN" dirty="0"/>
              <a:t>Node.js </a:t>
            </a:r>
            <a:r>
              <a:rPr lang="zh-CN" altLang="en-US" dirty="0"/>
              <a:t>生态系统蓬勃发展，现在 </a:t>
            </a:r>
            <a:r>
              <a:rPr lang="en-US" altLang="zh-CN" dirty="0" err="1"/>
              <a:t>npm</a:t>
            </a:r>
            <a:r>
              <a:rPr lang="en-US" altLang="zh-CN" dirty="0"/>
              <a:t> </a:t>
            </a:r>
            <a:r>
              <a:rPr lang="zh-CN" altLang="en-US" dirty="0"/>
              <a:t>仓库托管了超过 </a:t>
            </a:r>
            <a:r>
              <a:rPr lang="en-US" altLang="zh-CN" dirty="0"/>
              <a:t>1,000,000 </a:t>
            </a:r>
            <a:r>
              <a:rPr lang="zh-CN" altLang="en-US" dirty="0"/>
              <a:t>个开源包，全部都可以自由使用。</a:t>
            </a:r>
          </a:p>
          <a:p>
            <a:endParaRPr lang="zh-CN" altLang="en-US" dirty="0"/>
          </a:p>
          <a:p>
            <a:r>
              <a:rPr lang="zh-CN" altLang="en-US" dirty="0"/>
              <a:t>为什么我们需要一个包管理工具呢？因为我们在</a:t>
            </a:r>
            <a:r>
              <a:rPr lang="en-US" altLang="zh-CN" dirty="0"/>
              <a:t>Node.js</a:t>
            </a:r>
            <a:r>
              <a:rPr lang="zh-CN" altLang="en-US" dirty="0"/>
              <a:t>上开发时，会用到很多别人写的</a:t>
            </a:r>
            <a:r>
              <a:rPr lang="en-US" altLang="zh-CN" dirty="0"/>
              <a:t>JavaScript</a:t>
            </a:r>
            <a:r>
              <a:rPr lang="zh-CN" altLang="en-US" dirty="0"/>
              <a:t>代码。如果我们要使用别人写的某个包，每次都根据名称搜索一下官方网站，下载代码，解压，再使用，非常繁琐。于是一个集中管理的工具应运而生：大家都把自己开发的模块打包后放到</a:t>
            </a:r>
            <a:r>
              <a:rPr lang="en-US" altLang="zh-CN" dirty="0" err="1"/>
              <a:t>npm</a:t>
            </a:r>
            <a:r>
              <a:rPr lang="zh-CN" altLang="en-US" dirty="0"/>
              <a:t>官网上，如果要使用，直接通过</a:t>
            </a:r>
            <a:r>
              <a:rPr lang="en-US" altLang="zh-CN" dirty="0" err="1"/>
              <a:t>npm</a:t>
            </a:r>
            <a:r>
              <a:rPr lang="zh-CN" altLang="en-US" dirty="0"/>
              <a:t>安装就可以直接用，不用管代码存在哪，应该从哪下载。</a:t>
            </a:r>
          </a:p>
          <a:p>
            <a:endParaRPr lang="zh-CN" altLang="en-US" dirty="0"/>
          </a:p>
          <a:p>
            <a:r>
              <a:rPr lang="zh-CN" altLang="en-US" dirty="0"/>
              <a:t>更重要的是，如果我们要使用模块</a:t>
            </a:r>
            <a:r>
              <a:rPr lang="en-US" altLang="zh-CN" dirty="0"/>
              <a:t>A</a:t>
            </a:r>
            <a:r>
              <a:rPr lang="zh-CN" altLang="en-US" dirty="0"/>
              <a:t>，而模块</a:t>
            </a:r>
            <a:r>
              <a:rPr lang="en-US" altLang="zh-CN" dirty="0"/>
              <a:t>A</a:t>
            </a:r>
            <a:r>
              <a:rPr lang="zh-CN" altLang="en-US" dirty="0"/>
              <a:t>又依赖于模块</a:t>
            </a:r>
            <a:r>
              <a:rPr lang="en-US" altLang="zh-CN" dirty="0"/>
              <a:t>B</a:t>
            </a:r>
            <a:r>
              <a:rPr lang="zh-CN" altLang="en-US" dirty="0"/>
              <a:t>，模块</a:t>
            </a:r>
            <a:r>
              <a:rPr lang="en-US" altLang="zh-CN" dirty="0"/>
              <a:t>B</a:t>
            </a:r>
            <a:r>
              <a:rPr lang="zh-CN" altLang="en-US" dirty="0"/>
              <a:t>又依赖于模块</a:t>
            </a:r>
            <a:r>
              <a:rPr lang="en-US" altLang="zh-CN" dirty="0"/>
              <a:t>X</a:t>
            </a:r>
            <a:r>
              <a:rPr lang="zh-CN" altLang="en-US" dirty="0"/>
              <a:t>和模块</a:t>
            </a:r>
            <a:r>
              <a:rPr lang="en-US" altLang="zh-CN" dirty="0"/>
              <a:t>Y</a:t>
            </a:r>
            <a:r>
              <a:rPr lang="zh-CN" altLang="en-US" dirty="0"/>
              <a:t>，</a:t>
            </a:r>
            <a:r>
              <a:rPr lang="en-US" altLang="zh-CN" dirty="0" err="1"/>
              <a:t>npm</a:t>
            </a:r>
            <a:r>
              <a:rPr lang="zh-CN" altLang="en-US" dirty="0"/>
              <a:t>可以根据依赖关系，把所有依赖的包都下载下来并管理起来。否则，靠我们自己手动管理，既麻烦又容易出错。</a:t>
            </a:r>
          </a:p>
        </p:txBody>
      </p:sp>
    </p:spTree>
    <p:extLst>
      <p:ext uri="{BB962C8B-B14F-4D97-AF65-F5344CB8AC3E}">
        <p14:creationId xmlns:p14="http://schemas.microsoft.com/office/powerpoint/2010/main" val="2621204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378849" y="423500"/>
            <a:ext cx="59667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启动前端服务前需要知道的</a:t>
            </a:r>
            <a:r>
              <a:rPr lang="en-US" altLang="zh-CN" sz="2400" b="1" dirty="0">
                <a:latin typeface="微软雅黑" panose="020B0503020204020204" pitchFamily="34" charset="-122"/>
                <a:ea typeface="微软雅黑" panose="020B0503020204020204" pitchFamily="34" charset="-122"/>
              </a:rPr>
              <a:t>--Vue</a:t>
            </a:r>
            <a:endParaRPr lang="zh-CN" altLang="en-US" sz="24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9255810" y="309314"/>
            <a:ext cx="2334353" cy="425792"/>
            <a:chOff x="8482002" y="88145"/>
            <a:chExt cx="3125988" cy="570188"/>
          </a:xfrm>
        </p:grpSpPr>
        <p:pic>
          <p:nvPicPr>
            <p:cNvPr id="51"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文本框 10">
            <a:extLst>
              <a:ext uri="{FF2B5EF4-FFF2-40B4-BE49-F238E27FC236}">
                <a16:creationId xmlns:a16="http://schemas.microsoft.com/office/drawing/2014/main" id="{65D7231C-4D04-42A3-982A-27412595EA3C}"/>
              </a:ext>
            </a:extLst>
          </p:cNvPr>
          <p:cNvSpPr txBox="1"/>
          <p:nvPr/>
        </p:nvSpPr>
        <p:spPr>
          <a:xfrm>
            <a:off x="478645" y="1176223"/>
            <a:ext cx="10793839" cy="5450851"/>
          </a:xfrm>
          <a:prstGeom prst="rect">
            <a:avLst/>
          </a:prstGeom>
          <a:noFill/>
        </p:spPr>
        <p:txBody>
          <a:bodyPr wrap="square">
            <a:spAutoFit/>
          </a:bodyPr>
          <a:lstStyle/>
          <a:p>
            <a:pPr algn="l">
              <a:lnSpc>
                <a:spcPct val="150000"/>
              </a:lnSpc>
            </a:pPr>
            <a:r>
              <a:rPr lang="en" altLang="zh-CN" dirty="0"/>
              <a:t>Vue </a:t>
            </a:r>
            <a:r>
              <a:rPr lang="zh-CN" altLang="en-US" dirty="0"/>
              <a:t>是一个框架，也是一个生态。</a:t>
            </a:r>
            <a:endParaRPr lang="en-US" altLang="zh-CN" dirty="0"/>
          </a:p>
          <a:p>
            <a:pPr algn="l">
              <a:lnSpc>
                <a:spcPct val="150000"/>
              </a:lnSpc>
            </a:pPr>
            <a:r>
              <a:rPr lang="zh-CN" altLang="en-US" dirty="0"/>
              <a:t>其功能覆盖了大部分前端开发常见的需求。但 </a:t>
            </a:r>
            <a:r>
              <a:rPr lang="en" altLang="zh-CN" dirty="0"/>
              <a:t>Web </a:t>
            </a:r>
            <a:r>
              <a:rPr lang="zh-CN" altLang="en-US" dirty="0"/>
              <a:t>世界是十分多样化的，不同的开发者在 </a:t>
            </a:r>
            <a:r>
              <a:rPr lang="en" altLang="zh-CN" dirty="0"/>
              <a:t>Web </a:t>
            </a:r>
            <a:r>
              <a:rPr lang="zh-CN" altLang="en-US" dirty="0"/>
              <a:t>上构建的东西可能在形式和规模上会有很大的不同。考虑到这一点，</a:t>
            </a:r>
            <a:r>
              <a:rPr lang="en" altLang="zh-CN" dirty="0"/>
              <a:t>Vue </a:t>
            </a:r>
            <a:r>
              <a:rPr lang="zh-CN" altLang="en-US" dirty="0"/>
              <a:t>的设计非常注重灵活性和“可以被逐步集成”这个特点。</a:t>
            </a:r>
            <a:endParaRPr lang="en-US" altLang="zh-CN" dirty="0"/>
          </a:p>
          <a:p>
            <a:pPr algn="l">
              <a:lnSpc>
                <a:spcPct val="150000"/>
              </a:lnSpc>
            </a:pPr>
            <a:r>
              <a:rPr lang="zh-CN" altLang="en-US" dirty="0"/>
              <a:t>用</a:t>
            </a:r>
            <a:r>
              <a:rPr lang="en-US" altLang="zh-CN" dirty="0"/>
              <a:t>Vue</a:t>
            </a:r>
            <a:r>
              <a:rPr lang="zh-CN" altLang="en-US" dirty="0"/>
              <a:t>做前端的</a:t>
            </a:r>
            <a:r>
              <a:rPr lang="zh-CN" altLang="en-US" b="1" dirty="0"/>
              <a:t>优点</a:t>
            </a:r>
            <a:r>
              <a:rPr lang="zh-CN" altLang="en-US" dirty="0"/>
              <a:t>：</a:t>
            </a:r>
            <a:endParaRPr lang="en-US" altLang="zh-CN" dirty="0"/>
          </a:p>
          <a:p>
            <a:pPr algn="l">
              <a:lnSpc>
                <a:spcPct val="150000"/>
              </a:lnSpc>
            </a:pPr>
            <a:r>
              <a:rPr lang="en-US" altLang="zh-CN" b="1" dirty="0"/>
              <a:t>1</a:t>
            </a:r>
            <a:r>
              <a:rPr lang="zh-CN" altLang="en-US" b="1" dirty="0"/>
              <a:t>、组件化</a:t>
            </a:r>
            <a:r>
              <a:rPr lang="zh-CN" altLang="en-US" dirty="0"/>
              <a:t>：</a:t>
            </a:r>
            <a:r>
              <a:rPr lang="en" altLang="zh-CN" dirty="0" err="1"/>
              <a:t>Vue.js</a:t>
            </a:r>
            <a:r>
              <a:rPr lang="zh-CN" altLang="en-US" dirty="0"/>
              <a:t>采用组件化的开发方式，使得开发者可以将界面分解为独立、可复用的组件，这有助于代码的组织和重用。</a:t>
            </a:r>
          </a:p>
          <a:p>
            <a:pPr algn="l">
              <a:lnSpc>
                <a:spcPct val="150000"/>
              </a:lnSpc>
            </a:pPr>
            <a:r>
              <a:rPr lang="en-US" altLang="zh-CN" b="1" dirty="0"/>
              <a:t>2</a:t>
            </a:r>
            <a:r>
              <a:rPr lang="zh-CN" altLang="en-US" b="1" dirty="0"/>
              <a:t>、易用性</a:t>
            </a:r>
            <a:r>
              <a:rPr lang="zh-CN" altLang="en-US" dirty="0"/>
              <a:t>：</a:t>
            </a:r>
            <a:r>
              <a:rPr lang="en" altLang="zh-CN" dirty="0" err="1"/>
              <a:t>Vue.js</a:t>
            </a:r>
            <a:r>
              <a:rPr lang="zh-CN" altLang="en-US" dirty="0"/>
              <a:t>的</a:t>
            </a:r>
            <a:r>
              <a:rPr lang="en" altLang="zh-CN" dirty="0"/>
              <a:t>API</a:t>
            </a:r>
            <a:r>
              <a:rPr lang="zh-CN" altLang="en-US" dirty="0"/>
              <a:t>设计直观，易于上手，对于新手友好，同时为经验丰富的开发者提供了强大的功能。</a:t>
            </a:r>
            <a:endParaRPr lang="en-US" altLang="zh-CN" dirty="0"/>
          </a:p>
          <a:p>
            <a:pPr algn="l">
              <a:lnSpc>
                <a:spcPct val="150000"/>
              </a:lnSpc>
            </a:pPr>
            <a:r>
              <a:rPr lang="en-US" altLang="zh-CN" b="1" dirty="0"/>
              <a:t>3</a:t>
            </a:r>
            <a:r>
              <a:rPr lang="zh-CN" altLang="en-US" b="1" dirty="0"/>
              <a:t>、丰富的生态系统</a:t>
            </a:r>
            <a:r>
              <a:rPr lang="zh-CN" altLang="en-US" dirty="0"/>
              <a:t>：</a:t>
            </a:r>
            <a:r>
              <a:rPr lang="en" altLang="zh-CN" dirty="0"/>
              <a:t>Vue</a:t>
            </a:r>
            <a:r>
              <a:rPr lang="zh-CN" altLang="en-US" dirty="0"/>
              <a:t>有一个活跃的社区和丰富的生态系统，提供了大量的插件、工具和支持库，如</a:t>
            </a:r>
            <a:r>
              <a:rPr lang="en" altLang="zh-CN" dirty="0"/>
              <a:t>Vue CLI</a:t>
            </a:r>
            <a:r>
              <a:rPr lang="zh-CN" altLang="en" dirty="0"/>
              <a:t>、</a:t>
            </a:r>
            <a:r>
              <a:rPr lang="en" altLang="zh-CN" dirty="0" err="1"/>
              <a:t>Vuex</a:t>
            </a:r>
            <a:r>
              <a:rPr lang="zh-CN" altLang="en" dirty="0"/>
              <a:t>、</a:t>
            </a:r>
            <a:r>
              <a:rPr lang="en" altLang="zh-CN" dirty="0"/>
              <a:t>Vue Router</a:t>
            </a:r>
            <a:r>
              <a:rPr lang="zh-CN" altLang="en-US" dirty="0"/>
              <a:t>等。</a:t>
            </a:r>
          </a:p>
          <a:p>
            <a:pPr algn="l">
              <a:lnSpc>
                <a:spcPct val="150000"/>
              </a:lnSpc>
            </a:pPr>
            <a:r>
              <a:rPr lang="en-US" altLang="zh-CN" b="1" dirty="0"/>
              <a:t>4</a:t>
            </a:r>
            <a:r>
              <a:rPr lang="zh-CN" altLang="en-US" b="1" dirty="0"/>
              <a:t>、渐进式框架：</a:t>
            </a:r>
            <a:r>
              <a:rPr lang="en" altLang="zh-CN" dirty="0"/>
              <a:t>Vue</a:t>
            </a:r>
            <a:r>
              <a:rPr lang="zh-CN" altLang="en-US" dirty="0"/>
              <a:t>允许开发者以渐进式的方式采用它，这意味着可以在需要的时候引入</a:t>
            </a:r>
            <a:r>
              <a:rPr lang="en" altLang="zh-CN" dirty="0"/>
              <a:t>Vue</a:t>
            </a:r>
            <a:r>
              <a:rPr lang="zh-CN" altLang="en" dirty="0"/>
              <a:t>，</a:t>
            </a:r>
            <a:r>
              <a:rPr lang="zh-CN" altLang="en-US" dirty="0"/>
              <a:t>而不必完全重写现有代码。</a:t>
            </a:r>
          </a:p>
          <a:p>
            <a:pPr algn="l">
              <a:lnSpc>
                <a:spcPct val="150000"/>
              </a:lnSpc>
            </a:pPr>
            <a:endParaRPr lang="en" altLang="zh-CN" dirty="0"/>
          </a:p>
        </p:txBody>
      </p:sp>
    </p:spTree>
    <p:extLst>
      <p:ext uri="{BB962C8B-B14F-4D97-AF65-F5344CB8AC3E}">
        <p14:creationId xmlns:p14="http://schemas.microsoft.com/office/powerpoint/2010/main" val="2746230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400799" y="1808911"/>
            <a:ext cx="5014191" cy="2758209"/>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t="5644" b="6782"/>
          <a:stretch/>
        </p:blipFill>
        <p:spPr>
          <a:xfrm>
            <a:off x="6667422" y="2085109"/>
            <a:ext cx="5067378" cy="2895600"/>
          </a:xfrm>
          <a:prstGeom prst="rect">
            <a:avLst/>
          </a:prstGeom>
        </p:spPr>
      </p:pic>
      <p:sp>
        <p:nvSpPr>
          <p:cNvPr id="5" name="矩形 4"/>
          <p:cNvSpPr/>
          <p:nvPr/>
        </p:nvSpPr>
        <p:spPr>
          <a:xfrm>
            <a:off x="6667422" y="2085108"/>
            <a:ext cx="5067378" cy="2895601"/>
          </a:xfrm>
          <a:prstGeom prst="rect">
            <a:avLst/>
          </a:prstGeom>
          <a:solidFill>
            <a:schemeClr val="bg1">
              <a:lumMod val="95000"/>
              <a:alpha val="6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61307" y="2368580"/>
            <a:ext cx="2555571" cy="738664"/>
          </a:xfrm>
          <a:prstGeom prst="rect">
            <a:avLst/>
          </a:prstGeom>
          <a:noFill/>
        </p:spPr>
        <p:txBody>
          <a:bodyPr wrap="none" lIns="0" tIns="0" rIns="0" bIns="0" rtlCol="0" anchor="b">
            <a:spAutoFit/>
          </a:bodyPr>
          <a:lstStyle/>
          <a:p>
            <a:r>
              <a:rPr lang="en-US" altLang="zh-CN" sz="4800" b="1" dirty="0">
                <a:solidFill>
                  <a:schemeClr val="bg1">
                    <a:lumMod val="65000"/>
                  </a:schemeClr>
                </a:solidFill>
                <a:latin typeface="微软雅黑" panose="020B0503020204020204" pitchFamily="34" charset="-122"/>
                <a:ea typeface="微软雅黑" panose="020B0503020204020204" pitchFamily="34" charset="-122"/>
                <a:cs typeface="Times New Roman" panose="02020603050405020304" pitchFamily="18" charset="0"/>
              </a:rPr>
              <a:t>PART   4</a:t>
            </a:r>
          </a:p>
        </p:txBody>
      </p:sp>
      <p:sp>
        <p:nvSpPr>
          <p:cNvPr id="9" name="文本框 8"/>
          <p:cNvSpPr txBox="1"/>
          <p:nvPr/>
        </p:nvSpPr>
        <p:spPr>
          <a:xfrm>
            <a:off x="561307" y="3300626"/>
            <a:ext cx="5309146" cy="2031325"/>
          </a:xfrm>
          <a:prstGeom prst="rect">
            <a:avLst/>
          </a:prstGeom>
          <a:noFill/>
        </p:spPr>
        <p:txBody>
          <a:bodyPr wrap="none" lIns="0" tIns="0" rIns="0" bIns="0" rtlCol="0">
            <a:spAutoFit/>
          </a:bodyPr>
          <a:lstStyle/>
          <a:p>
            <a:r>
              <a:rPr lang="zh-CN" altLang="en-US" sz="6600" b="1" spc="300" dirty="0">
                <a:solidFill>
                  <a:srgbClr val="005D97"/>
                </a:solidFill>
                <a:latin typeface="微软雅黑" panose="020B0503020204020204" pitchFamily="34" charset="-122"/>
                <a:ea typeface="微软雅黑" panose="020B0503020204020204" pitchFamily="34" charset="-122"/>
              </a:rPr>
              <a:t>前端、后端、</a:t>
            </a:r>
            <a:endParaRPr lang="en-US" altLang="zh-CN" sz="6600" b="1" spc="300" dirty="0">
              <a:solidFill>
                <a:srgbClr val="005D97"/>
              </a:solidFill>
              <a:latin typeface="微软雅黑" panose="020B0503020204020204" pitchFamily="34" charset="-122"/>
              <a:ea typeface="微软雅黑" panose="020B0503020204020204" pitchFamily="34" charset="-122"/>
            </a:endParaRPr>
          </a:p>
          <a:p>
            <a:r>
              <a:rPr lang="zh-CN" altLang="en-US" sz="6600" b="1" spc="300" dirty="0">
                <a:solidFill>
                  <a:srgbClr val="005D97"/>
                </a:solidFill>
                <a:latin typeface="微软雅黑" panose="020B0503020204020204" pitchFamily="34" charset="-122"/>
                <a:ea typeface="微软雅黑" panose="020B0503020204020204" pitchFamily="34" charset="-122"/>
              </a:rPr>
              <a:t>数据库交互</a:t>
            </a:r>
          </a:p>
        </p:txBody>
      </p:sp>
    </p:spTree>
    <p:extLst>
      <p:ext uri="{BB962C8B-B14F-4D97-AF65-F5344CB8AC3E}">
        <p14:creationId xmlns:p14="http://schemas.microsoft.com/office/powerpoint/2010/main" val="4293639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050843" y="1694557"/>
            <a:ext cx="10226674" cy="5163443"/>
            <a:chOff x="1058864" y="1685950"/>
            <a:chExt cx="10226674" cy="5163443"/>
          </a:xfrm>
        </p:grpSpPr>
        <p:sp>
          <p:nvSpPr>
            <p:cNvPr id="11" name="MH_Other_1"/>
            <p:cNvSpPr>
              <a:spLocks/>
            </p:cNvSpPr>
            <p:nvPr>
              <p:custDataLst>
                <p:tags r:id="rId1"/>
              </p:custDataLst>
            </p:nvPr>
          </p:nvSpPr>
          <p:spPr bwMode="auto">
            <a:xfrm>
              <a:off x="1694359" y="2462975"/>
              <a:ext cx="421535" cy="426235"/>
            </a:xfrm>
            <a:custGeom>
              <a:avLst/>
              <a:gdLst>
                <a:gd name="T0" fmla="*/ 2147483646 w 30"/>
                <a:gd name="T1" fmla="*/ 2147483646 h 30"/>
                <a:gd name="T2" fmla="*/ 2147483646 w 30"/>
                <a:gd name="T3" fmla="*/ 2147483646 h 30"/>
                <a:gd name="T4" fmla="*/ 2147483646 w 30"/>
                <a:gd name="T5" fmla="*/ 2147483646 h 30"/>
                <a:gd name="T6" fmla="*/ 0 w 30"/>
                <a:gd name="T7" fmla="*/ 2147483646 h 30"/>
                <a:gd name="T8" fmla="*/ 0 w 30"/>
                <a:gd name="T9" fmla="*/ 2147483646 h 30"/>
                <a:gd name="T10" fmla="*/ 2147483646 w 30"/>
                <a:gd name="T11" fmla="*/ 0 h 30"/>
                <a:gd name="T12" fmla="*/ 2147483646 w 30"/>
                <a:gd name="T13" fmla="*/ 0 h 30"/>
                <a:gd name="T14" fmla="*/ 2147483646 w 30"/>
                <a:gd name="T15" fmla="*/ 2147483646 h 30"/>
                <a:gd name="T16" fmla="*/ 2147483646 w 30"/>
                <a:gd name="T17" fmla="*/ 2147483646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 h="30">
                  <a:moveTo>
                    <a:pt x="30" y="27"/>
                  </a:moveTo>
                  <a:cubicBezTo>
                    <a:pt x="30" y="28"/>
                    <a:pt x="28" y="30"/>
                    <a:pt x="26" y="30"/>
                  </a:cubicBezTo>
                  <a:cubicBezTo>
                    <a:pt x="3" y="30"/>
                    <a:pt x="3" y="30"/>
                    <a:pt x="3" y="30"/>
                  </a:cubicBezTo>
                  <a:cubicBezTo>
                    <a:pt x="1" y="30"/>
                    <a:pt x="0" y="28"/>
                    <a:pt x="0" y="27"/>
                  </a:cubicBezTo>
                  <a:cubicBezTo>
                    <a:pt x="0" y="3"/>
                    <a:pt x="0" y="3"/>
                    <a:pt x="0" y="3"/>
                  </a:cubicBezTo>
                  <a:cubicBezTo>
                    <a:pt x="0" y="2"/>
                    <a:pt x="1" y="0"/>
                    <a:pt x="3" y="0"/>
                  </a:cubicBezTo>
                  <a:cubicBezTo>
                    <a:pt x="26" y="0"/>
                    <a:pt x="26" y="0"/>
                    <a:pt x="26" y="0"/>
                  </a:cubicBezTo>
                  <a:cubicBezTo>
                    <a:pt x="28" y="0"/>
                    <a:pt x="30" y="2"/>
                    <a:pt x="30" y="3"/>
                  </a:cubicBezTo>
                  <a:cubicBezTo>
                    <a:pt x="30" y="27"/>
                    <a:pt x="30" y="27"/>
                    <a:pt x="30" y="27"/>
                  </a:cubicBezTo>
                </a:path>
              </a:pathLst>
            </a:custGeom>
            <a:solidFill>
              <a:schemeClr val="accent1">
                <a:lumMod val="100000"/>
              </a:schemeClr>
            </a:solidFill>
            <a:ln w="9525">
              <a:noFill/>
              <a:round/>
              <a:headEnd/>
              <a:tailEnd/>
            </a:ln>
          </p:spPr>
          <p:txBody>
            <a:bodyPr anchor="ctr"/>
            <a:lstStyle/>
            <a:p>
              <a:endParaRPr lang="zh-CN" altLang="en-US">
                <a:cs typeface="+mn-ea"/>
              </a:endParaRPr>
            </a:p>
          </p:txBody>
        </p:sp>
        <p:sp>
          <p:nvSpPr>
            <p:cNvPr id="12" name="MH_Other_4"/>
            <p:cNvSpPr>
              <a:spLocks/>
            </p:cNvSpPr>
            <p:nvPr>
              <p:custDataLst>
                <p:tags r:id="rId2"/>
              </p:custDataLst>
            </p:nvPr>
          </p:nvSpPr>
          <p:spPr bwMode="auto">
            <a:xfrm>
              <a:off x="1058864" y="2218792"/>
              <a:ext cx="10226674" cy="4630601"/>
            </a:xfrm>
            <a:custGeom>
              <a:avLst/>
              <a:gdLst>
                <a:gd name="T0" fmla="*/ 262287250 w 10001"/>
                <a:gd name="T1" fmla="*/ 0 h 12408"/>
                <a:gd name="T2" fmla="*/ 2147483646 w 10001"/>
                <a:gd name="T3" fmla="*/ 0 h 12408"/>
                <a:gd name="T4" fmla="*/ 2147483646 w 10001"/>
                <a:gd name="T5" fmla="*/ 2147483646 h 12408"/>
                <a:gd name="T6" fmla="*/ 2147483646 w 10001"/>
                <a:gd name="T7" fmla="*/ 2147483646 h 12408"/>
                <a:gd name="T8" fmla="*/ 2147483646 w 10001"/>
                <a:gd name="T9" fmla="*/ 2147483646 h 12408"/>
                <a:gd name="T10" fmla="*/ 2147483646 w 10001"/>
                <a:gd name="T11" fmla="*/ 2147483646 h 12408"/>
                <a:gd name="T12" fmla="*/ 262287250 w 10001"/>
                <a:gd name="T13" fmla="*/ 2147483646 h 12408"/>
                <a:gd name="T14" fmla="*/ 0 w 10001"/>
                <a:gd name="T15" fmla="*/ 2147483646 h 124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01" h="12408">
                  <a:moveTo>
                    <a:pt x="1" y="0"/>
                  </a:moveTo>
                  <a:lnTo>
                    <a:pt x="9287" y="0"/>
                  </a:lnTo>
                  <a:cubicBezTo>
                    <a:pt x="9689" y="0"/>
                    <a:pt x="10001" y="547"/>
                    <a:pt x="10001" y="1250"/>
                  </a:cubicBezTo>
                  <a:lnTo>
                    <a:pt x="10001" y="4688"/>
                  </a:lnTo>
                  <a:cubicBezTo>
                    <a:pt x="10001" y="5391"/>
                    <a:pt x="9689" y="5938"/>
                    <a:pt x="9287" y="5938"/>
                  </a:cubicBezTo>
                  <a:lnTo>
                    <a:pt x="715" y="5938"/>
                  </a:lnTo>
                  <a:cubicBezTo>
                    <a:pt x="336" y="5938"/>
                    <a:pt x="1" y="6484"/>
                    <a:pt x="1" y="7188"/>
                  </a:cubicBezTo>
                  <a:cubicBezTo>
                    <a:pt x="1" y="10000"/>
                    <a:pt x="0" y="12408"/>
                    <a:pt x="0" y="12408"/>
                  </a:cubicBezTo>
                </a:path>
              </a:pathLst>
            </a:custGeom>
            <a:noFill/>
            <a:ln w="11113" cap="flat">
              <a:solidFill>
                <a:schemeClr val="tx1">
                  <a:lumMod val="50000"/>
                  <a:lumOff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cs typeface="+mn-ea"/>
              </a:endParaRPr>
            </a:p>
          </p:txBody>
        </p:sp>
        <p:sp>
          <p:nvSpPr>
            <p:cNvPr id="13" name="MH_Other_5"/>
            <p:cNvSpPr>
              <a:spLocks noChangeArrowheads="1"/>
            </p:cNvSpPr>
            <p:nvPr>
              <p:custDataLst>
                <p:tags r:id="rId3"/>
              </p:custDataLst>
            </p:nvPr>
          </p:nvSpPr>
          <p:spPr bwMode="auto">
            <a:xfrm>
              <a:off x="1807185" y="2111957"/>
              <a:ext cx="236624" cy="238190"/>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14" name="MH_Other_6"/>
            <p:cNvSpPr>
              <a:spLocks noChangeArrowheads="1"/>
            </p:cNvSpPr>
            <p:nvPr>
              <p:custDataLst>
                <p:tags r:id="rId4"/>
              </p:custDataLst>
            </p:nvPr>
          </p:nvSpPr>
          <p:spPr bwMode="auto">
            <a:xfrm>
              <a:off x="1847930" y="2154267"/>
              <a:ext cx="155137" cy="153570"/>
            </a:xfrm>
            <a:prstGeom prst="ellipse">
              <a:avLst/>
            </a:prstGeom>
            <a:solidFill>
              <a:schemeClr val="tx1">
                <a:lumMod val="50000"/>
                <a:lumOff val="50000"/>
              </a:schemeClr>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15" name="MH_Other_10"/>
            <p:cNvSpPr>
              <a:spLocks noChangeArrowheads="1"/>
            </p:cNvSpPr>
            <p:nvPr>
              <p:custDataLst>
                <p:tags r:id="rId5"/>
              </p:custDataLst>
            </p:nvPr>
          </p:nvSpPr>
          <p:spPr bwMode="auto">
            <a:xfrm>
              <a:off x="9564147" y="2111957"/>
              <a:ext cx="236624" cy="238190"/>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16" name="MH_Other_11"/>
            <p:cNvSpPr>
              <a:spLocks noChangeArrowheads="1"/>
            </p:cNvSpPr>
            <p:nvPr>
              <p:custDataLst>
                <p:tags r:id="rId6"/>
              </p:custDataLst>
            </p:nvPr>
          </p:nvSpPr>
          <p:spPr bwMode="auto">
            <a:xfrm>
              <a:off x="9604890" y="2154267"/>
              <a:ext cx="155137" cy="153570"/>
            </a:xfrm>
            <a:prstGeom prst="ellipse">
              <a:avLst/>
            </a:prstGeom>
            <a:solidFill>
              <a:schemeClr val="tx1">
                <a:lumMod val="50000"/>
                <a:lumOff val="50000"/>
              </a:schemeClr>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17" name="MH_Other_12"/>
            <p:cNvSpPr>
              <a:spLocks/>
            </p:cNvSpPr>
            <p:nvPr>
              <p:custDataLst>
                <p:tags r:id="rId7"/>
              </p:custDataLst>
            </p:nvPr>
          </p:nvSpPr>
          <p:spPr bwMode="auto">
            <a:xfrm>
              <a:off x="5629727" y="2462975"/>
              <a:ext cx="408997" cy="426235"/>
            </a:xfrm>
            <a:custGeom>
              <a:avLst/>
              <a:gdLst>
                <a:gd name="T0" fmla="*/ 2147483646 w 29"/>
                <a:gd name="T1" fmla="*/ 2147483646 h 30"/>
                <a:gd name="T2" fmla="*/ 2147483646 w 29"/>
                <a:gd name="T3" fmla="*/ 2147483646 h 30"/>
                <a:gd name="T4" fmla="*/ 2147483646 w 29"/>
                <a:gd name="T5" fmla="*/ 2147483646 h 30"/>
                <a:gd name="T6" fmla="*/ 0 w 29"/>
                <a:gd name="T7" fmla="*/ 2147483646 h 30"/>
                <a:gd name="T8" fmla="*/ 0 w 29"/>
                <a:gd name="T9" fmla="*/ 2147483646 h 30"/>
                <a:gd name="T10" fmla="*/ 2147483646 w 29"/>
                <a:gd name="T11" fmla="*/ 0 h 30"/>
                <a:gd name="T12" fmla="*/ 2147483646 w 29"/>
                <a:gd name="T13" fmla="*/ 0 h 30"/>
                <a:gd name="T14" fmla="*/ 2147483646 w 29"/>
                <a:gd name="T15" fmla="*/ 2147483646 h 30"/>
                <a:gd name="T16" fmla="*/ 2147483646 w 29"/>
                <a:gd name="T17" fmla="*/ 2147483646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30">
                  <a:moveTo>
                    <a:pt x="29" y="27"/>
                  </a:moveTo>
                  <a:cubicBezTo>
                    <a:pt x="29" y="28"/>
                    <a:pt x="28" y="30"/>
                    <a:pt x="26" y="30"/>
                  </a:cubicBezTo>
                  <a:cubicBezTo>
                    <a:pt x="3" y="30"/>
                    <a:pt x="3" y="30"/>
                    <a:pt x="3" y="30"/>
                  </a:cubicBezTo>
                  <a:cubicBezTo>
                    <a:pt x="1" y="30"/>
                    <a:pt x="0" y="28"/>
                    <a:pt x="0" y="27"/>
                  </a:cubicBezTo>
                  <a:cubicBezTo>
                    <a:pt x="0" y="3"/>
                    <a:pt x="0" y="3"/>
                    <a:pt x="0" y="3"/>
                  </a:cubicBezTo>
                  <a:cubicBezTo>
                    <a:pt x="0" y="2"/>
                    <a:pt x="1" y="0"/>
                    <a:pt x="3" y="0"/>
                  </a:cubicBezTo>
                  <a:cubicBezTo>
                    <a:pt x="26" y="0"/>
                    <a:pt x="26" y="0"/>
                    <a:pt x="26" y="0"/>
                  </a:cubicBezTo>
                  <a:cubicBezTo>
                    <a:pt x="28" y="0"/>
                    <a:pt x="29" y="2"/>
                    <a:pt x="29" y="3"/>
                  </a:cubicBezTo>
                  <a:cubicBezTo>
                    <a:pt x="29" y="27"/>
                    <a:pt x="29" y="27"/>
                    <a:pt x="29" y="27"/>
                  </a:cubicBezTo>
                </a:path>
              </a:pathLst>
            </a:custGeom>
            <a:solidFill>
              <a:schemeClr val="accent1">
                <a:lumMod val="100000"/>
              </a:schemeClr>
            </a:solidFill>
            <a:ln w="9525">
              <a:noFill/>
              <a:round/>
              <a:headEnd/>
              <a:tailEnd/>
            </a:ln>
          </p:spPr>
          <p:txBody>
            <a:bodyPr anchor="ctr"/>
            <a:lstStyle/>
            <a:p>
              <a:endParaRPr lang="zh-CN" altLang="en-US">
                <a:cs typeface="+mn-ea"/>
              </a:endParaRPr>
            </a:p>
          </p:txBody>
        </p:sp>
        <p:sp>
          <p:nvSpPr>
            <p:cNvPr id="21" name="MH_Other_15"/>
            <p:cNvSpPr>
              <a:spLocks noChangeArrowheads="1"/>
            </p:cNvSpPr>
            <p:nvPr>
              <p:custDataLst>
                <p:tags r:id="rId8"/>
              </p:custDataLst>
            </p:nvPr>
          </p:nvSpPr>
          <p:spPr bwMode="auto">
            <a:xfrm>
              <a:off x="5742554" y="2111957"/>
              <a:ext cx="242891" cy="238190"/>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22" name="MH_Other_16"/>
            <p:cNvSpPr>
              <a:spLocks noChangeArrowheads="1"/>
            </p:cNvSpPr>
            <p:nvPr>
              <p:custDataLst>
                <p:tags r:id="rId9"/>
              </p:custDataLst>
            </p:nvPr>
          </p:nvSpPr>
          <p:spPr bwMode="auto">
            <a:xfrm>
              <a:off x="5784864" y="2154267"/>
              <a:ext cx="159838" cy="153570"/>
            </a:xfrm>
            <a:prstGeom prst="ellipse">
              <a:avLst/>
            </a:prstGeom>
            <a:solidFill>
              <a:schemeClr val="tx1">
                <a:lumMod val="50000"/>
                <a:lumOff val="50000"/>
              </a:schemeClr>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23" name="MH_Other_17"/>
            <p:cNvSpPr>
              <a:spLocks/>
            </p:cNvSpPr>
            <p:nvPr>
              <p:custDataLst>
                <p:tags r:id="rId10"/>
              </p:custDataLst>
            </p:nvPr>
          </p:nvSpPr>
          <p:spPr bwMode="auto">
            <a:xfrm>
              <a:off x="3732117" y="4654185"/>
              <a:ext cx="421534" cy="427802"/>
            </a:xfrm>
            <a:custGeom>
              <a:avLst/>
              <a:gdLst>
                <a:gd name="T0" fmla="*/ 2147483646 w 30"/>
                <a:gd name="T1" fmla="*/ 2147483646 h 30"/>
                <a:gd name="T2" fmla="*/ 2147483646 w 30"/>
                <a:gd name="T3" fmla="*/ 2147483646 h 30"/>
                <a:gd name="T4" fmla="*/ 2147483646 w 30"/>
                <a:gd name="T5" fmla="*/ 2147483646 h 30"/>
                <a:gd name="T6" fmla="*/ 0 w 30"/>
                <a:gd name="T7" fmla="*/ 2147483646 h 30"/>
                <a:gd name="T8" fmla="*/ 0 w 30"/>
                <a:gd name="T9" fmla="*/ 2147483646 h 30"/>
                <a:gd name="T10" fmla="*/ 2147483646 w 30"/>
                <a:gd name="T11" fmla="*/ 0 h 30"/>
                <a:gd name="T12" fmla="*/ 2147483646 w 30"/>
                <a:gd name="T13" fmla="*/ 0 h 30"/>
                <a:gd name="T14" fmla="*/ 2147483646 w 30"/>
                <a:gd name="T15" fmla="*/ 2147483646 h 30"/>
                <a:gd name="T16" fmla="*/ 2147483646 w 30"/>
                <a:gd name="T17" fmla="*/ 2147483646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0" h="30">
                  <a:moveTo>
                    <a:pt x="30" y="27"/>
                  </a:moveTo>
                  <a:cubicBezTo>
                    <a:pt x="30" y="28"/>
                    <a:pt x="29" y="30"/>
                    <a:pt x="27" y="30"/>
                  </a:cubicBezTo>
                  <a:cubicBezTo>
                    <a:pt x="4" y="30"/>
                    <a:pt x="4" y="30"/>
                    <a:pt x="4" y="30"/>
                  </a:cubicBezTo>
                  <a:cubicBezTo>
                    <a:pt x="2" y="30"/>
                    <a:pt x="0" y="28"/>
                    <a:pt x="0" y="27"/>
                  </a:cubicBezTo>
                  <a:cubicBezTo>
                    <a:pt x="0" y="3"/>
                    <a:pt x="0" y="3"/>
                    <a:pt x="0" y="3"/>
                  </a:cubicBezTo>
                  <a:cubicBezTo>
                    <a:pt x="0" y="2"/>
                    <a:pt x="2" y="0"/>
                    <a:pt x="4" y="0"/>
                  </a:cubicBezTo>
                  <a:cubicBezTo>
                    <a:pt x="27" y="0"/>
                    <a:pt x="27" y="0"/>
                    <a:pt x="27" y="0"/>
                  </a:cubicBezTo>
                  <a:cubicBezTo>
                    <a:pt x="29" y="0"/>
                    <a:pt x="30" y="2"/>
                    <a:pt x="30" y="3"/>
                  </a:cubicBezTo>
                  <a:cubicBezTo>
                    <a:pt x="30" y="27"/>
                    <a:pt x="30" y="27"/>
                    <a:pt x="30" y="27"/>
                  </a:cubicBezTo>
                </a:path>
              </a:pathLst>
            </a:custGeom>
            <a:solidFill>
              <a:schemeClr val="accent1">
                <a:lumMod val="100000"/>
              </a:schemeClr>
            </a:solidFill>
            <a:ln w="9525">
              <a:noFill/>
              <a:round/>
              <a:headEnd/>
              <a:tailEnd/>
            </a:ln>
          </p:spPr>
          <p:txBody>
            <a:bodyPr anchor="ctr"/>
            <a:lstStyle/>
            <a:p>
              <a:endParaRPr lang="zh-CN" altLang="en-US" dirty="0">
                <a:cs typeface="+mn-ea"/>
              </a:endParaRPr>
            </a:p>
          </p:txBody>
        </p:sp>
        <p:sp>
          <p:nvSpPr>
            <p:cNvPr id="24" name="MH_Other_20"/>
            <p:cNvSpPr>
              <a:spLocks noChangeArrowheads="1"/>
            </p:cNvSpPr>
            <p:nvPr>
              <p:custDataLst>
                <p:tags r:id="rId11"/>
              </p:custDataLst>
            </p:nvPr>
          </p:nvSpPr>
          <p:spPr bwMode="auto">
            <a:xfrm>
              <a:off x="3844945" y="4304735"/>
              <a:ext cx="236623" cy="236622"/>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25" name="MH_Other_21"/>
            <p:cNvSpPr>
              <a:spLocks noChangeArrowheads="1"/>
            </p:cNvSpPr>
            <p:nvPr>
              <p:custDataLst>
                <p:tags r:id="rId12"/>
              </p:custDataLst>
            </p:nvPr>
          </p:nvSpPr>
          <p:spPr bwMode="auto">
            <a:xfrm>
              <a:off x="3885687" y="4345479"/>
              <a:ext cx="166106" cy="155137"/>
            </a:xfrm>
            <a:prstGeom prst="ellipse">
              <a:avLst/>
            </a:prstGeom>
            <a:solidFill>
              <a:schemeClr val="tx1">
                <a:lumMod val="50000"/>
                <a:lumOff val="50000"/>
              </a:schemeClr>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26" name="MH_Other_22"/>
            <p:cNvSpPr>
              <a:spLocks/>
            </p:cNvSpPr>
            <p:nvPr>
              <p:custDataLst>
                <p:tags r:id="rId13"/>
              </p:custDataLst>
            </p:nvPr>
          </p:nvSpPr>
          <p:spPr bwMode="auto">
            <a:xfrm>
              <a:off x="7717630" y="4654185"/>
              <a:ext cx="404296" cy="427802"/>
            </a:xfrm>
            <a:custGeom>
              <a:avLst/>
              <a:gdLst>
                <a:gd name="T0" fmla="*/ 2147483646 w 29"/>
                <a:gd name="T1" fmla="*/ 2147483646 h 30"/>
                <a:gd name="T2" fmla="*/ 2147483646 w 29"/>
                <a:gd name="T3" fmla="*/ 2147483646 h 30"/>
                <a:gd name="T4" fmla="*/ 2147483646 w 29"/>
                <a:gd name="T5" fmla="*/ 2147483646 h 30"/>
                <a:gd name="T6" fmla="*/ 0 w 29"/>
                <a:gd name="T7" fmla="*/ 2147483646 h 30"/>
                <a:gd name="T8" fmla="*/ 0 w 29"/>
                <a:gd name="T9" fmla="*/ 2147483646 h 30"/>
                <a:gd name="T10" fmla="*/ 2147483646 w 29"/>
                <a:gd name="T11" fmla="*/ 0 h 30"/>
                <a:gd name="T12" fmla="*/ 2147483646 w 29"/>
                <a:gd name="T13" fmla="*/ 0 h 30"/>
                <a:gd name="T14" fmla="*/ 2147483646 w 29"/>
                <a:gd name="T15" fmla="*/ 2147483646 h 30"/>
                <a:gd name="T16" fmla="*/ 2147483646 w 29"/>
                <a:gd name="T17" fmla="*/ 2147483646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30">
                  <a:moveTo>
                    <a:pt x="29" y="27"/>
                  </a:moveTo>
                  <a:cubicBezTo>
                    <a:pt x="29" y="28"/>
                    <a:pt x="28" y="30"/>
                    <a:pt x="26" y="30"/>
                  </a:cubicBezTo>
                  <a:cubicBezTo>
                    <a:pt x="3" y="30"/>
                    <a:pt x="3" y="30"/>
                    <a:pt x="3" y="30"/>
                  </a:cubicBezTo>
                  <a:cubicBezTo>
                    <a:pt x="1" y="30"/>
                    <a:pt x="0" y="28"/>
                    <a:pt x="0" y="27"/>
                  </a:cubicBezTo>
                  <a:cubicBezTo>
                    <a:pt x="0" y="3"/>
                    <a:pt x="0" y="3"/>
                    <a:pt x="0" y="3"/>
                  </a:cubicBezTo>
                  <a:cubicBezTo>
                    <a:pt x="0" y="2"/>
                    <a:pt x="1" y="0"/>
                    <a:pt x="3" y="0"/>
                  </a:cubicBezTo>
                  <a:cubicBezTo>
                    <a:pt x="26" y="0"/>
                    <a:pt x="26" y="0"/>
                    <a:pt x="26" y="0"/>
                  </a:cubicBezTo>
                  <a:cubicBezTo>
                    <a:pt x="28" y="0"/>
                    <a:pt x="29" y="2"/>
                    <a:pt x="29" y="3"/>
                  </a:cubicBezTo>
                  <a:cubicBezTo>
                    <a:pt x="29" y="27"/>
                    <a:pt x="29" y="27"/>
                    <a:pt x="29" y="27"/>
                  </a:cubicBezTo>
                </a:path>
              </a:pathLst>
            </a:custGeom>
            <a:solidFill>
              <a:schemeClr val="accent1">
                <a:lumMod val="100000"/>
              </a:schemeClr>
            </a:solidFill>
            <a:ln w="9525">
              <a:noFill/>
              <a:round/>
              <a:headEnd/>
              <a:tailEnd/>
            </a:ln>
          </p:spPr>
          <p:txBody>
            <a:bodyPr anchor="ctr"/>
            <a:lstStyle/>
            <a:p>
              <a:endParaRPr lang="zh-CN" altLang="en-US" dirty="0">
                <a:cs typeface="+mn-ea"/>
              </a:endParaRPr>
            </a:p>
          </p:txBody>
        </p:sp>
        <p:sp>
          <p:nvSpPr>
            <p:cNvPr id="27" name="MH_Other_25"/>
            <p:cNvSpPr>
              <a:spLocks noChangeArrowheads="1"/>
            </p:cNvSpPr>
            <p:nvPr>
              <p:custDataLst>
                <p:tags r:id="rId14"/>
              </p:custDataLst>
            </p:nvPr>
          </p:nvSpPr>
          <p:spPr bwMode="auto">
            <a:xfrm>
              <a:off x="7830457" y="4304735"/>
              <a:ext cx="238190" cy="236622"/>
            </a:xfrm>
            <a:prstGeom prst="ellipse">
              <a:avLst/>
            </a:pr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28" name="MH_Other_26"/>
            <p:cNvSpPr>
              <a:spLocks noChangeArrowheads="1"/>
            </p:cNvSpPr>
            <p:nvPr>
              <p:custDataLst>
                <p:tags r:id="rId15"/>
              </p:custDataLst>
            </p:nvPr>
          </p:nvSpPr>
          <p:spPr bwMode="auto">
            <a:xfrm>
              <a:off x="7872767" y="4345479"/>
              <a:ext cx="153570" cy="155137"/>
            </a:xfrm>
            <a:prstGeom prst="ellipse">
              <a:avLst/>
            </a:prstGeom>
            <a:solidFill>
              <a:schemeClr val="tx1">
                <a:lumMod val="50000"/>
                <a:lumOff val="50000"/>
              </a:schemeClr>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1350">
                <a:latin typeface="+mn-lt"/>
                <a:ea typeface="+mn-ea"/>
                <a:cs typeface="+mn-ea"/>
              </a:endParaRPr>
            </a:p>
          </p:txBody>
        </p:sp>
        <p:sp>
          <p:nvSpPr>
            <p:cNvPr id="29" name="MH_SubTitle_1"/>
            <p:cNvSpPr txBox="1">
              <a:spLocks noChangeArrowheads="1"/>
            </p:cNvSpPr>
            <p:nvPr>
              <p:custDataLst>
                <p:tags r:id="rId16"/>
              </p:custDataLst>
            </p:nvPr>
          </p:nvSpPr>
          <p:spPr bwMode="auto">
            <a:xfrm>
              <a:off x="1213989" y="1685950"/>
              <a:ext cx="1387127" cy="469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000" b="1" dirty="0">
                  <a:latin typeface="+mn-lt"/>
                  <a:ea typeface="+mn-ea"/>
                  <a:cs typeface="+mn-ea"/>
                </a:rPr>
                <a:t>A</a:t>
              </a:r>
              <a:endParaRPr lang="zh-CN" altLang="en-US" sz="2000" b="1" dirty="0">
                <a:latin typeface="+mn-lt"/>
                <a:ea typeface="+mn-ea"/>
                <a:cs typeface="+mn-ea"/>
              </a:endParaRPr>
            </a:p>
          </p:txBody>
        </p:sp>
        <p:sp>
          <p:nvSpPr>
            <p:cNvPr id="30" name="MH_SubTitle_2"/>
            <p:cNvSpPr txBox="1">
              <a:spLocks noChangeArrowheads="1"/>
            </p:cNvSpPr>
            <p:nvPr>
              <p:custDataLst>
                <p:tags r:id="rId17"/>
              </p:custDataLst>
            </p:nvPr>
          </p:nvSpPr>
          <p:spPr bwMode="auto">
            <a:xfrm>
              <a:off x="5116972" y="1685950"/>
              <a:ext cx="1449509" cy="469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000" b="1" dirty="0">
                  <a:latin typeface="+mn-lt"/>
                  <a:ea typeface="+mn-ea"/>
                  <a:cs typeface="+mn-ea"/>
                </a:rPr>
                <a:t>B</a:t>
              </a:r>
              <a:endParaRPr lang="zh-CN" altLang="en-US" sz="2000" b="1" dirty="0">
                <a:latin typeface="+mn-lt"/>
                <a:ea typeface="+mn-ea"/>
                <a:cs typeface="+mn-ea"/>
              </a:endParaRPr>
            </a:p>
          </p:txBody>
        </p:sp>
        <p:sp>
          <p:nvSpPr>
            <p:cNvPr id="31" name="MH_SubTitle_3"/>
            <p:cNvSpPr txBox="1">
              <a:spLocks noChangeArrowheads="1"/>
            </p:cNvSpPr>
            <p:nvPr>
              <p:custDataLst>
                <p:tags r:id="rId18"/>
              </p:custDataLst>
            </p:nvPr>
          </p:nvSpPr>
          <p:spPr bwMode="auto">
            <a:xfrm>
              <a:off x="8928577" y="1685950"/>
              <a:ext cx="1464191" cy="469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000" b="1" dirty="0">
                  <a:latin typeface="+mn-lt"/>
                  <a:ea typeface="+mn-ea"/>
                  <a:cs typeface="+mn-ea"/>
                </a:rPr>
                <a:t>C</a:t>
              </a:r>
              <a:endParaRPr lang="zh-CN" altLang="en-US" sz="2000" b="1" dirty="0">
                <a:latin typeface="+mn-lt"/>
                <a:ea typeface="+mn-ea"/>
                <a:cs typeface="+mn-ea"/>
              </a:endParaRPr>
            </a:p>
          </p:txBody>
        </p:sp>
        <p:sp>
          <p:nvSpPr>
            <p:cNvPr id="32" name="MH_SubTitle_5"/>
            <p:cNvSpPr txBox="1">
              <a:spLocks noChangeArrowheads="1"/>
            </p:cNvSpPr>
            <p:nvPr>
              <p:custDataLst>
                <p:tags r:id="rId19"/>
              </p:custDataLst>
            </p:nvPr>
          </p:nvSpPr>
          <p:spPr bwMode="auto">
            <a:xfrm>
              <a:off x="7213787" y="3795498"/>
              <a:ext cx="1471529" cy="471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000" b="1" dirty="0">
                  <a:latin typeface="+mn-lt"/>
                  <a:ea typeface="+mn-ea"/>
                  <a:cs typeface="+mn-ea"/>
                </a:rPr>
                <a:t>D</a:t>
              </a:r>
              <a:endParaRPr lang="zh-CN" altLang="en-US" sz="2000" b="1" dirty="0">
                <a:latin typeface="+mn-lt"/>
                <a:ea typeface="+mn-ea"/>
                <a:cs typeface="+mn-ea"/>
              </a:endParaRPr>
            </a:p>
          </p:txBody>
        </p:sp>
        <p:sp>
          <p:nvSpPr>
            <p:cNvPr id="38" name="MH_SubTitle_4"/>
            <p:cNvSpPr txBox="1">
              <a:spLocks noChangeArrowheads="1"/>
            </p:cNvSpPr>
            <p:nvPr>
              <p:custDataLst>
                <p:tags r:id="rId20"/>
              </p:custDataLst>
            </p:nvPr>
          </p:nvSpPr>
          <p:spPr bwMode="auto">
            <a:xfrm>
              <a:off x="3238499" y="3856229"/>
              <a:ext cx="1449513" cy="471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000" b="1" dirty="0">
                  <a:latin typeface="+mn-lt"/>
                  <a:ea typeface="+mn-ea"/>
                  <a:cs typeface="+mn-ea"/>
                </a:rPr>
                <a:t>E</a:t>
              </a:r>
              <a:endParaRPr lang="zh-CN" altLang="en-US" sz="2000" b="1" dirty="0">
                <a:latin typeface="+mn-lt"/>
                <a:ea typeface="+mn-ea"/>
                <a:cs typeface="+mn-ea"/>
              </a:endParaRPr>
            </a:p>
          </p:txBody>
        </p:sp>
        <p:sp>
          <p:nvSpPr>
            <p:cNvPr id="39" name="MH_Text_1"/>
            <p:cNvSpPr txBox="1"/>
            <p:nvPr>
              <p:custDataLst>
                <p:tags r:id="rId21"/>
              </p:custDataLst>
            </p:nvPr>
          </p:nvSpPr>
          <p:spPr>
            <a:xfrm>
              <a:off x="1058864" y="2995585"/>
              <a:ext cx="1763429" cy="501505"/>
            </a:xfrm>
            <a:prstGeom prst="rect">
              <a:avLst/>
            </a:prstGeom>
            <a:noFill/>
          </p:spPr>
          <p:txBody>
            <a:bodyPr anchor="ctr"/>
            <a:lstStyle/>
            <a:p>
              <a:pPr algn="ctr" eaLnBrk="1" hangingPunct="1">
                <a:defRPr/>
              </a:pPr>
              <a:r>
                <a:rPr lang="zh-CN" altLang="en-US" b="1" dirty="0">
                  <a:cs typeface="+mn-ea"/>
                </a:rPr>
                <a:t>用户触发浏览器事件</a:t>
              </a:r>
            </a:p>
          </p:txBody>
        </p:sp>
        <p:sp>
          <p:nvSpPr>
            <p:cNvPr id="40" name="MH_Other_12"/>
            <p:cNvSpPr>
              <a:spLocks/>
            </p:cNvSpPr>
            <p:nvPr>
              <p:custDataLst>
                <p:tags r:id="rId22"/>
              </p:custDataLst>
            </p:nvPr>
          </p:nvSpPr>
          <p:spPr bwMode="auto">
            <a:xfrm>
              <a:off x="9477959" y="2462975"/>
              <a:ext cx="408997" cy="426235"/>
            </a:xfrm>
            <a:custGeom>
              <a:avLst/>
              <a:gdLst>
                <a:gd name="T0" fmla="*/ 2147483646 w 29"/>
                <a:gd name="T1" fmla="*/ 2147483646 h 30"/>
                <a:gd name="T2" fmla="*/ 2147483646 w 29"/>
                <a:gd name="T3" fmla="*/ 2147483646 h 30"/>
                <a:gd name="T4" fmla="*/ 2147483646 w 29"/>
                <a:gd name="T5" fmla="*/ 2147483646 h 30"/>
                <a:gd name="T6" fmla="*/ 0 w 29"/>
                <a:gd name="T7" fmla="*/ 2147483646 h 30"/>
                <a:gd name="T8" fmla="*/ 0 w 29"/>
                <a:gd name="T9" fmla="*/ 2147483646 h 30"/>
                <a:gd name="T10" fmla="*/ 2147483646 w 29"/>
                <a:gd name="T11" fmla="*/ 0 h 30"/>
                <a:gd name="T12" fmla="*/ 2147483646 w 29"/>
                <a:gd name="T13" fmla="*/ 0 h 30"/>
                <a:gd name="T14" fmla="*/ 2147483646 w 29"/>
                <a:gd name="T15" fmla="*/ 2147483646 h 30"/>
                <a:gd name="T16" fmla="*/ 2147483646 w 29"/>
                <a:gd name="T17" fmla="*/ 2147483646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9" h="30">
                  <a:moveTo>
                    <a:pt x="29" y="27"/>
                  </a:moveTo>
                  <a:cubicBezTo>
                    <a:pt x="29" y="28"/>
                    <a:pt x="28" y="30"/>
                    <a:pt x="26" y="30"/>
                  </a:cubicBezTo>
                  <a:cubicBezTo>
                    <a:pt x="3" y="30"/>
                    <a:pt x="3" y="30"/>
                    <a:pt x="3" y="30"/>
                  </a:cubicBezTo>
                  <a:cubicBezTo>
                    <a:pt x="1" y="30"/>
                    <a:pt x="0" y="28"/>
                    <a:pt x="0" y="27"/>
                  </a:cubicBezTo>
                  <a:cubicBezTo>
                    <a:pt x="0" y="3"/>
                    <a:pt x="0" y="3"/>
                    <a:pt x="0" y="3"/>
                  </a:cubicBezTo>
                  <a:cubicBezTo>
                    <a:pt x="0" y="2"/>
                    <a:pt x="1" y="0"/>
                    <a:pt x="3" y="0"/>
                  </a:cubicBezTo>
                  <a:cubicBezTo>
                    <a:pt x="26" y="0"/>
                    <a:pt x="26" y="0"/>
                    <a:pt x="26" y="0"/>
                  </a:cubicBezTo>
                  <a:cubicBezTo>
                    <a:pt x="28" y="0"/>
                    <a:pt x="29" y="2"/>
                    <a:pt x="29" y="3"/>
                  </a:cubicBezTo>
                  <a:cubicBezTo>
                    <a:pt x="29" y="27"/>
                    <a:pt x="29" y="27"/>
                    <a:pt x="29" y="27"/>
                  </a:cubicBezTo>
                </a:path>
              </a:pathLst>
            </a:custGeom>
            <a:solidFill>
              <a:schemeClr val="accent1">
                <a:lumMod val="100000"/>
              </a:schemeClr>
            </a:solidFill>
            <a:ln w="9525">
              <a:noFill/>
              <a:round/>
              <a:headEnd/>
              <a:tailEnd/>
            </a:ln>
          </p:spPr>
          <p:txBody>
            <a:bodyPr anchor="ctr"/>
            <a:lstStyle/>
            <a:p>
              <a:endParaRPr lang="zh-CN" altLang="en-US">
                <a:cs typeface="+mn-ea"/>
              </a:endParaRPr>
            </a:p>
          </p:txBody>
        </p:sp>
        <p:sp>
          <p:nvSpPr>
            <p:cNvPr id="41" name="MH_Text_1"/>
            <p:cNvSpPr txBox="1"/>
            <p:nvPr>
              <p:custDataLst>
                <p:tags r:id="rId23"/>
              </p:custDataLst>
            </p:nvPr>
          </p:nvSpPr>
          <p:spPr>
            <a:xfrm>
              <a:off x="4649077" y="2995585"/>
              <a:ext cx="2429842" cy="584507"/>
            </a:xfrm>
            <a:prstGeom prst="rect">
              <a:avLst/>
            </a:prstGeom>
            <a:noFill/>
          </p:spPr>
          <p:txBody>
            <a:bodyPr anchor="ctr"/>
            <a:lstStyle/>
            <a:p>
              <a:pPr algn="ctr" eaLnBrk="1" hangingPunct="1">
                <a:defRPr/>
              </a:pPr>
              <a:r>
                <a:rPr lang="zh-CN" altLang="en-US" b="1" dirty="0">
                  <a:cs typeface="+mn-ea"/>
                </a:rPr>
                <a:t>前后端建立</a:t>
              </a:r>
              <a:r>
                <a:rPr lang="en-US" altLang="zh-CN" b="1" dirty="0">
                  <a:cs typeface="+mn-ea"/>
                </a:rPr>
                <a:t>http</a:t>
              </a:r>
              <a:r>
                <a:rPr lang="zh-CN" altLang="en-US" b="1" dirty="0">
                  <a:cs typeface="+mn-ea"/>
                </a:rPr>
                <a:t>连接</a:t>
              </a:r>
              <a:endParaRPr lang="en-US" altLang="zh-CN" b="1" dirty="0">
                <a:cs typeface="+mn-ea"/>
              </a:endParaRPr>
            </a:p>
            <a:p>
              <a:pPr algn="ctr" eaLnBrk="1" hangingPunct="1">
                <a:defRPr/>
              </a:pPr>
              <a:r>
                <a:rPr lang="zh-CN" altLang="en-US" b="1" dirty="0">
                  <a:cs typeface="+mn-ea"/>
                </a:rPr>
                <a:t>（三次握手）</a:t>
              </a:r>
            </a:p>
          </p:txBody>
        </p:sp>
        <p:sp>
          <p:nvSpPr>
            <p:cNvPr id="42" name="MH_Text_1"/>
            <p:cNvSpPr txBox="1"/>
            <p:nvPr>
              <p:custDataLst>
                <p:tags r:id="rId24"/>
              </p:custDataLst>
            </p:nvPr>
          </p:nvSpPr>
          <p:spPr>
            <a:xfrm>
              <a:off x="8602447" y="2993727"/>
              <a:ext cx="2175619" cy="584507"/>
            </a:xfrm>
            <a:prstGeom prst="rect">
              <a:avLst/>
            </a:prstGeom>
            <a:noFill/>
          </p:spPr>
          <p:txBody>
            <a:bodyPr anchor="ctr"/>
            <a:lstStyle/>
            <a:p>
              <a:pPr algn="ctr" eaLnBrk="1" hangingPunct="1">
                <a:defRPr/>
              </a:pPr>
              <a:r>
                <a:rPr lang="zh-CN" altLang="en-US" b="1" dirty="0">
                  <a:cs typeface="+mn-ea"/>
                </a:rPr>
                <a:t>后端操作数据库</a:t>
              </a:r>
              <a:endParaRPr lang="en-US" altLang="zh-CN" b="1" dirty="0">
                <a:cs typeface="+mn-ea"/>
              </a:endParaRPr>
            </a:p>
            <a:p>
              <a:pPr algn="ctr" eaLnBrk="1" hangingPunct="1">
                <a:defRPr/>
              </a:pPr>
              <a:r>
                <a:rPr lang="zh-CN" altLang="en-US" b="1" dirty="0">
                  <a:cs typeface="+mn-ea"/>
                </a:rPr>
                <a:t>并返回数据给前端</a:t>
              </a:r>
            </a:p>
          </p:txBody>
        </p:sp>
        <p:sp>
          <p:nvSpPr>
            <p:cNvPr id="43" name="MH_Text_1"/>
            <p:cNvSpPr txBox="1"/>
            <p:nvPr>
              <p:custDataLst>
                <p:tags r:id="rId25"/>
              </p:custDataLst>
            </p:nvPr>
          </p:nvSpPr>
          <p:spPr>
            <a:xfrm>
              <a:off x="6861741" y="5340612"/>
              <a:ext cx="2175619" cy="584507"/>
            </a:xfrm>
            <a:prstGeom prst="rect">
              <a:avLst/>
            </a:prstGeom>
            <a:noFill/>
          </p:spPr>
          <p:txBody>
            <a:bodyPr anchor="ctr"/>
            <a:lstStyle/>
            <a:p>
              <a:pPr algn="ctr" eaLnBrk="1" hangingPunct="1">
                <a:defRPr/>
              </a:pPr>
              <a:r>
                <a:rPr lang="zh-CN" altLang="en-US" b="1" dirty="0">
                  <a:cs typeface="+mn-ea"/>
                </a:rPr>
                <a:t>前后端关闭连接</a:t>
              </a:r>
              <a:endParaRPr lang="en-US" altLang="zh-CN" b="1" dirty="0">
                <a:cs typeface="+mn-ea"/>
              </a:endParaRPr>
            </a:p>
            <a:p>
              <a:pPr algn="ctr" eaLnBrk="1" hangingPunct="1">
                <a:defRPr/>
              </a:pPr>
              <a:r>
                <a:rPr lang="zh-CN" altLang="en-US" b="1" dirty="0">
                  <a:cs typeface="+mn-ea"/>
                </a:rPr>
                <a:t>（四次挥手）</a:t>
              </a:r>
            </a:p>
          </p:txBody>
        </p:sp>
        <p:sp>
          <p:nvSpPr>
            <p:cNvPr id="44" name="MH_Text_1"/>
            <p:cNvSpPr txBox="1"/>
            <p:nvPr>
              <p:custDataLst>
                <p:tags r:id="rId26"/>
              </p:custDataLst>
            </p:nvPr>
          </p:nvSpPr>
          <p:spPr>
            <a:xfrm>
              <a:off x="2880930" y="5340612"/>
              <a:ext cx="2175619" cy="584507"/>
            </a:xfrm>
            <a:prstGeom prst="rect">
              <a:avLst/>
            </a:prstGeom>
            <a:noFill/>
          </p:spPr>
          <p:txBody>
            <a:bodyPr anchor="ctr"/>
            <a:lstStyle/>
            <a:p>
              <a:pPr algn="ctr" eaLnBrk="1" hangingPunct="1">
                <a:defRPr/>
              </a:pPr>
              <a:r>
                <a:rPr lang="zh-CN" altLang="en-US" b="1" dirty="0">
                  <a:cs typeface="+mn-ea"/>
                </a:rPr>
                <a:t>前端将数据渲染到页面中</a:t>
              </a:r>
            </a:p>
          </p:txBody>
        </p:sp>
        <p:sp>
          <p:nvSpPr>
            <p:cNvPr id="45" name="KSO_Shape"/>
            <p:cNvSpPr/>
            <p:nvPr/>
          </p:nvSpPr>
          <p:spPr>
            <a:xfrm>
              <a:off x="5711784" y="2531115"/>
              <a:ext cx="304428" cy="289714"/>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cs typeface="+mn-ea"/>
              </a:endParaRPr>
            </a:p>
          </p:txBody>
        </p:sp>
        <p:sp>
          <p:nvSpPr>
            <p:cNvPr id="46" name="KSO_Shape"/>
            <p:cNvSpPr>
              <a:spLocks/>
            </p:cNvSpPr>
            <p:nvPr/>
          </p:nvSpPr>
          <p:spPr bwMode="auto">
            <a:xfrm flipH="1">
              <a:off x="7755923" y="4703092"/>
              <a:ext cx="327710" cy="300401"/>
            </a:xfrm>
            <a:custGeom>
              <a:avLst/>
              <a:gdLst>
                <a:gd name="T0" fmla="*/ 2147483646 w 269"/>
                <a:gd name="T1" fmla="*/ 0 h 247"/>
                <a:gd name="T2" fmla="*/ 2147483646 w 269"/>
                <a:gd name="T3" fmla="*/ 0 h 247"/>
                <a:gd name="T4" fmla="*/ 2147483646 w 269"/>
                <a:gd name="T5" fmla="*/ 2147483646 h 247"/>
                <a:gd name="T6" fmla="*/ 2147483646 w 269"/>
                <a:gd name="T7" fmla="*/ 2147483646 h 247"/>
                <a:gd name="T8" fmla="*/ 2147483646 w 269"/>
                <a:gd name="T9" fmla="*/ 2147483646 h 247"/>
                <a:gd name="T10" fmla="*/ 2147483646 w 269"/>
                <a:gd name="T11" fmla="*/ 2147483646 h 247"/>
                <a:gd name="T12" fmla="*/ 2147483646 w 269"/>
                <a:gd name="T13" fmla="*/ 2147483646 h 247"/>
                <a:gd name="T14" fmla="*/ 2147483646 w 269"/>
                <a:gd name="T15" fmla="*/ 2147483646 h 247"/>
                <a:gd name="T16" fmla="*/ 2147483646 w 269"/>
                <a:gd name="T17" fmla="*/ 2147483646 h 247"/>
                <a:gd name="T18" fmla="*/ 2147483646 w 269"/>
                <a:gd name="T19" fmla="*/ 2147483646 h 247"/>
                <a:gd name="T20" fmla="*/ 2147483646 w 269"/>
                <a:gd name="T21" fmla="*/ 2147483646 h 247"/>
                <a:gd name="T22" fmla="*/ 2147483646 w 269"/>
                <a:gd name="T23" fmla="*/ 2147483646 h 247"/>
                <a:gd name="T24" fmla="*/ 2147483646 w 269"/>
                <a:gd name="T25" fmla="*/ 2147483646 h 247"/>
                <a:gd name="T26" fmla="*/ 2147483646 w 269"/>
                <a:gd name="T27" fmla="*/ 2147483646 h 247"/>
                <a:gd name="T28" fmla="*/ 2147483646 w 269"/>
                <a:gd name="T29" fmla="*/ 2147483646 h 247"/>
                <a:gd name="T30" fmla="*/ 2147483646 w 269"/>
                <a:gd name="T31" fmla="*/ 2147483646 h 247"/>
                <a:gd name="T32" fmla="*/ 2147483646 w 269"/>
                <a:gd name="T33" fmla="*/ 2147483646 h 247"/>
                <a:gd name="T34" fmla="*/ 2147483646 w 269"/>
                <a:gd name="T35" fmla="*/ 2147483646 h 247"/>
                <a:gd name="T36" fmla="*/ 2147483646 w 269"/>
                <a:gd name="T37" fmla="*/ 2147483646 h 247"/>
                <a:gd name="T38" fmla="*/ 2147483646 w 269"/>
                <a:gd name="T39" fmla="*/ 2147483646 h 247"/>
                <a:gd name="T40" fmla="*/ 2147483646 w 269"/>
                <a:gd name="T41" fmla="*/ 2147483646 h 247"/>
                <a:gd name="T42" fmla="*/ 2147483646 w 269"/>
                <a:gd name="T43" fmla="*/ 2147483646 h 247"/>
                <a:gd name="T44" fmla="*/ 2147483646 w 269"/>
                <a:gd name="T45" fmla="*/ 2147483646 h 247"/>
                <a:gd name="T46" fmla="*/ 2147483646 w 269"/>
                <a:gd name="T47" fmla="*/ 2147483646 h 247"/>
                <a:gd name="T48" fmla="*/ 2147483646 w 269"/>
                <a:gd name="T49" fmla="*/ 2147483646 h 247"/>
                <a:gd name="T50" fmla="*/ 2147483646 w 269"/>
                <a:gd name="T51" fmla="*/ 2147483646 h 247"/>
                <a:gd name="T52" fmla="*/ 2147483646 w 269"/>
                <a:gd name="T53" fmla="*/ 2147483646 h 247"/>
                <a:gd name="T54" fmla="*/ 2147483646 w 269"/>
                <a:gd name="T55" fmla="*/ 2147483646 h 247"/>
                <a:gd name="T56" fmla="*/ 2147483646 w 269"/>
                <a:gd name="T57" fmla="*/ 2147483646 h 247"/>
                <a:gd name="T58" fmla="*/ 2147483646 w 269"/>
                <a:gd name="T59" fmla="*/ 2147483646 h 247"/>
                <a:gd name="T60" fmla="*/ 2147483646 w 269"/>
                <a:gd name="T61" fmla="*/ 2147483646 h 247"/>
                <a:gd name="T62" fmla="*/ 2147483646 w 269"/>
                <a:gd name="T63" fmla="*/ 2147483646 h 247"/>
                <a:gd name="T64" fmla="*/ 2147483646 w 269"/>
                <a:gd name="T65" fmla="*/ 2147483646 h 247"/>
                <a:gd name="T66" fmla="*/ 2147483646 w 269"/>
                <a:gd name="T67" fmla="*/ 2147483646 h 247"/>
                <a:gd name="T68" fmla="*/ 2147483646 w 269"/>
                <a:gd name="T69" fmla="*/ 2147483646 h 247"/>
                <a:gd name="T70" fmla="*/ 2147483646 w 269"/>
                <a:gd name="T71" fmla="*/ 2147483646 h 247"/>
                <a:gd name="T72" fmla="*/ 2147483646 w 269"/>
                <a:gd name="T73" fmla="*/ 0 h 24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69" h="247">
                  <a:moveTo>
                    <a:pt x="195" y="0"/>
                  </a:moveTo>
                  <a:cubicBezTo>
                    <a:pt x="194" y="0"/>
                    <a:pt x="193" y="0"/>
                    <a:pt x="192" y="0"/>
                  </a:cubicBezTo>
                  <a:cubicBezTo>
                    <a:pt x="164" y="1"/>
                    <a:pt x="145" y="24"/>
                    <a:pt x="144" y="24"/>
                  </a:cubicBezTo>
                  <a:cubicBezTo>
                    <a:pt x="21" y="150"/>
                    <a:pt x="21" y="150"/>
                    <a:pt x="21" y="150"/>
                  </a:cubicBezTo>
                  <a:cubicBezTo>
                    <a:pt x="0" y="172"/>
                    <a:pt x="0" y="208"/>
                    <a:pt x="21" y="230"/>
                  </a:cubicBezTo>
                  <a:cubicBezTo>
                    <a:pt x="32" y="241"/>
                    <a:pt x="46" y="247"/>
                    <a:pt x="60" y="247"/>
                  </a:cubicBezTo>
                  <a:cubicBezTo>
                    <a:pt x="75" y="247"/>
                    <a:pt x="89" y="241"/>
                    <a:pt x="99" y="230"/>
                  </a:cubicBezTo>
                  <a:cubicBezTo>
                    <a:pt x="217" y="111"/>
                    <a:pt x="217" y="111"/>
                    <a:pt x="217" y="111"/>
                  </a:cubicBezTo>
                  <a:cubicBezTo>
                    <a:pt x="235" y="91"/>
                    <a:pt x="238" y="63"/>
                    <a:pt x="223" y="47"/>
                  </a:cubicBezTo>
                  <a:cubicBezTo>
                    <a:pt x="216" y="40"/>
                    <a:pt x="207" y="37"/>
                    <a:pt x="197" y="37"/>
                  </a:cubicBezTo>
                  <a:cubicBezTo>
                    <a:pt x="185" y="37"/>
                    <a:pt x="171" y="42"/>
                    <a:pt x="161" y="53"/>
                  </a:cubicBezTo>
                  <a:cubicBezTo>
                    <a:pt x="46" y="170"/>
                    <a:pt x="46" y="170"/>
                    <a:pt x="46" y="170"/>
                  </a:cubicBezTo>
                  <a:cubicBezTo>
                    <a:pt x="43" y="174"/>
                    <a:pt x="43" y="179"/>
                    <a:pt x="46" y="182"/>
                  </a:cubicBezTo>
                  <a:cubicBezTo>
                    <a:pt x="48" y="183"/>
                    <a:pt x="50" y="184"/>
                    <a:pt x="52" y="184"/>
                  </a:cubicBezTo>
                  <a:cubicBezTo>
                    <a:pt x="54" y="184"/>
                    <a:pt x="56" y="183"/>
                    <a:pt x="57" y="182"/>
                  </a:cubicBezTo>
                  <a:cubicBezTo>
                    <a:pt x="172" y="65"/>
                    <a:pt x="172" y="65"/>
                    <a:pt x="172" y="65"/>
                  </a:cubicBezTo>
                  <a:cubicBezTo>
                    <a:pt x="179" y="57"/>
                    <a:pt x="189" y="53"/>
                    <a:pt x="197" y="53"/>
                  </a:cubicBezTo>
                  <a:cubicBezTo>
                    <a:pt x="203" y="53"/>
                    <a:pt x="208" y="55"/>
                    <a:pt x="211" y="59"/>
                  </a:cubicBezTo>
                  <a:cubicBezTo>
                    <a:pt x="221" y="68"/>
                    <a:pt x="218" y="86"/>
                    <a:pt x="205" y="99"/>
                  </a:cubicBezTo>
                  <a:cubicBezTo>
                    <a:pt x="88" y="219"/>
                    <a:pt x="88" y="219"/>
                    <a:pt x="88" y="219"/>
                  </a:cubicBezTo>
                  <a:cubicBezTo>
                    <a:pt x="81" y="227"/>
                    <a:pt x="70" y="231"/>
                    <a:pt x="60" y="231"/>
                  </a:cubicBezTo>
                  <a:cubicBezTo>
                    <a:pt x="50" y="231"/>
                    <a:pt x="40" y="227"/>
                    <a:pt x="32" y="219"/>
                  </a:cubicBezTo>
                  <a:cubicBezTo>
                    <a:pt x="17" y="203"/>
                    <a:pt x="17" y="177"/>
                    <a:pt x="32" y="162"/>
                  </a:cubicBezTo>
                  <a:cubicBezTo>
                    <a:pt x="156" y="35"/>
                    <a:pt x="156" y="35"/>
                    <a:pt x="156" y="35"/>
                  </a:cubicBezTo>
                  <a:cubicBezTo>
                    <a:pt x="156" y="35"/>
                    <a:pt x="171" y="17"/>
                    <a:pt x="193" y="16"/>
                  </a:cubicBezTo>
                  <a:cubicBezTo>
                    <a:pt x="194" y="16"/>
                    <a:pt x="194" y="16"/>
                    <a:pt x="195" y="16"/>
                  </a:cubicBezTo>
                  <a:cubicBezTo>
                    <a:pt x="208" y="16"/>
                    <a:pt x="221" y="23"/>
                    <a:pt x="234" y="36"/>
                  </a:cubicBezTo>
                  <a:cubicBezTo>
                    <a:pt x="247" y="49"/>
                    <a:pt x="253" y="63"/>
                    <a:pt x="253" y="77"/>
                  </a:cubicBezTo>
                  <a:cubicBezTo>
                    <a:pt x="252" y="99"/>
                    <a:pt x="234" y="115"/>
                    <a:pt x="234" y="116"/>
                  </a:cubicBezTo>
                  <a:cubicBezTo>
                    <a:pt x="165" y="186"/>
                    <a:pt x="165" y="186"/>
                    <a:pt x="165" y="186"/>
                  </a:cubicBezTo>
                  <a:cubicBezTo>
                    <a:pt x="162" y="189"/>
                    <a:pt x="162" y="194"/>
                    <a:pt x="165" y="198"/>
                  </a:cubicBezTo>
                  <a:cubicBezTo>
                    <a:pt x="167" y="199"/>
                    <a:pt x="169" y="200"/>
                    <a:pt x="171" y="200"/>
                  </a:cubicBezTo>
                  <a:cubicBezTo>
                    <a:pt x="173" y="200"/>
                    <a:pt x="175" y="199"/>
                    <a:pt x="176" y="198"/>
                  </a:cubicBezTo>
                  <a:cubicBezTo>
                    <a:pt x="244" y="128"/>
                    <a:pt x="244" y="128"/>
                    <a:pt x="244" y="128"/>
                  </a:cubicBezTo>
                  <a:cubicBezTo>
                    <a:pt x="245" y="127"/>
                    <a:pt x="267" y="107"/>
                    <a:pt x="269" y="78"/>
                  </a:cubicBezTo>
                  <a:cubicBezTo>
                    <a:pt x="269" y="59"/>
                    <a:pt x="261" y="41"/>
                    <a:pt x="245" y="24"/>
                  </a:cubicBezTo>
                  <a:cubicBezTo>
                    <a:pt x="229" y="8"/>
                    <a:pt x="212" y="0"/>
                    <a:pt x="195" y="0"/>
                  </a:cubicBezTo>
                  <a:close/>
                </a:path>
              </a:pathLst>
            </a:custGeom>
            <a:solidFill>
              <a:schemeClr val="bg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ea typeface="+mn-ea"/>
                <a:cs typeface="+mn-ea"/>
              </a:endParaRPr>
            </a:p>
          </p:txBody>
        </p:sp>
        <p:sp>
          <p:nvSpPr>
            <p:cNvPr id="47" name="KSO_Shape"/>
            <p:cNvSpPr>
              <a:spLocks/>
            </p:cNvSpPr>
            <p:nvPr/>
          </p:nvSpPr>
          <p:spPr bwMode="auto">
            <a:xfrm>
              <a:off x="1770489" y="2550603"/>
              <a:ext cx="269273" cy="270226"/>
            </a:xfrm>
            <a:custGeom>
              <a:avLst/>
              <a:gdLst>
                <a:gd name="T0" fmla="*/ 1572253 w 2913"/>
                <a:gd name="T1" fmla="*/ 556386 h 2922"/>
                <a:gd name="T2" fmla="*/ 1238334 w 2913"/>
                <a:gd name="T3" fmla="*/ 222431 h 2922"/>
                <a:gd name="T4" fmla="*/ 1405293 w 2913"/>
                <a:gd name="T5" fmla="*/ 54838 h 2922"/>
                <a:gd name="T6" fmla="*/ 1606138 w 2913"/>
                <a:gd name="T7" fmla="*/ 54838 h 2922"/>
                <a:gd name="T8" fmla="*/ 1739212 w 2913"/>
                <a:gd name="T9" fmla="*/ 188543 h 2922"/>
                <a:gd name="T10" fmla="*/ 1739212 w 2913"/>
                <a:gd name="T11" fmla="*/ 389408 h 2922"/>
                <a:gd name="T12" fmla="*/ 1572253 w 2913"/>
                <a:gd name="T13" fmla="*/ 556386 h 2922"/>
                <a:gd name="T14" fmla="*/ 602533 w 2913"/>
                <a:gd name="T15" fmla="*/ 1526209 h 2922"/>
                <a:gd name="T16" fmla="*/ 268614 w 2913"/>
                <a:gd name="T17" fmla="*/ 1192255 h 2922"/>
                <a:gd name="T18" fmla="*/ 1176109 w 2913"/>
                <a:gd name="T19" fmla="*/ 291440 h 2922"/>
                <a:gd name="T20" fmla="*/ 1510028 w 2913"/>
                <a:gd name="T21" fmla="*/ 625395 h 2922"/>
                <a:gd name="T22" fmla="*/ 602533 w 2913"/>
                <a:gd name="T23" fmla="*/ 1526209 h 2922"/>
                <a:gd name="T24" fmla="*/ 0 w 2913"/>
                <a:gd name="T25" fmla="*/ 1800397 h 2922"/>
                <a:gd name="T26" fmla="*/ 203309 w 2913"/>
                <a:gd name="T27" fmla="*/ 1257567 h 2922"/>
                <a:gd name="T28" fmla="*/ 534147 w 2913"/>
                <a:gd name="T29" fmla="*/ 1588441 h 2922"/>
                <a:gd name="T30" fmla="*/ 0 w 2913"/>
                <a:gd name="T31" fmla="*/ 1800397 h 29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13" h="2922">
                  <a:moveTo>
                    <a:pt x="2552" y="903"/>
                  </a:moveTo>
                  <a:cubicBezTo>
                    <a:pt x="2010" y="361"/>
                    <a:pt x="2010" y="361"/>
                    <a:pt x="2010" y="361"/>
                  </a:cubicBezTo>
                  <a:cubicBezTo>
                    <a:pt x="2281" y="89"/>
                    <a:pt x="2281" y="89"/>
                    <a:pt x="2281" y="89"/>
                  </a:cubicBezTo>
                  <a:cubicBezTo>
                    <a:pt x="2371" y="0"/>
                    <a:pt x="2517" y="0"/>
                    <a:pt x="2607" y="89"/>
                  </a:cubicBezTo>
                  <a:cubicBezTo>
                    <a:pt x="2823" y="306"/>
                    <a:pt x="2823" y="306"/>
                    <a:pt x="2823" y="306"/>
                  </a:cubicBezTo>
                  <a:cubicBezTo>
                    <a:pt x="2913" y="396"/>
                    <a:pt x="2913" y="542"/>
                    <a:pt x="2823" y="632"/>
                  </a:cubicBezTo>
                  <a:lnTo>
                    <a:pt x="2552" y="903"/>
                  </a:lnTo>
                  <a:close/>
                  <a:moveTo>
                    <a:pt x="978" y="2477"/>
                  </a:moveTo>
                  <a:cubicBezTo>
                    <a:pt x="436" y="1935"/>
                    <a:pt x="436" y="1935"/>
                    <a:pt x="436" y="1935"/>
                  </a:cubicBezTo>
                  <a:cubicBezTo>
                    <a:pt x="1909" y="473"/>
                    <a:pt x="1909" y="473"/>
                    <a:pt x="1909" y="473"/>
                  </a:cubicBezTo>
                  <a:cubicBezTo>
                    <a:pt x="2451" y="1015"/>
                    <a:pt x="2451" y="1015"/>
                    <a:pt x="2451" y="1015"/>
                  </a:cubicBezTo>
                  <a:lnTo>
                    <a:pt x="978" y="2477"/>
                  </a:lnTo>
                  <a:close/>
                  <a:moveTo>
                    <a:pt x="0" y="2922"/>
                  </a:moveTo>
                  <a:cubicBezTo>
                    <a:pt x="330" y="2041"/>
                    <a:pt x="330" y="2041"/>
                    <a:pt x="330" y="2041"/>
                  </a:cubicBezTo>
                  <a:cubicBezTo>
                    <a:pt x="867" y="2578"/>
                    <a:pt x="867" y="2578"/>
                    <a:pt x="867" y="2578"/>
                  </a:cubicBezTo>
                  <a:lnTo>
                    <a:pt x="0" y="292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ea typeface="+mn-ea"/>
                <a:cs typeface="+mn-ea"/>
              </a:endParaRPr>
            </a:p>
          </p:txBody>
        </p:sp>
        <p:sp>
          <p:nvSpPr>
            <p:cNvPr id="48" name="KSO_Shape"/>
            <p:cNvSpPr/>
            <p:nvPr/>
          </p:nvSpPr>
          <p:spPr>
            <a:xfrm>
              <a:off x="9538043" y="2578460"/>
              <a:ext cx="304428" cy="192297"/>
            </a:xfrm>
            <a:custGeom>
              <a:avLst/>
              <a:gdLst/>
              <a:ahLst/>
              <a:cxnLst/>
              <a:rect l="l" t="t" r="r" b="b"/>
              <a:pathLst>
                <a:path w="683211" h="432048">
                  <a:moveTo>
                    <a:pt x="512137" y="280189"/>
                  </a:moveTo>
                  <a:cubicBezTo>
                    <a:pt x="588167" y="280189"/>
                    <a:pt x="653655" y="340557"/>
                    <a:pt x="683040" y="427518"/>
                  </a:cubicBezTo>
                  <a:lnTo>
                    <a:pt x="683211" y="432048"/>
                  </a:lnTo>
                  <a:lnTo>
                    <a:pt x="518050" y="432048"/>
                  </a:lnTo>
                  <a:lnTo>
                    <a:pt x="517720" y="423301"/>
                  </a:lnTo>
                  <a:cubicBezTo>
                    <a:pt x="501526" y="375376"/>
                    <a:pt x="479652" y="331635"/>
                    <a:pt x="452572" y="294062"/>
                  </a:cubicBezTo>
                  <a:cubicBezTo>
                    <a:pt x="471023" y="284776"/>
                    <a:pt x="491179" y="280189"/>
                    <a:pt x="512137" y="280189"/>
                  </a:cubicBezTo>
                  <a:close/>
                  <a:moveTo>
                    <a:pt x="242652" y="216651"/>
                  </a:moveTo>
                  <a:cubicBezTo>
                    <a:pt x="350494" y="216651"/>
                    <a:pt x="443383" y="302276"/>
                    <a:pt x="485063" y="425622"/>
                  </a:cubicBezTo>
                  <a:lnTo>
                    <a:pt x="485305" y="432048"/>
                  </a:lnTo>
                  <a:lnTo>
                    <a:pt x="0" y="432048"/>
                  </a:lnTo>
                  <a:lnTo>
                    <a:pt x="242" y="425623"/>
                  </a:lnTo>
                  <a:cubicBezTo>
                    <a:pt x="41922" y="302276"/>
                    <a:pt x="134811" y="216651"/>
                    <a:pt x="242652" y="216651"/>
                  </a:cubicBezTo>
                  <a:close/>
                  <a:moveTo>
                    <a:pt x="512137" y="127447"/>
                  </a:moveTo>
                  <a:cubicBezTo>
                    <a:pt x="549644" y="127447"/>
                    <a:pt x="580050" y="157437"/>
                    <a:pt x="580050" y="194431"/>
                  </a:cubicBezTo>
                  <a:cubicBezTo>
                    <a:pt x="580050" y="231425"/>
                    <a:pt x="549644" y="261414"/>
                    <a:pt x="512137" y="261414"/>
                  </a:cubicBezTo>
                  <a:cubicBezTo>
                    <a:pt x="474630" y="261414"/>
                    <a:pt x="444224" y="231425"/>
                    <a:pt x="444224" y="194431"/>
                  </a:cubicBezTo>
                  <a:cubicBezTo>
                    <a:pt x="444224" y="157437"/>
                    <a:pt x="474630" y="127447"/>
                    <a:pt x="512137" y="127447"/>
                  </a:cubicBezTo>
                  <a:close/>
                  <a:moveTo>
                    <a:pt x="242652" y="0"/>
                  </a:moveTo>
                  <a:cubicBezTo>
                    <a:pt x="295853" y="0"/>
                    <a:pt x="338980" y="42537"/>
                    <a:pt x="338980" y="95010"/>
                  </a:cubicBezTo>
                  <a:cubicBezTo>
                    <a:pt x="338980" y="147482"/>
                    <a:pt x="295853" y="190020"/>
                    <a:pt x="242652" y="190020"/>
                  </a:cubicBezTo>
                  <a:cubicBezTo>
                    <a:pt x="189452" y="190020"/>
                    <a:pt x="146324" y="147482"/>
                    <a:pt x="146324" y="95010"/>
                  </a:cubicBezTo>
                  <a:cubicBezTo>
                    <a:pt x="146324" y="42537"/>
                    <a:pt x="189452" y="0"/>
                    <a:pt x="242652"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cs typeface="+mn-ea"/>
              </a:endParaRPr>
            </a:p>
          </p:txBody>
        </p:sp>
        <p:sp>
          <p:nvSpPr>
            <p:cNvPr id="49" name="KSO_Shape"/>
            <p:cNvSpPr>
              <a:spLocks/>
            </p:cNvSpPr>
            <p:nvPr/>
          </p:nvSpPr>
          <p:spPr bwMode="auto">
            <a:xfrm>
              <a:off x="3833100" y="4685279"/>
              <a:ext cx="260309" cy="384693"/>
            </a:xfrm>
            <a:custGeom>
              <a:avLst/>
              <a:gdLst/>
              <a:ahLst/>
              <a:cxnLst/>
              <a:rect l="0" t="0" r="r" b="b"/>
              <a:pathLst>
                <a:path w="1646238" h="2433638">
                  <a:moveTo>
                    <a:pt x="577732" y="161925"/>
                  </a:moveTo>
                  <a:lnTo>
                    <a:pt x="586070" y="162719"/>
                  </a:lnTo>
                  <a:lnTo>
                    <a:pt x="593614" y="163910"/>
                  </a:lnTo>
                  <a:lnTo>
                    <a:pt x="597585" y="164703"/>
                  </a:lnTo>
                  <a:lnTo>
                    <a:pt x="601953" y="165894"/>
                  </a:lnTo>
                  <a:lnTo>
                    <a:pt x="605526" y="167482"/>
                  </a:lnTo>
                  <a:lnTo>
                    <a:pt x="609100" y="169069"/>
                  </a:lnTo>
                  <a:lnTo>
                    <a:pt x="612674" y="171053"/>
                  </a:lnTo>
                  <a:lnTo>
                    <a:pt x="616247" y="173435"/>
                  </a:lnTo>
                  <a:lnTo>
                    <a:pt x="619821" y="176610"/>
                  </a:lnTo>
                  <a:lnTo>
                    <a:pt x="623394" y="179388"/>
                  </a:lnTo>
                  <a:lnTo>
                    <a:pt x="626968" y="182563"/>
                  </a:lnTo>
                  <a:lnTo>
                    <a:pt x="630145" y="186135"/>
                  </a:lnTo>
                  <a:lnTo>
                    <a:pt x="633321" y="190103"/>
                  </a:lnTo>
                  <a:lnTo>
                    <a:pt x="636498" y="194469"/>
                  </a:lnTo>
                  <a:lnTo>
                    <a:pt x="639674" y="199232"/>
                  </a:lnTo>
                  <a:lnTo>
                    <a:pt x="642454" y="204788"/>
                  </a:lnTo>
                  <a:lnTo>
                    <a:pt x="645233" y="210344"/>
                  </a:lnTo>
                  <a:lnTo>
                    <a:pt x="648013" y="216297"/>
                  </a:lnTo>
                  <a:lnTo>
                    <a:pt x="650792" y="222647"/>
                  </a:lnTo>
                  <a:lnTo>
                    <a:pt x="653969" y="229394"/>
                  </a:lnTo>
                  <a:lnTo>
                    <a:pt x="656351" y="237332"/>
                  </a:lnTo>
                  <a:lnTo>
                    <a:pt x="658733" y="245269"/>
                  </a:lnTo>
                  <a:lnTo>
                    <a:pt x="838208" y="927100"/>
                  </a:lnTo>
                  <a:lnTo>
                    <a:pt x="840193" y="928291"/>
                  </a:lnTo>
                  <a:lnTo>
                    <a:pt x="841781" y="933450"/>
                  </a:lnTo>
                  <a:lnTo>
                    <a:pt x="899356" y="921941"/>
                  </a:lnTo>
                  <a:lnTo>
                    <a:pt x="911665" y="922338"/>
                  </a:lnTo>
                  <a:lnTo>
                    <a:pt x="923180" y="923529"/>
                  </a:lnTo>
                  <a:lnTo>
                    <a:pt x="935489" y="924719"/>
                  </a:lnTo>
                  <a:lnTo>
                    <a:pt x="946607" y="926704"/>
                  </a:lnTo>
                  <a:lnTo>
                    <a:pt x="957725" y="929482"/>
                  </a:lnTo>
                  <a:lnTo>
                    <a:pt x="969240" y="932657"/>
                  </a:lnTo>
                  <a:lnTo>
                    <a:pt x="979960" y="936229"/>
                  </a:lnTo>
                  <a:lnTo>
                    <a:pt x="991078" y="939800"/>
                  </a:lnTo>
                  <a:lnTo>
                    <a:pt x="1001402" y="944166"/>
                  </a:lnTo>
                  <a:lnTo>
                    <a:pt x="1011726" y="948929"/>
                  </a:lnTo>
                  <a:lnTo>
                    <a:pt x="1022049" y="954485"/>
                  </a:lnTo>
                  <a:lnTo>
                    <a:pt x="1031976" y="960438"/>
                  </a:lnTo>
                  <a:lnTo>
                    <a:pt x="1041506" y="966788"/>
                  </a:lnTo>
                  <a:lnTo>
                    <a:pt x="1051432" y="973535"/>
                  </a:lnTo>
                  <a:lnTo>
                    <a:pt x="1060565" y="980679"/>
                  </a:lnTo>
                  <a:lnTo>
                    <a:pt x="1069697" y="988616"/>
                  </a:lnTo>
                  <a:lnTo>
                    <a:pt x="1076050" y="994172"/>
                  </a:lnTo>
                  <a:lnTo>
                    <a:pt x="1081212" y="999729"/>
                  </a:lnTo>
                  <a:lnTo>
                    <a:pt x="1086374" y="1005682"/>
                  </a:lnTo>
                  <a:lnTo>
                    <a:pt x="1090345" y="1012032"/>
                  </a:lnTo>
                  <a:lnTo>
                    <a:pt x="1126478" y="1071960"/>
                  </a:lnTo>
                  <a:lnTo>
                    <a:pt x="1183258" y="1074341"/>
                  </a:lnTo>
                  <a:lnTo>
                    <a:pt x="1184847" y="1075532"/>
                  </a:lnTo>
                  <a:lnTo>
                    <a:pt x="1199538" y="1077913"/>
                  </a:lnTo>
                  <a:lnTo>
                    <a:pt x="1214230" y="1081088"/>
                  </a:lnTo>
                  <a:lnTo>
                    <a:pt x="1228524" y="1085057"/>
                  </a:lnTo>
                  <a:lnTo>
                    <a:pt x="1242818" y="1089422"/>
                  </a:lnTo>
                  <a:lnTo>
                    <a:pt x="1256716" y="1094582"/>
                  </a:lnTo>
                  <a:lnTo>
                    <a:pt x="1271010" y="1100932"/>
                  </a:lnTo>
                  <a:lnTo>
                    <a:pt x="1284510" y="1106885"/>
                  </a:lnTo>
                  <a:lnTo>
                    <a:pt x="1298011" y="1114029"/>
                  </a:lnTo>
                  <a:lnTo>
                    <a:pt x="1310717" y="1121172"/>
                  </a:lnTo>
                  <a:lnTo>
                    <a:pt x="1323820" y="1129507"/>
                  </a:lnTo>
                  <a:lnTo>
                    <a:pt x="1336129" y="1137444"/>
                  </a:lnTo>
                  <a:lnTo>
                    <a:pt x="1348041" y="1146175"/>
                  </a:lnTo>
                  <a:lnTo>
                    <a:pt x="1359953" y="1155700"/>
                  </a:lnTo>
                  <a:lnTo>
                    <a:pt x="1371071" y="1165225"/>
                  </a:lnTo>
                  <a:lnTo>
                    <a:pt x="1381792" y="1175147"/>
                  </a:lnTo>
                  <a:lnTo>
                    <a:pt x="1392115" y="1185863"/>
                  </a:lnTo>
                  <a:lnTo>
                    <a:pt x="1408792" y="1204119"/>
                  </a:lnTo>
                  <a:lnTo>
                    <a:pt x="1424278" y="1223566"/>
                  </a:lnTo>
                  <a:lnTo>
                    <a:pt x="1439763" y="1243410"/>
                  </a:lnTo>
                  <a:lnTo>
                    <a:pt x="1454058" y="1263254"/>
                  </a:lnTo>
                  <a:lnTo>
                    <a:pt x="1467955" y="1283891"/>
                  </a:lnTo>
                  <a:lnTo>
                    <a:pt x="1480264" y="1305322"/>
                  </a:lnTo>
                  <a:lnTo>
                    <a:pt x="1492970" y="1327150"/>
                  </a:lnTo>
                  <a:lnTo>
                    <a:pt x="1504088" y="1348582"/>
                  </a:lnTo>
                  <a:lnTo>
                    <a:pt x="1505279" y="1351360"/>
                  </a:lnTo>
                  <a:lnTo>
                    <a:pt x="1506471" y="1352154"/>
                  </a:lnTo>
                  <a:lnTo>
                    <a:pt x="1508059" y="1352550"/>
                  </a:lnTo>
                  <a:lnTo>
                    <a:pt x="1518780" y="1353344"/>
                  </a:lnTo>
                  <a:lnTo>
                    <a:pt x="1528309" y="1355329"/>
                  </a:lnTo>
                  <a:lnTo>
                    <a:pt x="1537839" y="1357710"/>
                  </a:lnTo>
                  <a:lnTo>
                    <a:pt x="1546971" y="1360885"/>
                  </a:lnTo>
                  <a:lnTo>
                    <a:pt x="1555707" y="1364457"/>
                  </a:lnTo>
                  <a:lnTo>
                    <a:pt x="1563648" y="1368822"/>
                  </a:lnTo>
                  <a:lnTo>
                    <a:pt x="1571590" y="1373982"/>
                  </a:lnTo>
                  <a:lnTo>
                    <a:pt x="1578737" y="1379935"/>
                  </a:lnTo>
                  <a:lnTo>
                    <a:pt x="1585487" y="1385888"/>
                  </a:lnTo>
                  <a:lnTo>
                    <a:pt x="1591840" y="1392238"/>
                  </a:lnTo>
                  <a:lnTo>
                    <a:pt x="1597796" y="1398985"/>
                  </a:lnTo>
                  <a:lnTo>
                    <a:pt x="1603752" y="1406525"/>
                  </a:lnTo>
                  <a:lnTo>
                    <a:pt x="1608914" y="1413669"/>
                  </a:lnTo>
                  <a:lnTo>
                    <a:pt x="1613678" y="1421607"/>
                  </a:lnTo>
                  <a:lnTo>
                    <a:pt x="1618046" y="1429544"/>
                  </a:lnTo>
                  <a:lnTo>
                    <a:pt x="1622017" y="1437879"/>
                  </a:lnTo>
                  <a:lnTo>
                    <a:pt x="1625988" y="1446213"/>
                  </a:lnTo>
                  <a:lnTo>
                    <a:pt x="1629561" y="1454547"/>
                  </a:lnTo>
                  <a:lnTo>
                    <a:pt x="1632738" y="1463279"/>
                  </a:lnTo>
                  <a:lnTo>
                    <a:pt x="1635517" y="1471613"/>
                  </a:lnTo>
                  <a:lnTo>
                    <a:pt x="1637900" y="1479947"/>
                  </a:lnTo>
                  <a:lnTo>
                    <a:pt x="1639885" y="1488282"/>
                  </a:lnTo>
                  <a:lnTo>
                    <a:pt x="1641473" y="1497013"/>
                  </a:lnTo>
                  <a:lnTo>
                    <a:pt x="1643062" y="1504950"/>
                  </a:lnTo>
                  <a:lnTo>
                    <a:pt x="1644253" y="1512491"/>
                  </a:lnTo>
                  <a:lnTo>
                    <a:pt x="1645047" y="1520429"/>
                  </a:lnTo>
                  <a:lnTo>
                    <a:pt x="1645841" y="1527969"/>
                  </a:lnTo>
                  <a:lnTo>
                    <a:pt x="1646238" y="1534716"/>
                  </a:lnTo>
                  <a:lnTo>
                    <a:pt x="1646238" y="1541463"/>
                  </a:lnTo>
                  <a:lnTo>
                    <a:pt x="1646238" y="1548210"/>
                  </a:lnTo>
                  <a:lnTo>
                    <a:pt x="1645841" y="1553766"/>
                  </a:lnTo>
                  <a:lnTo>
                    <a:pt x="1645444" y="1558925"/>
                  </a:lnTo>
                  <a:lnTo>
                    <a:pt x="1643458" y="1570832"/>
                  </a:lnTo>
                  <a:lnTo>
                    <a:pt x="1642267" y="1583532"/>
                  </a:lnTo>
                  <a:lnTo>
                    <a:pt x="1641473" y="1595835"/>
                  </a:lnTo>
                  <a:lnTo>
                    <a:pt x="1640679" y="1608535"/>
                  </a:lnTo>
                  <a:lnTo>
                    <a:pt x="1634723" y="1749029"/>
                  </a:lnTo>
                  <a:lnTo>
                    <a:pt x="1628370" y="1889126"/>
                  </a:lnTo>
                  <a:lnTo>
                    <a:pt x="1627973" y="1902222"/>
                  </a:lnTo>
                  <a:lnTo>
                    <a:pt x="1626385" y="1915716"/>
                  </a:lnTo>
                  <a:lnTo>
                    <a:pt x="1625194" y="1928416"/>
                  </a:lnTo>
                  <a:lnTo>
                    <a:pt x="1623208" y="1941910"/>
                  </a:lnTo>
                  <a:lnTo>
                    <a:pt x="1621223" y="1954610"/>
                  </a:lnTo>
                  <a:lnTo>
                    <a:pt x="1618840" y="1968104"/>
                  </a:lnTo>
                  <a:lnTo>
                    <a:pt x="1616061" y="1980804"/>
                  </a:lnTo>
                  <a:lnTo>
                    <a:pt x="1612884" y="1993504"/>
                  </a:lnTo>
                  <a:lnTo>
                    <a:pt x="1604546" y="2026444"/>
                  </a:lnTo>
                  <a:lnTo>
                    <a:pt x="1595414" y="2058988"/>
                  </a:lnTo>
                  <a:lnTo>
                    <a:pt x="1586281" y="2091532"/>
                  </a:lnTo>
                  <a:lnTo>
                    <a:pt x="1577148" y="2123679"/>
                  </a:lnTo>
                  <a:lnTo>
                    <a:pt x="1579134" y="2125663"/>
                  </a:lnTo>
                  <a:lnTo>
                    <a:pt x="1617252" y="2294732"/>
                  </a:lnTo>
                  <a:lnTo>
                    <a:pt x="1571590" y="2303463"/>
                  </a:lnTo>
                  <a:lnTo>
                    <a:pt x="1487411" y="2318147"/>
                  </a:lnTo>
                  <a:lnTo>
                    <a:pt x="1251951" y="2359026"/>
                  </a:lnTo>
                  <a:lnTo>
                    <a:pt x="1000608" y="2402285"/>
                  </a:lnTo>
                  <a:lnTo>
                    <a:pt x="897370" y="2420541"/>
                  </a:lnTo>
                  <a:lnTo>
                    <a:pt x="824310" y="2433638"/>
                  </a:lnTo>
                  <a:lnTo>
                    <a:pt x="785398" y="2236391"/>
                  </a:lnTo>
                  <a:lnTo>
                    <a:pt x="781030" y="2228851"/>
                  </a:lnTo>
                  <a:lnTo>
                    <a:pt x="776662" y="2221707"/>
                  </a:lnTo>
                  <a:lnTo>
                    <a:pt x="771897" y="2214563"/>
                  </a:lnTo>
                  <a:lnTo>
                    <a:pt x="767133" y="2207816"/>
                  </a:lnTo>
                  <a:lnTo>
                    <a:pt x="761574" y="2201069"/>
                  </a:lnTo>
                  <a:lnTo>
                    <a:pt x="756015" y="2194719"/>
                  </a:lnTo>
                  <a:lnTo>
                    <a:pt x="750456" y="2188369"/>
                  </a:lnTo>
                  <a:lnTo>
                    <a:pt x="744897" y="2182416"/>
                  </a:lnTo>
                  <a:lnTo>
                    <a:pt x="738544" y="2176463"/>
                  </a:lnTo>
                  <a:lnTo>
                    <a:pt x="732191" y="2170907"/>
                  </a:lnTo>
                  <a:lnTo>
                    <a:pt x="725441" y="2165351"/>
                  </a:lnTo>
                  <a:lnTo>
                    <a:pt x="719088" y="2159794"/>
                  </a:lnTo>
                  <a:lnTo>
                    <a:pt x="711940" y="2155032"/>
                  </a:lnTo>
                  <a:lnTo>
                    <a:pt x="704396" y="2149873"/>
                  </a:lnTo>
                  <a:lnTo>
                    <a:pt x="697249" y="2145507"/>
                  </a:lnTo>
                  <a:lnTo>
                    <a:pt x="689705" y="2141141"/>
                  </a:lnTo>
                  <a:lnTo>
                    <a:pt x="678984" y="2135585"/>
                  </a:lnTo>
                  <a:lnTo>
                    <a:pt x="668660" y="2130029"/>
                  </a:lnTo>
                  <a:lnTo>
                    <a:pt x="648807" y="2118519"/>
                  </a:lnTo>
                  <a:lnTo>
                    <a:pt x="630145" y="2106216"/>
                  </a:lnTo>
                  <a:lnTo>
                    <a:pt x="611482" y="2093119"/>
                  </a:lnTo>
                  <a:lnTo>
                    <a:pt x="593217" y="2080022"/>
                  </a:lnTo>
                  <a:lnTo>
                    <a:pt x="576144" y="2065735"/>
                  </a:lnTo>
                  <a:lnTo>
                    <a:pt x="559070" y="2051447"/>
                  </a:lnTo>
                  <a:lnTo>
                    <a:pt x="543187" y="2035969"/>
                  </a:lnTo>
                  <a:lnTo>
                    <a:pt x="526907" y="2020491"/>
                  </a:lnTo>
                  <a:lnTo>
                    <a:pt x="511422" y="2004616"/>
                  </a:lnTo>
                  <a:lnTo>
                    <a:pt x="496333" y="1988344"/>
                  </a:lnTo>
                  <a:lnTo>
                    <a:pt x="481245" y="1971676"/>
                  </a:lnTo>
                  <a:lnTo>
                    <a:pt x="466951" y="1954610"/>
                  </a:lnTo>
                  <a:lnTo>
                    <a:pt x="452259" y="1937147"/>
                  </a:lnTo>
                  <a:lnTo>
                    <a:pt x="424067" y="1902222"/>
                  </a:lnTo>
                  <a:lnTo>
                    <a:pt x="418111" y="1894285"/>
                  </a:lnTo>
                  <a:lnTo>
                    <a:pt x="412552" y="1886744"/>
                  </a:lnTo>
                  <a:lnTo>
                    <a:pt x="401435" y="1870472"/>
                  </a:lnTo>
                  <a:lnTo>
                    <a:pt x="391508" y="1853804"/>
                  </a:lnTo>
                  <a:lnTo>
                    <a:pt x="381978" y="1837532"/>
                  </a:lnTo>
                  <a:lnTo>
                    <a:pt x="372846" y="1820069"/>
                  </a:lnTo>
                  <a:lnTo>
                    <a:pt x="364110" y="1803401"/>
                  </a:lnTo>
                  <a:lnTo>
                    <a:pt x="356169" y="1785541"/>
                  </a:lnTo>
                  <a:lnTo>
                    <a:pt x="348228" y="1768079"/>
                  </a:lnTo>
                  <a:lnTo>
                    <a:pt x="332345" y="1733551"/>
                  </a:lnTo>
                  <a:lnTo>
                    <a:pt x="324404" y="1716485"/>
                  </a:lnTo>
                  <a:lnTo>
                    <a:pt x="316065" y="1699022"/>
                  </a:lnTo>
                  <a:lnTo>
                    <a:pt x="307727" y="1682354"/>
                  </a:lnTo>
                  <a:lnTo>
                    <a:pt x="298991" y="1666082"/>
                  </a:lnTo>
                  <a:lnTo>
                    <a:pt x="289462" y="1649413"/>
                  </a:lnTo>
                  <a:lnTo>
                    <a:pt x="279535" y="1633935"/>
                  </a:lnTo>
                  <a:lnTo>
                    <a:pt x="275962" y="1624410"/>
                  </a:lnTo>
                  <a:lnTo>
                    <a:pt x="271594" y="1614885"/>
                  </a:lnTo>
                  <a:lnTo>
                    <a:pt x="266829" y="1605360"/>
                  </a:lnTo>
                  <a:lnTo>
                    <a:pt x="261667" y="1595835"/>
                  </a:lnTo>
                  <a:lnTo>
                    <a:pt x="256505" y="1586310"/>
                  </a:lnTo>
                  <a:lnTo>
                    <a:pt x="250946" y="1577182"/>
                  </a:lnTo>
                  <a:lnTo>
                    <a:pt x="239431" y="1558132"/>
                  </a:lnTo>
                  <a:lnTo>
                    <a:pt x="227122" y="1539479"/>
                  </a:lnTo>
                  <a:lnTo>
                    <a:pt x="214813" y="1521619"/>
                  </a:lnTo>
                  <a:lnTo>
                    <a:pt x="190592" y="1486694"/>
                  </a:lnTo>
                  <a:lnTo>
                    <a:pt x="185827" y="1479154"/>
                  </a:lnTo>
                  <a:lnTo>
                    <a:pt x="181063" y="1470422"/>
                  </a:lnTo>
                  <a:lnTo>
                    <a:pt x="170342" y="1450579"/>
                  </a:lnTo>
                  <a:lnTo>
                    <a:pt x="164783" y="1441054"/>
                  </a:lnTo>
                  <a:lnTo>
                    <a:pt x="159224" y="1431132"/>
                  </a:lnTo>
                  <a:lnTo>
                    <a:pt x="156444" y="1427163"/>
                  </a:lnTo>
                  <a:lnTo>
                    <a:pt x="153268" y="1423194"/>
                  </a:lnTo>
                  <a:lnTo>
                    <a:pt x="149694" y="1419622"/>
                  </a:lnTo>
                  <a:lnTo>
                    <a:pt x="146518" y="1416447"/>
                  </a:lnTo>
                  <a:lnTo>
                    <a:pt x="143738" y="1413272"/>
                  </a:lnTo>
                  <a:lnTo>
                    <a:pt x="140959" y="1409304"/>
                  </a:lnTo>
                  <a:lnTo>
                    <a:pt x="138576" y="1404541"/>
                  </a:lnTo>
                  <a:lnTo>
                    <a:pt x="136591" y="1398985"/>
                  </a:lnTo>
                  <a:lnTo>
                    <a:pt x="134209" y="1393429"/>
                  </a:lnTo>
                  <a:lnTo>
                    <a:pt x="132620" y="1387475"/>
                  </a:lnTo>
                  <a:lnTo>
                    <a:pt x="129047" y="1373982"/>
                  </a:lnTo>
                  <a:lnTo>
                    <a:pt x="125870" y="1360488"/>
                  </a:lnTo>
                  <a:lnTo>
                    <a:pt x="122694" y="1346994"/>
                  </a:lnTo>
                  <a:lnTo>
                    <a:pt x="120311" y="1335485"/>
                  </a:lnTo>
                  <a:lnTo>
                    <a:pt x="117532" y="1325563"/>
                  </a:lnTo>
                  <a:lnTo>
                    <a:pt x="109194" y="1300560"/>
                  </a:lnTo>
                  <a:lnTo>
                    <a:pt x="100458" y="1276350"/>
                  </a:lnTo>
                  <a:lnTo>
                    <a:pt x="95296" y="1264047"/>
                  </a:lnTo>
                  <a:lnTo>
                    <a:pt x="90531" y="1252538"/>
                  </a:lnTo>
                  <a:lnTo>
                    <a:pt x="85767" y="1241425"/>
                  </a:lnTo>
                  <a:lnTo>
                    <a:pt x="80208" y="1229916"/>
                  </a:lnTo>
                  <a:lnTo>
                    <a:pt x="77031" y="1223566"/>
                  </a:lnTo>
                  <a:lnTo>
                    <a:pt x="73458" y="1217216"/>
                  </a:lnTo>
                  <a:lnTo>
                    <a:pt x="65119" y="1203722"/>
                  </a:lnTo>
                  <a:lnTo>
                    <a:pt x="55987" y="1190625"/>
                  </a:lnTo>
                  <a:lnTo>
                    <a:pt x="46457" y="1177132"/>
                  </a:lnTo>
                  <a:lnTo>
                    <a:pt x="26207" y="1150938"/>
                  </a:lnTo>
                  <a:lnTo>
                    <a:pt x="6353" y="1125538"/>
                  </a:lnTo>
                  <a:lnTo>
                    <a:pt x="3574" y="1121172"/>
                  </a:lnTo>
                  <a:lnTo>
                    <a:pt x="1589" y="1116410"/>
                  </a:lnTo>
                  <a:lnTo>
                    <a:pt x="397" y="1111250"/>
                  </a:lnTo>
                  <a:lnTo>
                    <a:pt x="0" y="1106091"/>
                  </a:lnTo>
                  <a:lnTo>
                    <a:pt x="0" y="1100535"/>
                  </a:lnTo>
                  <a:lnTo>
                    <a:pt x="794" y="1094582"/>
                  </a:lnTo>
                  <a:lnTo>
                    <a:pt x="1986" y="1088629"/>
                  </a:lnTo>
                  <a:lnTo>
                    <a:pt x="3574" y="1083072"/>
                  </a:lnTo>
                  <a:lnTo>
                    <a:pt x="5559" y="1077516"/>
                  </a:lnTo>
                  <a:lnTo>
                    <a:pt x="8339" y="1071960"/>
                  </a:lnTo>
                  <a:lnTo>
                    <a:pt x="11118" y="1066404"/>
                  </a:lnTo>
                  <a:lnTo>
                    <a:pt x="14295" y="1061641"/>
                  </a:lnTo>
                  <a:lnTo>
                    <a:pt x="17868" y="1056879"/>
                  </a:lnTo>
                  <a:lnTo>
                    <a:pt x="21045" y="1052910"/>
                  </a:lnTo>
                  <a:lnTo>
                    <a:pt x="24618" y="1048941"/>
                  </a:lnTo>
                  <a:lnTo>
                    <a:pt x="28192" y="1045766"/>
                  </a:lnTo>
                  <a:lnTo>
                    <a:pt x="33751" y="1041400"/>
                  </a:lnTo>
                  <a:lnTo>
                    <a:pt x="39310" y="1037432"/>
                  </a:lnTo>
                  <a:lnTo>
                    <a:pt x="45663" y="1034257"/>
                  </a:lnTo>
                  <a:lnTo>
                    <a:pt x="52016" y="1031479"/>
                  </a:lnTo>
                  <a:lnTo>
                    <a:pt x="58369" y="1029097"/>
                  </a:lnTo>
                  <a:lnTo>
                    <a:pt x="64722" y="1027113"/>
                  </a:lnTo>
                  <a:lnTo>
                    <a:pt x="71869" y="1025922"/>
                  </a:lnTo>
                  <a:lnTo>
                    <a:pt x="78619" y="1024732"/>
                  </a:lnTo>
                  <a:lnTo>
                    <a:pt x="85767" y="1023938"/>
                  </a:lnTo>
                  <a:lnTo>
                    <a:pt x="92517" y="1023541"/>
                  </a:lnTo>
                  <a:lnTo>
                    <a:pt x="100061" y="1023938"/>
                  </a:lnTo>
                  <a:lnTo>
                    <a:pt x="107208" y="1024335"/>
                  </a:lnTo>
                  <a:lnTo>
                    <a:pt x="114355" y="1024732"/>
                  </a:lnTo>
                  <a:lnTo>
                    <a:pt x="121503" y="1025922"/>
                  </a:lnTo>
                  <a:lnTo>
                    <a:pt x="129047" y="1027510"/>
                  </a:lnTo>
                  <a:lnTo>
                    <a:pt x="136194" y="1029097"/>
                  </a:lnTo>
                  <a:lnTo>
                    <a:pt x="143341" y="1031082"/>
                  </a:lnTo>
                  <a:lnTo>
                    <a:pt x="150488" y="1033066"/>
                  </a:lnTo>
                  <a:lnTo>
                    <a:pt x="157636" y="1035844"/>
                  </a:lnTo>
                  <a:lnTo>
                    <a:pt x="164783" y="1038622"/>
                  </a:lnTo>
                  <a:lnTo>
                    <a:pt x="171533" y="1041400"/>
                  </a:lnTo>
                  <a:lnTo>
                    <a:pt x="177886" y="1044972"/>
                  </a:lnTo>
                  <a:lnTo>
                    <a:pt x="185033" y="1048544"/>
                  </a:lnTo>
                  <a:lnTo>
                    <a:pt x="191386" y="1052116"/>
                  </a:lnTo>
                  <a:lnTo>
                    <a:pt x="197739" y="1055688"/>
                  </a:lnTo>
                  <a:lnTo>
                    <a:pt x="203695" y="1059657"/>
                  </a:lnTo>
                  <a:lnTo>
                    <a:pt x="209651" y="1064022"/>
                  </a:lnTo>
                  <a:lnTo>
                    <a:pt x="215210" y="1067991"/>
                  </a:lnTo>
                  <a:lnTo>
                    <a:pt x="220769" y="1072754"/>
                  </a:lnTo>
                  <a:lnTo>
                    <a:pt x="225534" y="1077516"/>
                  </a:lnTo>
                  <a:lnTo>
                    <a:pt x="230299" y="1081882"/>
                  </a:lnTo>
                  <a:lnTo>
                    <a:pt x="235064" y="1086644"/>
                  </a:lnTo>
                  <a:lnTo>
                    <a:pt x="239828" y="1092200"/>
                  </a:lnTo>
                  <a:lnTo>
                    <a:pt x="244593" y="1097757"/>
                  </a:lnTo>
                  <a:lnTo>
                    <a:pt x="252932" y="1109663"/>
                  </a:lnTo>
                  <a:lnTo>
                    <a:pt x="260873" y="1121966"/>
                  </a:lnTo>
                  <a:lnTo>
                    <a:pt x="268814" y="1135063"/>
                  </a:lnTo>
                  <a:lnTo>
                    <a:pt x="283903" y="1160463"/>
                  </a:lnTo>
                  <a:lnTo>
                    <a:pt x="291447" y="1173163"/>
                  </a:lnTo>
                  <a:lnTo>
                    <a:pt x="299388" y="1185069"/>
                  </a:lnTo>
                  <a:lnTo>
                    <a:pt x="306139" y="1195785"/>
                  </a:lnTo>
                  <a:lnTo>
                    <a:pt x="312889" y="1206897"/>
                  </a:lnTo>
                  <a:lnTo>
                    <a:pt x="327580" y="1230710"/>
                  </a:lnTo>
                  <a:lnTo>
                    <a:pt x="342272" y="1255713"/>
                  </a:lnTo>
                  <a:lnTo>
                    <a:pt x="357757" y="1281113"/>
                  </a:lnTo>
                  <a:lnTo>
                    <a:pt x="365699" y="1293416"/>
                  </a:lnTo>
                  <a:lnTo>
                    <a:pt x="373640" y="1305719"/>
                  </a:lnTo>
                  <a:lnTo>
                    <a:pt x="382375" y="1317229"/>
                  </a:lnTo>
                  <a:lnTo>
                    <a:pt x="390714" y="1328738"/>
                  </a:lnTo>
                  <a:lnTo>
                    <a:pt x="399846" y="1339454"/>
                  </a:lnTo>
                  <a:lnTo>
                    <a:pt x="409376" y="1348979"/>
                  </a:lnTo>
                  <a:lnTo>
                    <a:pt x="418905" y="1358504"/>
                  </a:lnTo>
                  <a:lnTo>
                    <a:pt x="423670" y="1362472"/>
                  </a:lnTo>
                  <a:lnTo>
                    <a:pt x="428832" y="1366441"/>
                  </a:lnTo>
                  <a:lnTo>
                    <a:pt x="437171" y="1372791"/>
                  </a:lnTo>
                  <a:lnTo>
                    <a:pt x="445112" y="1378744"/>
                  </a:lnTo>
                  <a:lnTo>
                    <a:pt x="453450" y="1383904"/>
                  </a:lnTo>
                  <a:lnTo>
                    <a:pt x="462186" y="1388666"/>
                  </a:lnTo>
                  <a:lnTo>
                    <a:pt x="470921" y="1392635"/>
                  </a:lnTo>
                  <a:lnTo>
                    <a:pt x="479260" y="1396207"/>
                  </a:lnTo>
                  <a:lnTo>
                    <a:pt x="488789" y="1399382"/>
                  </a:lnTo>
                  <a:lnTo>
                    <a:pt x="497525" y="1402160"/>
                  </a:lnTo>
                  <a:lnTo>
                    <a:pt x="506657" y="1404144"/>
                  </a:lnTo>
                  <a:lnTo>
                    <a:pt x="516187" y="1405732"/>
                  </a:lnTo>
                  <a:lnTo>
                    <a:pt x="525716" y="1407319"/>
                  </a:lnTo>
                  <a:lnTo>
                    <a:pt x="535246" y="1408113"/>
                  </a:lnTo>
                  <a:lnTo>
                    <a:pt x="545172" y="1408113"/>
                  </a:lnTo>
                  <a:lnTo>
                    <a:pt x="555099" y="1407716"/>
                  </a:lnTo>
                  <a:lnTo>
                    <a:pt x="565423" y="1406922"/>
                  </a:lnTo>
                  <a:lnTo>
                    <a:pt x="575746" y="1404938"/>
                  </a:lnTo>
                  <a:lnTo>
                    <a:pt x="578923" y="1404541"/>
                  </a:lnTo>
                  <a:lnTo>
                    <a:pt x="582497" y="1402954"/>
                  </a:lnTo>
                  <a:lnTo>
                    <a:pt x="586467" y="1401366"/>
                  </a:lnTo>
                  <a:lnTo>
                    <a:pt x="590041" y="1398985"/>
                  </a:lnTo>
                  <a:lnTo>
                    <a:pt x="594012" y="1395810"/>
                  </a:lnTo>
                  <a:lnTo>
                    <a:pt x="597585" y="1392635"/>
                  </a:lnTo>
                  <a:lnTo>
                    <a:pt x="601556" y="1389460"/>
                  </a:lnTo>
                  <a:lnTo>
                    <a:pt x="604335" y="1385491"/>
                  </a:lnTo>
                  <a:lnTo>
                    <a:pt x="609894" y="1379141"/>
                  </a:lnTo>
                  <a:lnTo>
                    <a:pt x="614659" y="1372394"/>
                  </a:lnTo>
                  <a:lnTo>
                    <a:pt x="619424" y="1365647"/>
                  </a:lnTo>
                  <a:lnTo>
                    <a:pt x="623394" y="1358900"/>
                  </a:lnTo>
                  <a:lnTo>
                    <a:pt x="627762" y="1352154"/>
                  </a:lnTo>
                  <a:lnTo>
                    <a:pt x="631336" y="1344613"/>
                  </a:lnTo>
                  <a:lnTo>
                    <a:pt x="634512" y="1337469"/>
                  </a:lnTo>
                  <a:lnTo>
                    <a:pt x="637292" y="1330325"/>
                  </a:lnTo>
                  <a:lnTo>
                    <a:pt x="640071" y="1323182"/>
                  </a:lnTo>
                  <a:lnTo>
                    <a:pt x="642057" y="1315244"/>
                  </a:lnTo>
                  <a:lnTo>
                    <a:pt x="644042" y="1307704"/>
                  </a:lnTo>
                  <a:lnTo>
                    <a:pt x="645233" y="1299766"/>
                  </a:lnTo>
                  <a:lnTo>
                    <a:pt x="646424" y="1291829"/>
                  </a:lnTo>
                  <a:lnTo>
                    <a:pt x="647218" y="1283891"/>
                  </a:lnTo>
                  <a:lnTo>
                    <a:pt x="647616" y="1275557"/>
                  </a:lnTo>
                  <a:lnTo>
                    <a:pt x="648013" y="1267619"/>
                  </a:lnTo>
                  <a:lnTo>
                    <a:pt x="647616" y="1259682"/>
                  </a:lnTo>
                  <a:lnTo>
                    <a:pt x="647218" y="1252538"/>
                  </a:lnTo>
                  <a:lnTo>
                    <a:pt x="646424" y="1245394"/>
                  </a:lnTo>
                  <a:lnTo>
                    <a:pt x="645233" y="1237457"/>
                  </a:lnTo>
                  <a:lnTo>
                    <a:pt x="466951" y="280988"/>
                  </a:lnTo>
                  <a:lnTo>
                    <a:pt x="465362" y="271463"/>
                  </a:lnTo>
                  <a:lnTo>
                    <a:pt x="464568" y="263128"/>
                  </a:lnTo>
                  <a:lnTo>
                    <a:pt x="464568" y="254397"/>
                  </a:lnTo>
                  <a:lnTo>
                    <a:pt x="464965" y="246857"/>
                  </a:lnTo>
                  <a:lnTo>
                    <a:pt x="465759" y="239316"/>
                  </a:lnTo>
                  <a:lnTo>
                    <a:pt x="467348" y="232569"/>
                  </a:lnTo>
                  <a:lnTo>
                    <a:pt x="468936" y="225822"/>
                  </a:lnTo>
                  <a:lnTo>
                    <a:pt x="471318" y="219869"/>
                  </a:lnTo>
                  <a:lnTo>
                    <a:pt x="473701" y="214313"/>
                  </a:lnTo>
                  <a:lnTo>
                    <a:pt x="476480" y="209153"/>
                  </a:lnTo>
                  <a:lnTo>
                    <a:pt x="479657" y="204391"/>
                  </a:lnTo>
                  <a:lnTo>
                    <a:pt x="482833" y="199628"/>
                  </a:lnTo>
                  <a:lnTo>
                    <a:pt x="486407" y="195263"/>
                  </a:lnTo>
                  <a:lnTo>
                    <a:pt x="490775" y="191691"/>
                  </a:lnTo>
                  <a:lnTo>
                    <a:pt x="494348" y="188119"/>
                  </a:lnTo>
                  <a:lnTo>
                    <a:pt x="498319" y="184944"/>
                  </a:lnTo>
                  <a:lnTo>
                    <a:pt x="502289" y="182166"/>
                  </a:lnTo>
                  <a:lnTo>
                    <a:pt x="506657" y="179785"/>
                  </a:lnTo>
                  <a:lnTo>
                    <a:pt x="514201" y="175419"/>
                  </a:lnTo>
                  <a:lnTo>
                    <a:pt x="522143" y="171450"/>
                  </a:lnTo>
                  <a:lnTo>
                    <a:pt x="528893" y="169069"/>
                  </a:lnTo>
                  <a:lnTo>
                    <a:pt x="534849" y="167482"/>
                  </a:lnTo>
                  <a:lnTo>
                    <a:pt x="539614" y="166291"/>
                  </a:lnTo>
                  <a:lnTo>
                    <a:pt x="543981" y="165497"/>
                  </a:lnTo>
                  <a:lnTo>
                    <a:pt x="552320" y="163910"/>
                  </a:lnTo>
                  <a:lnTo>
                    <a:pt x="561055" y="162719"/>
                  </a:lnTo>
                  <a:lnTo>
                    <a:pt x="569393" y="162322"/>
                  </a:lnTo>
                  <a:lnTo>
                    <a:pt x="577732" y="161925"/>
                  </a:lnTo>
                  <a:close/>
                  <a:moveTo>
                    <a:pt x="576263" y="0"/>
                  </a:moveTo>
                  <a:lnTo>
                    <a:pt x="594539" y="397"/>
                  </a:lnTo>
                  <a:lnTo>
                    <a:pt x="612419" y="1589"/>
                  </a:lnTo>
                  <a:lnTo>
                    <a:pt x="630298" y="3973"/>
                  </a:lnTo>
                  <a:lnTo>
                    <a:pt x="647780" y="7151"/>
                  </a:lnTo>
                  <a:lnTo>
                    <a:pt x="664864" y="10727"/>
                  </a:lnTo>
                  <a:lnTo>
                    <a:pt x="681551" y="15098"/>
                  </a:lnTo>
                  <a:lnTo>
                    <a:pt x="697841" y="20263"/>
                  </a:lnTo>
                  <a:lnTo>
                    <a:pt x="714131" y="26620"/>
                  </a:lnTo>
                  <a:lnTo>
                    <a:pt x="729626" y="33374"/>
                  </a:lnTo>
                  <a:lnTo>
                    <a:pt x="745122" y="41321"/>
                  </a:lnTo>
                  <a:lnTo>
                    <a:pt x="759822" y="50062"/>
                  </a:lnTo>
                  <a:lnTo>
                    <a:pt x="774920" y="59200"/>
                  </a:lnTo>
                  <a:lnTo>
                    <a:pt x="788826" y="69530"/>
                  </a:lnTo>
                  <a:lnTo>
                    <a:pt x="803130" y="80655"/>
                  </a:lnTo>
                  <a:lnTo>
                    <a:pt x="816638" y="92575"/>
                  </a:lnTo>
                  <a:lnTo>
                    <a:pt x="830147" y="105289"/>
                  </a:lnTo>
                  <a:lnTo>
                    <a:pt x="842464" y="118798"/>
                  </a:lnTo>
                  <a:lnTo>
                    <a:pt x="854780" y="132307"/>
                  </a:lnTo>
                  <a:lnTo>
                    <a:pt x="865508" y="146610"/>
                  </a:lnTo>
                  <a:lnTo>
                    <a:pt x="876235" y="160516"/>
                  </a:lnTo>
                  <a:lnTo>
                    <a:pt x="885374" y="175615"/>
                  </a:lnTo>
                  <a:lnTo>
                    <a:pt x="894115" y="190315"/>
                  </a:lnTo>
                  <a:lnTo>
                    <a:pt x="901664" y="205811"/>
                  </a:lnTo>
                  <a:lnTo>
                    <a:pt x="908815" y="221306"/>
                  </a:lnTo>
                  <a:lnTo>
                    <a:pt x="915172" y="237596"/>
                  </a:lnTo>
                  <a:lnTo>
                    <a:pt x="920337" y="253886"/>
                  </a:lnTo>
                  <a:lnTo>
                    <a:pt x="924708" y="270574"/>
                  </a:lnTo>
                  <a:lnTo>
                    <a:pt x="928284" y="287658"/>
                  </a:lnTo>
                  <a:lnTo>
                    <a:pt x="931462" y="304743"/>
                  </a:lnTo>
                  <a:lnTo>
                    <a:pt x="933449" y="322622"/>
                  </a:lnTo>
                  <a:lnTo>
                    <a:pt x="934641" y="340502"/>
                  </a:lnTo>
                  <a:lnTo>
                    <a:pt x="935038" y="359175"/>
                  </a:lnTo>
                  <a:lnTo>
                    <a:pt x="934641" y="377452"/>
                  </a:lnTo>
                  <a:lnTo>
                    <a:pt x="933449" y="395331"/>
                  </a:lnTo>
                  <a:lnTo>
                    <a:pt x="931462" y="413211"/>
                  </a:lnTo>
                  <a:lnTo>
                    <a:pt x="928284" y="430693"/>
                  </a:lnTo>
                  <a:lnTo>
                    <a:pt x="924708" y="447777"/>
                  </a:lnTo>
                  <a:lnTo>
                    <a:pt x="920337" y="464465"/>
                  </a:lnTo>
                  <a:lnTo>
                    <a:pt x="915172" y="480755"/>
                  </a:lnTo>
                  <a:lnTo>
                    <a:pt x="908815" y="496647"/>
                  </a:lnTo>
                  <a:lnTo>
                    <a:pt x="901664" y="512540"/>
                  </a:lnTo>
                  <a:lnTo>
                    <a:pt x="894115" y="527638"/>
                  </a:lnTo>
                  <a:lnTo>
                    <a:pt x="885374" y="543134"/>
                  </a:lnTo>
                  <a:lnTo>
                    <a:pt x="876235" y="557437"/>
                  </a:lnTo>
                  <a:lnTo>
                    <a:pt x="865508" y="572138"/>
                  </a:lnTo>
                  <a:lnTo>
                    <a:pt x="854780" y="585647"/>
                  </a:lnTo>
                  <a:lnTo>
                    <a:pt x="842464" y="599553"/>
                  </a:lnTo>
                  <a:lnTo>
                    <a:pt x="830147" y="612664"/>
                  </a:lnTo>
                  <a:lnTo>
                    <a:pt x="830147" y="613061"/>
                  </a:lnTo>
                  <a:lnTo>
                    <a:pt x="822201" y="620611"/>
                  </a:lnTo>
                  <a:lnTo>
                    <a:pt x="813857" y="628160"/>
                  </a:lnTo>
                  <a:lnTo>
                    <a:pt x="805911" y="634914"/>
                  </a:lnTo>
                  <a:lnTo>
                    <a:pt x="797964" y="641668"/>
                  </a:lnTo>
                  <a:lnTo>
                    <a:pt x="791607" y="619419"/>
                  </a:lnTo>
                  <a:lnTo>
                    <a:pt x="785250" y="597963"/>
                  </a:lnTo>
                  <a:lnTo>
                    <a:pt x="778496" y="576111"/>
                  </a:lnTo>
                  <a:lnTo>
                    <a:pt x="771344" y="553861"/>
                  </a:lnTo>
                  <a:lnTo>
                    <a:pt x="780880" y="543928"/>
                  </a:lnTo>
                  <a:lnTo>
                    <a:pt x="790018" y="533201"/>
                  </a:lnTo>
                  <a:lnTo>
                    <a:pt x="798759" y="522473"/>
                  </a:lnTo>
                  <a:lnTo>
                    <a:pt x="806705" y="511745"/>
                  </a:lnTo>
                  <a:lnTo>
                    <a:pt x="813857" y="500223"/>
                  </a:lnTo>
                  <a:lnTo>
                    <a:pt x="820611" y="488701"/>
                  </a:lnTo>
                  <a:lnTo>
                    <a:pt x="826571" y="476782"/>
                  </a:lnTo>
                  <a:lnTo>
                    <a:pt x="831736" y="464862"/>
                  </a:lnTo>
                  <a:lnTo>
                    <a:pt x="836504" y="452545"/>
                  </a:lnTo>
                  <a:lnTo>
                    <a:pt x="840477" y="439831"/>
                  </a:lnTo>
                  <a:lnTo>
                    <a:pt x="844053" y="427117"/>
                  </a:lnTo>
                  <a:lnTo>
                    <a:pt x="846834" y="414005"/>
                  </a:lnTo>
                  <a:lnTo>
                    <a:pt x="849218" y="400894"/>
                  </a:lnTo>
                  <a:lnTo>
                    <a:pt x="850807" y="386988"/>
                  </a:lnTo>
                  <a:lnTo>
                    <a:pt x="851602" y="373479"/>
                  </a:lnTo>
                  <a:lnTo>
                    <a:pt x="851999" y="359175"/>
                  </a:lnTo>
                  <a:lnTo>
                    <a:pt x="851602" y="344872"/>
                  </a:lnTo>
                  <a:lnTo>
                    <a:pt x="850807" y="330966"/>
                  </a:lnTo>
                  <a:lnTo>
                    <a:pt x="849218" y="317457"/>
                  </a:lnTo>
                  <a:lnTo>
                    <a:pt x="846834" y="303948"/>
                  </a:lnTo>
                  <a:lnTo>
                    <a:pt x="844053" y="291234"/>
                  </a:lnTo>
                  <a:lnTo>
                    <a:pt x="840477" y="278123"/>
                  </a:lnTo>
                  <a:lnTo>
                    <a:pt x="836504" y="265806"/>
                  </a:lnTo>
                  <a:lnTo>
                    <a:pt x="831736" y="253092"/>
                  </a:lnTo>
                  <a:lnTo>
                    <a:pt x="826571" y="241172"/>
                  </a:lnTo>
                  <a:lnTo>
                    <a:pt x="820611" y="229253"/>
                  </a:lnTo>
                  <a:lnTo>
                    <a:pt x="813460" y="217730"/>
                  </a:lnTo>
                  <a:lnTo>
                    <a:pt x="806308" y="206605"/>
                  </a:lnTo>
                  <a:lnTo>
                    <a:pt x="798759" y="195481"/>
                  </a:lnTo>
                  <a:lnTo>
                    <a:pt x="789621" y="185150"/>
                  </a:lnTo>
                  <a:lnTo>
                    <a:pt x="780880" y="174820"/>
                  </a:lnTo>
                  <a:lnTo>
                    <a:pt x="770947" y="164092"/>
                  </a:lnTo>
                  <a:lnTo>
                    <a:pt x="760617" y="154556"/>
                  </a:lnTo>
                  <a:lnTo>
                    <a:pt x="750287" y="145021"/>
                  </a:lnTo>
                  <a:lnTo>
                    <a:pt x="739559" y="136677"/>
                  </a:lnTo>
                  <a:lnTo>
                    <a:pt x="728434" y="129128"/>
                  </a:lnTo>
                  <a:lnTo>
                    <a:pt x="717310" y="121976"/>
                  </a:lnTo>
                  <a:lnTo>
                    <a:pt x="705788" y="114825"/>
                  </a:lnTo>
                  <a:lnTo>
                    <a:pt x="693868" y="108865"/>
                  </a:lnTo>
                  <a:lnTo>
                    <a:pt x="682346" y="103700"/>
                  </a:lnTo>
                  <a:lnTo>
                    <a:pt x="669632" y="98932"/>
                  </a:lnTo>
                  <a:lnTo>
                    <a:pt x="657315" y="94959"/>
                  </a:lnTo>
                  <a:lnTo>
                    <a:pt x="644204" y="91383"/>
                  </a:lnTo>
                  <a:lnTo>
                    <a:pt x="631490" y="88204"/>
                  </a:lnTo>
                  <a:lnTo>
                    <a:pt x="617584" y="86218"/>
                  </a:lnTo>
                  <a:lnTo>
                    <a:pt x="604472" y="84628"/>
                  </a:lnTo>
                  <a:lnTo>
                    <a:pt x="590169" y="83436"/>
                  </a:lnTo>
                  <a:lnTo>
                    <a:pt x="576263" y="83436"/>
                  </a:lnTo>
                  <a:lnTo>
                    <a:pt x="561960" y="83436"/>
                  </a:lnTo>
                  <a:lnTo>
                    <a:pt x="548451" y="84628"/>
                  </a:lnTo>
                  <a:lnTo>
                    <a:pt x="534545" y="86218"/>
                  </a:lnTo>
                  <a:lnTo>
                    <a:pt x="521434" y="88204"/>
                  </a:lnTo>
                  <a:lnTo>
                    <a:pt x="507925" y="91383"/>
                  </a:lnTo>
                  <a:lnTo>
                    <a:pt x="495211" y="94959"/>
                  </a:lnTo>
                  <a:lnTo>
                    <a:pt x="482497" y="98932"/>
                  </a:lnTo>
                  <a:lnTo>
                    <a:pt x="470578" y="103700"/>
                  </a:lnTo>
                  <a:lnTo>
                    <a:pt x="458658" y="108865"/>
                  </a:lnTo>
                  <a:lnTo>
                    <a:pt x="446341" y="114825"/>
                  </a:lnTo>
                  <a:lnTo>
                    <a:pt x="435217" y="121976"/>
                  </a:lnTo>
                  <a:lnTo>
                    <a:pt x="423694" y="129128"/>
                  </a:lnTo>
                  <a:lnTo>
                    <a:pt x="412967" y="136677"/>
                  </a:lnTo>
                  <a:lnTo>
                    <a:pt x="401842" y="145021"/>
                  </a:lnTo>
                  <a:lnTo>
                    <a:pt x="391512" y="154556"/>
                  </a:lnTo>
                  <a:lnTo>
                    <a:pt x="381579" y="164092"/>
                  </a:lnTo>
                  <a:lnTo>
                    <a:pt x="381182" y="164092"/>
                  </a:lnTo>
                  <a:lnTo>
                    <a:pt x="371249" y="174820"/>
                  </a:lnTo>
                  <a:lnTo>
                    <a:pt x="362111" y="185150"/>
                  </a:lnTo>
                  <a:lnTo>
                    <a:pt x="353767" y="195481"/>
                  </a:lnTo>
                  <a:lnTo>
                    <a:pt x="345821" y="207003"/>
                  </a:lnTo>
                  <a:lnTo>
                    <a:pt x="338669" y="218128"/>
                  </a:lnTo>
                  <a:lnTo>
                    <a:pt x="331915" y="229253"/>
                  </a:lnTo>
                  <a:lnTo>
                    <a:pt x="325955" y="241172"/>
                  </a:lnTo>
                  <a:lnTo>
                    <a:pt x="320790" y="253092"/>
                  </a:lnTo>
                  <a:lnTo>
                    <a:pt x="315625" y="265806"/>
                  </a:lnTo>
                  <a:lnTo>
                    <a:pt x="311652" y="278123"/>
                  </a:lnTo>
                  <a:lnTo>
                    <a:pt x="308473" y="291234"/>
                  </a:lnTo>
                  <a:lnTo>
                    <a:pt x="305692" y="303948"/>
                  </a:lnTo>
                  <a:lnTo>
                    <a:pt x="303308" y="317457"/>
                  </a:lnTo>
                  <a:lnTo>
                    <a:pt x="301719" y="330966"/>
                  </a:lnTo>
                  <a:lnTo>
                    <a:pt x="300924" y="345269"/>
                  </a:lnTo>
                  <a:lnTo>
                    <a:pt x="300527" y="359175"/>
                  </a:lnTo>
                  <a:lnTo>
                    <a:pt x="300924" y="373479"/>
                  </a:lnTo>
                  <a:lnTo>
                    <a:pt x="301719" y="386988"/>
                  </a:lnTo>
                  <a:lnTo>
                    <a:pt x="303308" y="400894"/>
                  </a:lnTo>
                  <a:lnTo>
                    <a:pt x="305692" y="414005"/>
                  </a:lnTo>
                  <a:lnTo>
                    <a:pt x="308473" y="427514"/>
                  </a:lnTo>
                  <a:lnTo>
                    <a:pt x="311652" y="440228"/>
                  </a:lnTo>
                  <a:lnTo>
                    <a:pt x="315625" y="452545"/>
                  </a:lnTo>
                  <a:lnTo>
                    <a:pt x="320790" y="464862"/>
                  </a:lnTo>
                  <a:lnTo>
                    <a:pt x="325955" y="476782"/>
                  </a:lnTo>
                  <a:lnTo>
                    <a:pt x="331915" y="489098"/>
                  </a:lnTo>
                  <a:lnTo>
                    <a:pt x="338669" y="500223"/>
                  </a:lnTo>
                  <a:lnTo>
                    <a:pt x="345821" y="511745"/>
                  </a:lnTo>
                  <a:lnTo>
                    <a:pt x="353767" y="522870"/>
                  </a:lnTo>
                  <a:lnTo>
                    <a:pt x="362111" y="533201"/>
                  </a:lnTo>
                  <a:lnTo>
                    <a:pt x="371249" y="543928"/>
                  </a:lnTo>
                  <a:lnTo>
                    <a:pt x="381182" y="554258"/>
                  </a:lnTo>
                  <a:lnTo>
                    <a:pt x="387539" y="560218"/>
                  </a:lnTo>
                  <a:lnTo>
                    <a:pt x="393896" y="566575"/>
                  </a:lnTo>
                  <a:lnTo>
                    <a:pt x="400650" y="572138"/>
                  </a:lnTo>
                  <a:lnTo>
                    <a:pt x="407405" y="577700"/>
                  </a:lnTo>
                  <a:lnTo>
                    <a:pt x="414159" y="582468"/>
                  </a:lnTo>
                  <a:lnTo>
                    <a:pt x="420913" y="587633"/>
                  </a:lnTo>
                  <a:lnTo>
                    <a:pt x="428065" y="592401"/>
                  </a:lnTo>
                  <a:lnTo>
                    <a:pt x="435614" y="597169"/>
                  </a:lnTo>
                  <a:lnTo>
                    <a:pt x="442368" y="601142"/>
                  </a:lnTo>
                  <a:lnTo>
                    <a:pt x="449917" y="605115"/>
                  </a:lnTo>
                  <a:lnTo>
                    <a:pt x="457069" y="608691"/>
                  </a:lnTo>
                  <a:lnTo>
                    <a:pt x="465015" y="612267"/>
                  </a:lnTo>
                  <a:lnTo>
                    <a:pt x="472564" y="615445"/>
                  </a:lnTo>
                  <a:lnTo>
                    <a:pt x="480113" y="618227"/>
                  </a:lnTo>
                  <a:lnTo>
                    <a:pt x="488457" y="621008"/>
                  </a:lnTo>
                  <a:lnTo>
                    <a:pt x="496403" y="623789"/>
                  </a:lnTo>
                  <a:lnTo>
                    <a:pt x="498787" y="634914"/>
                  </a:lnTo>
                  <a:lnTo>
                    <a:pt x="501171" y="645642"/>
                  </a:lnTo>
                  <a:lnTo>
                    <a:pt x="505541" y="667891"/>
                  </a:lnTo>
                  <a:lnTo>
                    <a:pt x="508720" y="690141"/>
                  </a:lnTo>
                  <a:lnTo>
                    <a:pt x="511501" y="712788"/>
                  </a:lnTo>
                  <a:lnTo>
                    <a:pt x="498390" y="710404"/>
                  </a:lnTo>
                  <a:lnTo>
                    <a:pt x="484881" y="707226"/>
                  </a:lnTo>
                  <a:lnTo>
                    <a:pt x="472167" y="703253"/>
                  </a:lnTo>
                  <a:lnTo>
                    <a:pt x="459453" y="699279"/>
                  </a:lnTo>
                  <a:lnTo>
                    <a:pt x="446739" y="694909"/>
                  </a:lnTo>
                  <a:lnTo>
                    <a:pt x="434819" y="690141"/>
                  </a:lnTo>
                  <a:lnTo>
                    <a:pt x="422503" y="684579"/>
                  </a:lnTo>
                  <a:lnTo>
                    <a:pt x="410583" y="678619"/>
                  </a:lnTo>
                  <a:lnTo>
                    <a:pt x="398664" y="671864"/>
                  </a:lnTo>
                  <a:lnTo>
                    <a:pt x="387142" y="665110"/>
                  </a:lnTo>
                  <a:lnTo>
                    <a:pt x="376017" y="657561"/>
                  </a:lnTo>
                  <a:lnTo>
                    <a:pt x="364892" y="649615"/>
                  </a:lnTo>
                  <a:lnTo>
                    <a:pt x="354164" y="641271"/>
                  </a:lnTo>
                  <a:lnTo>
                    <a:pt x="343040" y="632133"/>
                  </a:lnTo>
                  <a:lnTo>
                    <a:pt x="332709" y="622994"/>
                  </a:lnTo>
                  <a:lnTo>
                    <a:pt x="322379" y="612664"/>
                  </a:lnTo>
                  <a:lnTo>
                    <a:pt x="309665" y="599553"/>
                  </a:lnTo>
                  <a:lnTo>
                    <a:pt x="297746" y="585647"/>
                  </a:lnTo>
                  <a:lnTo>
                    <a:pt x="286621" y="572138"/>
                  </a:lnTo>
                  <a:lnTo>
                    <a:pt x="276291" y="557437"/>
                  </a:lnTo>
                  <a:lnTo>
                    <a:pt x="267153" y="543134"/>
                  </a:lnTo>
                  <a:lnTo>
                    <a:pt x="258412" y="527638"/>
                  </a:lnTo>
                  <a:lnTo>
                    <a:pt x="250465" y="512540"/>
                  </a:lnTo>
                  <a:lnTo>
                    <a:pt x="243711" y="496647"/>
                  </a:lnTo>
                  <a:lnTo>
                    <a:pt x="237751" y="480755"/>
                  </a:lnTo>
                  <a:lnTo>
                    <a:pt x="231792" y="464465"/>
                  </a:lnTo>
                  <a:lnTo>
                    <a:pt x="227421" y="447777"/>
                  </a:lnTo>
                  <a:lnTo>
                    <a:pt x="223845" y="430693"/>
                  </a:lnTo>
                  <a:lnTo>
                    <a:pt x="221064" y="413211"/>
                  </a:lnTo>
                  <a:lnTo>
                    <a:pt x="219078" y="395331"/>
                  </a:lnTo>
                  <a:lnTo>
                    <a:pt x="217886" y="377452"/>
                  </a:lnTo>
                  <a:lnTo>
                    <a:pt x="217488" y="359175"/>
                  </a:lnTo>
                  <a:lnTo>
                    <a:pt x="217886" y="340502"/>
                  </a:lnTo>
                  <a:lnTo>
                    <a:pt x="219078" y="322622"/>
                  </a:lnTo>
                  <a:lnTo>
                    <a:pt x="221064" y="304743"/>
                  </a:lnTo>
                  <a:lnTo>
                    <a:pt x="223845" y="287658"/>
                  </a:lnTo>
                  <a:lnTo>
                    <a:pt x="227421" y="270574"/>
                  </a:lnTo>
                  <a:lnTo>
                    <a:pt x="231792" y="253886"/>
                  </a:lnTo>
                  <a:lnTo>
                    <a:pt x="237751" y="237596"/>
                  </a:lnTo>
                  <a:lnTo>
                    <a:pt x="243711" y="221306"/>
                  </a:lnTo>
                  <a:lnTo>
                    <a:pt x="250465" y="205811"/>
                  </a:lnTo>
                  <a:lnTo>
                    <a:pt x="258412" y="190315"/>
                  </a:lnTo>
                  <a:lnTo>
                    <a:pt x="267153" y="175615"/>
                  </a:lnTo>
                  <a:lnTo>
                    <a:pt x="276291" y="160516"/>
                  </a:lnTo>
                  <a:lnTo>
                    <a:pt x="286621" y="146610"/>
                  </a:lnTo>
                  <a:lnTo>
                    <a:pt x="297746" y="132307"/>
                  </a:lnTo>
                  <a:lnTo>
                    <a:pt x="309665" y="118798"/>
                  </a:lnTo>
                  <a:lnTo>
                    <a:pt x="322379" y="105289"/>
                  </a:lnTo>
                  <a:lnTo>
                    <a:pt x="335491" y="92575"/>
                  </a:lnTo>
                  <a:lnTo>
                    <a:pt x="349397" y="80655"/>
                  </a:lnTo>
                  <a:lnTo>
                    <a:pt x="363303" y="69530"/>
                  </a:lnTo>
                  <a:lnTo>
                    <a:pt x="378003" y="59200"/>
                  </a:lnTo>
                  <a:lnTo>
                    <a:pt x="392307" y="50062"/>
                  </a:lnTo>
                  <a:lnTo>
                    <a:pt x="407405" y="41321"/>
                  </a:lnTo>
                  <a:lnTo>
                    <a:pt x="422900" y="33374"/>
                  </a:lnTo>
                  <a:lnTo>
                    <a:pt x="438395" y="26620"/>
                  </a:lnTo>
                  <a:lnTo>
                    <a:pt x="454288" y="20263"/>
                  </a:lnTo>
                  <a:lnTo>
                    <a:pt x="470975" y="15098"/>
                  </a:lnTo>
                  <a:lnTo>
                    <a:pt x="487662" y="10727"/>
                  </a:lnTo>
                  <a:lnTo>
                    <a:pt x="504747" y="7151"/>
                  </a:lnTo>
                  <a:lnTo>
                    <a:pt x="522228" y="3973"/>
                  </a:lnTo>
                  <a:lnTo>
                    <a:pt x="539710" y="1589"/>
                  </a:lnTo>
                  <a:lnTo>
                    <a:pt x="557589" y="397"/>
                  </a:lnTo>
                  <a:lnTo>
                    <a:pt x="576263" y="0"/>
                  </a:lnTo>
                  <a:close/>
                </a:path>
              </a:pathLst>
            </a:custGeom>
            <a:solidFill>
              <a:srgbClr val="FFFFFF"/>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a typeface="+mn-ea"/>
                <a:cs typeface="+mn-ea"/>
              </a:endParaRPr>
            </a:p>
          </p:txBody>
        </p:sp>
      </p:grpSp>
      <p:sp>
        <p:nvSpPr>
          <p:cNvPr id="50" name="矩形 49"/>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78850" y="423500"/>
            <a:ext cx="3300248"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前后端数据库交互流程</a:t>
            </a:r>
          </a:p>
        </p:txBody>
      </p:sp>
      <p:grpSp>
        <p:nvGrpSpPr>
          <p:cNvPr id="53" name="组合 52"/>
          <p:cNvGrpSpPr/>
          <p:nvPr/>
        </p:nvGrpSpPr>
        <p:grpSpPr>
          <a:xfrm>
            <a:off x="9255810" y="309314"/>
            <a:ext cx="2334353" cy="425792"/>
            <a:chOff x="8482002" y="88145"/>
            <a:chExt cx="3125988" cy="570188"/>
          </a:xfrm>
        </p:grpSpPr>
        <p:pic>
          <p:nvPicPr>
            <p:cNvPr id="55" name="Picture 3" descr="校标"/>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4" descr="校名 标准色"/>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097267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5" name="矩形 24"/>
          <p:cNvSpPr/>
          <p:nvPr/>
        </p:nvSpPr>
        <p:spPr>
          <a:xfrm>
            <a:off x="0" y="146957"/>
            <a:ext cx="12192000" cy="692781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35" name="矩形 34"/>
          <p:cNvSpPr/>
          <p:nvPr/>
        </p:nvSpPr>
        <p:spPr>
          <a:xfrm>
            <a:off x="0" y="488393"/>
            <a:ext cx="290945" cy="582807"/>
          </a:xfrm>
          <a:prstGeom prst="rect">
            <a:avLst/>
          </a:prstGeom>
          <a:solidFill>
            <a:srgbClr val="005D97"/>
          </a:solidFill>
          <a:ln>
            <a:solidFill>
              <a:srgbClr val="005D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378850" y="423500"/>
            <a:ext cx="4420216"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前端、后端、数据库交互</a:t>
            </a:r>
          </a:p>
        </p:txBody>
      </p:sp>
      <p:grpSp>
        <p:nvGrpSpPr>
          <p:cNvPr id="38" name="组合 37"/>
          <p:cNvGrpSpPr/>
          <p:nvPr/>
        </p:nvGrpSpPr>
        <p:grpSpPr>
          <a:xfrm>
            <a:off x="9255810" y="309314"/>
            <a:ext cx="2334353" cy="425792"/>
            <a:chOff x="8482002" y="88145"/>
            <a:chExt cx="3125988" cy="570188"/>
          </a:xfrm>
        </p:grpSpPr>
        <p:pic>
          <p:nvPicPr>
            <p:cNvPr id="40" name="Picture 3" descr="校标"/>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 descr="校名 标准色"/>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文本框 12">
            <a:extLst>
              <a:ext uri="{FF2B5EF4-FFF2-40B4-BE49-F238E27FC236}">
                <a16:creationId xmlns:a16="http://schemas.microsoft.com/office/drawing/2014/main" id="{BA7670E9-A3B1-4CFC-9883-353448772E0C}"/>
              </a:ext>
            </a:extLst>
          </p:cNvPr>
          <p:cNvSpPr txBox="1"/>
          <p:nvPr/>
        </p:nvSpPr>
        <p:spPr>
          <a:xfrm>
            <a:off x="378850" y="1704684"/>
            <a:ext cx="10217961" cy="3693319"/>
          </a:xfrm>
          <a:prstGeom prst="rect">
            <a:avLst/>
          </a:prstGeom>
          <a:noFill/>
        </p:spPr>
        <p:txBody>
          <a:bodyPr wrap="square">
            <a:spAutoFit/>
          </a:bodyPr>
          <a:lstStyle/>
          <a:p>
            <a:r>
              <a:rPr lang="zh-CN" altLang="en-US" dirty="0"/>
              <a:t>以获取数据库中所有</a:t>
            </a:r>
            <a:r>
              <a:rPr lang="en-US" altLang="zh-CN" dirty="0" err="1"/>
              <a:t>todos</a:t>
            </a:r>
            <a:r>
              <a:rPr lang="zh-CN" altLang="en-US" dirty="0"/>
              <a:t>为例，说明前端、后端、数据库交互的过程</a:t>
            </a:r>
          </a:p>
          <a:p>
            <a:endParaRPr lang="zh-CN" altLang="en-US" dirty="0"/>
          </a:p>
          <a:p>
            <a:r>
              <a:rPr lang="en-US" altLang="zh-CN" dirty="0"/>
              <a:t>1. </a:t>
            </a:r>
            <a:r>
              <a:rPr lang="zh-CN" altLang="en-US" dirty="0"/>
              <a:t>进入页面，获取</a:t>
            </a:r>
            <a:r>
              <a:rPr lang="en-US" altLang="zh-CN" dirty="0"/>
              <a:t>button</a:t>
            </a:r>
            <a:r>
              <a:rPr lang="zh-CN" altLang="en-US" dirty="0"/>
              <a:t>元素</a:t>
            </a:r>
          </a:p>
          <a:p>
            <a:r>
              <a:rPr lang="en-US" altLang="zh-CN" dirty="0"/>
              <a:t>2. </a:t>
            </a:r>
            <a:r>
              <a:rPr lang="zh-CN" altLang="en-US" dirty="0"/>
              <a:t>点击</a:t>
            </a:r>
            <a:r>
              <a:rPr lang="en-US" altLang="zh-CN" dirty="0"/>
              <a:t>button</a:t>
            </a:r>
            <a:r>
              <a:rPr lang="zh-CN" altLang="en-US" dirty="0"/>
              <a:t>，执行绑定在</a:t>
            </a:r>
            <a:r>
              <a:rPr lang="en-US" altLang="zh-CN" dirty="0"/>
              <a:t>button</a:t>
            </a:r>
            <a:r>
              <a:rPr lang="zh-CN" altLang="en-US" dirty="0"/>
              <a:t>上的函数</a:t>
            </a:r>
          </a:p>
          <a:p>
            <a:r>
              <a:rPr lang="en-US" altLang="zh-CN" dirty="0"/>
              <a:t>3. </a:t>
            </a:r>
            <a:r>
              <a:rPr lang="zh-CN" altLang="en-US" dirty="0"/>
              <a:t>函数中发起</a:t>
            </a:r>
            <a:r>
              <a:rPr lang="en-US" altLang="zh-CN" dirty="0"/>
              <a:t>http</a:t>
            </a:r>
            <a:r>
              <a:rPr lang="zh-CN" altLang="en-US" dirty="0"/>
              <a:t>请求（包含请求路径、请求方法、参数类型、请求体等）</a:t>
            </a:r>
          </a:p>
          <a:p>
            <a:r>
              <a:rPr lang="en-US" altLang="zh-CN" dirty="0"/>
              <a:t>4. </a:t>
            </a:r>
            <a:r>
              <a:rPr lang="zh-CN" altLang="en-US" dirty="0"/>
              <a:t>前后端建立连接（三次握手）</a:t>
            </a:r>
          </a:p>
          <a:p>
            <a:r>
              <a:rPr lang="en-US" altLang="zh-CN" dirty="0"/>
              <a:t>5. </a:t>
            </a:r>
            <a:r>
              <a:rPr lang="zh-CN" altLang="en-US" dirty="0"/>
              <a:t>后端根据请求路径路由到对应的函数，并执行该函数</a:t>
            </a:r>
          </a:p>
          <a:p>
            <a:r>
              <a:rPr lang="en-US" altLang="zh-CN" dirty="0"/>
              <a:t>6. </a:t>
            </a:r>
            <a:r>
              <a:rPr lang="zh-CN" altLang="en-US" dirty="0"/>
              <a:t>如果函数中包含了对数据库的操作，则后端将与数据库建立连接</a:t>
            </a:r>
          </a:p>
          <a:p>
            <a:r>
              <a:rPr lang="en-US" altLang="zh-CN" dirty="0"/>
              <a:t>7. </a:t>
            </a:r>
            <a:r>
              <a:rPr lang="zh-CN" altLang="en-US" dirty="0"/>
              <a:t>后端从数据库中拿到对应数据（或修改数据库中的数据）</a:t>
            </a:r>
          </a:p>
          <a:p>
            <a:r>
              <a:rPr lang="en-US" altLang="zh-CN" dirty="0"/>
              <a:t>8. </a:t>
            </a:r>
            <a:r>
              <a:rPr lang="zh-CN" altLang="en-US" dirty="0"/>
              <a:t>后端拿到数据后设置状态码与响应体，并返回响应</a:t>
            </a:r>
          </a:p>
          <a:p>
            <a:r>
              <a:rPr lang="en-US" altLang="zh-CN" dirty="0"/>
              <a:t>9. </a:t>
            </a:r>
            <a:r>
              <a:rPr lang="zh-CN" altLang="en-US" dirty="0"/>
              <a:t>前端收到响应</a:t>
            </a:r>
          </a:p>
          <a:p>
            <a:r>
              <a:rPr lang="en-US" altLang="zh-CN" dirty="0"/>
              <a:t>10. </a:t>
            </a:r>
            <a:r>
              <a:rPr lang="zh-CN" altLang="en-US" dirty="0"/>
              <a:t>前后端关闭连接（四次挥手）</a:t>
            </a:r>
          </a:p>
          <a:p>
            <a:r>
              <a:rPr lang="en-US" altLang="zh-CN" dirty="0"/>
              <a:t>11. </a:t>
            </a:r>
            <a:r>
              <a:rPr lang="zh-CN" altLang="en-US" dirty="0"/>
              <a:t>前端将数据插入</a:t>
            </a:r>
            <a:r>
              <a:rPr lang="en-US" altLang="zh-CN" dirty="0"/>
              <a:t>html</a:t>
            </a:r>
            <a:r>
              <a:rPr lang="zh-CN" altLang="en-US" dirty="0"/>
              <a:t>，并触发浏览器的重新渲染</a:t>
            </a:r>
          </a:p>
        </p:txBody>
      </p:sp>
    </p:spTree>
    <p:extLst>
      <p:ext uri="{BB962C8B-B14F-4D97-AF65-F5344CB8AC3E}">
        <p14:creationId xmlns:p14="http://schemas.microsoft.com/office/powerpoint/2010/main" val="2547815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7" y="309314"/>
            <a:ext cx="5613672"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进入页面，获取</a:t>
            </a:r>
            <a:r>
              <a:rPr lang="en-US" altLang="zh-CN" sz="2400" b="1" dirty="0">
                <a:latin typeface="微软雅黑" panose="020B0503020204020204" pitchFamily="34" charset="-122"/>
                <a:ea typeface="微软雅黑" panose="020B0503020204020204" pitchFamily="34" charset="-122"/>
              </a:rPr>
              <a:t>button</a:t>
            </a:r>
            <a:r>
              <a:rPr lang="zh-CN" altLang="en-US" sz="2400" b="1" dirty="0">
                <a:latin typeface="微软雅黑" panose="020B0503020204020204" pitchFamily="34" charset="-122"/>
                <a:ea typeface="微软雅黑" panose="020B0503020204020204" pitchFamily="34" charset="-122"/>
              </a:rPr>
              <a:t>元素</a:t>
            </a:r>
          </a:p>
        </p:txBody>
      </p:sp>
      <p:pic>
        <p:nvPicPr>
          <p:cNvPr id="3" name="图片 2">
            <a:extLst>
              <a:ext uri="{FF2B5EF4-FFF2-40B4-BE49-F238E27FC236}">
                <a16:creationId xmlns:a16="http://schemas.microsoft.com/office/drawing/2014/main" id="{BD7DB787-B9B0-6BAE-A2DC-C460B6A2B3C1}"/>
              </a:ext>
            </a:extLst>
          </p:cNvPr>
          <p:cNvPicPr>
            <a:picLocks noChangeAspect="1"/>
          </p:cNvPicPr>
          <p:nvPr/>
        </p:nvPicPr>
        <p:blipFill>
          <a:blip r:embed="rId4"/>
          <a:stretch>
            <a:fillRect/>
          </a:stretch>
        </p:blipFill>
        <p:spPr>
          <a:xfrm>
            <a:off x="3117850" y="1060902"/>
            <a:ext cx="5956300" cy="3733800"/>
          </a:xfrm>
          <a:prstGeom prst="rect">
            <a:avLst/>
          </a:prstGeom>
        </p:spPr>
      </p:pic>
      <p:sp>
        <p:nvSpPr>
          <p:cNvPr id="4" name="文本框 3">
            <a:extLst>
              <a:ext uri="{FF2B5EF4-FFF2-40B4-BE49-F238E27FC236}">
                <a16:creationId xmlns:a16="http://schemas.microsoft.com/office/drawing/2014/main" id="{8A740B4D-0930-2EB5-7BDC-DB434DF94EFA}"/>
              </a:ext>
            </a:extLst>
          </p:cNvPr>
          <p:cNvSpPr txBox="1"/>
          <p:nvPr/>
        </p:nvSpPr>
        <p:spPr>
          <a:xfrm>
            <a:off x="1256373" y="5084625"/>
            <a:ext cx="9411708" cy="1295868"/>
          </a:xfrm>
          <a:prstGeom prst="rect">
            <a:avLst/>
          </a:prstGeom>
          <a:noFill/>
        </p:spPr>
        <p:txBody>
          <a:bodyPr wrap="square" rtlCol="0">
            <a:spAutoFit/>
          </a:bodyPr>
          <a:lstStyle/>
          <a:p>
            <a:pPr>
              <a:lnSpc>
                <a:spcPct val="150000"/>
              </a:lnSpc>
            </a:pPr>
            <a:r>
              <a:rPr kumimoji="1" lang="zh-CN" altLang="en-US" dirty="0"/>
              <a:t>这个</a:t>
            </a:r>
            <a:r>
              <a:rPr kumimoji="1" lang="en-US" altLang="zh-CN" dirty="0"/>
              <a:t>button</a:t>
            </a:r>
            <a:r>
              <a:rPr kumimoji="1" lang="zh-CN" altLang="en-US" dirty="0"/>
              <a:t>在前端代码中：</a:t>
            </a:r>
            <a:endParaRPr kumimoji="1" lang="en-US" altLang="zh-CN" dirty="0"/>
          </a:p>
          <a:p>
            <a:pPr>
              <a:lnSpc>
                <a:spcPct val="150000"/>
              </a:lnSpc>
            </a:pPr>
            <a:r>
              <a:rPr lang="en" altLang="zh-CN" dirty="0">
                <a:solidFill>
                  <a:srgbClr val="89DDFF"/>
                </a:solidFill>
                <a:effectLst/>
                <a:highlight>
                  <a:srgbClr val="212121"/>
                </a:highlight>
              </a:rPr>
              <a:t>&lt;</a:t>
            </a:r>
            <a:r>
              <a:rPr lang="en" altLang="zh-CN" dirty="0">
                <a:solidFill>
                  <a:srgbClr val="F07178"/>
                </a:solidFill>
                <a:effectLst/>
                <a:highlight>
                  <a:srgbClr val="212121"/>
                </a:highlight>
              </a:rPr>
              <a:t>v-</a:t>
            </a:r>
            <a:r>
              <a:rPr lang="en" altLang="zh-CN" dirty="0" err="1">
                <a:solidFill>
                  <a:srgbClr val="F07178"/>
                </a:solidFill>
                <a:effectLst/>
                <a:highlight>
                  <a:srgbClr val="212121"/>
                </a:highlight>
              </a:rPr>
              <a:t>btn</a:t>
            </a:r>
            <a:r>
              <a:rPr lang="zh-CN" altLang="en-US" dirty="0">
                <a:solidFill>
                  <a:srgbClr val="F07178"/>
                </a:solidFill>
                <a:highlight>
                  <a:srgbClr val="212121"/>
                </a:highlight>
              </a:rPr>
              <a:t> </a:t>
            </a:r>
            <a:r>
              <a:rPr lang="en" altLang="zh-CN" i="1" dirty="0">
                <a:solidFill>
                  <a:srgbClr val="FFCB6B"/>
                </a:solidFill>
                <a:effectLst/>
                <a:highlight>
                  <a:srgbClr val="212121"/>
                </a:highlight>
              </a:rPr>
              <a:t>color</a:t>
            </a:r>
            <a:r>
              <a:rPr lang="en" altLang="zh-CN" dirty="0">
                <a:solidFill>
                  <a:srgbClr val="C3E88D"/>
                </a:solidFill>
                <a:effectLst/>
                <a:highlight>
                  <a:srgbClr val="212121"/>
                </a:highlight>
              </a:rPr>
              <a:t>=“success”</a:t>
            </a:r>
            <a:r>
              <a:rPr lang="zh-CN" altLang="en-US" dirty="0">
                <a:solidFill>
                  <a:srgbClr val="C3E88D"/>
                </a:solidFill>
                <a:highlight>
                  <a:srgbClr val="212121"/>
                </a:highlight>
              </a:rPr>
              <a:t>  </a:t>
            </a:r>
            <a:r>
              <a:rPr lang="en" altLang="zh-CN" i="1" dirty="0">
                <a:solidFill>
                  <a:srgbClr val="FFCB6B"/>
                </a:solidFill>
                <a:effectLst/>
                <a:highlight>
                  <a:srgbClr val="212121"/>
                </a:highlight>
              </a:rPr>
              <a:t>class</a:t>
            </a:r>
            <a:r>
              <a:rPr lang="en" altLang="zh-CN" dirty="0">
                <a:solidFill>
                  <a:srgbClr val="C3E88D"/>
                </a:solidFill>
                <a:effectLst/>
                <a:highlight>
                  <a:srgbClr val="212121"/>
                </a:highlight>
              </a:rPr>
              <a:t>=“mr-4”</a:t>
            </a:r>
            <a:r>
              <a:rPr lang="zh-CN" altLang="en-US" dirty="0">
                <a:solidFill>
                  <a:srgbClr val="C3E88D"/>
                </a:solidFill>
                <a:highlight>
                  <a:srgbClr val="212121"/>
                </a:highlight>
              </a:rPr>
              <a:t> </a:t>
            </a:r>
            <a:r>
              <a:rPr lang="en" altLang="zh-CN" i="1" dirty="0">
                <a:solidFill>
                  <a:srgbClr val="FFCB6B"/>
                </a:solidFill>
                <a:effectLst/>
                <a:highlight>
                  <a:srgbClr val="212121"/>
                </a:highlight>
              </a:rPr>
              <a:t>:disabled</a:t>
            </a:r>
            <a:r>
              <a:rPr lang="en" altLang="zh-CN" dirty="0">
                <a:solidFill>
                  <a:srgbClr val="C3E88D"/>
                </a:solidFill>
                <a:effectLst/>
                <a:highlight>
                  <a:srgbClr val="212121"/>
                </a:highlight>
              </a:rPr>
              <a:t>=“</a:t>
            </a:r>
            <a:r>
              <a:rPr lang="en" altLang="zh-CN" dirty="0">
                <a:solidFill>
                  <a:srgbClr val="89DDFF"/>
                </a:solidFill>
                <a:effectLst/>
                <a:highlight>
                  <a:srgbClr val="212121"/>
                </a:highlight>
              </a:rPr>
              <a:t>!</a:t>
            </a:r>
            <a:r>
              <a:rPr lang="en" altLang="zh-CN" dirty="0" err="1">
                <a:solidFill>
                  <a:srgbClr val="EEFFFF"/>
                </a:solidFill>
                <a:effectLst/>
                <a:highlight>
                  <a:srgbClr val="212121"/>
                </a:highlight>
              </a:rPr>
              <a:t>newTodo</a:t>
            </a:r>
            <a:r>
              <a:rPr lang="en" altLang="zh-CN" dirty="0" err="1">
                <a:solidFill>
                  <a:srgbClr val="89DDFF"/>
                </a:solidFill>
                <a:effectLst/>
                <a:highlight>
                  <a:srgbClr val="212121"/>
                </a:highlight>
              </a:rPr>
              <a:t>.</a:t>
            </a:r>
            <a:r>
              <a:rPr lang="en" altLang="zh-CN" dirty="0" err="1">
                <a:solidFill>
                  <a:srgbClr val="EEFFFF"/>
                </a:solidFill>
                <a:effectLst/>
                <a:highlight>
                  <a:srgbClr val="212121"/>
                </a:highlight>
              </a:rPr>
              <a:t>title</a:t>
            </a:r>
            <a:r>
              <a:rPr lang="en" altLang="zh-CN" dirty="0">
                <a:solidFill>
                  <a:srgbClr val="C3E88D"/>
                </a:solidFill>
                <a:effectLst/>
                <a:highlight>
                  <a:srgbClr val="212121"/>
                </a:highlight>
              </a:rPr>
              <a:t>”</a:t>
            </a:r>
            <a:r>
              <a:rPr lang="zh-CN" altLang="en-US" dirty="0">
                <a:solidFill>
                  <a:srgbClr val="C3E88D"/>
                </a:solidFill>
                <a:highlight>
                  <a:srgbClr val="212121"/>
                </a:highlight>
              </a:rPr>
              <a:t>  </a:t>
            </a:r>
            <a:r>
              <a:rPr lang="en" altLang="zh-CN" i="1" dirty="0">
                <a:solidFill>
                  <a:srgbClr val="FFCB6B"/>
                </a:solidFill>
                <a:effectLst/>
                <a:highlight>
                  <a:srgbClr val="212121"/>
                </a:highlight>
              </a:rPr>
              <a:t>@click</a:t>
            </a:r>
            <a:r>
              <a:rPr lang="en" altLang="zh-CN" dirty="0">
                <a:solidFill>
                  <a:srgbClr val="C3E88D"/>
                </a:solidFill>
                <a:effectLst/>
                <a:highlight>
                  <a:srgbClr val="212121"/>
                </a:highlight>
              </a:rPr>
              <a:t>=“</a:t>
            </a:r>
            <a:r>
              <a:rPr lang="en" altLang="zh-CN" dirty="0">
                <a:solidFill>
                  <a:srgbClr val="82AAFF"/>
                </a:solidFill>
                <a:effectLst/>
                <a:highlight>
                  <a:srgbClr val="212121"/>
                </a:highlight>
              </a:rPr>
              <a:t>add</a:t>
            </a:r>
            <a:r>
              <a:rPr lang="en" altLang="zh-CN" dirty="0">
                <a:solidFill>
                  <a:srgbClr val="C3E88D"/>
                </a:solidFill>
                <a:effectLst/>
                <a:highlight>
                  <a:srgbClr val="212121"/>
                </a:highlight>
              </a:rPr>
              <a:t>”</a:t>
            </a:r>
            <a:r>
              <a:rPr lang="en" altLang="zh-CN" dirty="0">
                <a:solidFill>
                  <a:srgbClr val="89DDFF"/>
                </a:solidFill>
                <a:effectLst/>
                <a:highlight>
                  <a:srgbClr val="212121"/>
                </a:highlight>
              </a:rPr>
              <a:t>&gt;</a:t>
            </a:r>
            <a:r>
              <a:rPr lang="zh-CN" altLang="en-US" dirty="0">
                <a:solidFill>
                  <a:srgbClr val="89DDFF"/>
                </a:solidFill>
                <a:effectLst/>
                <a:highlight>
                  <a:srgbClr val="212121"/>
                </a:highlight>
              </a:rPr>
              <a:t> </a:t>
            </a:r>
            <a:r>
              <a:rPr lang="zh-CN" altLang="en-US" dirty="0">
                <a:solidFill>
                  <a:srgbClr val="EEFFFF"/>
                </a:solidFill>
                <a:effectLst/>
                <a:highlight>
                  <a:srgbClr val="212121"/>
                </a:highlight>
                <a:latin typeface="Menlo-Regular" panose="020B0609030804020204" pitchFamily="49" charset="0"/>
              </a:rPr>
              <a:t>添加</a:t>
            </a:r>
            <a:r>
              <a:rPr lang="zh-CN" altLang="en-US" dirty="0">
                <a:solidFill>
                  <a:srgbClr val="EEFFFF"/>
                </a:solidFill>
                <a:highlight>
                  <a:srgbClr val="212121"/>
                </a:highlight>
                <a:latin typeface="Menlo-Regular" panose="020B0609030804020204" pitchFamily="49" charset="0"/>
              </a:rPr>
              <a:t> </a:t>
            </a:r>
            <a:r>
              <a:rPr lang="en-US" altLang="zh-CN" dirty="0">
                <a:solidFill>
                  <a:srgbClr val="89DDFF"/>
                </a:solidFill>
                <a:effectLst/>
                <a:highlight>
                  <a:srgbClr val="212121"/>
                </a:highlight>
              </a:rPr>
              <a:t>&lt;/</a:t>
            </a:r>
            <a:r>
              <a:rPr lang="en" altLang="zh-CN" dirty="0">
                <a:solidFill>
                  <a:srgbClr val="F07178"/>
                </a:solidFill>
                <a:effectLst/>
                <a:highlight>
                  <a:srgbClr val="212121"/>
                </a:highlight>
              </a:rPr>
              <a:t>v-</a:t>
            </a:r>
            <a:r>
              <a:rPr lang="en" altLang="zh-CN" dirty="0" err="1">
                <a:solidFill>
                  <a:srgbClr val="F07178"/>
                </a:solidFill>
                <a:effectLst/>
                <a:highlight>
                  <a:srgbClr val="212121"/>
                </a:highlight>
              </a:rPr>
              <a:t>btn</a:t>
            </a:r>
            <a:r>
              <a:rPr lang="en" altLang="zh-CN" dirty="0">
                <a:solidFill>
                  <a:srgbClr val="89DDFF"/>
                </a:solidFill>
                <a:effectLst/>
                <a:highlight>
                  <a:srgbClr val="212121"/>
                </a:highlight>
              </a:rPr>
              <a:t>&gt;</a:t>
            </a:r>
            <a:endParaRPr lang="en" altLang="zh-CN" dirty="0">
              <a:solidFill>
                <a:srgbClr val="EEFFFF"/>
              </a:solidFill>
              <a:effectLst/>
              <a:highlight>
                <a:srgbClr val="212121"/>
              </a:highlight>
            </a:endParaRPr>
          </a:p>
          <a:p>
            <a:pPr>
              <a:lnSpc>
                <a:spcPct val="150000"/>
              </a:lnSpc>
            </a:pPr>
            <a:r>
              <a:rPr kumimoji="1" lang="zh-CN" altLang="en-US" dirty="0"/>
              <a:t>这个代码中</a:t>
            </a:r>
            <a:r>
              <a:rPr kumimoji="1" lang="en-US" altLang="zh-CN" dirty="0"/>
              <a:t>@click</a:t>
            </a:r>
            <a:r>
              <a:rPr kumimoji="1" lang="zh-CN" altLang="en-US" dirty="0"/>
              <a:t>表示其绑定了</a:t>
            </a:r>
            <a:r>
              <a:rPr kumimoji="1" lang="en-US" altLang="zh-CN" dirty="0"/>
              <a:t>add</a:t>
            </a:r>
            <a:r>
              <a:rPr kumimoji="1" lang="zh-CN" altLang="en-US" dirty="0"/>
              <a:t>函数，表示当该按钮被点击时，调用</a:t>
            </a:r>
            <a:r>
              <a:rPr kumimoji="1" lang="en-US" altLang="zh-CN" dirty="0"/>
              <a:t>add</a:t>
            </a:r>
            <a:r>
              <a:rPr kumimoji="1" lang="zh-CN" altLang="en-US" dirty="0"/>
              <a:t>方法</a:t>
            </a:r>
            <a:endParaRPr kumimoji="1" lang="zh-CN" altLang="en-US" dirty="0">
              <a:solidFill>
                <a:srgbClr val="FF0000"/>
              </a:solidFill>
            </a:endParaRPr>
          </a:p>
        </p:txBody>
      </p:sp>
    </p:spTree>
    <p:extLst>
      <p:ext uri="{BB962C8B-B14F-4D97-AF65-F5344CB8AC3E}">
        <p14:creationId xmlns:p14="http://schemas.microsoft.com/office/powerpoint/2010/main" val="3221873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7" y="309314"/>
            <a:ext cx="6165994"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点击</a:t>
            </a:r>
            <a:r>
              <a:rPr lang="en-US" altLang="zh-CN" sz="2400" b="1" dirty="0">
                <a:latin typeface="微软雅黑" panose="020B0503020204020204" pitchFamily="34" charset="-122"/>
                <a:ea typeface="微软雅黑" panose="020B0503020204020204" pitchFamily="34" charset="-122"/>
              </a:rPr>
              <a:t>button</a:t>
            </a:r>
            <a:r>
              <a:rPr lang="zh-CN" altLang="en-US" sz="2400" b="1" dirty="0">
                <a:latin typeface="微软雅黑" panose="020B0503020204020204" pitchFamily="34" charset="-122"/>
                <a:ea typeface="微软雅黑" panose="020B0503020204020204" pitchFamily="34" charset="-122"/>
              </a:rPr>
              <a:t>，执行绑定在</a:t>
            </a:r>
            <a:r>
              <a:rPr lang="en-US" altLang="zh-CN" sz="2400" b="1" dirty="0">
                <a:latin typeface="微软雅黑" panose="020B0503020204020204" pitchFamily="34" charset="-122"/>
                <a:ea typeface="微软雅黑" panose="020B0503020204020204" pitchFamily="34" charset="-122"/>
              </a:rPr>
              <a:t>button</a:t>
            </a:r>
            <a:r>
              <a:rPr lang="zh-CN" altLang="en-US" sz="2400" b="1" dirty="0">
                <a:latin typeface="微软雅黑" panose="020B0503020204020204" pitchFamily="34" charset="-122"/>
                <a:ea typeface="微软雅黑" panose="020B0503020204020204" pitchFamily="34" charset="-122"/>
              </a:rPr>
              <a:t>上的函数</a:t>
            </a:r>
          </a:p>
        </p:txBody>
      </p:sp>
      <p:sp>
        <p:nvSpPr>
          <p:cNvPr id="15" name="文本框 14">
            <a:extLst>
              <a:ext uri="{FF2B5EF4-FFF2-40B4-BE49-F238E27FC236}">
                <a16:creationId xmlns:a16="http://schemas.microsoft.com/office/drawing/2014/main" id="{195B1BF3-0766-4B66-9B1F-AEE0AF442F25}"/>
              </a:ext>
            </a:extLst>
          </p:cNvPr>
          <p:cNvSpPr txBox="1"/>
          <p:nvPr/>
        </p:nvSpPr>
        <p:spPr>
          <a:xfrm>
            <a:off x="1057789" y="860290"/>
            <a:ext cx="6164528" cy="369332"/>
          </a:xfrm>
          <a:prstGeom prst="rect">
            <a:avLst/>
          </a:prstGeom>
          <a:noFill/>
        </p:spPr>
        <p:txBody>
          <a:bodyPr wrap="square">
            <a:spAutoFit/>
          </a:bodyPr>
          <a:lstStyle/>
          <a:p>
            <a:r>
              <a:rPr lang="zh-CN" altLang="en-US" dirty="0"/>
              <a:t>这是</a:t>
            </a:r>
            <a:r>
              <a:rPr lang="en-US" altLang="zh-CN" dirty="0"/>
              <a:t>add</a:t>
            </a:r>
            <a:r>
              <a:rPr lang="zh-CN" altLang="en-US" dirty="0"/>
              <a:t>方法：</a:t>
            </a:r>
          </a:p>
        </p:txBody>
      </p:sp>
      <p:sp>
        <p:nvSpPr>
          <p:cNvPr id="19" name="文本框 18">
            <a:extLst>
              <a:ext uri="{FF2B5EF4-FFF2-40B4-BE49-F238E27FC236}">
                <a16:creationId xmlns:a16="http://schemas.microsoft.com/office/drawing/2014/main" id="{89F342B2-7ACD-403F-B360-1112F1A59C9C}"/>
              </a:ext>
            </a:extLst>
          </p:cNvPr>
          <p:cNvSpPr txBox="1"/>
          <p:nvPr/>
        </p:nvSpPr>
        <p:spPr>
          <a:xfrm>
            <a:off x="791385" y="3825736"/>
            <a:ext cx="7092052" cy="460382"/>
          </a:xfrm>
          <a:prstGeom prst="rect">
            <a:avLst/>
          </a:prstGeom>
          <a:noFill/>
        </p:spPr>
        <p:txBody>
          <a:bodyPr wrap="square">
            <a:spAutoFit/>
          </a:bodyPr>
          <a:lstStyle/>
          <a:p>
            <a:pPr>
              <a:lnSpc>
                <a:spcPct val="150000"/>
              </a:lnSpc>
            </a:pPr>
            <a:r>
              <a:rPr lang="zh-CN" altLang="en-US" dirty="0"/>
              <a:t>可以从这个函数中看到，函数通过axios方法向</a:t>
            </a:r>
            <a:r>
              <a:rPr lang="en-US" altLang="zh-CN" dirty="0" err="1">
                <a:solidFill>
                  <a:srgbClr val="FF0000"/>
                </a:solidFill>
              </a:rPr>
              <a:t>this.url</a:t>
            </a:r>
            <a:r>
              <a:rPr lang="zh-CN" altLang="en-US" dirty="0"/>
              <a:t>发起</a:t>
            </a:r>
            <a:r>
              <a:rPr lang="en-US" altLang="zh-CN" dirty="0"/>
              <a:t>POST</a:t>
            </a:r>
            <a:r>
              <a:rPr lang="zh-CN" altLang="en-US" dirty="0"/>
              <a:t>请求</a:t>
            </a:r>
            <a:endParaRPr lang="en-US" altLang="zh-CN" dirty="0"/>
          </a:p>
        </p:txBody>
      </p:sp>
      <p:sp>
        <p:nvSpPr>
          <p:cNvPr id="20" name="正圆 29">
            <a:extLst>
              <a:ext uri="{FF2B5EF4-FFF2-40B4-BE49-F238E27FC236}">
                <a16:creationId xmlns:a16="http://schemas.microsoft.com/office/drawing/2014/main" id="{A8B60A72-C46F-430F-B3B9-8DE118BEC4A0}"/>
              </a:ext>
            </a:extLst>
          </p:cNvPr>
          <p:cNvSpPr>
            <a:spLocks noChangeArrowheads="1"/>
          </p:cNvSpPr>
          <p:nvPr/>
        </p:nvSpPr>
        <p:spPr bwMode="auto">
          <a:xfrm>
            <a:off x="1180254" y="466558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sp>
        <p:nvSpPr>
          <p:cNvPr id="21" name="文本框 20">
            <a:extLst>
              <a:ext uri="{FF2B5EF4-FFF2-40B4-BE49-F238E27FC236}">
                <a16:creationId xmlns:a16="http://schemas.microsoft.com/office/drawing/2014/main" id="{78265004-157F-48CB-A76A-3A365F2ACB4F}"/>
              </a:ext>
            </a:extLst>
          </p:cNvPr>
          <p:cNvSpPr txBox="1"/>
          <p:nvPr/>
        </p:nvSpPr>
        <p:spPr>
          <a:xfrm>
            <a:off x="1425367" y="4497394"/>
            <a:ext cx="1022863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函数中发起</a:t>
            </a:r>
            <a:r>
              <a:rPr lang="en-US" altLang="zh-CN" sz="2400" b="1" dirty="0">
                <a:latin typeface="微软雅黑" panose="020B0503020204020204" pitchFamily="34" charset="-122"/>
                <a:ea typeface="微软雅黑" panose="020B0503020204020204" pitchFamily="34" charset="-122"/>
              </a:rPr>
              <a:t>http</a:t>
            </a:r>
            <a:r>
              <a:rPr lang="zh-CN" altLang="en-US" sz="2400" b="1" dirty="0">
                <a:latin typeface="微软雅黑" panose="020B0503020204020204" pitchFamily="34" charset="-122"/>
                <a:ea typeface="微软雅黑" panose="020B0503020204020204" pitchFamily="34" charset="-122"/>
              </a:rPr>
              <a:t>请求（包含请求路径、请求方法、参数类型、请求体等）</a:t>
            </a:r>
          </a:p>
        </p:txBody>
      </p:sp>
      <p:sp>
        <p:nvSpPr>
          <p:cNvPr id="23" name="文本框 22">
            <a:extLst>
              <a:ext uri="{FF2B5EF4-FFF2-40B4-BE49-F238E27FC236}">
                <a16:creationId xmlns:a16="http://schemas.microsoft.com/office/drawing/2014/main" id="{D5473BD9-1544-45CA-A7C4-9A4E74875836}"/>
              </a:ext>
            </a:extLst>
          </p:cNvPr>
          <p:cNvSpPr txBox="1"/>
          <p:nvPr/>
        </p:nvSpPr>
        <p:spPr>
          <a:xfrm>
            <a:off x="1212473" y="5129585"/>
            <a:ext cx="6100090" cy="1477328"/>
          </a:xfrm>
          <a:prstGeom prst="rect">
            <a:avLst/>
          </a:prstGeom>
          <a:noFill/>
        </p:spPr>
        <p:txBody>
          <a:bodyPr wrap="square">
            <a:spAutoFit/>
          </a:bodyPr>
          <a:lstStyle/>
          <a:p>
            <a:r>
              <a:rPr lang="zh-CN" altLang="en-US" dirty="0"/>
              <a:t>请求路径：</a:t>
            </a:r>
            <a:r>
              <a:rPr lang="en-US" altLang="zh-CN" dirty="0"/>
              <a:t>http://127.0.0.1:8000/api/getTodos</a:t>
            </a:r>
          </a:p>
          <a:p>
            <a:endParaRPr lang="en-US" altLang="zh-CN" dirty="0"/>
          </a:p>
          <a:p>
            <a:r>
              <a:rPr lang="zh-CN" altLang="en-US" dirty="0"/>
              <a:t>请求方法：</a:t>
            </a:r>
            <a:r>
              <a:rPr lang="en-US" altLang="zh-CN" dirty="0"/>
              <a:t>POST</a:t>
            </a:r>
          </a:p>
          <a:p>
            <a:endParaRPr lang="en-US" altLang="zh-CN" dirty="0"/>
          </a:p>
          <a:p>
            <a:r>
              <a:rPr lang="zh-CN" altLang="en-US" dirty="0"/>
              <a:t>参数类型：</a:t>
            </a:r>
            <a:r>
              <a:rPr lang="en-US" altLang="zh-CN" dirty="0"/>
              <a:t>data</a:t>
            </a:r>
            <a:endParaRPr lang="zh-CN" altLang="en-US" dirty="0"/>
          </a:p>
        </p:txBody>
      </p:sp>
      <p:pic>
        <p:nvPicPr>
          <p:cNvPr id="3" name="图片 2">
            <a:extLst>
              <a:ext uri="{FF2B5EF4-FFF2-40B4-BE49-F238E27FC236}">
                <a16:creationId xmlns:a16="http://schemas.microsoft.com/office/drawing/2014/main" id="{954BF087-A88E-977D-39E0-74FFF0EE95F2}"/>
              </a:ext>
            </a:extLst>
          </p:cNvPr>
          <p:cNvPicPr>
            <a:picLocks noChangeAspect="1"/>
          </p:cNvPicPr>
          <p:nvPr/>
        </p:nvPicPr>
        <p:blipFill>
          <a:blip r:embed="rId4"/>
          <a:stretch>
            <a:fillRect/>
          </a:stretch>
        </p:blipFill>
        <p:spPr>
          <a:xfrm>
            <a:off x="1180254" y="1343433"/>
            <a:ext cx="4457700" cy="1892300"/>
          </a:xfrm>
          <a:prstGeom prst="rect">
            <a:avLst/>
          </a:prstGeom>
        </p:spPr>
      </p:pic>
      <p:pic>
        <p:nvPicPr>
          <p:cNvPr id="6" name="图片 5">
            <a:extLst>
              <a:ext uri="{FF2B5EF4-FFF2-40B4-BE49-F238E27FC236}">
                <a16:creationId xmlns:a16="http://schemas.microsoft.com/office/drawing/2014/main" id="{EAE7C185-75FD-94E2-AFBD-517E076D881F}"/>
              </a:ext>
            </a:extLst>
          </p:cNvPr>
          <p:cNvPicPr>
            <a:picLocks noChangeAspect="1"/>
          </p:cNvPicPr>
          <p:nvPr/>
        </p:nvPicPr>
        <p:blipFill>
          <a:blip r:embed="rId5"/>
          <a:stretch>
            <a:fillRect/>
          </a:stretch>
        </p:blipFill>
        <p:spPr>
          <a:xfrm>
            <a:off x="7811166" y="752386"/>
            <a:ext cx="3926621" cy="3727727"/>
          </a:xfrm>
          <a:prstGeom prst="rect">
            <a:avLst/>
          </a:prstGeom>
        </p:spPr>
      </p:pic>
      <p:sp>
        <p:nvSpPr>
          <p:cNvPr id="7" name="文本框 6">
            <a:extLst>
              <a:ext uri="{FF2B5EF4-FFF2-40B4-BE49-F238E27FC236}">
                <a16:creationId xmlns:a16="http://schemas.microsoft.com/office/drawing/2014/main" id="{9DAE3409-D47B-9C6C-3AC0-167CD13875FF}"/>
              </a:ext>
            </a:extLst>
          </p:cNvPr>
          <p:cNvSpPr txBox="1"/>
          <p:nvPr/>
        </p:nvSpPr>
        <p:spPr>
          <a:xfrm>
            <a:off x="5809816" y="807042"/>
            <a:ext cx="2144978" cy="369332"/>
          </a:xfrm>
          <a:prstGeom prst="rect">
            <a:avLst/>
          </a:prstGeom>
          <a:noFill/>
        </p:spPr>
        <p:txBody>
          <a:bodyPr wrap="square">
            <a:spAutoFit/>
          </a:bodyPr>
          <a:lstStyle/>
          <a:p>
            <a:r>
              <a:rPr lang="zh-CN" altLang="en-US" dirty="0"/>
              <a:t>这是</a:t>
            </a:r>
            <a:r>
              <a:rPr lang="en-US" altLang="zh-CN" dirty="0" err="1"/>
              <a:t>newTodo</a:t>
            </a:r>
            <a:r>
              <a:rPr lang="zh-CN" altLang="en-US" dirty="0"/>
              <a:t>数据：</a:t>
            </a:r>
          </a:p>
        </p:txBody>
      </p:sp>
    </p:spTree>
    <p:extLst>
      <p:ext uri="{BB962C8B-B14F-4D97-AF65-F5344CB8AC3E}">
        <p14:creationId xmlns:p14="http://schemas.microsoft.com/office/powerpoint/2010/main" val="616002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7" y="309314"/>
            <a:ext cx="6165994"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前后端建立连接（三次握手）</a:t>
            </a:r>
          </a:p>
        </p:txBody>
      </p:sp>
      <p:pic>
        <p:nvPicPr>
          <p:cNvPr id="1026" name="Picture 2">
            <a:extLst>
              <a:ext uri="{FF2B5EF4-FFF2-40B4-BE49-F238E27FC236}">
                <a16:creationId xmlns:a16="http://schemas.microsoft.com/office/drawing/2014/main" id="{A521130C-E766-554C-86FA-8ACB283AC1D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8762"/>
          <a:stretch/>
        </p:blipFill>
        <p:spPr bwMode="auto">
          <a:xfrm>
            <a:off x="1828799" y="963713"/>
            <a:ext cx="4460421" cy="406960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C92C81E3-13E8-5FAB-45F2-F1C6849ED480}"/>
              </a:ext>
            </a:extLst>
          </p:cNvPr>
          <p:cNvSpPr txBox="1"/>
          <p:nvPr/>
        </p:nvSpPr>
        <p:spPr>
          <a:xfrm>
            <a:off x="1828799" y="5225131"/>
            <a:ext cx="9347239" cy="1291379"/>
          </a:xfrm>
          <a:prstGeom prst="rect">
            <a:avLst/>
          </a:prstGeom>
          <a:noFill/>
        </p:spPr>
        <p:txBody>
          <a:bodyPr wrap="none" rtlCol="0">
            <a:spAutoFit/>
          </a:bodyPr>
          <a:lstStyle/>
          <a:p>
            <a:pPr>
              <a:lnSpc>
                <a:spcPct val="150000"/>
              </a:lnSpc>
            </a:pPr>
            <a:r>
              <a:rPr kumimoji="1" lang="zh-CN" altLang="en-US" dirty="0"/>
              <a:t>客户主机就是</a:t>
            </a:r>
            <a:r>
              <a:rPr kumimoji="1" lang="en-US" altLang="zh-CN" dirty="0"/>
              <a:t>localhost</a:t>
            </a:r>
            <a:r>
              <a:rPr kumimoji="1" lang="zh-CN" altLang="en-US" dirty="0"/>
              <a:t>（</a:t>
            </a:r>
            <a:r>
              <a:rPr kumimoji="1" lang="en-US" altLang="zh-CN" dirty="0">
                <a:hlinkClick r:id="rId5"/>
              </a:rPr>
              <a:t>http://127.0.0.1:8080</a:t>
            </a:r>
            <a:r>
              <a:rPr kumimoji="1" lang="zh-CN" altLang="en-US" dirty="0"/>
              <a:t>）</a:t>
            </a:r>
            <a:endParaRPr kumimoji="1" lang="en-US" altLang="zh-CN" dirty="0"/>
          </a:p>
          <a:p>
            <a:pPr>
              <a:lnSpc>
                <a:spcPct val="150000"/>
              </a:lnSpc>
            </a:pPr>
            <a:r>
              <a:rPr kumimoji="1" lang="zh-CN" altLang="en-US" dirty="0"/>
              <a:t>服务主机也是</a:t>
            </a:r>
            <a:r>
              <a:rPr kumimoji="1" lang="en-US" altLang="zh-CN" dirty="0"/>
              <a:t>localhost</a:t>
            </a:r>
            <a:r>
              <a:rPr kumimoji="1" lang="zh-CN" altLang="en-US" dirty="0"/>
              <a:t>（</a:t>
            </a:r>
            <a:r>
              <a:rPr kumimoji="1" lang="en-US" altLang="zh-CN" dirty="0">
                <a:hlinkClick r:id="rId6"/>
              </a:rPr>
              <a:t>http://127.0.0.1:8000</a:t>
            </a:r>
            <a:r>
              <a:rPr kumimoji="1" lang="zh-CN" altLang="en-US" dirty="0"/>
              <a:t>）</a:t>
            </a:r>
            <a:endParaRPr kumimoji="1" lang="en-US" altLang="zh-CN" dirty="0"/>
          </a:p>
          <a:p>
            <a:pPr>
              <a:lnSpc>
                <a:spcPct val="150000"/>
              </a:lnSpc>
            </a:pPr>
            <a:r>
              <a:rPr kumimoji="1" lang="zh-CN" altLang="en-US" dirty="0">
                <a:solidFill>
                  <a:srgbClr val="FF0000"/>
                </a:solidFill>
              </a:rPr>
              <a:t>注：虽然客户机和服务器都是</a:t>
            </a:r>
            <a:r>
              <a:rPr kumimoji="1" lang="en-US" altLang="zh-CN" dirty="0">
                <a:solidFill>
                  <a:srgbClr val="FF0000"/>
                </a:solidFill>
              </a:rPr>
              <a:t>localhost</a:t>
            </a:r>
            <a:r>
              <a:rPr kumimoji="1" lang="zh-CN" altLang="en-US" dirty="0">
                <a:solidFill>
                  <a:srgbClr val="FF0000"/>
                </a:solidFill>
              </a:rPr>
              <a:t>但是端口不一样，属于不同域，可以通过</a:t>
            </a:r>
            <a:r>
              <a:rPr kumimoji="1" lang="en-US" altLang="zh-CN" dirty="0" err="1">
                <a:solidFill>
                  <a:srgbClr val="FF0000"/>
                </a:solidFill>
              </a:rPr>
              <a:t>axios</a:t>
            </a:r>
            <a:r>
              <a:rPr kumimoji="1" lang="zh-CN" altLang="en-US" dirty="0">
                <a:solidFill>
                  <a:srgbClr val="FF0000"/>
                </a:solidFill>
              </a:rPr>
              <a:t>来解决</a:t>
            </a:r>
          </a:p>
        </p:txBody>
      </p:sp>
      <p:sp>
        <p:nvSpPr>
          <p:cNvPr id="4" name="文本框 3">
            <a:extLst>
              <a:ext uri="{FF2B5EF4-FFF2-40B4-BE49-F238E27FC236}">
                <a16:creationId xmlns:a16="http://schemas.microsoft.com/office/drawing/2014/main" id="{DF3B42DF-82E1-9DB7-8359-8AA3531CE511}"/>
              </a:ext>
            </a:extLst>
          </p:cNvPr>
          <p:cNvSpPr txBox="1"/>
          <p:nvPr/>
        </p:nvSpPr>
        <p:spPr>
          <a:xfrm>
            <a:off x="6502418" y="828964"/>
            <a:ext cx="5561245" cy="4204356"/>
          </a:xfrm>
          <a:prstGeom prst="rect">
            <a:avLst/>
          </a:prstGeom>
          <a:noFill/>
        </p:spPr>
        <p:txBody>
          <a:bodyPr wrap="square" rtlCol="0">
            <a:spAutoFit/>
          </a:bodyPr>
          <a:lstStyle/>
          <a:p>
            <a:pPr>
              <a:lnSpc>
                <a:spcPct val="150000"/>
              </a:lnSpc>
            </a:pPr>
            <a:r>
              <a:rPr kumimoji="1" lang="zh-CN" altLang="en-US" b="1" dirty="0"/>
              <a:t>第一次握手：</a:t>
            </a:r>
            <a:r>
              <a:rPr kumimoji="1" lang="zh-CN" altLang="en-US" dirty="0"/>
              <a:t>客户端向服务器端发起连接，此时即</a:t>
            </a:r>
            <a:r>
              <a:rPr kumimoji="1" lang="en" altLang="zh-CN" dirty="0"/>
              <a:t>SYN=1</a:t>
            </a:r>
            <a:r>
              <a:rPr kumimoji="1" lang="zh-CN" altLang="en-US" dirty="0"/>
              <a:t>标志，表示向服务端发起连接的请求，同时生成序列号</a:t>
            </a:r>
            <a:r>
              <a:rPr kumimoji="1" lang="en" altLang="zh-CN" dirty="0"/>
              <a:t>seq=</a:t>
            </a:r>
            <a:r>
              <a:rPr kumimoji="1" lang="en" altLang="zh-CN" dirty="0" err="1"/>
              <a:t>client_isn</a:t>
            </a:r>
            <a:endParaRPr kumimoji="1" lang="en" altLang="zh-CN" dirty="0"/>
          </a:p>
          <a:p>
            <a:pPr>
              <a:lnSpc>
                <a:spcPct val="150000"/>
              </a:lnSpc>
            </a:pPr>
            <a:r>
              <a:rPr kumimoji="1" lang="zh-CN" altLang="en-US" b="1" dirty="0"/>
              <a:t>第二次握手：</a:t>
            </a:r>
            <a:r>
              <a:rPr kumimoji="1" lang="zh-CN" altLang="en-US" dirty="0"/>
              <a:t>服务器端</a:t>
            </a:r>
            <a:r>
              <a:rPr kumimoji="1" lang="en" altLang="zh-CN" dirty="0"/>
              <a:t>SYN</a:t>
            </a:r>
            <a:r>
              <a:rPr kumimoji="1" lang="zh-CN" altLang="en-US" dirty="0"/>
              <a:t>标志位设置为</a:t>
            </a:r>
            <a:r>
              <a:rPr kumimoji="1" lang="en-US" altLang="zh-CN" dirty="0"/>
              <a:t>1</a:t>
            </a:r>
            <a:r>
              <a:rPr kumimoji="1" lang="zh-CN" altLang="en-US" dirty="0"/>
              <a:t>，表示对上一个请求连接的报文进行确认，同时设置</a:t>
            </a:r>
            <a:r>
              <a:rPr kumimoji="1" lang="en" altLang="zh-CN" dirty="0"/>
              <a:t>ack=seq+1</a:t>
            </a:r>
            <a:r>
              <a:rPr kumimoji="1" lang="zh-CN" altLang="en" dirty="0"/>
              <a:t>，</a:t>
            </a:r>
            <a:r>
              <a:rPr kumimoji="1" lang="zh-CN" altLang="en-US" dirty="0"/>
              <a:t>生成序列号</a:t>
            </a:r>
            <a:r>
              <a:rPr kumimoji="1" lang="en" altLang="zh-CN" dirty="0"/>
              <a:t>seq=</a:t>
            </a:r>
            <a:r>
              <a:rPr kumimoji="1" lang="en" altLang="zh-CN" dirty="0" err="1"/>
              <a:t>server_isn</a:t>
            </a:r>
            <a:endParaRPr kumimoji="1" lang="en" altLang="zh-CN" dirty="0"/>
          </a:p>
          <a:p>
            <a:pPr>
              <a:lnSpc>
                <a:spcPct val="150000"/>
              </a:lnSpc>
            </a:pPr>
            <a:r>
              <a:rPr kumimoji="1" lang="zh-CN" altLang="en-US" b="1" dirty="0"/>
              <a:t>第三次握手：</a:t>
            </a:r>
            <a:r>
              <a:rPr kumimoji="1" lang="zh-CN" altLang="en-US" dirty="0"/>
              <a:t>客户端对服务器端的响应进行确认，所以此时标志位是</a:t>
            </a:r>
            <a:r>
              <a:rPr kumimoji="1" lang="en-US" altLang="zh-CN" dirty="0"/>
              <a:t>SYN=0</a:t>
            </a:r>
            <a:r>
              <a:rPr kumimoji="1" lang="zh-CN" altLang="en-US" dirty="0"/>
              <a:t>标志</a:t>
            </a:r>
            <a:r>
              <a:rPr kumimoji="1" lang="zh-CN" altLang="en" dirty="0"/>
              <a:t>，</a:t>
            </a:r>
            <a:r>
              <a:rPr kumimoji="1" lang="zh-CN" altLang="en-US" dirty="0"/>
              <a:t>同时返回对上一个报文的</a:t>
            </a:r>
            <a:r>
              <a:rPr kumimoji="1" lang="en" altLang="zh-CN" dirty="0"/>
              <a:t>seq</a:t>
            </a:r>
            <a:r>
              <a:rPr kumimoji="1" lang="zh-CN" altLang="en-US" dirty="0"/>
              <a:t>的确认号，</a:t>
            </a:r>
            <a:r>
              <a:rPr kumimoji="1" lang="en" altLang="zh-CN" dirty="0"/>
              <a:t>ack=server</a:t>
            </a:r>
            <a:r>
              <a:rPr kumimoji="1" lang="en-US" altLang="zh-CN" dirty="0"/>
              <a:t>_isn+1</a:t>
            </a:r>
            <a:r>
              <a:rPr kumimoji="1" lang="zh-CN" altLang="en-US" dirty="0"/>
              <a:t>，生成序列号</a:t>
            </a:r>
            <a:r>
              <a:rPr kumimoji="1" lang="en-US" altLang="zh-CN" dirty="0"/>
              <a:t>seq=client_isn+1</a:t>
            </a:r>
            <a:endParaRPr kumimoji="1" lang="en" altLang="zh-CN" dirty="0"/>
          </a:p>
        </p:txBody>
      </p:sp>
    </p:spTree>
    <p:extLst>
      <p:ext uri="{BB962C8B-B14F-4D97-AF65-F5344CB8AC3E}">
        <p14:creationId xmlns:p14="http://schemas.microsoft.com/office/powerpoint/2010/main" val="5840080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7" y="309314"/>
            <a:ext cx="7657264"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后端根据请求路径路由到对应的函数，并执行该函数</a:t>
            </a:r>
          </a:p>
        </p:txBody>
      </p:sp>
      <p:sp>
        <p:nvSpPr>
          <p:cNvPr id="20" name="正圆 29">
            <a:extLst>
              <a:ext uri="{FF2B5EF4-FFF2-40B4-BE49-F238E27FC236}">
                <a16:creationId xmlns:a16="http://schemas.microsoft.com/office/drawing/2014/main" id="{A8B60A72-C46F-430F-B3B9-8DE118BEC4A0}"/>
              </a:ext>
            </a:extLst>
          </p:cNvPr>
          <p:cNvSpPr>
            <a:spLocks noChangeArrowheads="1"/>
          </p:cNvSpPr>
          <p:nvPr/>
        </p:nvSpPr>
        <p:spPr bwMode="auto">
          <a:xfrm>
            <a:off x="1180254" y="3681311"/>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sp>
        <p:nvSpPr>
          <p:cNvPr id="21" name="文本框 20">
            <a:extLst>
              <a:ext uri="{FF2B5EF4-FFF2-40B4-BE49-F238E27FC236}">
                <a16:creationId xmlns:a16="http://schemas.microsoft.com/office/drawing/2014/main" id="{78265004-157F-48CB-A76A-3A365F2ACB4F}"/>
              </a:ext>
            </a:extLst>
          </p:cNvPr>
          <p:cNvSpPr txBox="1"/>
          <p:nvPr/>
        </p:nvSpPr>
        <p:spPr>
          <a:xfrm>
            <a:off x="1425367" y="3513118"/>
            <a:ext cx="1022863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如果函数中包含了对数据库的操作，则后端将与数据库建立连接</a:t>
            </a:r>
          </a:p>
        </p:txBody>
      </p:sp>
      <p:pic>
        <p:nvPicPr>
          <p:cNvPr id="3" name="图片 2">
            <a:extLst>
              <a:ext uri="{FF2B5EF4-FFF2-40B4-BE49-F238E27FC236}">
                <a16:creationId xmlns:a16="http://schemas.microsoft.com/office/drawing/2014/main" id="{1791C59C-A6B4-9D10-4B27-9535DFDA1052}"/>
              </a:ext>
            </a:extLst>
          </p:cNvPr>
          <p:cNvPicPr>
            <a:picLocks noChangeAspect="1"/>
          </p:cNvPicPr>
          <p:nvPr/>
        </p:nvPicPr>
        <p:blipFill>
          <a:blip r:embed="rId4"/>
          <a:stretch>
            <a:fillRect/>
          </a:stretch>
        </p:blipFill>
        <p:spPr>
          <a:xfrm>
            <a:off x="1502260" y="1264289"/>
            <a:ext cx="7657263" cy="2093668"/>
          </a:xfrm>
          <a:prstGeom prst="rect">
            <a:avLst/>
          </a:prstGeom>
        </p:spPr>
      </p:pic>
      <p:sp>
        <p:nvSpPr>
          <p:cNvPr id="5" name="文本框 4">
            <a:extLst>
              <a:ext uri="{FF2B5EF4-FFF2-40B4-BE49-F238E27FC236}">
                <a16:creationId xmlns:a16="http://schemas.microsoft.com/office/drawing/2014/main" id="{D596350A-7CEF-E584-9CBF-BABB54F73AC1}"/>
              </a:ext>
            </a:extLst>
          </p:cNvPr>
          <p:cNvSpPr txBox="1"/>
          <p:nvPr/>
        </p:nvSpPr>
        <p:spPr>
          <a:xfrm>
            <a:off x="7398615" y="3990550"/>
            <a:ext cx="4565973" cy="2635465"/>
          </a:xfrm>
          <a:prstGeom prst="rect">
            <a:avLst/>
          </a:prstGeom>
          <a:noFill/>
        </p:spPr>
        <p:txBody>
          <a:bodyPr wrap="square" rtlCol="0">
            <a:spAutoFit/>
          </a:bodyPr>
          <a:lstStyle/>
          <a:p>
            <a:pPr>
              <a:lnSpc>
                <a:spcPct val="150000"/>
              </a:lnSpc>
            </a:pPr>
            <a:r>
              <a:rPr kumimoji="1" lang="en-US" altLang="zh-CN" sz="1600" dirty="0" err="1"/>
              <a:t>ModelViewSet</a:t>
            </a:r>
            <a:r>
              <a:rPr kumimoji="1" lang="zh-CN" altLang="en-US" sz="1600" dirty="0"/>
              <a:t>是</a:t>
            </a:r>
            <a:r>
              <a:rPr kumimoji="1" lang="en-US" altLang="zh-CN" sz="1600" dirty="0"/>
              <a:t>Django REST framework</a:t>
            </a:r>
            <a:r>
              <a:rPr kumimoji="1" lang="zh-CN" altLang="en-US" sz="1600" dirty="0"/>
              <a:t>中的一个通用视图集序列化器：</a:t>
            </a:r>
            <a:r>
              <a:rPr kumimoji="1" lang="en-US" altLang="zh-CN" sz="1600" dirty="0"/>
              <a:t>create</a:t>
            </a:r>
            <a:r>
              <a:rPr kumimoji="1" lang="zh-CN" altLang="en-US" sz="1600" dirty="0"/>
              <a:t>方法会使用指定的序列化器（来验证和反序列化</a:t>
            </a:r>
            <a:r>
              <a:rPr kumimoji="1" lang="en-US" altLang="zh-CN" sz="1600" dirty="0"/>
              <a:t>POST</a:t>
            </a:r>
            <a:r>
              <a:rPr kumimoji="1" lang="zh-CN" altLang="en-US" sz="1600" dirty="0"/>
              <a:t>请求的输入数据），然后创建相应的模型实例（</a:t>
            </a:r>
            <a:r>
              <a:rPr kumimoji="1" lang="en-US" altLang="zh-CN" sz="1600" dirty="0"/>
              <a:t>TODO</a:t>
            </a:r>
            <a:r>
              <a:rPr kumimoji="1" lang="zh-CN" altLang="en-US" sz="1600" dirty="0"/>
              <a:t>对象）。</a:t>
            </a:r>
            <a:endParaRPr kumimoji="1" lang="en-US" altLang="zh-CN" sz="1600" dirty="0"/>
          </a:p>
          <a:p>
            <a:pPr>
              <a:lnSpc>
                <a:spcPct val="150000"/>
              </a:lnSpc>
            </a:pPr>
            <a:endParaRPr kumimoji="1" lang="en-US" altLang="zh-CN" sz="1600" dirty="0"/>
          </a:p>
          <a:p>
            <a:pPr>
              <a:lnSpc>
                <a:spcPct val="150000"/>
              </a:lnSpc>
            </a:pPr>
            <a:r>
              <a:rPr kumimoji="1" lang="zh-CN" altLang="en-US" sz="1600" dirty="0"/>
              <a:t>创建（</a:t>
            </a:r>
            <a:r>
              <a:rPr kumimoji="1" lang="en-US" altLang="zh-CN" sz="1600" dirty="0"/>
              <a:t>POST</a:t>
            </a:r>
            <a:r>
              <a:rPr kumimoji="1" lang="zh-CN" altLang="en-US" sz="1600" dirty="0"/>
              <a:t>）操作：</a:t>
            </a:r>
            <a:r>
              <a:rPr kumimoji="1" lang="en-US" altLang="zh-CN" sz="1600" dirty="0"/>
              <a:t>Django REST framework </a:t>
            </a:r>
            <a:r>
              <a:rPr kumimoji="1" lang="zh-CN" altLang="en-US" sz="1600" dirty="0"/>
              <a:t>会自动将</a:t>
            </a:r>
            <a:r>
              <a:rPr kumimoji="1" lang="en-US" altLang="zh-CN" sz="1600" dirty="0"/>
              <a:t>HTTP POST</a:t>
            </a:r>
            <a:r>
              <a:rPr kumimoji="1" lang="zh-CN" altLang="en-US" sz="1600" dirty="0"/>
              <a:t>请求映射到视图集的</a:t>
            </a:r>
            <a:r>
              <a:rPr kumimoji="1" lang="en-US" altLang="zh-CN" sz="1600" dirty="0"/>
              <a:t>create</a:t>
            </a:r>
            <a:r>
              <a:rPr kumimoji="1" lang="zh-CN" altLang="en-US" sz="1600" dirty="0"/>
              <a:t>方法上。</a:t>
            </a:r>
          </a:p>
        </p:txBody>
      </p:sp>
      <p:pic>
        <p:nvPicPr>
          <p:cNvPr id="6" name="图片 5">
            <a:extLst>
              <a:ext uri="{FF2B5EF4-FFF2-40B4-BE49-F238E27FC236}">
                <a16:creationId xmlns:a16="http://schemas.microsoft.com/office/drawing/2014/main" id="{B2C1C8BD-5699-A23C-C1D0-B45EB178133B}"/>
              </a:ext>
            </a:extLst>
          </p:cNvPr>
          <p:cNvPicPr>
            <a:picLocks noChangeAspect="1"/>
          </p:cNvPicPr>
          <p:nvPr/>
        </p:nvPicPr>
        <p:blipFill>
          <a:blip r:embed="rId5"/>
          <a:stretch>
            <a:fillRect/>
          </a:stretch>
        </p:blipFill>
        <p:spPr>
          <a:xfrm>
            <a:off x="1502260" y="3974783"/>
            <a:ext cx="5664200" cy="2667000"/>
          </a:xfrm>
          <a:prstGeom prst="rect">
            <a:avLst/>
          </a:prstGeom>
        </p:spPr>
      </p:pic>
    </p:spTree>
    <p:extLst>
      <p:ext uri="{BB962C8B-B14F-4D97-AF65-F5344CB8AC3E}">
        <p14:creationId xmlns:p14="http://schemas.microsoft.com/office/powerpoint/2010/main" val="1041428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6" y="309314"/>
            <a:ext cx="720028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后端拿到数据后设置状态码与响应体，并返回响应</a:t>
            </a:r>
          </a:p>
        </p:txBody>
      </p:sp>
      <p:sp>
        <p:nvSpPr>
          <p:cNvPr id="13" name="文本框 12">
            <a:extLst>
              <a:ext uri="{FF2B5EF4-FFF2-40B4-BE49-F238E27FC236}">
                <a16:creationId xmlns:a16="http://schemas.microsoft.com/office/drawing/2014/main" id="{6D769D6D-10C7-4DEB-950D-A5F2DA331C56}"/>
              </a:ext>
            </a:extLst>
          </p:cNvPr>
          <p:cNvSpPr txBox="1"/>
          <p:nvPr/>
        </p:nvSpPr>
        <p:spPr>
          <a:xfrm>
            <a:off x="1425366" y="1081860"/>
            <a:ext cx="6100090" cy="923330"/>
          </a:xfrm>
          <a:prstGeom prst="rect">
            <a:avLst/>
          </a:prstGeom>
          <a:noFill/>
        </p:spPr>
        <p:txBody>
          <a:bodyPr wrap="square">
            <a:spAutoFit/>
          </a:bodyPr>
          <a:lstStyle/>
          <a:p>
            <a:r>
              <a:rPr lang="zh-CN" altLang="en-US" dirty="0"/>
              <a:t>设置状态码20</a:t>
            </a:r>
            <a:r>
              <a:rPr lang="en-US" altLang="zh-CN" dirty="0"/>
              <a:t>1</a:t>
            </a:r>
            <a:r>
              <a:rPr lang="zh-CN" altLang="en-US" dirty="0"/>
              <a:t>，表示请求成功处理</a:t>
            </a:r>
          </a:p>
          <a:p>
            <a:endParaRPr lang="zh-CN" altLang="en-US" dirty="0"/>
          </a:p>
          <a:p>
            <a:r>
              <a:rPr lang="zh-CN" altLang="en-US" dirty="0"/>
              <a:t>并将</a:t>
            </a:r>
            <a:r>
              <a:rPr lang="zh-CN" altLang="en-US" dirty="0">
                <a:solidFill>
                  <a:srgbClr val="FF0000"/>
                </a:solidFill>
              </a:rPr>
              <a:t>res</a:t>
            </a:r>
            <a:r>
              <a:rPr lang="en-US" altLang="zh-CN" dirty="0" err="1">
                <a:solidFill>
                  <a:srgbClr val="FF0000"/>
                </a:solidFill>
              </a:rPr>
              <a:t>ponse</a:t>
            </a:r>
            <a:r>
              <a:rPr lang="zh-CN" altLang="en-US" dirty="0"/>
              <a:t>作为请求体返回给前端</a:t>
            </a:r>
          </a:p>
        </p:txBody>
      </p:sp>
      <p:graphicFrame>
        <p:nvGraphicFramePr>
          <p:cNvPr id="4" name="表格 3">
            <a:extLst>
              <a:ext uri="{FF2B5EF4-FFF2-40B4-BE49-F238E27FC236}">
                <a16:creationId xmlns:a16="http://schemas.microsoft.com/office/drawing/2014/main" id="{C41352E1-15E8-D252-E9ED-FB44D9A13B49}"/>
              </a:ext>
            </a:extLst>
          </p:cNvPr>
          <p:cNvGraphicFramePr>
            <a:graphicFrameLocks noGrp="1"/>
          </p:cNvGraphicFramePr>
          <p:nvPr>
            <p:extLst>
              <p:ext uri="{D42A27DB-BD31-4B8C-83A1-F6EECF244321}">
                <p14:modId xmlns:p14="http://schemas.microsoft.com/office/powerpoint/2010/main" val="1967218049"/>
              </p:ext>
            </p:extLst>
          </p:nvPr>
        </p:nvGraphicFramePr>
        <p:xfrm>
          <a:off x="1425366" y="2941347"/>
          <a:ext cx="7951442" cy="3542506"/>
        </p:xfrm>
        <a:graphic>
          <a:graphicData uri="http://schemas.openxmlformats.org/drawingml/2006/table">
            <a:tbl>
              <a:tblPr/>
              <a:tblGrid>
                <a:gridCol w="3975721">
                  <a:extLst>
                    <a:ext uri="{9D8B030D-6E8A-4147-A177-3AD203B41FA5}">
                      <a16:colId xmlns:a16="http://schemas.microsoft.com/office/drawing/2014/main" val="656422810"/>
                    </a:ext>
                  </a:extLst>
                </a:gridCol>
                <a:gridCol w="3975721">
                  <a:extLst>
                    <a:ext uri="{9D8B030D-6E8A-4147-A177-3AD203B41FA5}">
                      <a16:colId xmlns:a16="http://schemas.microsoft.com/office/drawing/2014/main" val="3890429185"/>
                    </a:ext>
                  </a:extLst>
                </a:gridCol>
              </a:tblGrid>
              <a:tr h="0">
                <a:tc>
                  <a:txBody>
                    <a:bodyPr/>
                    <a:lstStyle/>
                    <a:p>
                      <a:pPr algn="l" fontAlgn="t"/>
                      <a:r>
                        <a:rPr lang="zh-CN" altLang="en-US" dirty="0">
                          <a:solidFill>
                            <a:srgbClr val="FFFFFF"/>
                          </a:solidFill>
                          <a:effectLst/>
                          <a:highlight>
                            <a:srgbClr val="555555"/>
                          </a:highlight>
                        </a:rPr>
                        <a:t>分类</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zh-CN" altLang="en-US">
                          <a:solidFill>
                            <a:srgbClr val="FFFFFF"/>
                          </a:solidFill>
                          <a:effectLst/>
                          <a:highlight>
                            <a:srgbClr val="555555"/>
                          </a:highlight>
                        </a:rPr>
                        <a:t>分类描述</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943655502"/>
                  </a:ext>
                </a:extLst>
              </a:tr>
              <a:tr h="0">
                <a:tc>
                  <a:txBody>
                    <a:bodyPr/>
                    <a:lstStyle/>
                    <a:p>
                      <a:pPr fontAlgn="t"/>
                      <a:r>
                        <a:rPr lang="en-US" altLang="zh-CN" dirty="0">
                          <a:effectLst/>
                        </a:rPr>
                        <a:t>1**</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a:effectLst/>
                        </a:rPr>
                        <a:t>信息，服务器收到请求，需要请求者继续执行操作</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679937184"/>
                  </a:ext>
                </a:extLst>
              </a:tr>
              <a:tr h="483076">
                <a:tc>
                  <a:txBody>
                    <a:bodyPr/>
                    <a:lstStyle/>
                    <a:p>
                      <a:pPr fontAlgn="t"/>
                      <a:r>
                        <a:rPr lang="en-US" altLang="zh-CN">
                          <a:effectLst/>
                        </a:rPr>
                        <a:t>2**</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a:effectLst/>
                        </a:rPr>
                        <a:t>成功，操作被成功接收并处理</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664456215"/>
                  </a:ext>
                </a:extLst>
              </a:tr>
              <a:tr h="0">
                <a:tc>
                  <a:txBody>
                    <a:bodyPr/>
                    <a:lstStyle/>
                    <a:p>
                      <a:pPr fontAlgn="t"/>
                      <a:r>
                        <a:rPr lang="en-US" altLang="zh-CN">
                          <a:effectLst/>
                        </a:rPr>
                        <a:t>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a:effectLst/>
                        </a:rPr>
                        <a:t>重定向，需要进一步的操作以完成请求</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421282059"/>
                  </a:ext>
                </a:extLst>
              </a:tr>
              <a:tr h="0">
                <a:tc>
                  <a:txBody>
                    <a:bodyPr/>
                    <a:lstStyle/>
                    <a:p>
                      <a:pPr fontAlgn="t"/>
                      <a:r>
                        <a:rPr lang="en-US" altLang="zh-CN">
                          <a:effectLst/>
                        </a:rPr>
                        <a:t>4**</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a:effectLst/>
                        </a:rPr>
                        <a:t>客户端错误，请求包含语法错误或无法完成请求</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2282159701"/>
                  </a:ext>
                </a:extLst>
              </a:tr>
              <a:tr h="0">
                <a:tc>
                  <a:txBody>
                    <a:bodyPr/>
                    <a:lstStyle/>
                    <a:p>
                      <a:pPr fontAlgn="t"/>
                      <a:r>
                        <a:rPr lang="en-US" altLang="zh-CN">
                          <a:effectLst/>
                        </a:rPr>
                        <a:t>5**</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dirty="0">
                          <a:effectLst/>
                        </a:rPr>
                        <a:t>服务器错误，服务器在处理请求的过程中发生了错误</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970740735"/>
                  </a:ext>
                </a:extLst>
              </a:tr>
            </a:tbl>
          </a:graphicData>
        </a:graphic>
      </p:graphicFrame>
      <p:sp>
        <p:nvSpPr>
          <p:cNvPr id="6" name="文本框 5">
            <a:extLst>
              <a:ext uri="{FF2B5EF4-FFF2-40B4-BE49-F238E27FC236}">
                <a16:creationId xmlns:a16="http://schemas.microsoft.com/office/drawing/2014/main" id="{40F7B2DE-F4EE-2261-C052-74B2C6B3D8B2}"/>
              </a:ext>
            </a:extLst>
          </p:cNvPr>
          <p:cNvSpPr txBox="1"/>
          <p:nvPr/>
        </p:nvSpPr>
        <p:spPr>
          <a:xfrm>
            <a:off x="1384674" y="2211061"/>
            <a:ext cx="10518984" cy="646331"/>
          </a:xfrm>
          <a:prstGeom prst="rect">
            <a:avLst/>
          </a:prstGeom>
          <a:noFill/>
        </p:spPr>
        <p:txBody>
          <a:bodyPr wrap="square">
            <a:spAutoFit/>
          </a:bodyPr>
          <a:lstStyle/>
          <a:p>
            <a:r>
              <a:rPr lang="en" altLang="zh-CN" dirty="0"/>
              <a:t>HTTP </a:t>
            </a:r>
            <a:r>
              <a:rPr lang="zh-CN" altLang="en-US" dirty="0"/>
              <a:t>状态码由三个十进制数字组成，第一个十进制数字定义了状态码的类型。响应分为五类：信息响应</a:t>
            </a:r>
            <a:r>
              <a:rPr lang="en-US" altLang="zh-CN" dirty="0"/>
              <a:t>(100–199)</a:t>
            </a:r>
            <a:r>
              <a:rPr lang="zh-CN" altLang="en-US" dirty="0"/>
              <a:t>，成功响应</a:t>
            </a:r>
            <a:r>
              <a:rPr lang="en-US" altLang="zh-CN" dirty="0"/>
              <a:t>(200–299)</a:t>
            </a:r>
            <a:r>
              <a:rPr lang="zh-CN" altLang="en-US" dirty="0"/>
              <a:t>，重定向</a:t>
            </a:r>
            <a:r>
              <a:rPr lang="en-US" altLang="zh-CN" dirty="0"/>
              <a:t>(300–399)</a:t>
            </a:r>
            <a:r>
              <a:rPr lang="zh-CN" altLang="en-US" dirty="0"/>
              <a:t>，客户端错误</a:t>
            </a:r>
            <a:r>
              <a:rPr lang="en-US" altLang="zh-CN" dirty="0"/>
              <a:t>(400–499)</a:t>
            </a:r>
            <a:r>
              <a:rPr lang="zh-CN" altLang="en-US" dirty="0"/>
              <a:t>和服务器错误 </a:t>
            </a:r>
            <a:r>
              <a:rPr lang="en-US" altLang="zh-CN" dirty="0"/>
              <a:t>(500–599)</a:t>
            </a:r>
            <a:r>
              <a:rPr lang="zh-CN" altLang="en-US" dirty="0"/>
              <a:t>：</a:t>
            </a:r>
          </a:p>
        </p:txBody>
      </p:sp>
    </p:spTree>
    <p:extLst>
      <p:ext uri="{BB962C8B-B14F-4D97-AF65-F5344CB8AC3E}">
        <p14:creationId xmlns:p14="http://schemas.microsoft.com/office/powerpoint/2010/main" val="2075440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6" y="309314"/>
            <a:ext cx="720028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前端收到响应</a:t>
            </a:r>
          </a:p>
        </p:txBody>
      </p:sp>
      <p:sp>
        <p:nvSpPr>
          <p:cNvPr id="13" name="文本框 12">
            <a:extLst>
              <a:ext uri="{FF2B5EF4-FFF2-40B4-BE49-F238E27FC236}">
                <a16:creationId xmlns:a16="http://schemas.microsoft.com/office/drawing/2014/main" id="{6D769D6D-10C7-4DEB-950D-A5F2DA331C56}"/>
              </a:ext>
            </a:extLst>
          </p:cNvPr>
          <p:cNvSpPr txBox="1"/>
          <p:nvPr/>
        </p:nvSpPr>
        <p:spPr>
          <a:xfrm>
            <a:off x="1256373" y="950217"/>
            <a:ext cx="6100090" cy="369332"/>
          </a:xfrm>
          <a:prstGeom prst="rect">
            <a:avLst/>
          </a:prstGeom>
          <a:noFill/>
        </p:spPr>
        <p:txBody>
          <a:bodyPr wrap="square">
            <a:spAutoFit/>
          </a:bodyPr>
          <a:lstStyle/>
          <a:p>
            <a:r>
              <a:rPr lang="zh-CN" altLang="en-US" dirty="0"/>
              <a:t>通过浏览器控制台，我们可以看到后台响应头部</a:t>
            </a:r>
          </a:p>
        </p:txBody>
      </p:sp>
      <p:pic>
        <p:nvPicPr>
          <p:cNvPr id="3" name="图片 2">
            <a:extLst>
              <a:ext uri="{FF2B5EF4-FFF2-40B4-BE49-F238E27FC236}">
                <a16:creationId xmlns:a16="http://schemas.microsoft.com/office/drawing/2014/main" id="{DF5FD595-F2F0-EED6-8AB8-53DFF95D7C8B}"/>
              </a:ext>
            </a:extLst>
          </p:cNvPr>
          <p:cNvPicPr>
            <a:picLocks noChangeAspect="1"/>
          </p:cNvPicPr>
          <p:nvPr/>
        </p:nvPicPr>
        <p:blipFill>
          <a:blip r:embed="rId4"/>
          <a:stretch>
            <a:fillRect/>
          </a:stretch>
        </p:blipFill>
        <p:spPr>
          <a:xfrm>
            <a:off x="1881951" y="1377043"/>
            <a:ext cx="6743700" cy="5295900"/>
          </a:xfrm>
          <a:prstGeom prst="rect">
            <a:avLst/>
          </a:prstGeom>
        </p:spPr>
      </p:pic>
    </p:spTree>
    <p:extLst>
      <p:ext uri="{BB962C8B-B14F-4D97-AF65-F5344CB8AC3E}">
        <p14:creationId xmlns:p14="http://schemas.microsoft.com/office/powerpoint/2010/main" val="38376146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6" y="309314"/>
            <a:ext cx="720028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前端收到响应</a:t>
            </a:r>
          </a:p>
        </p:txBody>
      </p:sp>
      <p:sp>
        <p:nvSpPr>
          <p:cNvPr id="13" name="文本框 12">
            <a:extLst>
              <a:ext uri="{FF2B5EF4-FFF2-40B4-BE49-F238E27FC236}">
                <a16:creationId xmlns:a16="http://schemas.microsoft.com/office/drawing/2014/main" id="{6D769D6D-10C7-4DEB-950D-A5F2DA331C56}"/>
              </a:ext>
            </a:extLst>
          </p:cNvPr>
          <p:cNvSpPr txBox="1"/>
          <p:nvPr/>
        </p:nvSpPr>
        <p:spPr>
          <a:xfrm>
            <a:off x="1256373" y="950217"/>
            <a:ext cx="6100090" cy="369332"/>
          </a:xfrm>
          <a:prstGeom prst="rect">
            <a:avLst/>
          </a:prstGeom>
          <a:noFill/>
        </p:spPr>
        <p:txBody>
          <a:bodyPr wrap="square">
            <a:spAutoFit/>
          </a:bodyPr>
          <a:lstStyle/>
          <a:p>
            <a:r>
              <a:rPr lang="zh-CN" altLang="en-US" dirty="0"/>
              <a:t>前端收到后台返回的响应体：</a:t>
            </a:r>
          </a:p>
        </p:txBody>
      </p:sp>
      <p:pic>
        <p:nvPicPr>
          <p:cNvPr id="3" name="图片 2">
            <a:extLst>
              <a:ext uri="{FF2B5EF4-FFF2-40B4-BE49-F238E27FC236}">
                <a16:creationId xmlns:a16="http://schemas.microsoft.com/office/drawing/2014/main" id="{1DBE2669-63A3-CD1A-A0E1-844F1A17D763}"/>
              </a:ext>
            </a:extLst>
          </p:cNvPr>
          <p:cNvPicPr>
            <a:picLocks noChangeAspect="1"/>
          </p:cNvPicPr>
          <p:nvPr/>
        </p:nvPicPr>
        <p:blipFill>
          <a:blip r:embed="rId4"/>
          <a:stretch>
            <a:fillRect/>
          </a:stretch>
        </p:blipFill>
        <p:spPr>
          <a:xfrm>
            <a:off x="1332492" y="1498787"/>
            <a:ext cx="10093634" cy="4159063"/>
          </a:xfrm>
          <a:prstGeom prst="rect">
            <a:avLst/>
          </a:prstGeom>
        </p:spPr>
      </p:pic>
    </p:spTree>
    <p:extLst>
      <p:ext uri="{BB962C8B-B14F-4D97-AF65-F5344CB8AC3E}">
        <p14:creationId xmlns:p14="http://schemas.microsoft.com/office/powerpoint/2010/main" val="12631494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511470" y="309314"/>
            <a:ext cx="720028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前后端关闭连接（四次挥手）</a:t>
            </a:r>
          </a:p>
        </p:txBody>
      </p:sp>
      <p:pic>
        <p:nvPicPr>
          <p:cNvPr id="4" name="图片 3">
            <a:extLst>
              <a:ext uri="{FF2B5EF4-FFF2-40B4-BE49-F238E27FC236}">
                <a16:creationId xmlns:a16="http://schemas.microsoft.com/office/drawing/2014/main" id="{7DC663EB-30C1-4A30-A1FE-280EBBB5E88C}"/>
              </a:ext>
            </a:extLst>
          </p:cNvPr>
          <p:cNvPicPr>
            <a:picLocks noChangeAspect="1"/>
          </p:cNvPicPr>
          <p:nvPr/>
        </p:nvPicPr>
        <p:blipFill>
          <a:blip r:embed="rId4"/>
          <a:stretch>
            <a:fillRect/>
          </a:stretch>
        </p:blipFill>
        <p:spPr>
          <a:xfrm>
            <a:off x="1511470" y="1106401"/>
            <a:ext cx="4038600" cy="5381625"/>
          </a:xfrm>
          <a:prstGeom prst="rect">
            <a:avLst/>
          </a:prstGeom>
        </p:spPr>
      </p:pic>
      <p:sp>
        <p:nvSpPr>
          <p:cNvPr id="5" name="文本框 4">
            <a:extLst>
              <a:ext uri="{FF2B5EF4-FFF2-40B4-BE49-F238E27FC236}">
                <a16:creationId xmlns:a16="http://schemas.microsoft.com/office/drawing/2014/main" id="{74DA6177-B456-6D27-A4B3-53867A94C845}"/>
              </a:ext>
            </a:extLst>
          </p:cNvPr>
          <p:cNvSpPr txBox="1"/>
          <p:nvPr/>
        </p:nvSpPr>
        <p:spPr>
          <a:xfrm>
            <a:off x="5865395" y="1258056"/>
            <a:ext cx="6100010" cy="4247317"/>
          </a:xfrm>
          <a:prstGeom prst="rect">
            <a:avLst/>
          </a:prstGeom>
          <a:noFill/>
        </p:spPr>
        <p:txBody>
          <a:bodyPr wrap="square">
            <a:spAutoFit/>
          </a:bodyPr>
          <a:lstStyle/>
          <a:p>
            <a:r>
              <a:rPr lang="zh-CN" altLang="en-US" b="1" dirty="0"/>
              <a:t>第一次挥手： </a:t>
            </a:r>
            <a:r>
              <a:rPr lang="zh-CN" altLang="en" dirty="0"/>
              <a:t>客户</a:t>
            </a:r>
            <a:r>
              <a:rPr lang="zh-CN" altLang="en-US" dirty="0"/>
              <a:t>端发起挥手请求，向</a:t>
            </a:r>
            <a:r>
              <a:rPr lang="zh-CN" altLang="en" dirty="0"/>
              <a:t>服务器</a:t>
            </a:r>
            <a:r>
              <a:rPr lang="zh-CN" altLang="en-US" dirty="0"/>
              <a:t>发送标志位是</a:t>
            </a:r>
            <a:r>
              <a:rPr lang="en" altLang="zh-CN" dirty="0"/>
              <a:t>FIN</a:t>
            </a:r>
            <a:r>
              <a:rPr lang="zh-CN" altLang="en-US" dirty="0"/>
              <a:t>报文段，表示</a:t>
            </a:r>
            <a:r>
              <a:rPr lang="zh-CN" altLang="en" dirty="0">
                <a:solidFill>
                  <a:srgbClr val="FF0000"/>
                </a:solidFill>
              </a:rPr>
              <a:t>客户</a:t>
            </a:r>
            <a:r>
              <a:rPr lang="zh-CN" altLang="en-US" dirty="0">
                <a:solidFill>
                  <a:srgbClr val="FF0000"/>
                </a:solidFill>
              </a:rPr>
              <a:t>端没有数据要发送给</a:t>
            </a:r>
            <a:r>
              <a:rPr lang="zh-CN" altLang="en" dirty="0">
                <a:solidFill>
                  <a:srgbClr val="FF0000"/>
                </a:solidFill>
              </a:rPr>
              <a:t>服务器</a:t>
            </a:r>
            <a:r>
              <a:rPr lang="zh-CN" altLang="en-US" dirty="0">
                <a:solidFill>
                  <a:srgbClr val="FF0000"/>
                </a:solidFill>
              </a:rPr>
              <a:t>了</a:t>
            </a:r>
            <a:r>
              <a:rPr lang="zh-CN" altLang="en-US" dirty="0"/>
              <a:t>。</a:t>
            </a:r>
            <a:endParaRPr lang="en-US" altLang="zh-CN" dirty="0"/>
          </a:p>
          <a:p>
            <a:endParaRPr lang="zh-CN" altLang="en-US" dirty="0"/>
          </a:p>
          <a:p>
            <a:r>
              <a:rPr lang="zh-CN" altLang="en-US" b="1" dirty="0"/>
              <a:t>第二次挥手：</a:t>
            </a:r>
            <a:r>
              <a:rPr lang="zh-CN" altLang="en" dirty="0"/>
              <a:t>服务器</a:t>
            </a:r>
            <a:r>
              <a:rPr lang="zh-CN" altLang="en-US" dirty="0"/>
              <a:t>收到了</a:t>
            </a:r>
            <a:r>
              <a:rPr lang="zh-CN" altLang="en" dirty="0"/>
              <a:t>客户</a:t>
            </a:r>
            <a:r>
              <a:rPr lang="zh-CN" altLang="en-US" dirty="0"/>
              <a:t>端发送的</a:t>
            </a:r>
            <a:r>
              <a:rPr lang="en" altLang="zh-CN" dirty="0"/>
              <a:t>FIN</a:t>
            </a:r>
            <a:r>
              <a:rPr lang="zh-CN" altLang="en-US" dirty="0"/>
              <a:t>报文段，向</a:t>
            </a:r>
            <a:r>
              <a:rPr lang="zh-CN" altLang="en" dirty="0"/>
              <a:t>客户</a:t>
            </a:r>
            <a:r>
              <a:rPr lang="zh-CN" altLang="en-US" dirty="0"/>
              <a:t>端返回一个标志位是</a:t>
            </a:r>
            <a:r>
              <a:rPr lang="en" altLang="zh-CN" dirty="0"/>
              <a:t>ACK</a:t>
            </a:r>
            <a:r>
              <a:rPr lang="zh-CN" altLang="en-US" dirty="0"/>
              <a:t>的报文段，表示服务器告诉</a:t>
            </a:r>
            <a:r>
              <a:rPr lang="zh-CN" altLang="en" dirty="0"/>
              <a:t>客户</a:t>
            </a:r>
            <a:r>
              <a:rPr lang="zh-CN" altLang="en-US" dirty="0"/>
              <a:t>端，</a:t>
            </a:r>
            <a:r>
              <a:rPr lang="zh-CN" altLang="en-US" dirty="0">
                <a:solidFill>
                  <a:srgbClr val="FF0000"/>
                </a:solidFill>
              </a:rPr>
              <a:t>我确认并同意你的关闭请求</a:t>
            </a:r>
            <a:r>
              <a:rPr lang="zh-CN" altLang="en-US" dirty="0"/>
              <a:t>。</a:t>
            </a:r>
          </a:p>
          <a:p>
            <a:endParaRPr lang="en-US" altLang="zh-CN" dirty="0"/>
          </a:p>
          <a:p>
            <a:r>
              <a:rPr lang="zh-CN" altLang="en-US" b="1" dirty="0"/>
              <a:t>第三次挥手：</a:t>
            </a:r>
            <a:r>
              <a:rPr lang="zh-CN" altLang="en-US" dirty="0"/>
              <a:t> 服务器向</a:t>
            </a:r>
            <a:r>
              <a:rPr lang="zh-CN" altLang="en" dirty="0"/>
              <a:t>客户</a:t>
            </a:r>
            <a:r>
              <a:rPr lang="zh-CN" altLang="en-US" dirty="0"/>
              <a:t>端发送标志位是</a:t>
            </a:r>
            <a:r>
              <a:rPr lang="en" altLang="zh-CN" dirty="0"/>
              <a:t>FIN</a:t>
            </a:r>
            <a:r>
              <a:rPr lang="zh-CN" altLang="en-US" dirty="0"/>
              <a:t>的报文段，请求关闭连接。</a:t>
            </a:r>
            <a:endParaRPr lang="en-US" altLang="zh-CN" dirty="0"/>
          </a:p>
          <a:p>
            <a:endParaRPr lang="zh-CN" altLang="en-US" dirty="0"/>
          </a:p>
          <a:p>
            <a:r>
              <a:rPr lang="zh-CN" altLang="en-US" b="1" dirty="0"/>
              <a:t>第四次挥手：</a:t>
            </a:r>
            <a:r>
              <a:rPr lang="zh-CN" altLang="en-US" dirty="0"/>
              <a:t> </a:t>
            </a:r>
            <a:r>
              <a:rPr lang="zh-CN" altLang="en" dirty="0">
                <a:solidFill>
                  <a:srgbClr val="FF0000"/>
                </a:solidFill>
              </a:rPr>
              <a:t>客户</a:t>
            </a:r>
            <a:r>
              <a:rPr lang="zh-CN" altLang="en-US" dirty="0">
                <a:solidFill>
                  <a:srgbClr val="FF0000"/>
                </a:solidFill>
              </a:rPr>
              <a:t>端收到</a:t>
            </a:r>
            <a:r>
              <a:rPr lang="zh-CN" altLang="en" dirty="0">
                <a:solidFill>
                  <a:srgbClr val="FF0000"/>
                </a:solidFill>
              </a:rPr>
              <a:t>服务器</a:t>
            </a:r>
            <a:r>
              <a:rPr lang="zh-CN" altLang="en-US" dirty="0">
                <a:solidFill>
                  <a:srgbClr val="FF0000"/>
                </a:solidFill>
              </a:rPr>
              <a:t>发送的</a:t>
            </a:r>
            <a:r>
              <a:rPr lang="en" altLang="zh-CN" dirty="0">
                <a:solidFill>
                  <a:srgbClr val="FF0000"/>
                </a:solidFill>
              </a:rPr>
              <a:t>FIN</a:t>
            </a:r>
            <a:r>
              <a:rPr lang="zh-CN" altLang="en-US" dirty="0">
                <a:solidFill>
                  <a:srgbClr val="FF0000"/>
                </a:solidFill>
              </a:rPr>
              <a:t>报文段</a:t>
            </a:r>
            <a:r>
              <a:rPr lang="zh-CN" altLang="en-US" dirty="0"/>
              <a:t>，向服务器发送标志位是</a:t>
            </a:r>
            <a:r>
              <a:rPr lang="en" altLang="zh-CN" dirty="0"/>
              <a:t>ACK</a:t>
            </a:r>
            <a:r>
              <a:rPr lang="zh-CN" altLang="en-US" dirty="0"/>
              <a:t>的报文段，然后</a:t>
            </a:r>
            <a:r>
              <a:rPr lang="zh-CN" altLang="en" dirty="0">
                <a:solidFill>
                  <a:srgbClr val="FF0000"/>
                </a:solidFill>
              </a:rPr>
              <a:t>客户</a:t>
            </a:r>
            <a:r>
              <a:rPr lang="zh-CN" altLang="en-US" dirty="0">
                <a:solidFill>
                  <a:srgbClr val="FF0000"/>
                </a:solidFill>
              </a:rPr>
              <a:t>端进入计时等待状态</a:t>
            </a:r>
            <a:r>
              <a:rPr lang="zh-CN" altLang="en-US" dirty="0"/>
              <a:t>。服务器收到</a:t>
            </a:r>
            <a:r>
              <a:rPr lang="zh-CN" altLang="en" dirty="0"/>
              <a:t>客户</a:t>
            </a:r>
            <a:r>
              <a:rPr lang="zh-CN" altLang="en-US" dirty="0"/>
              <a:t>端的</a:t>
            </a:r>
            <a:r>
              <a:rPr lang="en" altLang="zh-CN" dirty="0"/>
              <a:t>ACK</a:t>
            </a:r>
            <a:r>
              <a:rPr lang="zh-CN" altLang="en-US" dirty="0"/>
              <a:t>报文段以后，就关闭连接。此时，</a:t>
            </a:r>
            <a:r>
              <a:rPr lang="zh-CN" altLang="en" dirty="0"/>
              <a:t>客户端</a:t>
            </a:r>
            <a:r>
              <a:rPr lang="zh-CN" altLang="en-US" dirty="0"/>
              <a:t>等待一段时间后依然没有收到回复，则证明</a:t>
            </a:r>
            <a:r>
              <a:rPr lang="zh-CN" altLang="en" dirty="0"/>
              <a:t>服务器</a:t>
            </a:r>
            <a:r>
              <a:rPr lang="zh-CN" altLang="en-US" dirty="0"/>
              <a:t>已正常关闭，那好，</a:t>
            </a:r>
            <a:r>
              <a:rPr lang="zh-CN" altLang="en" dirty="0"/>
              <a:t>客户</a:t>
            </a:r>
            <a:r>
              <a:rPr lang="zh-CN" altLang="en-US" dirty="0"/>
              <a:t>端也可以关闭连接了。</a:t>
            </a:r>
          </a:p>
        </p:txBody>
      </p:sp>
    </p:spTree>
    <p:extLst>
      <p:ext uri="{BB962C8B-B14F-4D97-AF65-F5344CB8AC3E}">
        <p14:creationId xmlns:p14="http://schemas.microsoft.com/office/powerpoint/2010/main" val="3598560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5" y="189"/>
            <a:ext cx="701999" cy="6857623"/>
          </a:xfrm>
          <a:prstGeom prst="rect">
            <a:avLst/>
          </a:prstGeom>
          <a:solidFill>
            <a:srgbClr val="1F608B"/>
          </a:solidFill>
          <a:ln>
            <a:solidFill>
              <a:srgbClr val="1F608B"/>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sz="3200" b="1" spc="600" dirty="0">
              <a:solidFill>
                <a:schemeClr val="bg1"/>
              </a:solidFill>
              <a:latin typeface="微软雅黑" panose="020B0503020204020204" pitchFamily="34" charset="-122"/>
              <a:ea typeface="微软雅黑" panose="020B0503020204020204" pitchFamily="34" charset="-122"/>
            </a:endParaRPr>
          </a:p>
        </p:txBody>
      </p:sp>
      <p:sp>
        <p:nvSpPr>
          <p:cNvPr id="22" name="正圆 29">
            <a:extLst>
              <a:ext uri="{FF2B5EF4-FFF2-40B4-BE49-F238E27FC236}">
                <a16:creationId xmlns:a16="http://schemas.microsoft.com/office/drawing/2014/main" id="{67F850FB-695D-462E-911A-AAE7F6066311}"/>
              </a:ext>
            </a:extLst>
          </p:cNvPr>
          <p:cNvSpPr>
            <a:spLocks noChangeArrowheads="1"/>
          </p:cNvSpPr>
          <p:nvPr/>
        </p:nvSpPr>
        <p:spPr bwMode="auto">
          <a:xfrm>
            <a:off x="1180254" y="477507"/>
            <a:ext cx="152238" cy="162112"/>
          </a:xfrm>
          <a:prstGeom prst="ellipse">
            <a:avLst/>
          </a:prstGeom>
          <a:solidFill>
            <a:srgbClr val="1F608B"/>
          </a:solidFill>
          <a:ln>
            <a:noFill/>
          </a:ln>
          <a:effectLst/>
        </p:spPr>
        <p:txBody>
          <a:bodyPr anchor="ctr"/>
          <a:lstStyle/>
          <a:p>
            <a:endParaRPr lang="zh-CN" altLang="zh-CN" sz="948">
              <a:latin typeface="微软雅黑" pitchFamily="34" charset="-122"/>
              <a:ea typeface="微软雅黑" pitchFamily="34" charset="-122"/>
            </a:endParaRPr>
          </a:p>
        </p:txBody>
      </p:sp>
      <p:grpSp>
        <p:nvGrpSpPr>
          <p:cNvPr id="27" name="组合 26"/>
          <p:cNvGrpSpPr/>
          <p:nvPr/>
        </p:nvGrpSpPr>
        <p:grpSpPr>
          <a:xfrm>
            <a:off x="9255810" y="309314"/>
            <a:ext cx="2334353" cy="425792"/>
            <a:chOff x="8482002" y="88145"/>
            <a:chExt cx="3125988" cy="570188"/>
          </a:xfrm>
        </p:grpSpPr>
        <p:pic>
          <p:nvPicPr>
            <p:cNvPr id="29" name="Picture 3" descr="校标"/>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82002" y="88145"/>
              <a:ext cx="570188" cy="5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4" descr="校名 标准色"/>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6561" y="131232"/>
              <a:ext cx="2431429" cy="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文本框 31"/>
          <p:cNvSpPr txBox="1"/>
          <p:nvPr/>
        </p:nvSpPr>
        <p:spPr>
          <a:xfrm>
            <a:off x="1425366" y="309314"/>
            <a:ext cx="7200285"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前端将数据插入</a:t>
            </a:r>
            <a:r>
              <a:rPr lang="en-US" altLang="zh-CN" sz="2400" b="1" dirty="0">
                <a:latin typeface="微软雅黑" panose="020B0503020204020204" pitchFamily="34" charset="-122"/>
                <a:ea typeface="微软雅黑" panose="020B0503020204020204" pitchFamily="34" charset="-122"/>
              </a:rPr>
              <a:t>html</a:t>
            </a:r>
            <a:r>
              <a:rPr lang="zh-CN" altLang="en-US" sz="2400" b="1" dirty="0">
                <a:latin typeface="微软雅黑" panose="020B0503020204020204" pitchFamily="34" charset="-122"/>
                <a:ea typeface="微软雅黑" panose="020B0503020204020204" pitchFamily="34" charset="-122"/>
              </a:rPr>
              <a:t>，并触发浏览器的重新渲染</a:t>
            </a:r>
          </a:p>
        </p:txBody>
      </p:sp>
      <p:sp>
        <p:nvSpPr>
          <p:cNvPr id="10" name="文本框 9">
            <a:extLst>
              <a:ext uri="{FF2B5EF4-FFF2-40B4-BE49-F238E27FC236}">
                <a16:creationId xmlns:a16="http://schemas.microsoft.com/office/drawing/2014/main" id="{6C86061D-6F21-4F97-B032-CAB3A8B49833}"/>
              </a:ext>
            </a:extLst>
          </p:cNvPr>
          <p:cNvSpPr txBox="1"/>
          <p:nvPr/>
        </p:nvSpPr>
        <p:spPr>
          <a:xfrm>
            <a:off x="1180254" y="1021237"/>
            <a:ext cx="6100090" cy="369332"/>
          </a:xfrm>
          <a:prstGeom prst="rect">
            <a:avLst/>
          </a:prstGeom>
          <a:noFill/>
        </p:spPr>
        <p:txBody>
          <a:bodyPr wrap="square">
            <a:spAutoFit/>
          </a:bodyPr>
          <a:lstStyle/>
          <a:p>
            <a:r>
              <a:rPr lang="zh-CN" altLang="en-US" dirty="0"/>
              <a:t>如果数据获取成功，将执行以下代码：</a:t>
            </a:r>
          </a:p>
        </p:txBody>
      </p:sp>
      <p:sp>
        <p:nvSpPr>
          <p:cNvPr id="15" name="文本框 14">
            <a:extLst>
              <a:ext uri="{FF2B5EF4-FFF2-40B4-BE49-F238E27FC236}">
                <a16:creationId xmlns:a16="http://schemas.microsoft.com/office/drawing/2014/main" id="{E6F35A81-4EAF-4CE4-8FDB-15E0BA31B752}"/>
              </a:ext>
            </a:extLst>
          </p:cNvPr>
          <p:cNvSpPr txBox="1"/>
          <p:nvPr/>
        </p:nvSpPr>
        <p:spPr>
          <a:xfrm>
            <a:off x="1180254" y="4377107"/>
            <a:ext cx="6100090" cy="369332"/>
          </a:xfrm>
          <a:prstGeom prst="rect">
            <a:avLst/>
          </a:prstGeom>
          <a:noFill/>
        </p:spPr>
        <p:txBody>
          <a:bodyPr wrap="square">
            <a:spAutoFit/>
          </a:bodyPr>
          <a:lstStyle/>
          <a:p>
            <a:r>
              <a:rPr lang="zh-CN" altLang="en-US" dirty="0"/>
              <a:t>页面渲染了刚创建的一项</a:t>
            </a:r>
            <a:r>
              <a:rPr lang="en-US" altLang="zh-CN" dirty="0" err="1"/>
              <a:t>todo</a:t>
            </a:r>
            <a:r>
              <a:rPr lang="zh-CN" altLang="en-US" dirty="0"/>
              <a:t>：</a:t>
            </a:r>
          </a:p>
        </p:txBody>
      </p:sp>
      <p:pic>
        <p:nvPicPr>
          <p:cNvPr id="3" name="图片 2">
            <a:extLst>
              <a:ext uri="{FF2B5EF4-FFF2-40B4-BE49-F238E27FC236}">
                <a16:creationId xmlns:a16="http://schemas.microsoft.com/office/drawing/2014/main" id="{82C0D326-A170-1F32-1F7D-63DF6EE32CFC}"/>
              </a:ext>
            </a:extLst>
          </p:cNvPr>
          <p:cNvPicPr>
            <a:picLocks noChangeAspect="1"/>
          </p:cNvPicPr>
          <p:nvPr/>
        </p:nvPicPr>
        <p:blipFill>
          <a:blip r:embed="rId4"/>
          <a:stretch>
            <a:fillRect/>
          </a:stretch>
        </p:blipFill>
        <p:spPr>
          <a:xfrm>
            <a:off x="1730828" y="1571928"/>
            <a:ext cx="6356722" cy="2444893"/>
          </a:xfrm>
          <a:prstGeom prst="rect">
            <a:avLst/>
          </a:prstGeom>
        </p:spPr>
      </p:pic>
      <p:pic>
        <p:nvPicPr>
          <p:cNvPr id="4" name="图片 3">
            <a:extLst>
              <a:ext uri="{FF2B5EF4-FFF2-40B4-BE49-F238E27FC236}">
                <a16:creationId xmlns:a16="http://schemas.microsoft.com/office/drawing/2014/main" id="{F1DBDED4-06ED-DF0D-1FDF-32905F2D0610}"/>
              </a:ext>
            </a:extLst>
          </p:cNvPr>
          <p:cNvPicPr>
            <a:picLocks noChangeAspect="1"/>
          </p:cNvPicPr>
          <p:nvPr/>
        </p:nvPicPr>
        <p:blipFill>
          <a:blip r:embed="rId5"/>
          <a:stretch>
            <a:fillRect/>
          </a:stretch>
        </p:blipFill>
        <p:spPr>
          <a:xfrm>
            <a:off x="1730828" y="5106725"/>
            <a:ext cx="7772400" cy="446612"/>
          </a:xfrm>
          <a:prstGeom prst="rect">
            <a:avLst/>
          </a:prstGeom>
        </p:spPr>
      </p:pic>
    </p:spTree>
    <p:extLst>
      <p:ext uri="{BB962C8B-B14F-4D97-AF65-F5344CB8AC3E}">
        <p14:creationId xmlns:p14="http://schemas.microsoft.com/office/powerpoint/2010/main" val="3890507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4"/>
</p:tagLst>
</file>

<file path=ppt/tags/tag3.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5"/>
</p:tagLst>
</file>

<file path=ppt/tags/tag4.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6"/>
</p:tagLst>
</file>

<file path=ppt/tags/tag5.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0"/>
</p:tagLst>
</file>

<file path=ppt/tags/tag6.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1"/>
</p:tagLst>
</file>

<file path=ppt/tags/tag7.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2"/>
</p:tagLst>
</file>

<file path=ppt/tags/tag8.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5"/>
</p:tagLst>
</file>

<file path=ppt/tags/tag9.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6"/>
</p:tagLst>
</file>

<file path=ppt/tags/tag10.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7"/>
</p:tagLst>
</file>

<file path=ppt/tags/tag11.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20"/>
</p:tagLst>
</file>

<file path=ppt/tags/tag12.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21"/>
</p:tagLst>
</file>

<file path=ppt/tags/tag13.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22"/>
</p:tagLst>
</file>

<file path=ppt/tags/tag14.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25"/>
</p:tagLst>
</file>

<file path=ppt/tags/tag15.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26"/>
</p:tagLst>
</file>

<file path=ppt/tags/tag16.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SubTitle"/>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SubTitle"/>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SubTitle"/>
  <p:tag name="MH_ORDER" val="3"/>
</p:tagLst>
</file>

<file path=ppt/tags/tag19.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SubTitle"/>
  <p:tag name="MH_ORDER" val="5"/>
</p:tagLst>
</file>

<file path=ppt/tags/tag20.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SubTitle"/>
  <p:tag name="MH_ORDER" val="4"/>
</p:tagLst>
</file>

<file path=ppt/tags/tag21.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Text"/>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Other"/>
  <p:tag name="MH_ORDER" val="12"/>
</p:tagLst>
</file>

<file path=ppt/tags/tag23.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Text"/>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Text"/>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60508130916"/>
  <p:tag name="MH_LIBRARY" val="GRAPHIC"/>
  <p:tag name="MH_TYPE" val="Text"/>
  <p:tag name="MH_ORDER"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1203</TotalTime>
  <Words>3653</Words>
  <Application>Microsoft Macintosh PowerPoint</Application>
  <PresentationFormat>宽屏</PresentationFormat>
  <Paragraphs>234</Paragraphs>
  <Slides>29</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-apple-system</vt:lpstr>
      <vt:lpstr>黑体</vt:lpstr>
      <vt:lpstr>微软雅黑</vt:lpstr>
      <vt:lpstr>Arial</vt:lpstr>
      <vt:lpstr>Calibri</vt:lpstr>
      <vt:lpstr>Calibri Light</vt:lpstr>
      <vt:lpstr>Menlo-Regular</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 Zhou</dc:creator>
  <cp:lastModifiedBy>e26814</cp:lastModifiedBy>
  <cp:revision>156</cp:revision>
  <dcterms:created xsi:type="dcterms:W3CDTF">2018-12-13T02:58:28Z</dcterms:created>
  <dcterms:modified xsi:type="dcterms:W3CDTF">2024-04-29T05:07:01Z</dcterms:modified>
</cp:coreProperties>
</file>