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2" r:id="rId2"/>
    <p:sldId id="270" r:id="rId3"/>
    <p:sldId id="273" r:id="rId4"/>
    <p:sldId id="274" r:id="rId5"/>
    <p:sldId id="284" r:id="rId6"/>
    <p:sldId id="277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83" r:id="rId17"/>
    <p:sldId id="275" r:id="rId18"/>
    <p:sldId id="278" r:id="rId19"/>
    <p:sldId id="295" r:id="rId20"/>
    <p:sldId id="296" r:id="rId21"/>
    <p:sldId id="298" r:id="rId22"/>
    <p:sldId id="297" r:id="rId23"/>
    <p:sldId id="299" r:id="rId24"/>
    <p:sldId id="300" r:id="rId25"/>
    <p:sldId id="301" r:id="rId26"/>
    <p:sldId id="302" r:id="rId27"/>
    <p:sldId id="303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64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684B-F4FE-4DF9-A7AD-653E382D5334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215B1-82A0-445D-85B9-0F7883FF31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00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83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48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28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09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986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784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909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02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267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33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3152"/>
      </p:ext>
    </p:extLst>
  </p:cSld>
  <p:clrMapOvr>
    <a:masterClrMapping/>
  </p:clrMapOvr>
  <p:transition spd="slow" advTm="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0FA0-6C4B-4932-B60C-180C1A98241E}" type="datetimeFigureOut">
              <a:rPr lang="zh-CN" altLang="en-US" smtClean="0"/>
              <a:t>2021/11/22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ED67C-E04A-40CD-943C-0B4CF32CF2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3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5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9765" b="7114"/>
          <a:stretch/>
        </p:blipFill>
        <p:spPr>
          <a:xfrm>
            <a:off x="0" y="2"/>
            <a:ext cx="12192000" cy="687878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495421" y="2091814"/>
            <a:ext cx="6074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95421" y="2960971"/>
            <a:ext cx="5634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说明文档</a:t>
            </a:r>
          </a:p>
        </p:txBody>
      </p:sp>
      <p:sp>
        <p:nvSpPr>
          <p:cNvPr id="14" name="矩形 13"/>
          <p:cNvSpPr/>
          <p:nvPr/>
        </p:nvSpPr>
        <p:spPr>
          <a:xfrm>
            <a:off x="-990599" y="-559949"/>
            <a:ext cx="13309600" cy="55509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-812799" y="6870307"/>
            <a:ext cx="13309600" cy="1830182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燕尾形 2"/>
          <p:cNvSpPr/>
          <p:nvPr/>
        </p:nvSpPr>
        <p:spPr>
          <a:xfrm>
            <a:off x="11618636" y="5901033"/>
            <a:ext cx="364564" cy="490071"/>
          </a:xfrm>
          <a:prstGeom prst="chevron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52584" y="2231643"/>
            <a:ext cx="3366200" cy="614003"/>
            <a:chOff x="8482002" y="88145"/>
            <a:chExt cx="3125988" cy="570188"/>
          </a:xfrm>
        </p:grpSpPr>
        <p:pic>
          <p:nvPicPr>
            <p:cNvPr id="20" name="Picture 3" descr="校标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4" descr="校名 标准色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33959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51" r="38854" b="3001"/>
          <a:stretch/>
        </p:blipFill>
        <p:spPr>
          <a:xfrm>
            <a:off x="0" y="6032"/>
            <a:ext cx="4457700" cy="684323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44577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70000"/>
                </a:schemeClr>
              </a:gs>
              <a:gs pos="100000">
                <a:schemeClr val="accent1">
                  <a:lumMod val="75000"/>
                  <a:alpha val="7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6409" y="864704"/>
            <a:ext cx="35254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541045" y="1634145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534469" y="2675470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534468" y="3713457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541045" y="4740458"/>
            <a:ext cx="1162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n>
                  <a:solidFill>
                    <a:schemeClr val="bg1">
                      <a:lumMod val="50000"/>
                    </a:schemeClr>
                  </a:solidFill>
                </a:ln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b="1" dirty="0">
              <a:ln>
                <a:solidFill>
                  <a:schemeClr val="bg1">
                    <a:lumMod val="50000"/>
                  </a:schemeClr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697347" y="1718602"/>
            <a:ext cx="3140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697346" y="2763038"/>
            <a:ext cx="43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架构下的前后端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697345" y="3805789"/>
            <a:ext cx="43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启动前后端服务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697344" y="4848542"/>
            <a:ext cx="4311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前端、后端、数据库交互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9255810" y="110683"/>
            <a:ext cx="2334353" cy="425792"/>
            <a:chOff x="8482002" y="88145"/>
            <a:chExt cx="3125988" cy="570188"/>
          </a:xfrm>
        </p:grpSpPr>
        <p:pic>
          <p:nvPicPr>
            <p:cNvPr id="41" name="Picture 3" descr="校标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" name="Picture 4" descr="校名 标准色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椭圆 1"/>
          <p:cNvSpPr/>
          <p:nvPr/>
        </p:nvSpPr>
        <p:spPr>
          <a:xfrm>
            <a:off x="5909106" y="1883693"/>
            <a:ext cx="131482" cy="131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5909106" y="2928129"/>
            <a:ext cx="131482" cy="131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5909106" y="3972565"/>
            <a:ext cx="131482" cy="131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5909106" y="4997882"/>
            <a:ext cx="131482" cy="1314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96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400799" y="1808911"/>
            <a:ext cx="5014191" cy="275820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4" b="6782"/>
          <a:stretch/>
        </p:blipFill>
        <p:spPr>
          <a:xfrm>
            <a:off x="6667422" y="2085109"/>
            <a:ext cx="5067378" cy="2895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67422" y="2085108"/>
            <a:ext cx="5067378" cy="2895601"/>
          </a:xfrm>
          <a:prstGeom prst="rect">
            <a:avLst/>
          </a:prstGeom>
          <a:solidFill>
            <a:schemeClr val="bg1">
              <a:lumMod val="95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07" y="2368580"/>
            <a:ext cx="2555571" cy="73866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  1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1307" y="3300626"/>
            <a:ext cx="3374322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</p:spTree>
    <p:extLst>
      <p:ext uri="{BB962C8B-B14F-4D97-AF65-F5344CB8AC3E}">
        <p14:creationId xmlns:p14="http://schemas.microsoft.com/office/powerpoint/2010/main" val="2110451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8850" y="423500"/>
            <a:ext cx="330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</a:p>
        </p:txBody>
      </p:sp>
      <p:cxnSp>
        <p:nvCxnSpPr>
          <p:cNvPr id="7" name="直接连接符 6"/>
          <p:cNvCxnSpPr>
            <a:cxnSpLocks/>
            <a:endCxn id="13" idx="1"/>
          </p:cNvCxnSpPr>
          <p:nvPr/>
        </p:nvCxnSpPr>
        <p:spPr>
          <a:xfrm>
            <a:off x="0" y="6438900"/>
            <a:ext cx="986961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869618" y="6177290"/>
            <a:ext cx="1449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spc="300" dirty="0">
                <a:ln>
                  <a:solidFill>
                    <a:schemeClr val="bg1">
                      <a:lumMod val="65000"/>
                    </a:schemeClr>
                  </a:solidFill>
                </a:ln>
                <a:noFill/>
              </a:rPr>
              <a:t>ECUST</a:t>
            </a:r>
            <a:endParaRPr lang="zh-CN" altLang="en-US" sz="2800" b="1" spc="300" dirty="0">
              <a:ln>
                <a:solidFill>
                  <a:schemeClr val="bg1">
                    <a:lumMod val="65000"/>
                  </a:schemeClr>
                </a:solidFill>
              </a:ln>
              <a:noFill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165019" y="6334125"/>
            <a:ext cx="1043154" cy="222250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15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FC82CC3-4274-4DBB-AC8F-674BBF02B84E}"/>
              </a:ext>
            </a:extLst>
          </p:cNvPr>
          <p:cNvSpPr txBox="1"/>
          <p:nvPr/>
        </p:nvSpPr>
        <p:spPr>
          <a:xfrm>
            <a:off x="378850" y="1019384"/>
            <a:ext cx="11667910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B/S </a:t>
            </a:r>
            <a:r>
              <a:rPr lang="zh-CN" altLang="en-US" dirty="0"/>
              <a:t>指浏览器，服务器，其特点有：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1. </a:t>
            </a:r>
            <a:r>
              <a:rPr lang="zh-CN" altLang="en-US" dirty="0"/>
              <a:t>不需要安装，直接在浏览器上访问指定的网址就可以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 </a:t>
            </a:r>
            <a:r>
              <a:rPr lang="zh-CN" altLang="en-US" dirty="0"/>
              <a:t>软件更新时，客户端不用更新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3. </a:t>
            </a:r>
            <a:r>
              <a:rPr lang="zh-CN" altLang="en-US" dirty="0"/>
              <a:t>软件可以跨平台，只要有浏览器们就可以使用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4. B/S</a:t>
            </a:r>
            <a:r>
              <a:rPr lang="zh-CN" altLang="en-US" dirty="0"/>
              <a:t>架构的软件，客户端与服务器之间通信采用的是</a:t>
            </a:r>
            <a:r>
              <a:rPr lang="en-US" altLang="zh-CN" dirty="0"/>
              <a:t>http</a:t>
            </a:r>
            <a:r>
              <a:rPr lang="zh-CN" altLang="en-US" dirty="0"/>
              <a:t>协议，相对来说不安全。后来就有了</a:t>
            </a:r>
            <a:r>
              <a:rPr lang="en-US" altLang="zh-CN" dirty="0"/>
              <a:t>https</a:t>
            </a:r>
            <a:r>
              <a:rPr lang="zh-CN" altLang="en-US" dirty="0"/>
              <a:t>加密协议，改变了安全性，但是成本较昂贵。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2EDF5F9-CD06-4A24-9B01-893F6CAB4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30" y="3594216"/>
            <a:ext cx="8721152" cy="258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9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400799" y="1808911"/>
            <a:ext cx="5014191" cy="275820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4" b="6782"/>
          <a:stretch/>
        </p:blipFill>
        <p:spPr>
          <a:xfrm>
            <a:off x="6667422" y="2085109"/>
            <a:ext cx="5067378" cy="2895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67422" y="2085108"/>
            <a:ext cx="5067378" cy="2895601"/>
          </a:xfrm>
          <a:prstGeom prst="rect">
            <a:avLst/>
          </a:prstGeom>
          <a:solidFill>
            <a:schemeClr val="bg1">
              <a:lumMod val="95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07" y="2368580"/>
            <a:ext cx="2555571" cy="73866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  2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1307" y="3300626"/>
            <a:ext cx="5144037" cy="20313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架构下的</a:t>
            </a:r>
            <a:endParaRPr lang="en-US" altLang="zh-CN" sz="6600" b="1" spc="300" dirty="0">
              <a:solidFill>
                <a:srgbClr val="005D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前端和后端</a:t>
            </a:r>
          </a:p>
        </p:txBody>
      </p:sp>
    </p:spTree>
    <p:extLst>
      <p:ext uri="{BB962C8B-B14F-4D97-AF65-F5344CB8AC3E}">
        <p14:creationId xmlns:p14="http://schemas.microsoft.com/office/powerpoint/2010/main" val="384478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378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架构下的前端和后端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7231C-4D04-42A3-982A-27412595EA3C}"/>
              </a:ext>
            </a:extLst>
          </p:cNvPr>
          <p:cNvSpPr txBox="1"/>
          <p:nvPr/>
        </p:nvSpPr>
        <p:spPr>
          <a:xfrm>
            <a:off x="637216" y="1607871"/>
            <a:ext cx="109175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那么前端是什么，后端是什么，他们之间又是怎么来完成交互的：</a:t>
            </a:r>
          </a:p>
          <a:p>
            <a:endParaRPr lang="zh-CN" altLang="en-US" dirty="0"/>
          </a:p>
          <a:p>
            <a:r>
              <a:rPr lang="zh-CN" altLang="en-US" dirty="0"/>
              <a:t>- 前端：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	</a:t>
            </a:r>
            <a:r>
              <a:rPr lang="zh-CN" altLang="en-US" dirty="0"/>
              <a:t>通过在页面上绑定的事件，获取到用户的信息，</a:t>
            </a:r>
            <a:r>
              <a:rPr lang="zh-CN" altLang="en-US" dirty="0">
                <a:solidFill>
                  <a:srgbClr val="FF0000"/>
                </a:solidFill>
              </a:rPr>
              <a:t>把信息传递给后端</a:t>
            </a:r>
            <a:r>
              <a:rPr lang="zh-CN" altLang="en-US" dirty="0"/>
              <a:t>，让后端存储起来，同时把后端给的数据展示在页面上。</a:t>
            </a:r>
          </a:p>
          <a:p>
            <a:endParaRPr lang="zh-CN" altLang="en-US" dirty="0"/>
          </a:p>
          <a:p>
            <a:r>
              <a:rPr lang="zh-CN" altLang="en-US" dirty="0"/>
              <a:t>- 后端：</a:t>
            </a:r>
          </a:p>
          <a:p>
            <a:r>
              <a:rPr lang="zh-CN" altLang="en-US" dirty="0"/>
              <a:t>  ​	当前端需要数据的时候，后端从数据库拿到数据给前端，同时把前端传进来的数据存到数据库里。注意的是：数据库是专门让后端进行数据的增、删、改、查的。并且</a:t>
            </a:r>
            <a:r>
              <a:rPr lang="zh-CN" altLang="en-US" dirty="0">
                <a:solidFill>
                  <a:srgbClr val="FF0000"/>
                </a:solidFill>
              </a:rPr>
              <a:t>前端是不能够操作数据库</a:t>
            </a:r>
            <a:r>
              <a:rPr lang="zh-CN" altLang="en-US" dirty="0"/>
              <a:t>的，我们只有通过和后端的相互交互来实现共同的效果。</a:t>
            </a:r>
          </a:p>
          <a:p>
            <a:endParaRPr lang="zh-CN" altLang="en-US" dirty="0"/>
          </a:p>
          <a:p>
            <a:r>
              <a:rPr lang="zh-CN" altLang="en-US" dirty="0"/>
              <a:t>前端和后端的交互基于http协议（或https协议），前端在浏览器中使用POST，DELETE，PUT和GET四种请求方式分别对指定的URL资源进行增删改查操作。</a:t>
            </a:r>
          </a:p>
          <a:p>
            <a:endParaRPr lang="zh-CN" altLang="en-US" dirty="0"/>
          </a:p>
          <a:p>
            <a:r>
              <a:rPr lang="zh-CN" altLang="en-US" dirty="0"/>
              <a:t>该Demo是一个</a:t>
            </a:r>
            <a:r>
              <a:rPr lang="zh-CN" altLang="en-US" dirty="0">
                <a:solidFill>
                  <a:srgbClr val="FF0000"/>
                </a:solidFill>
              </a:rPr>
              <a:t>基于Http的前后端分离的B/S架构</a:t>
            </a:r>
            <a:r>
              <a:rPr lang="zh-CN" altLang="en-US" dirty="0"/>
              <a:t>，浏览器（</a:t>
            </a:r>
            <a:r>
              <a:rPr lang="zh-CN" altLang="en-US" dirty="0">
                <a:solidFill>
                  <a:srgbClr val="FF0000"/>
                </a:solidFill>
              </a:rPr>
              <a:t>Browser</a:t>
            </a:r>
            <a:r>
              <a:rPr lang="zh-CN" altLang="en-US" dirty="0"/>
              <a:t> ）承担与用户交互的工作（包括构建DOM树，解析javascript，渲染CSS等工作），服务器（</a:t>
            </a:r>
            <a:r>
              <a:rPr lang="zh-CN" altLang="en-US" dirty="0">
                <a:solidFill>
                  <a:srgbClr val="FF0000"/>
                </a:solidFill>
              </a:rPr>
              <a:t>Server</a:t>
            </a:r>
            <a:r>
              <a:rPr lang="zh-CN" altLang="en-US" dirty="0"/>
              <a:t>）存储用户数据和操作用户数据的方法。</a:t>
            </a:r>
          </a:p>
        </p:txBody>
      </p:sp>
    </p:spTree>
    <p:extLst>
      <p:ext uri="{BB962C8B-B14F-4D97-AF65-F5344CB8AC3E}">
        <p14:creationId xmlns:p14="http://schemas.microsoft.com/office/powerpoint/2010/main" val="394648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378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前端服务和后端服务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7231C-4D04-42A3-982A-27412595EA3C}"/>
              </a:ext>
            </a:extLst>
          </p:cNvPr>
          <p:cNvSpPr txBox="1"/>
          <p:nvPr/>
        </p:nvSpPr>
        <p:spPr>
          <a:xfrm>
            <a:off x="378849" y="1071200"/>
            <a:ext cx="109175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/>
              <a:t>一般来说，服务（</a:t>
            </a:r>
            <a:r>
              <a:rPr lang="en-US" altLang="zh-CN" dirty="0">
                <a:solidFill>
                  <a:srgbClr val="FF0000"/>
                </a:solidFill>
              </a:rPr>
              <a:t>server</a:t>
            </a:r>
            <a:r>
              <a:rPr lang="zh-CN" altLang="en-US" dirty="0"/>
              <a:t>）是指</a:t>
            </a:r>
            <a:r>
              <a:rPr lang="en-US" altLang="zh-CN" dirty="0"/>
              <a:t>web</a:t>
            </a:r>
            <a:r>
              <a:rPr lang="zh-CN" altLang="en-US" dirty="0"/>
              <a:t>服务（</a:t>
            </a:r>
            <a:r>
              <a:rPr lang="en-US" altLang="zh-CN" dirty="0">
                <a:solidFill>
                  <a:srgbClr val="FF0000"/>
                </a:solidFill>
              </a:rPr>
              <a:t>web server</a:t>
            </a:r>
            <a:r>
              <a:rPr lang="zh-CN" altLang="en-US" dirty="0"/>
              <a:t>），前端无非就是把</a:t>
            </a:r>
            <a:r>
              <a:rPr lang="en-US" altLang="zh-CN" dirty="0"/>
              <a:t>html</a:t>
            </a:r>
            <a:r>
              <a:rPr lang="zh-CN" altLang="en-US" dirty="0"/>
              <a:t>、</a:t>
            </a:r>
            <a:r>
              <a:rPr lang="en-US" altLang="zh-CN" dirty="0" err="1"/>
              <a:t>css</a:t>
            </a:r>
            <a:r>
              <a:rPr lang="zh-CN" altLang="en-US" dirty="0"/>
              <a:t>、</a:t>
            </a:r>
            <a:r>
              <a:rPr lang="en-US" altLang="zh-CN" dirty="0" err="1"/>
              <a:t>js</a:t>
            </a:r>
            <a:r>
              <a:rPr lang="en-US" altLang="zh-CN" dirty="0"/>
              <a:t> </a:t>
            </a:r>
            <a:r>
              <a:rPr lang="zh-CN" altLang="en-US" dirty="0"/>
              <a:t>一股脑丢给浏览器让它渲染成一个供用户操作的页面，那为什么我们要启动一个前端服务呢？</a:t>
            </a:r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在以前</a:t>
            </a:r>
            <a:r>
              <a:rPr lang="en-US" altLang="zh-CN" dirty="0">
                <a:solidFill>
                  <a:srgbClr val="FF0000"/>
                </a:solidFill>
              </a:rPr>
              <a:t>JSP</a:t>
            </a:r>
            <a:r>
              <a:rPr lang="zh-CN" altLang="en-US" dirty="0"/>
              <a:t>盛行的年代，的确很少有前台服务的说法，那时候渲染工作是由后台完成的，后端工程师将要展现给用户的数据插入</a:t>
            </a:r>
            <a:r>
              <a:rPr lang="en-US" altLang="zh-CN" dirty="0"/>
              <a:t>html</a:t>
            </a:r>
            <a:r>
              <a:rPr lang="zh-CN" altLang="en-US" dirty="0"/>
              <a:t>文件中，然后传递静态页面给前台，前台再交给浏览器进行解析，当用户操作页面元素时，再由</a:t>
            </a:r>
            <a:r>
              <a:rPr lang="en-US" altLang="zh-CN" dirty="0" err="1"/>
              <a:t>javascript</a:t>
            </a:r>
            <a:r>
              <a:rPr lang="zh-CN" altLang="en-US" dirty="0"/>
              <a:t>捕获事件对象、事件类型，根据类型执行相应函数，进而实现页面的动态变化。</a:t>
            </a:r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而现在随着</a:t>
            </a:r>
            <a:r>
              <a:rPr lang="en-US" altLang="zh-CN" dirty="0"/>
              <a:t>Angular</a:t>
            </a:r>
            <a:r>
              <a:rPr lang="zh-CN" altLang="en-US" dirty="0"/>
              <a:t>、</a:t>
            </a:r>
            <a:r>
              <a:rPr lang="en-US" altLang="zh-CN" dirty="0"/>
              <a:t>React</a:t>
            </a:r>
            <a:r>
              <a:rPr lang="zh-CN" altLang="en-US" dirty="0"/>
              <a:t>、</a:t>
            </a:r>
            <a:r>
              <a:rPr lang="en-US" altLang="zh-CN" dirty="0"/>
              <a:t>Vue</a:t>
            </a:r>
            <a:r>
              <a:rPr lang="zh-CN" altLang="en-US" dirty="0"/>
              <a:t>等</a:t>
            </a:r>
            <a:r>
              <a:rPr lang="zh-CN" altLang="en-US" dirty="0">
                <a:solidFill>
                  <a:srgbClr val="FF0000"/>
                </a:solidFill>
              </a:rPr>
              <a:t>响应式</a:t>
            </a:r>
            <a:r>
              <a:rPr lang="en-US" altLang="zh-CN" dirty="0">
                <a:solidFill>
                  <a:srgbClr val="FF0000"/>
                </a:solidFill>
              </a:rPr>
              <a:t>JavaScript</a:t>
            </a:r>
            <a:r>
              <a:rPr lang="zh-CN" altLang="en-US" dirty="0">
                <a:solidFill>
                  <a:srgbClr val="FF0000"/>
                </a:solidFill>
              </a:rPr>
              <a:t>框架</a:t>
            </a:r>
            <a:r>
              <a:rPr lang="zh-CN" altLang="en-US" dirty="0"/>
              <a:t>的出现，带动了前后端分离开发的热潮，几乎所有和用户交互相关的操作如今都在前端完成，而后端只需要专注于性能优化，换句话说，前后的边界逐渐向前端偏移。</a:t>
            </a:r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传统的前端视图展示只依赖 </a:t>
            </a:r>
            <a:r>
              <a:rPr lang="en-US" altLang="zh-CN" dirty="0"/>
              <a:t>html</a:t>
            </a:r>
            <a:r>
              <a:rPr lang="zh-CN" altLang="en-US" dirty="0"/>
              <a:t>、</a:t>
            </a:r>
            <a:r>
              <a:rPr lang="en-US" altLang="zh-CN" dirty="0" err="1"/>
              <a:t>css</a:t>
            </a:r>
            <a:r>
              <a:rPr lang="zh-CN" altLang="en-US" dirty="0"/>
              <a:t>、</a:t>
            </a:r>
            <a:r>
              <a:rPr lang="en-US" altLang="zh-CN" dirty="0" err="1"/>
              <a:t>js</a:t>
            </a:r>
            <a:r>
              <a:rPr lang="en-US" altLang="zh-CN" dirty="0"/>
              <a:t> </a:t>
            </a:r>
            <a:r>
              <a:rPr lang="zh-CN" altLang="en-US" dirty="0"/>
              <a:t>三驾马车（关于</a:t>
            </a:r>
            <a:r>
              <a:rPr lang="en-US" altLang="zh-CN" dirty="0"/>
              <a:t>HTML/CSS/JS</a:t>
            </a:r>
            <a:r>
              <a:rPr lang="zh-CN" altLang="en-US" dirty="0"/>
              <a:t>是如何在浏览器中渲染成我们看到的页面，可以参考</a:t>
            </a:r>
            <a:r>
              <a:rPr lang="en-US" altLang="zh-CN" i="1" u="sng" dirty="0"/>
              <a:t>https://mp.weixin.qq.com/s/0jXQFRzFDfuphjU40x8LfA</a:t>
            </a:r>
            <a:r>
              <a:rPr lang="zh-CN" altLang="en-US" dirty="0"/>
              <a:t>），但在前后端分离的模式下，服务被分为了</a:t>
            </a:r>
            <a:r>
              <a:rPr lang="zh-CN" altLang="en-US" dirty="0">
                <a:solidFill>
                  <a:srgbClr val="FF0000"/>
                </a:solidFill>
              </a:rPr>
              <a:t>前端服务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后端服务</a:t>
            </a:r>
            <a:r>
              <a:rPr lang="zh-CN" altLang="en-US" dirty="0"/>
              <a:t>两部分，前端服务为用户提供无模型的视图（无数据）；后端服务为前端服务提供接口。浏览器向前端服务请求视图，通过视图中包含的</a:t>
            </a:r>
            <a:r>
              <a:rPr lang="en-US" altLang="zh-CN" dirty="0"/>
              <a:t>JavaScript</a:t>
            </a:r>
            <a:r>
              <a:rPr lang="zh-CN" altLang="en-US" dirty="0"/>
              <a:t>函数发起接口请求获取模型。</a:t>
            </a:r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前后端分离的项目开发，有利于团队并行开发，提高生产效率。在前后端分离的开发模式中，我们将</a:t>
            </a:r>
            <a:r>
              <a:rPr lang="en-US" altLang="zh-CN" dirty="0"/>
              <a:t>HTTP</a:t>
            </a:r>
            <a:r>
              <a:rPr lang="zh-CN" altLang="en-US" dirty="0"/>
              <a:t>请求转移到前端服务器上，降低服务器的负荷，使视图获取后端模型失败也能呈现。但前后端分离的开发模式却不适用于所有的项目，当项目比较小时无需分离，这将使项目变得更加复杂。</a:t>
            </a:r>
          </a:p>
        </p:txBody>
      </p:sp>
    </p:spTree>
    <p:extLst>
      <p:ext uri="{BB962C8B-B14F-4D97-AF65-F5344CB8AC3E}">
        <p14:creationId xmlns:p14="http://schemas.microsoft.com/office/powerpoint/2010/main" val="217179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400799" y="1808911"/>
            <a:ext cx="5014191" cy="275820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4" b="6782"/>
          <a:stretch/>
        </p:blipFill>
        <p:spPr>
          <a:xfrm>
            <a:off x="6667422" y="2085109"/>
            <a:ext cx="5067378" cy="2895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67422" y="2085108"/>
            <a:ext cx="5067378" cy="2895601"/>
          </a:xfrm>
          <a:prstGeom prst="rect">
            <a:avLst/>
          </a:prstGeom>
          <a:solidFill>
            <a:schemeClr val="bg1">
              <a:lumMod val="95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07" y="2368580"/>
            <a:ext cx="2555571" cy="73866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  3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1307" y="3300626"/>
            <a:ext cx="6194003" cy="10156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启动前后端服务</a:t>
            </a:r>
          </a:p>
        </p:txBody>
      </p:sp>
    </p:spTree>
    <p:extLst>
      <p:ext uri="{BB962C8B-B14F-4D97-AF65-F5344CB8AC3E}">
        <p14:creationId xmlns:p14="http://schemas.microsoft.com/office/powerpoint/2010/main" val="148242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启动后端服务前需要知道的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--maven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7231C-4D04-42A3-982A-27412595EA3C}"/>
              </a:ext>
            </a:extLst>
          </p:cNvPr>
          <p:cNvSpPr txBox="1"/>
          <p:nvPr/>
        </p:nvSpPr>
        <p:spPr>
          <a:xfrm>
            <a:off x="440218" y="1353427"/>
            <a:ext cx="109175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在了解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Maven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之前，我们先来看看一个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Java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项目需要的东西。</a:t>
            </a:r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首先，我们需要确定引入哪些依赖包。例如，如果我们需要用到</a:t>
            </a:r>
            <a:r>
              <a:rPr lang="en-US" altLang="zh-CN" i="1" dirty="0"/>
              <a:t>commons logging</a:t>
            </a:r>
            <a:r>
              <a:rPr lang="zh-CN" altLang="en-US" dirty="0"/>
              <a:t>，我们就必须把</a:t>
            </a:r>
            <a:r>
              <a:rPr lang="en-US" altLang="zh-CN" i="1" dirty="0"/>
              <a:t>commons logging</a:t>
            </a:r>
            <a:r>
              <a:rPr lang="zh-CN" altLang="en-US" dirty="0"/>
              <a:t>的</a:t>
            </a:r>
            <a:r>
              <a:rPr lang="en-US" altLang="zh-CN" dirty="0"/>
              <a:t>jar</a:t>
            </a:r>
            <a:r>
              <a:rPr lang="zh-CN" altLang="en-US" dirty="0"/>
              <a:t>包放入</a:t>
            </a:r>
            <a:r>
              <a:rPr lang="en-US" altLang="zh-CN" dirty="0" err="1"/>
              <a:t>classpath</a:t>
            </a:r>
            <a:r>
              <a:rPr lang="zh-CN" altLang="en-US" dirty="0"/>
              <a:t>。如果我们还需要</a:t>
            </a:r>
            <a:r>
              <a:rPr lang="en-US" altLang="zh-CN" i="1" dirty="0"/>
              <a:t>log4j</a:t>
            </a:r>
            <a:r>
              <a:rPr lang="zh-CN" altLang="en-US" dirty="0"/>
              <a:t>，就需要把</a:t>
            </a:r>
            <a:r>
              <a:rPr lang="en-US" altLang="zh-CN" i="1" dirty="0"/>
              <a:t>log4j</a:t>
            </a:r>
            <a:r>
              <a:rPr lang="zh-CN" altLang="en-US" dirty="0"/>
              <a:t>相关的</a:t>
            </a:r>
            <a:r>
              <a:rPr lang="en-US" altLang="zh-CN" dirty="0"/>
              <a:t>jar</a:t>
            </a:r>
            <a:r>
              <a:rPr lang="zh-CN" altLang="en-US" dirty="0"/>
              <a:t>包都放到</a:t>
            </a:r>
            <a:r>
              <a:rPr lang="en-US" altLang="zh-CN" dirty="0" err="1"/>
              <a:t>classpath</a:t>
            </a:r>
            <a:r>
              <a:rPr lang="zh-CN" altLang="en-US" dirty="0"/>
              <a:t>中。这些就是依赖包的管理。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其次，我们要确定项目的目录结构。例如，</a:t>
            </a:r>
            <a:r>
              <a:rPr lang="en-US" altLang="zh-CN" dirty="0" err="1"/>
              <a:t>src</a:t>
            </a:r>
            <a:r>
              <a:rPr lang="zh-CN" altLang="en-US" dirty="0"/>
              <a:t>目录存放</a:t>
            </a:r>
            <a:r>
              <a:rPr lang="en-US" altLang="zh-CN" dirty="0"/>
              <a:t>Java</a:t>
            </a:r>
            <a:r>
              <a:rPr lang="zh-CN" altLang="en-US" dirty="0"/>
              <a:t>源码，</a:t>
            </a:r>
            <a:r>
              <a:rPr lang="en-US" altLang="zh-CN" dirty="0"/>
              <a:t>resources</a:t>
            </a:r>
            <a:r>
              <a:rPr lang="zh-CN" altLang="en-US" dirty="0"/>
              <a:t>目录存放配置文件，</a:t>
            </a:r>
            <a:r>
              <a:rPr lang="en-US" altLang="zh-CN" dirty="0"/>
              <a:t>bin</a:t>
            </a:r>
            <a:r>
              <a:rPr lang="zh-CN" altLang="en-US" dirty="0"/>
              <a:t>目录存放编译生成的</a:t>
            </a:r>
            <a:r>
              <a:rPr lang="en-US" altLang="zh-CN" dirty="0"/>
              <a:t>.class</a:t>
            </a:r>
            <a:r>
              <a:rPr lang="zh-CN" altLang="en-US" dirty="0"/>
              <a:t>文件。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此外，我们还需要配置环境，例如</a:t>
            </a:r>
            <a:r>
              <a:rPr lang="en-US" altLang="zh-CN" dirty="0"/>
              <a:t>JDK</a:t>
            </a:r>
            <a:r>
              <a:rPr lang="zh-CN" altLang="en-US" dirty="0"/>
              <a:t>的版本，编译打包的流程，当前代码的版本号。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最后，除了使用</a:t>
            </a:r>
            <a:r>
              <a:rPr lang="en-US" altLang="zh-CN" dirty="0"/>
              <a:t>Eclipse</a:t>
            </a:r>
            <a:r>
              <a:rPr lang="zh-CN" altLang="en-US" dirty="0"/>
              <a:t>这样的</a:t>
            </a:r>
            <a:r>
              <a:rPr lang="en-US" altLang="zh-CN" dirty="0"/>
              <a:t>IDE</a:t>
            </a:r>
            <a:r>
              <a:rPr lang="zh-CN" altLang="en-US" dirty="0"/>
              <a:t>进行编译外，我们还必须能通过命令行工具进行编译，才能够让项目在一个独立的服务器上编译、测试、部署。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这些工作难度不大，但是非常琐碎且耗时。如果每一个项目都自己搞一套配置，肯定会一团糟。我们需要的是一个标准化的</a:t>
            </a:r>
            <a:r>
              <a:rPr lang="en-US" altLang="zh-CN" dirty="0"/>
              <a:t>Java</a:t>
            </a:r>
            <a:r>
              <a:rPr lang="zh-CN" altLang="en-US" dirty="0"/>
              <a:t>项目管理和构建工具。</a:t>
            </a:r>
          </a:p>
          <a:p>
            <a:endParaRPr lang="zh-CN" altLang="en-US" dirty="0"/>
          </a:p>
          <a:p>
            <a:r>
              <a:rPr lang="en-US" altLang="zh-CN" dirty="0"/>
              <a:t>Maven</a:t>
            </a:r>
            <a:r>
              <a:rPr lang="zh-CN" altLang="en-US" dirty="0"/>
              <a:t>就是是专门为</a:t>
            </a:r>
            <a:r>
              <a:rPr lang="en-US" altLang="zh-CN" dirty="0"/>
              <a:t>Java</a:t>
            </a:r>
            <a:r>
              <a:rPr lang="zh-CN" altLang="en-US" dirty="0"/>
              <a:t>项目打造的管理和构建工具，它的主要功能有：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提供了一套标准化的项目结构；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提供了一套标准化的构建流程（编译，测试，打包，发布</a:t>
            </a:r>
            <a:r>
              <a:rPr lang="en-US" altLang="zh-CN" dirty="0"/>
              <a:t>……</a:t>
            </a:r>
            <a:r>
              <a:rPr lang="zh-CN" altLang="en-US" dirty="0"/>
              <a:t>）；</a:t>
            </a:r>
          </a:p>
          <a:p>
            <a:pPr lvl="1"/>
            <a:r>
              <a:rPr lang="en-US" altLang="zh-CN" dirty="0"/>
              <a:t>- </a:t>
            </a:r>
            <a:r>
              <a:rPr lang="zh-CN" altLang="en-US" dirty="0"/>
              <a:t>提供了一套依赖管理机制。</a:t>
            </a:r>
          </a:p>
        </p:txBody>
      </p:sp>
    </p:spTree>
    <p:extLst>
      <p:ext uri="{BB962C8B-B14F-4D97-AF65-F5344CB8AC3E}">
        <p14:creationId xmlns:p14="http://schemas.microsoft.com/office/powerpoint/2010/main" val="3195815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启动后端服务前需要知道的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--maven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7231C-4D04-42A3-982A-27412595EA3C}"/>
              </a:ext>
            </a:extLst>
          </p:cNvPr>
          <p:cNvSpPr txBox="1"/>
          <p:nvPr/>
        </p:nvSpPr>
        <p:spPr>
          <a:xfrm>
            <a:off x="440218" y="1097036"/>
            <a:ext cx="10917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Maven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项目结构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  <a:p>
            <a:r>
              <a:rPr lang="zh-CN" altLang="en-US" dirty="0"/>
              <a:t>一个使用</a:t>
            </a:r>
            <a:r>
              <a:rPr lang="en-US" altLang="zh-CN" dirty="0"/>
              <a:t>Maven</a:t>
            </a:r>
            <a:r>
              <a:rPr lang="zh-CN" altLang="en-US" dirty="0"/>
              <a:t>管理的普通的</a:t>
            </a:r>
            <a:r>
              <a:rPr lang="en-US" altLang="zh-CN" dirty="0"/>
              <a:t>Java</a:t>
            </a:r>
            <a:r>
              <a:rPr lang="zh-CN" altLang="en-US" dirty="0"/>
              <a:t>项目，它的目录结构默认如下：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EBF567-8F9C-4D9C-93FD-1BFDEA2CE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838" y="2081212"/>
            <a:ext cx="8028776" cy="228816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3AAE941-4D68-469C-BE25-8EC355307EC6}"/>
              </a:ext>
            </a:extLst>
          </p:cNvPr>
          <p:cNvSpPr txBox="1"/>
          <p:nvPr/>
        </p:nvSpPr>
        <p:spPr>
          <a:xfrm>
            <a:off x="440218" y="4581244"/>
            <a:ext cx="109175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 项目的根目录</a:t>
            </a:r>
            <a:r>
              <a:rPr lang="en-US" altLang="zh-CN" dirty="0">
                <a:solidFill>
                  <a:srgbClr val="FF0000"/>
                </a:solidFill>
              </a:rPr>
              <a:t>a-maven-project</a:t>
            </a:r>
            <a:r>
              <a:rPr lang="zh-CN" altLang="en-US" dirty="0"/>
              <a:t>是项目名，它有一个项目描述文件</a:t>
            </a:r>
            <a:r>
              <a:rPr lang="en-US" altLang="zh-CN" dirty="0">
                <a:solidFill>
                  <a:srgbClr val="FF0000"/>
                </a:solidFill>
              </a:rPr>
              <a:t>pom.xml</a:t>
            </a:r>
            <a:r>
              <a:rPr lang="zh-CN" altLang="en-US" dirty="0"/>
              <a:t>，存放</a:t>
            </a:r>
            <a:r>
              <a:rPr lang="en-US" altLang="zh-CN" dirty="0"/>
              <a:t>Java</a:t>
            </a:r>
            <a:r>
              <a:rPr lang="zh-CN" altLang="en-US" dirty="0"/>
              <a:t>源码的目录是</a:t>
            </a:r>
            <a:r>
              <a:rPr lang="en-US" altLang="zh-CN" dirty="0" err="1">
                <a:solidFill>
                  <a:srgbClr val="FF0000"/>
                </a:solidFill>
              </a:rPr>
              <a:t>src</a:t>
            </a:r>
            <a:r>
              <a:rPr lang="en-US" altLang="zh-CN" dirty="0">
                <a:solidFill>
                  <a:srgbClr val="FF0000"/>
                </a:solidFill>
              </a:rPr>
              <a:t>/main/java</a:t>
            </a:r>
            <a:r>
              <a:rPr lang="zh-CN" altLang="en-US" dirty="0"/>
              <a:t>，存放资源文件的目录是</a:t>
            </a:r>
            <a:r>
              <a:rPr lang="en-US" altLang="zh-CN" dirty="0" err="1">
                <a:solidFill>
                  <a:srgbClr val="FF0000"/>
                </a:solidFill>
              </a:rPr>
              <a:t>src</a:t>
            </a:r>
            <a:r>
              <a:rPr lang="en-US" altLang="zh-CN" dirty="0">
                <a:solidFill>
                  <a:srgbClr val="FF0000"/>
                </a:solidFill>
              </a:rPr>
              <a:t>/main/resources</a:t>
            </a:r>
            <a:r>
              <a:rPr lang="zh-CN" altLang="en-US" dirty="0"/>
              <a:t>，存放测试源码的目录是</a:t>
            </a:r>
            <a:r>
              <a:rPr lang="en-US" altLang="zh-CN" dirty="0" err="1">
                <a:solidFill>
                  <a:srgbClr val="FF0000"/>
                </a:solidFill>
              </a:rPr>
              <a:t>src</a:t>
            </a:r>
            <a:r>
              <a:rPr lang="en-US" altLang="zh-CN" dirty="0">
                <a:solidFill>
                  <a:srgbClr val="FF0000"/>
                </a:solidFill>
              </a:rPr>
              <a:t>/test/java</a:t>
            </a:r>
            <a:r>
              <a:rPr lang="zh-CN" altLang="en-US" dirty="0"/>
              <a:t>，存放测试资源的目录是</a:t>
            </a:r>
            <a:r>
              <a:rPr lang="en-US" altLang="zh-CN" dirty="0" err="1">
                <a:solidFill>
                  <a:srgbClr val="FF0000"/>
                </a:solidFill>
              </a:rPr>
              <a:t>src</a:t>
            </a:r>
            <a:r>
              <a:rPr lang="en-US" altLang="zh-CN" dirty="0">
                <a:solidFill>
                  <a:srgbClr val="FF0000"/>
                </a:solidFill>
              </a:rPr>
              <a:t>/test/resources</a:t>
            </a:r>
            <a:r>
              <a:rPr lang="zh-CN" altLang="en-US" dirty="0"/>
              <a:t>，最后，所有编译、打包生成的文件都放在</a:t>
            </a:r>
            <a:r>
              <a:rPr lang="en-US" altLang="zh-CN" dirty="0">
                <a:solidFill>
                  <a:srgbClr val="FF0000"/>
                </a:solidFill>
              </a:rPr>
              <a:t>target</a:t>
            </a:r>
            <a:r>
              <a:rPr lang="zh-CN" altLang="en-US" dirty="0"/>
              <a:t>目录里。这些就是一个</a:t>
            </a:r>
            <a:r>
              <a:rPr lang="en-US" altLang="zh-CN" dirty="0"/>
              <a:t>Maven</a:t>
            </a:r>
            <a:r>
              <a:rPr lang="zh-CN" altLang="en-US" dirty="0"/>
              <a:t>项目的标准目录结构。</a:t>
            </a:r>
          </a:p>
          <a:p>
            <a:r>
              <a:rPr lang="zh-CN" altLang="en-US" dirty="0"/>
              <a:t>         所有的目录结构都是约定好的标准结构，我们千万不要随意修改目录结构。使用标准结构不需要做任何配置，</a:t>
            </a:r>
            <a:r>
              <a:rPr lang="en-US" altLang="zh-CN" dirty="0"/>
              <a:t>Maven</a:t>
            </a:r>
            <a:r>
              <a:rPr lang="zh-CN" altLang="en-US" dirty="0"/>
              <a:t>就可以正常使用。</a:t>
            </a:r>
          </a:p>
        </p:txBody>
      </p:sp>
    </p:spTree>
    <p:extLst>
      <p:ext uri="{BB962C8B-B14F-4D97-AF65-F5344CB8AC3E}">
        <p14:creationId xmlns:p14="http://schemas.microsoft.com/office/powerpoint/2010/main" val="1283946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启动后端服务前需要知道的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--maven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65D7231C-4D04-42A3-982A-27412595EA3C}"/>
              </a:ext>
            </a:extLst>
          </p:cNvPr>
          <p:cNvSpPr txBox="1"/>
          <p:nvPr/>
        </p:nvSpPr>
        <p:spPr>
          <a:xfrm>
            <a:off x="440218" y="1054077"/>
            <a:ext cx="109175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最关键的一个项目描述文件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pom.xml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，它的内容长得像下面：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  <a:p>
            <a:r>
              <a:rPr lang="zh-CN" altLang="en-US" dirty="0"/>
              <a:t>一个使用</a:t>
            </a:r>
            <a:r>
              <a:rPr lang="en-US" altLang="zh-CN" dirty="0"/>
              <a:t>Maven</a:t>
            </a:r>
            <a:r>
              <a:rPr lang="zh-CN" altLang="en-US" dirty="0"/>
              <a:t>管理的普通的</a:t>
            </a:r>
            <a:r>
              <a:rPr lang="en-US" altLang="zh-CN" dirty="0"/>
              <a:t>Java</a:t>
            </a:r>
            <a:r>
              <a:rPr lang="zh-CN" altLang="en-US" dirty="0"/>
              <a:t>项目，它的目录结构默认如下：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4D2DA9-8679-4805-A2DE-93B7FAB5A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497" y="2002799"/>
            <a:ext cx="7503022" cy="380112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365670C-8CB6-48B5-888F-33C0B569506F}"/>
              </a:ext>
            </a:extLst>
          </p:cNvPr>
          <p:cNvSpPr txBox="1"/>
          <p:nvPr/>
        </p:nvSpPr>
        <p:spPr>
          <a:xfrm>
            <a:off x="440218" y="5866888"/>
            <a:ext cx="10831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其中，</a:t>
            </a:r>
            <a:r>
              <a:rPr lang="zh-CN" altLang="en-US" dirty="0">
                <a:solidFill>
                  <a:srgbClr val="FF0000"/>
                </a:solidFill>
              </a:rPr>
              <a:t>groupId</a:t>
            </a:r>
            <a:r>
              <a:rPr lang="zh-CN" altLang="en-US" dirty="0"/>
              <a:t>类似于Java的包名，通常是公司或组织名称，</a:t>
            </a:r>
            <a:r>
              <a:rPr lang="zh-CN" altLang="en-US" dirty="0">
                <a:solidFill>
                  <a:srgbClr val="FF0000"/>
                </a:solidFill>
              </a:rPr>
              <a:t>artifactId</a:t>
            </a:r>
            <a:r>
              <a:rPr lang="zh-CN" altLang="en-US" dirty="0"/>
              <a:t>类似于Java的类名，通常是项目名称，再加上</a:t>
            </a:r>
            <a:r>
              <a:rPr lang="zh-CN" altLang="en-US" dirty="0">
                <a:solidFill>
                  <a:srgbClr val="FF0000"/>
                </a:solidFill>
              </a:rPr>
              <a:t>version</a:t>
            </a:r>
            <a:r>
              <a:rPr lang="zh-CN" altLang="en-US" dirty="0"/>
              <a:t>，一个Maven工程就是由</a:t>
            </a:r>
            <a:r>
              <a:rPr lang="zh-CN" altLang="en-US" dirty="0">
                <a:solidFill>
                  <a:srgbClr val="FF0000"/>
                </a:solidFill>
              </a:rPr>
              <a:t>groupId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artifactId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version</a:t>
            </a:r>
            <a:r>
              <a:rPr lang="zh-CN" altLang="en-US" dirty="0"/>
              <a:t>作为唯一标识。我们在引用其他第三方库的时候，也是通过这3个变量确定。</a:t>
            </a:r>
          </a:p>
        </p:txBody>
      </p:sp>
    </p:spTree>
    <p:extLst>
      <p:ext uri="{BB962C8B-B14F-4D97-AF65-F5344CB8AC3E}">
        <p14:creationId xmlns:p14="http://schemas.microsoft.com/office/powerpoint/2010/main" val="668592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启动前端服务前需要知道的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--Node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217D9-E7CB-4E33-BD3D-AC3ECEC3977F}"/>
              </a:ext>
            </a:extLst>
          </p:cNvPr>
          <p:cNvSpPr txBox="1"/>
          <p:nvPr/>
        </p:nvSpPr>
        <p:spPr>
          <a:xfrm>
            <a:off x="378849" y="1288735"/>
            <a:ext cx="1104030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ode：</a:t>
            </a:r>
          </a:p>
          <a:p>
            <a:endParaRPr lang="zh-CN" altLang="en-US" dirty="0"/>
          </a:p>
          <a:p>
            <a:r>
              <a:rPr lang="en-US" altLang="zh-CN" dirty="0"/>
              <a:t>N</a:t>
            </a:r>
            <a:r>
              <a:rPr lang="zh-CN" altLang="en-US" dirty="0"/>
              <a:t>ode（Node.js） 是一个开源和跨平台的 JavaScript 运行时环境。 要运行一个JavaScript程序，只需要将代码片段另存为 </a:t>
            </a:r>
            <a:r>
              <a:rPr lang="zh-CN" altLang="en-US" dirty="0">
                <a:solidFill>
                  <a:srgbClr val="FF0000"/>
                </a:solidFill>
              </a:rPr>
              <a:t>test.js</a:t>
            </a:r>
            <a:r>
              <a:rPr lang="zh-CN" altLang="en-US" dirty="0"/>
              <a:t>，并在终端中输入 </a:t>
            </a:r>
            <a:r>
              <a:rPr lang="zh-CN" altLang="en-US" dirty="0">
                <a:solidFill>
                  <a:srgbClr val="FF0000"/>
                </a:solidFill>
              </a:rPr>
              <a:t>node test.js </a:t>
            </a:r>
            <a:r>
              <a:rPr lang="zh-CN" altLang="en-US" dirty="0"/>
              <a:t>就能运行该程序。</a:t>
            </a:r>
          </a:p>
          <a:p>
            <a:endParaRPr lang="zh-CN" altLang="en-US" dirty="0"/>
          </a:p>
          <a:p>
            <a:r>
              <a:rPr lang="zh-CN" altLang="en-US" dirty="0"/>
              <a:t>Node.js 应用程序在单个进程中运行，无需为每个请求创建新的线程。 Node.js 在其标准库中提供了一组异步的 I/O 原语，以防止 JavaScript 代码阻塞，通常，Node.js 中的库是使用非阻塞范式编写的，使得阻塞行为成为异常而不是常态。</a:t>
            </a:r>
          </a:p>
          <a:p>
            <a:endParaRPr lang="zh-CN" altLang="en-US" dirty="0"/>
          </a:p>
          <a:p>
            <a:r>
              <a:rPr lang="zh-CN" altLang="en-US" dirty="0"/>
              <a:t>当 Node.js 执行 I/O 操作时（比如从网络读取、访问数据库或文件系统），Node.js 将在响应返回时恢复操作（而不是阻塞线程和浪费 CPU 周期等待）。</a:t>
            </a:r>
          </a:p>
          <a:p>
            <a:endParaRPr lang="zh-CN" altLang="en-US" dirty="0"/>
          </a:p>
          <a:p>
            <a:r>
              <a:rPr lang="zh-CN" altLang="en-US" dirty="0"/>
              <a:t>这允许 Node.js 使用单个服务器处理数千个并发连接，而不会引入管理线程并发（这可能是错误的重要来源）的负担。</a:t>
            </a:r>
          </a:p>
          <a:p>
            <a:endParaRPr lang="zh-CN" altLang="en-US" dirty="0"/>
          </a:p>
          <a:p>
            <a:r>
              <a:rPr lang="zh-CN" altLang="en-US" dirty="0"/>
              <a:t>Node.js 具有独特的优势，因为数百万为浏览器编写 JavaScript 的前端开发者现在无需学习完全不同的语言，就可以编写除客户端代码之外的服务器端代码。</a:t>
            </a:r>
          </a:p>
        </p:txBody>
      </p:sp>
    </p:spTree>
    <p:extLst>
      <p:ext uri="{BB962C8B-B14F-4D97-AF65-F5344CB8AC3E}">
        <p14:creationId xmlns:p14="http://schemas.microsoft.com/office/powerpoint/2010/main" val="2223805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启动前端服务前需要知道的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npm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217D9-E7CB-4E33-BD3D-AC3ECEC3977F}"/>
              </a:ext>
            </a:extLst>
          </p:cNvPr>
          <p:cNvSpPr txBox="1"/>
          <p:nvPr/>
        </p:nvSpPr>
        <p:spPr>
          <a:xfrm>
            <a:off x="378849" y="1288734"/>
            <a:ext cx="1104030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npm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endParaRPr lang="zh-CN" altLang="en-US" dirty="0"/>
          </a:p>
          <a:p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全称是 </a:t>
            </a:r>
            <a:r>
              <a:rPr lang="en-US" altLang="zh-CN" dirty="0"/>
              <a:t>Node Package Manager</a:t>
            </a:r>
            <a:r>
              <a:rPr lang="zh-CN" altLang="en-US" dirty="0"/>
              <a:t>，它存储了大量</a:t>
            </a:r>
            <a:r>
              <a:rPr lang="en-US" altLang="zh-CN" dirty="0" err="1"/>
              <a:t>js</a:t>
            </a:r>
            <a:r>
              <a:rPr lang="zh-CN" altLang="en-US" dirty="0"/>
              <a:t>库，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帮助 </a:t>
            </a:r>
            <a:r>
              <a:rPr lang="en-US" altLang="zh-CN" dirty="0"/>
              <a:t>Node.js </a:t>
            </a:r>
            <a:r>
              <a:rPr lang="zh-CN" altLang="en-US" dirty="0"/>
              <a:t>生态系统蓬勃发展，现在 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仓库托管了超过 </a:t>
            </a:r>
            <a:r>
              <a:rPr lang="en-US" altLang="zh-CN" dirty="0"/>
              <a:t>1,000,000 </a:t>
            </a:r>
            <a:r>
              <a:rPr lang="zh-CN" altLang="en-US" dirty="0"/>
              <a:t>个开源包，全部都可以自由使用。</a:t>
            </a:r>
          </a:p>
          <a:p>
            <a:endParaRPr lang="zh-CN" altLang="en-US" dirty="0"/>
          </a:p>
          <a:p>
            <a:r>
              <a:rPr lang="zh-CN" altLang="en-US" dirty="0"/>
              <a:t>为什么我们需要一个包管理工具呢？因为我们在</a:t>
            </a:r>
            <a:r>
              <a:rPr lang="en-US" altLang="zh-CN" dirty="0"/>
              <a:t>Node.js</a:t>
            </a:r>
            <a:r>
              <a:rPr lang="zh-CN" altLang="en-US" dirty="0"/>
              <a:t>上开发时，会用到很多别人写的</a:t>
            </a:r>
            <a:r>
              <a:rPr lang="en-US" altLang="zh-CN" dirty="0"/>
              <a:t>JavaScript</a:t>
            </a:r>
            <a:r>
              <a:rPr lang="zh-CN" altLang="en-US" dirty="0"/>
              <a:t>代码。如果我们要使用别人写的某个包，每次都根据名称搜索一下官方网站，下载代码，解压，再使用，非常繁琐。于是一个集中管理的工具应运而生：大家都把自己开发的模块打包后放到</a:t>
            </a:r>
            <a:r>
              <a:rPr lang="en-US" altLang="zh-CN" dirty="0" err="1"/>
              <a:t>npm</a:t>
            </a:r>
            <a:r>
              <a:rPr lang="zh-CN" altLang="en-US" dirty="0"/>
              <a:t>官网上，如果要使用，直接通过</a:t>
            </a:r>
            <a:r>
              <a:rPr lang="en-US" altLang="zh-CN" dirty="0" err="1"/>
              <a:t>npm</a:t>
            </a:r>
            <a:r>
              <a:rPr lang="zh-CN" altLang="en-US" dirty="0"/>
              <a:t>安装就可以直接用，不用管代码存在哪，应该从哪下载。</a:t>
            </a:r>
          </a:p>
          <a:p>
            <a:endParaRPr lang="zh-CN" altLang="en-US" dirty="0"/>
          </a:p>
          <a:p>
            <a:r>
              <a:rPr lang="zh-CN" altLang="en-US" dirty="0"/>
              <a:t>更重要的是，如果我们要使用模块</a:t>
            </a:r>
            <a:r>
              <a:rPr lang="en-US" altLang="zh-CN" dirty="0"/>
              <a:t>A</a:t>
            </a:r>
            <a:r>
              <a:rPr lang="zh-CN" altLang="en-US" dirty="0"/>
              <a:t>，而模块</a:t>
            </a:r>
            <a:r>
              <a:rPr lang="en-US" altLang="zh-CN" dirty="0"/>
              <a:t>A</a:t>
            </a:r>
            <a:r>
              <a:rPr lang="zh-CN" altLang="en-US" dirty="0"/>
              <a:t>又依赖于模块</a:t>
            </a:r>
            <a:r>
              <a:rPr lang="en-US" altLang="zh-CN" dirty="0"/>
              <a:t>B</a:t>
            </a:r>
            <a:r>
              <a:rPr lang="zh-CN" altLang="en-US" dirty="0"/>
              <a:t>，模块</a:t>
            </a:r>
            <a:r>
              <a:rPr lang="en-US" altLang="zh-CN" dirty="0"/>
              <a:t>B</a:t>
            </a:r>
            <a:r>
              <a:rPr lang="zh-CN" altLang="en-US" dirty="0"/>
              <a:t>又依赖于模块</a:t>
            </a:r>
            <a:r>
              <a:rPr lang="en-US" altLang="zh-CN" dirty="0"/>
              <a:t>X</a:t>
            </a:r>
            <a:r>
              <a:rPr lang="zh-CN" altLang="en-US" dirty="0"/>
              <a:t>和模块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 err="1"/>
              <a:t>npm</a:t>
            </a:r>
            <a:r>
              <a:rPr lang="zh-CN" altLang="en-US" dirty="0"/>
              <a:t>可以根据依赖关系，把所有依赖的包都下载下来并管理起来。否则，靠我们自己手动管理，既麻烦又容易出错。</a:t>
            </a:r>
          </a:p>
        </p:txBody>
      </p:sp>
    </p:spTree>
    <p:extLst>
      <p:ext uri="{BB962C8B-B14F-4D97-AF65-F5344CB8AC3E}">
        <p14:creationId xmlns:p14="http://schemas.microsoft.com/office/powerpoint/2010/main" val="2621204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378849" y="423500"/>
            <a:ext cx="596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启动前端服务前需要知道的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--yarn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1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2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6B217D9-E7CB-4E33-BD3D-AC3ECEC3977F}"/>
              </a:ext>
            </a:extLst>
          </p:cNvPr>
          <p:cNvSpPr txBox="1"/>
          <p:nvPr/>
        </p:nvSpPr>
        <p:spPr>
          <a:xfrm>
            <a:off x="378849" y="1215091"/>
            <a:ext cx="1104030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yarn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dirty="0"/>
              <a:t>yarn</a:t>
            </a:r>
            <a:r>
              <a:rPr lang="zh-CN" altLang="en-US" dirty="0"/>
              <a:t>是由</a:t>
            </a:r>
            <a:r>
              <a:rPr lang="en-US" altLang="zh-CN" dirty="0"/>
              <a:t>Facebook</a:t>
            </a:r>
            <a:r>
              <a:rPr lang="zh-CN" altLang="en-US" dirty="0"/>
              <a:t>、</a:t>
            </a:r>
            <a:r>
              <a:rPr lang="en-US" altLang="zh-CN" dirty="0"/>
              <a:t>Google</a:t>
            </a:r>
            <a:r>
              <a:rPr lang="zh-CN" altLang="en-US" dirty="0"/>
              <a:t>、</a:t>
            </a:r>
            <a:r>
              <a:rPr lang="en-US" altLang="zh-CN" dirty="0"/>
              <a:t>Exponent </a:t>
            </a:r>
            <a:r>
              <a:rPr lang="zh-CN" altLang="en-US" dirty="0"/>
              <a:t>和 </a:t>
            </a:r>
            <a:r>
              <a:rPr lang="en-US" altLang="zh-CN" dirty="0"/>
              <a:t>Tilde </a:t>
            </a:r>
            <a:r>
              <a:rPr lang="zh-CN" altLang="en-US" dirty="0"/>
              <a:t>联合推出了一个新的 </a:t>
            </a:r>
            <a:r>
              <a:rPr lang="en-US" altLang="zh-CN" dirty="0"/>
              <a:t>JS </a:t>
            </a:r>
            <a:r>
              <a:rPr lang="zh-CN" altLang="en-US" dirty="0"/>
              <a:t>包管理工具 ，正如官方文档</a:t>
            </a:r>
            <a:r>
              <a:rPr lang="en-US" altLang="zh-CN" i="1" dirty="0"/>
              <a:t>https://link.zhihu.com/?target=https%3A//code.facebook.com/posts/1840075619545360</a:t>
            </a:r>
            <a:r>
              <a:rPr lang="zh-CN" altLang="en-US" dirty="0"/>
              <a:t>中写的，</a:t>
            </a:r>
            <a:r>
              <a:rPr lang="en-US" altLang="zh-CN" dirty="0"/>
              <a:t>Yarn </a:t>
            </a:r>
            <a:r>
              <a:rPr lang="zh-CN" altLang="en-US" dirty="0"/>
              <a:t>是为了弥补 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的一些缺陷而出现的。</a:t>
            </a:r>
          </a:p>
          <a:p>
            <a:endParaRPr lang="zh-CN" altLang="en-US" dirty="0"/>
          </a:p>
          <a:p>
            <a:r>
              <a:rPr lang="en-US" altLang="zh-CN" dirty="0" err="1"/>
              <a:t>npm</a:t>
            </a:r>
            <a:r>
              <a:rPr lang="zh-CN" altLang="en-US" dirty="0"/>
              <a:t>的</a:t>
            </a:r>
            <a:r>
              <a:rPr lang="zh-CN" altLang="en-US" i="1" dirty="0"/>
              <a:t>缺陷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1. </a:t>
            </a:r>
            <a:r>
              <a:rPr lang="en-US" altLang="zh-CN" dirty="0" err="1">
                <a:solidFill>
                  <a:srgbClr val="FF0000"/>
                </a:solidFill>
              </a:rPr>
              <a:t>npm</a:t>
            </a:r>
            <a:r>
              <a:rPr lang="en-US" altLang="zh-CN" dirty="0">
                <a:solidFill>
                  <a:srgbClr val="FF0000"/>
                </a:solidFill>
              </a:rPr>
              <a:t> install</a:t>
            </a:r>
            <a:r>
              <a:rPr lang="zh-CN" altLang="en-US" dirty="0"/>
              <a:t>的时候</a:t>
            </a:r>
            <a:r>
              <a:rPr lang="zh-CN" altLang="en-US" dirty="0">
                <a:solidFill>
                  <a:srgbClr val="FF0000"/>
                </a:solidFill>
              </a:rPr>
              <a:t>巨慢</a:t>
            </a:r>
            <a:r>
              <a:rPr lang="zh-CN" altLang="en-US" dirty="0"/>
              <a:t>。特别是新的项目拉下来要等半天，删除</a:t>
            </a:r>
            <a:r>
              <a:rPr lang="en-US" altLang="zh-CN" dirty="0" err="1"/>
              <a:t>node_modules</a:t>
            </a:r>
            <a:r>
              <a:rPr lang="zh-CN" altLang="en-US" dirty="0"/>
              <a:t>，重新</a:t>
            </a:r>
            <a:r>
              <a:rPr lang="en-US" altLang="zh-CN" dirty="0"/>
              <a:t>install</a:t>
            </a:r>
            <a:r>
              <a:rPr lang="zh-CN" altLang="en-US" dirty="0"/>
              <a:t>的时候依旧如此。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同一个项目，安装的时候</a:t>
            </a:r>
            <a:r>
              <a:rPr lang="zh-CN" altLang="en-US" dirty="0">
                <a:solidFill>
                  <a:srgbClr val="FF0000"/>
                </a:solidFill>
              </a:rPr>
              <a:t>无法保持一致性</a:t>
            </a:r>
            <a:r>
              <a:rPr lang="zh-CN" altLang="en-US" dirty="0"/>
              <a:t>。由于</a:t>
            </a:r>
            <a:r>
              <a:rPr lang="en-US" altLang="zh-CN" dirty="0" err="1"/>
              <a:t>package.json</a:t>
            </a:r>
            <a:r>
              <a:rPr lang="zh-CN" altLang="en-US" dirty="0"/>
              <a:t>文件中版本号的特点，下面三个版本号在安装的时候代表不同的含义。</a:t>
            </a:r>
          </a:p>
          <a:p>
            <a:endParaRPr lang="zh-CN" altLang="en-US" dirty="0"/>
          </a:p>
          <a:p>
            <a:r>
              <a:rPr lang="en-US" altLang="zh-CN" dirty="0"/>
              <a:t>yarn</a:t>
            </a:r>
            <a:r>
              <a:rPr lang="zh-CN" altLang="en-US" dirty="0"/>
              <a:t>的</a:t>
            </a:r>
            <a:r>
              <a:rPr lang="zh-CN" altLang="en-US" i="1" dirty="0"/>
              <a:t>优点</a:t>
            </a:r>
            <a:r>
              <a:rPr lang="zh-CN" altLang="en-US" dirty="0"/>
              <a:t>：</a:t>
            </a:r>
          </a:p>
          <a:p>
            <a:r>
              <a:rPr lang="en-US" altLang="zh-CN" dirty="0"/>
              <a:t>1. </a:t>
            </a:r>
            <a:r>
              <a:rPr lang="zh-CN" altLang="en-US" dirty="0"/>
              <a:t>并行安装：无论 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还是 </a:t>
            </a:r>
            <a:r>
              <a:rPr lang="en-US" altLang="zh-CN" dirty="0"/>
              <a:t>Yarn </a:t>
            </a:r>
            <a:r>
              <a:rPr lang="zh-CN" altLang="en-US" dirty="0"/>
              <a:t>在执行包的安装时，都会执行一系列任务。</a:t>
            </a:r>
            <a:r>
              <a:rPr lang="en-US" altLang="zh-CN" dirty="0" err="1"/>
              <a:t>npm</a:t>
            </a:r>
            <a:r>
              <a:rPr lang="en-US" altLang="zh-CN" dirty="0"/>
              <a:t> </a:t>
            </a:r>
            <a:r>
              <a:rPr lang="zh-CN" altLang="en-US" dirty="0"/>
              <a:t>是按照队列执行每个 </a:t>
            </a:r>
            <a:r>
              <a:rPr lang="en-US" altLang="zh-CN" dirty="0"/>
              <a:t>package</a:t>
            </a:r>
            <a:r>
              <a:rPr lang="zh-CN" altLang="en-US" dirty="0"/>
              <a:t>，也就是说必须要等到当前 </a:t>
            </a:r>
            <a:r>
              <a:rPr lang="en-US" altLang="zh-CN" dirty="0"/>
              <a:t>package </a:t>
            </a:r>
            <a:r>
              <a:rPr lang="zh-CN" altLang="en-US" dirty="0"/>
              <a:t>安装完成之后，才能继续后面的安装。而 </a:t>
            </a:r>
            <a:r>
              <a:rPr lang="en-US" altLang="zh-CN" dirty="0"/>
              <a:t>Yarn </a:t>
            </a:r>
            <a:r>
              <a:rPr lang="zh-CN" altLang="en-US" dirty="0"/>
              <a:t>是同步执行所有任务，提高了性能。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离线模式：如果之前已经安装过一个软件包，用</a:t>
            </a:r>
            <a:r>
              <a:rPr lang="en-US" altLang="zh-CN" dirty="0"/>
              <a:t>Yarn</a:t>
            </a:r>
            <a:r>
              <a:rPr lang="zh-CN" altLang="en-US" dirty="0"/>
              <a:t>再次安装时之间从缓存中获取，就不用像</a:t>
            </a:r>
            <a:r>
              <a:rPr lang="en-US" altLang="zh-CN" dirty="0" err="1"/>
              <a:t>npm</a:t>
            </a:r>
            <a:r>
              <a:rPr lang="zh-CN" altLang="en-US" dirty="0"/>
              <a:t>那样再从网络下载了。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125813-CF8D-4CA4-B39A-05B338C3F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49" y="6141187"/>
            <a:ext cx="950595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95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400799" y="1808911"/>
            <a:ext cx="5014191" cy="2758209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44" b="6782"/>
          <a:stretch/>
        </p:blipFill>
        <p:spPr>
          <a:xfrm>
            <a:off x="6667422" y="2085109"/>
            <a:ext cx="5067378" cy="2895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67422" y="2085108"/>
            <a:ext cx="5067378" cy="2895601"/>
          </a:xfrm>
          <a:prstGeom prst="rect">
            <a:avLst/>
          </a:prstGeom>
          <a:solidFill>
            <a:schemeClr val="bg1">
              <a:lumMod val="95000"/>
              <a:alpha val="6509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61307" y="2368580"/>
            <a:ext cx="2555571" cy="73866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zh-CN" sz="4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PART   4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61307" y="3300626"/>
            <a:ext cx="5309146" cy="203132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前端、后端、</a:t>
            </a:r>
            <a:endParaRPr lang="en-US" altLang="zh-CN" sz="6600" b="1" spc="300" dirty="0">
              <a:solidFill>
                <a:srgbClr val="005D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6600" b="1" spc="300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数据库交互</a:t>
            </a:r>
          </a:p>
        </p:txBody>
      </p:sp>
    </p:spTree>
    <p:extLst>
      <p:ext uri="{BB962C8B-B14F-4D97-AF65-F5344CB8AC3E}">
        <p14:creationId xmlns:p14="http://schemas.microsoft.com/office/powerpoint/2010/main" val="429363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058864" y="1685950"/>
            <a:ext cx="10226674" cy="5163443"/>
            <a:chOff x="1058864" y="1685950"/>
            <a:chExt cx="10226674" cy="5163443"/>
          </a:xfrm>
        </p:grpSpPr>
        <p:sp>
          <p:nvSpPr>
            <p:cNvPr id="11" name="MH_Other_1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1694359" y="2462975"/>
              <a:ext cx="421535" cy="426235"/>
            </a:xfrm>
            <a:custGeom>
              <a:avLst/>
              <a:gdLst>
                <a:gd name="T0" fmla="*/ 2147483646 w 30"/>
                <a:gd name="T1" fmla="*/ 2147483646 h 30"/>
                <a:gd name="T2" fmla="*/ 2147483646 w 30"/>
                <a:gd name="T3" fmla="*/ 2147483646 h 30"/>
                <a:gd name="T4" fmla="*/ 2147483646 w 30"/>
                <a:gd name="T5" fmla="*/ 2147483646 h 30"/>
                <a:gd name="T6" fmla="*/ 0 w 30"/>
                <a:gd name="T7" fmla="*/ 2147483646 h 30"/>
                <a:gd name="T8" fmla="*/ 0 w 30"/>
                <a:gd name="T9" fmla="*/ 2147483646 h 30"/>
                <a:gd name="T10" fmla="*/ 2147483646 w 30"/>
                <a:gd name="T11" fmla="*/ 0 h 30"/>
                <a:gd name="T12" fmla="*/ 2147483646 w 30"/>
                <a:gd name="T13" fmla="*/ 0 h 30"/>
                <a:gd name="T14" fmla="*/ 2147483646 w 30"/>
                <a:gd name="T15" fmla="*/ 2147483646 h 30"/>
                <a:gd name="T16" fmla="*/ 2147483646 w 30"/>
                <a:gd name="T17" fmla="*/ 2147483646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30">
                  <a:moveTo>
                    <a:pt x="30" y="27"/>
                  </a:moveTo>
                  <a:cubicBezTo>
                    <a:pt x="30" y="28"/>
                    <a:pt x="28" y="30"/>
                    <a:pt x="26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0"/>
                    <a:pt x="0" y="28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0"/>
                    <a:pt x="30" y="2"/>
                    <a:pt x="30" y="3"/>
                  </a:cubicBezTo>
                  <a:cubicBezTo>
                    <a:pt x="30" y="27"/>
                    <a:pt x="30" y="27"/>
                    <a:pt x="30" y="27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2" name="MH_Other_4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1058864" y="2218792"/>
              <a:ext cx="10226674" cy="4630601"/>
            </a:xfrm>
            <a:custGeom>
              <a:avLst/>
              <a:gdLst>
                <a:gd name="T0" fmla="*/ 262287250 w 10001"/>
                <a:gd name="T1" fmla="*/ 0 h 12408"/>
                <a:gd name="T2" fmla="*/ 2147483646 w 10001"/>
                <a:gd name="T3" fmla="*/ 0 h 12408"/>
                <a:gd name="T4" fmla="*/ 2147483646 w 10001"/>
                <a:gd name="T5" fmla="*/ 2147483646 h 12408"/>
                <a:gd name="T6" fmla="*/ 2147483646 w 10001"/>
                <a:gd name="T7" fmla="*/ 2147483646 h 12408"/>
                <a:gd name="T8" fmla="*/ 2147483646 w 10001"/>
                <a:gd name="T9" fmla="*/ 2147483646 h 12408"/>
                <a:gd name="T10" fmla="*/ 2147483646 w 10001"/>
                <a:gd name="T11" fmla="*/ 2147483646 h 12408"/>
                <a:gd name="T12" fmla="*/ 262287250 w 10001"/>
                <a:gd name="T13" fmla="*/ 2147483646 h 12408"/>
                <a:gd name="T14" fmla="*/ 0 w 10001"/>
                <a:gd name="T15" fmla="*/ 2147483646 h 124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001" h="12408">
                  <a:moveTo>
                    <a:pt x="1" y="0"/>
                  </a:moveTo>
                  <a:lnTo>
                    <a:pt x="9287" y="0"/>
                  </a:lnTo>
                  <a:cubicBezTo>
                    <a:pt x="9689" y="0"/>
                    <a:pt x="10001" y="547"/>
                    <a:pt x="10001" y="1250"/>
                  </a:cubicBezTo>
                  <a:lnTo>
                    <a:pt x="10001" y="4688"/>
                  </a:lnTo>
                  <a:cubicBezTo>
                    <a:pt x="10001" y="5391"/>
                    <a:pt x="9689" y="5938"/>
                    <a:pt x="9287" y="5938"/>
                  </a:cubicBezTo>
                  <a:lnTo>
                    <a:pt x="715" y="5938"/>
                  </a:lnTo>
                  <a:cubicBezTo>
                    <a:pt x="336" y="5938"/>
                    <a:pt x="1" y="6484"/>
                    <a:pt x="1" y="7188"/>
                  </a:cubicBezTo>
                  <a:cubicBezTo>
                    <a:pt x="1" y="10000"/>
                    <a:pt x="0" y="12408"/>
                    <a:pt x="0" y="12408"/>
                  </a:cubicBezTo>
                </a:path>
              </a:pathLst>
            </a:custGeom>
            <a:noFill/>
            <a:ln w="11113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3" name="MH_Other_5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07185" y="2111957"/>
              <a:ext cx="236624" cy="238190"/>
            </a:xfrm>
            <a:prstGeom prst="ellipse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14" name="MH_Other_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847930" y="2154267"/>
              <a:ext cx="155137" cy="15357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15" name="MH_Other_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564147" y="2111957"/>
              <a:ext cx="236624" cy="238190"/>
            </a:xfrm>
            <a:prstGeom prst="ellipse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16" name="MH_Other_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9604890" y="2154267"/>
              <a:ext cx="155137" cy="15357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17" name="MH_Other_12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5629727" y="2462975"/>
              <a:ext cx="408997" cy="426235"/>
            </a:xfrm>
            <a:custGeom>
              <a:avLst/>
              <a:gdLst>
                <a:gd name="T0" fmla="*/ 2147483646 w 29"/>
                <a:gd name="T1" fmla="*/ 2147483646 h 30"/>
                <a:gd name="T2" fmla="*/ 2147483646 w 29"/>
                <a:gd name="T3" fmla="*/ 2147483646 h 30"/>
                <a:gd name="T4" fmla="*/ 2147483646 w 29"/>
                <a:gd name="T5" fmla="*/ 2147483646 h 30"/>
                <a:gd name="T6" fmla="*/ 0 w 29"/>
                <a:gd name="T7" fmla="*/ 2147483646 h 30"/>
                <a:gd name="T8" fmla="*/ 0 w 29"/>
                <a:gd name="T9" fmla="*/ 2147483646 h 30"/>
                <a:gd name="T10" fmla="*/ 2147483646 w 29"/>
                <a:gd name="T11" fmla="*/ 0 h 30"/>
                <a:gd name="T12" fmla="*/ 2147483646 w 29"/>
                <a:gd name="T13" fmla="*/ 0 h 30"/>
                <a:gd name="T14" fmla="*/ 2147483646 w 29"/>
                <a:gd name="T15" fmla="*/ 2147483646 h 30"/>
                <a:gd name="T16" fmla="*/ 2147483646 w 29"/>
                <a:gd name="T17" fmla="*/ 2147483646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30">
                  <a:moveTo>
                    <a:pt x="29" y="27"/>
                  </a:moveTo>
                  <a:cubicBezTo>
                    <a:pt x="29" y="28"/>
                    <a:pt x="28" y="30"/>
                    <a:pt x="26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0"/>
                    <a:pt x="0" y="28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0"/>
                    <a:pt x="29" y="2"/>
                    <a:pt x="29" y="3"/>
                  </a:cubicBezTo>
                  <a:cubicBezTo>
                    <a:pt x="29" y="27"/>
                    <a:pt x="29" y="27"/>
                    <a:pt x="29" y="27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MH_Other_1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742554" y="2111957"/>
              <a:ext cx="242891" cy="238190"/>
            </a:xfrm>
            <a:prstGeom prst="ellipse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2" name="MH_Other_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784864" y="2154267"/>
              <a:ext cx="159838" cy="15357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3" name="MH_Other_17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3732117" y="4654185"/>
              <a:ext cx="421534" cy="427802"/>
            </a:xfrm>
            <a:custGeom>
              <a:avLst/>
              <a:gdLst>
                <a:gd name="T0" fmla="*/ 2147483646 w 30"/>
                <a:gd name="T1" fmla="*/ 2147483646 h 30"/>
                <a:gd name="T2" fmla="*/ 2147483646 w 30"/>
                <a:gd name="T3" fmla="*/ 2147483646 h 30"/>
                <a:gd name="T4" fmla="*/ 2147483646 w 30"/>
                <a:gd name="T5" fmla="*/ 2147483646 h 30"/>
                <a:gd name="T6" fmla="*/ 0 w 30"/>
                <a:gd name="T7" fmla="*/ 2147483646 h 30"/>
                <a:gd name="T8" fmla="*/ 0 w 30"/>
                <a:gd name="T9" fmla="*/ 2147483646 h 30"/>
                <a:gd name="T10" fmla="*/ 2147483646 w 30"/>
                <a:gd name="T11" fmla="*/ 0 h 30"/>
                <a:gd name="T12" fmla="*/ 2147483646 w 30"/>
                <a:gd name="T13" fmla="*/ 0 h 30"/>
                <a:gd name="T14" fmla="*/ 2147483646 w 30"/>
                <a:gd name="T15" fmla="*/ 2147483646 h 30"/>
                <a:gd name="T16" fmla="*/ 2147483646 w 30"/>
                <a:gd name="T17" fmla="*/ 2147483646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30">
                  <a:moveTo>
                    <a:pt x="30" y="27"/>
                  </a:moveTo>
                  <a:cubicBezTo>
                    <a:pt x="30" y="28"/>
                    <a:pt x="29" y="30"/>
                    <a:pt x="27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28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9" y="0"/>
                    <a:pt x="30" y="2"/>
                    <a:pt x="30" y="3"/>
                  </a:cubicBezTo>
                  <a:cubicBezTo>
                    <a:pt x="30" y="27"/>
                    <a:pt x="30" y="27"/>
                    <a:pt x="30" y="27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MH_Other_2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844945" y="4304735"/>
              <a:ext cx="236623" cy="236622"/>
            </a:xfrm>
            <a:prstGeom prst="ellipse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5" name="MH_Other_2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885687" y="4345479"/>
              <a:ext cx="166106" cy="1551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6" name="MH_Other_22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7717630" y="4654185"/>
              <a:ext cx="404296" cy="427802"/>
            </a:xfrm>
            <a:custGeom>
              <a:avLst/>
              <a:gdLst>
                <a:gd name="T0" fmla="*/ 2147483646 w 29"/>
                <a:gd name="T1" fmla="*/ 2147483646 h 30"/>
                <a:gd name="T2" fmla="*/ 2147483646 w 29"/>
                <a:gd name="T3" fmla="*/ 2147483646 h 30"/>
                <a:gd name="T4" fmla="*/ 2147483646 w 29"/>
                <a:gd name="T5" fmla="*/ 2147483646 h 30"/>
                <a:gd name="T6" fmla="*/ 0 w 29"/>
                <a:gd name="T7" fmla="*/ 2147483646 h 30"/>
                <a:gd name="T8" fmla="*/ 0 w 29"/>
                <a:gd name="T9" fmla="*/ 2147483646 h 30"/>
                <a:gd name="T10" fmla="*/ 2147483646 w 29"/>
                <a:gd name="T11" fmla="*/ 0 h 30"/>
                <a:gd name="T12" fmla="*/ 2147483646 w 29"/>
                <a:gd name="T13" fmla="*/ 0 h 30"/>
                <a:gd name="T14" fmla="*/ 2147483646 w 29"/>
                <a:gd name="T15" fmla="*/ 2147483646 h 30"/>
                <a:gd name="T16" fmla="*/ 2147483646 w 29"/>
                <a:gd name="T17" fmla="*/ 2147483646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30">
                  <a:moveTo>
                    <a:pt x="29" y="27"/>
                  </a:moveTo>
                  <a:cubicBezTo>
                    <a:pt x="29" y="28"/>
                    <a:pt x="28" y="30"/>
                    <a:pt x="26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0"/>
                    <a:pt x="0" y="28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0"/>
                    <a:pt x="29" y="2"/>
                    <a:pt x="29" y="3"/>
                  </a:cubicBezTo>
                  <a:cubicBezTo>
                    <a:pt x="29" y="27"/>
                    <a:pt x="29" y="27"/>
                    <a:pt x="29" y="27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7" name="MH_Other_2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830457" y="4304735"/>
              <a:ext cx="238190" cy="236622"/>
            </a:xfrm>
            <a:prstGeom prst="ellipse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8" name="MH_Other_2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872767" y="4345479"/>
              <a:ext cx="153570" cy="15513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35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29" name="MH_SubTitle_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213989" y="1685950"/>
              <a:ext cx="1387127" cy="469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+mn-lt"/>
                  <a:ea typeface="+mn-ea"/>
                  <a:cs typeface="+mn-ea"/>
                </a:rPr>
                <a:t>A</a:t>
              </a:r>
              <a:endParaRPr lang="zh-CN" altLang="en-US" sz="2000" b="1" dirty="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30" name="MH_SubTitle_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116972" y="1685950"/>
              <a:ext cx="1449509" cy="469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+mn-lt"/>
                  <a:ea typeface="+mn-ea"/>
                  <a:cs typeface="+mn-ea"/>
                </a:rPr>
                <a:t>B</a:t>
              </a:r>
              <a:endParaRPr lang="zh-CN" altLang="en-US" sz="2000" b="1" dirty="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31" name="MH_SubTitle_3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928577" y="1685950"/>
              <a:ext cx="1464191" cy="469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+mn-lt"/>
                  <a:ea typeface="+mn-ea"/>
                  <a:cs typeface="+mn-ea"/>
                </a:rPr>
                <a:t>C</a:t>
              </a:r>
              <a:endParaRPr lang="zh-CN" altLang="en-US" sz="2000" b="1" dirty="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32" name="MH_SubTitle_5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221299" y="3818955"/>
              <a:ext cx="1471529" cy="471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+mn-lt"/>
                  <a:ea typeface="+mn-ea"/>
                  <a:cs typeface="+mn-ea"/>
                </a:rPr>
                <a:t>D</a:t>
              </a:r>
              <a:endParaRPr lang="zh-CN" altLang="en-US" sz="2000" b="1" dirty="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38" name="MH_SubTitle_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206030" y="3818955"/>
              <a:ext cx="1449513" cy="471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+mn-lt"/>
                  <a:ea typeface="+mn-ea"/>
                  <a:cs typeface="+mn-ea"/>
                </a:rPr>
                <a:t>E</a:t>
              </a:r>
              <a:endParaRPr lang="zh-CN" altLang="en-US" sz="2000" b="1" dirty="0">
                <a:latin typeface="+mn-lt"/>
                <a:ea typeface="+mn-ea"/>
                <a:cs typeface="+mn-ea"/>
              </a:endParaRPr>
            </a:p>
          </p:txBody>
        </p:sp>
        <p:sp>
          <p:nvSpPr>
            <p:cNvPr id="39" name="MH_Text_1"/>
            <p:cNvSpPr txBox="1"/>
            <p:nvPr>
              <p:custDataLst>
                <p:tags r:id="rId21"/>
              </p:custDataLst>
            </p:nvPr>
          </p:nvSpPr>
          <p:spPr>
            <a:xfrm>
              <a:off x="1058864" y="2995585"/>
              <a:ext cx="1763429" cy="5015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用户触发浏览器事件</a:t>
              </a:r>
            </a:p>
          </p:txBody>
        </p:sp>
        <p:sp>
          <p:nvSpPr>
            <p:cNvPr id="40" name="MH_Other_12"/>
            <p:cNvSpPr>
              <a:spLocks/>
            </p:cNvSpPr>
            <p:nvPr>
              <p:custDataLst>
                <p:tags r:id="rId22"/>
              </p:custDataLst>
            </p:nvPr>
          </p:nvSpPr>
          <p:spPr bwMode="auto">
            <a:xfrm>
              <a:off x="9477959" y="2462975"/>
              <a:ext cx="408997" cy="426235"/>
            </a:xfrm>
            <a:custGeom>
              <a:avLst/>
              <a:gdLst>
                <a:gd name="T0" fmla="*/ 2147483646 w 29"/>
                <a:gd name="T1" fmla="*/ 2147483646 h 30"/>
                <a:gd name="T2" fmla="*/ 2147483646 w 29"/>
                <a:gd name="T3" fmla="*/ 2147483646 h 30"/>
                <a:gd name="T4" fmla="*/ 2147483646 w 29"/>
                <a:gd name="T5" fmla="*/ 2147483646 h 30"/>
                <a:gd name="T6" fmla="*/ 0 w 29"/>
                <a:gd name="T7" fmla="*/ 2147483646 h 30"/>
                <a:gd name="T8" fmla="*/ 0 w 29"/>
                <a:gd name="T9" fmla="*/ 2147483646 h 30"/>
                <a:gd name="T10" fmla="*/ 2147483646 w 29"/>
                <a:gd name="T11" fmla="*/ 0 h 30"/>
                <a:gd name="T12" fmla="*/ 2147483646 w 29"/>
                <a:gd name="T13" fmla="*/ 0 h 30"/>
                <a:gd name="T14" fmla="*/ 2147483646 w 29"/>
                <a:gd name="T15" fmla="*/ 2147483646 h 30"/>
                <a:gd name="T16" fmla="*/ 2147483646 w 29"/>
                <a:gd name="T17" fmla="*/ 2147483646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30">
                  <a:moveTo>
                    <a:pt x="29" y="27"/>
                  </a:moveTo>
                  <a:cubicBezTo>
                    <a:pt x="29" y="28"/>
                    <a:pt x="28" y="30"/>
                    <a:pt x="26" y="30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1" y="30"/>
                    <a:pt x="0" y="28"/>
                    <a:pt x="0" y="27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1" y="0"/>
                    <a:pt x="3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8" y="0"/>
                    <a:pt x="29" y="2"/>
                    <a:pt x="29" y="3"/>
                  </a:cubicBezTo>
                  <a:cubicBezTo>
                    <a:pt x="29" y="27"/>
                    <a:pt x="29" y="27"/>
                    <a:pt x="29" y="27"/>
                  </a:cubicBezTo>
                </a:path>
              </a:pathLst>
            </a:custGeom>
            <a:solidFill>
              <a:schemeClr val="accent1">
                <a:lumMod val="10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1" name="MH_Text_1"/>
            <p:cNvSpPr txBox="1"/>
            <p:nvPr>
              <p:custDataLst>
                <p:tags r:id="rId23"/>
              </p:custDataLst>
            </p:nvPr>
          </p:nvSpPr>
          <p:spPr>
            <a:xfrm>
              <a:off x="4649077" y="2995585"/>
              <a:ext cx="2429842" cy="58450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前后端建立</a:t>
              </a:r>
              <a:r>
                <a:rPr lang="en-US" altLang="zh-CN" b="1" dirty="0">
                  <a:cs typeface="+mn-ea"/>
                </a:rPr>
                <a:t>http</a:t>
              </a:r>
              <a:r>
                <a:rPr lang="zh-CN" altLang="en-US" b="1" dirty="0">
                  <a:cs typeface="+mn-ea"/>
                </a:rPr>
                <a:t>连接</a:t>
              </a:r>
              <a:endParaRPr lang="en-US" altLang="zh-CN" b="1" dirty="0">
                <a:cs typeface="+mn-ea"/>
              </a:endParaRPr>
            </a:p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（三次握手）</a:t>
              </a:r>
            </a:p>
          </p:txBody>
        </p:sp>
        <p:sp>
          <p:nvSpPr>
            <p:cNvPr id="42" name="MH_Text_1"/>
            <p:cNvSpPr txBox="1"/>
            <p:nvPr>
              <p:custDataLst>
                <p:tags r:id="rId24"/>
              </p:custDataLst>
            </p:nvPr>
          </p:nvSpPr>
          <p:spPr>
            <a:xfrm>
              <a:off x="8602447" y="2993727"/>
              <a:ext cx="2175619" cy="58450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后端操作数据库</a:t>
              </a:r>
              <a:endParaRPr lang="en-US" altLang="zh-CN" b="1" dirty="0">
                <a:cs typeface="+mn-ea"/>
              </a:endParaRPr>
            </a:p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并返回数据给前端</a:t>
              </a:r>
            </a:p>
          </p:txBody>
        </p:sp>
        <p:sp>
          <p:nvSpPr>
            <p:cNvPr id="43" name="MH_Text_1"/>
            <p:cNvSpPr txBox="1"/>
            <p:nvPr>
              <p:custDataLst>
                <p:tags r:id="rId25"/>
              </p:custDataLst>
            </p:nvPr>
          </p:nvSpPr>
          <p:spPr>
            <a:xfrm>
              <a:off x="2873481" y="5306259"/>
              <a:ext cx="2175619" cy="58450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前后端关闭连接</a:t>
              </a:r>
              <a:endParaRPr lang="en-US" altLang="zh-CN" b="1" dirty="0">
                <a:cs typeface="+mn-ea"/>
              </a:endParaRPr>
            </a:p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（四次挥手）</a:t>
              </a:r>
            </a:p>
          </p:txBody>
        </p:sp>
        <p:sp>
          <p:nvSpPr>
            <p:cNvPr id="44" name="MH_Text_1"/>
            <p:cNvSpPr txBox="1"/>
            <p:nvPr>
              <p:custDataLst>
                <p:tags r:id="rId26"/>
              </p:custDataLst>
            </p:nvPr>
          </p:nvSpPr>
          <p:spPr>
            <a:xfrm>
              <a:off x="6831968" y="5306259"/>
              <a:ext cx="2175619" cy="58450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algn="ctr" eaLnBrk="1" hangingPunct="1">
                <a:defRPr/>
              </a:pPr>
              <a:r>
                <a:rPr lang="zh-CN" altLang="en-US" b="1" dirty="0">
                  <a:cs typeface="+mn-ea"/>
                </a:rPr>
                <a:t>前端将数据渲染到页面中</a:t>
              </a:r>
            </a:p>
          </p:txBody>
        </p:sp>
        <p:sp>
          <p:nvSpPr>
            <p:cNvPr id="45" name="KSO_Shape"/>
            <p:cNvSpPr/>
            <p:nvPr/>
          </p:nvSpPr>
          <p:spPr>
            <a:xfrm>
              <a:off x="5711784" y="2531115"/>
              <a:ext cx="304428" cy="289714"/>
            </a:xfrm>
            <a:custGeom>
              <a:avLst/>
              <a:gdLst/>
              <a:ahLst/>
              <a:cxnLst/>
              <a:rect l="l" t="t" r="r" b="b"/>
              <a:pathLst>
                <a:path w="1059063" h="1007997">
                  <a:moveTo>
                    <a:pt x="703357" y="0"/>
                  </a:moveTo>
                  <a:lnTo>
                    <a:pt x="1059063" y="345377"/>
                  </a:lnTo>
                  <a:cubicBezTo>
                    <a:pt x="1011759" y="390684"/>
                    <a:pt x="950318" y="412745"/>
                    <a:pt x="888735" y="411717"/>
                  </a:cubicBezTo>
                  <a:lnTo>
                    <a:pt x="615617" y="668531"/>
                  </a:lnTo>
                  <a:cubicBezTo>
                    <a:pt x="643882" y="763675"/>
                    <a:pt x="628025" y="864389"/>
                    <a:pt x="564718" y="936620"/>
                  </a:cubicBezTo>
                  <a:lnTo>
                    <a:pt x="370217" y="747767"/>
                  </a:lnTo>
                  <a:cubicBezTo>
                    <a:pt x="247618" y="834750"/>
                    <a:pt x="146199" y="930329"/>
                    <a:pt x="0" y="1007997"/>
                  </a:cubicBezTo>
                  <a:cubicBezTo>
                    <a:pt x="95002" y="875886"/>
                    <a:pt x="190003" y="777809"/>
                    <a:pt x="284746" y="664777"/>
                  </a:cubicBezTo>
                  <a:lnTo>
                    <a:pt x="96361" y="481861"/>
                  </a:lnTo>
                  <a:cubicBezTo>
                    <a:pt x="152055" y="429106"/>
                    <a:pt x="226831" y="406169"/>
                    <a:pt x="303394" y="411783"/>
                  </a:cubicBezTo>
                  <a:cubicBezTo>
                    <a:pt x="325459" y="413401"/>
                    <a:pt x="347673" y="417390"/>
                    <a:pt x="369433" y="424372"/>
                  </a:cubicBezTo>
                  <a:lnTo>
                    <a:pt x="642990" y="154959"/>
                  </a:lnTo>
                  <a:cubicBezTo>
                    <a:pt x="643358" y="99193"/>
                    <a:pt x="663662" y="44083"/>
                    <a:pt x="703357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46" name="KSO_Shape"/>
            <p:cNvSpPr>
              <a:spLocks/>
            </p:cNvSpPr>
            <p:nvPr/>
          </p:nvSpPr>
          <p:spPr bwMode="auto">
            <a:xfrm flipH="1">
              <a:off x="3779029" y="4724888"/>
              <a:ext cx="327710" cy="300401"/>
            </a:xfrm>
            <a:custGeom>
              <a:avLst/>
              <a:gdLst>
                <a:gd name="T0" fmla="*/ 2147483646 w 269"/>
                <a:gd name="T1" fmla="*/ 0 h 247"/>
                <a:gd name="T2" fmla="*/ 2147483646 w 269"/>
                <a:gd name="T3" fmla="*/ 0 h 247"/>
                <a:gd name="T4" fmla="*/ 2147483646 w 269"/>
                <a:gd name="T5" fmla="*/ 2147483646 h 247"/>
                <a:gd name="T6" fmla="*/ 2147483646 w 269"/>
                <a:gd name="T7" fmla="*/ 2147483646 h 247"/>
                <a:gd name="T8" fmla="*/ 2147483646 w 269"/>
                <a:gd name="T9" fmla="*/ 2147483646 h 247"/>
                <a:gd name="T10" fmla="*/ 2147483646 w 269"/>
                <a:gd name="T11" fmla="*/ 2147483646 h 247"/>
                <a:gd name="T12" fmla="*/ 2147483646 w 269"/>
                <a:gd name="T13" fmla="*/ 2147483646 h 247"/>
                <a:gd name="T14" fmla="*/ 2147483646 w 269"/>
                <a:gd name="T15" fmla="*/ 2147483646 h 247"/>
                <a:gd name="T16" fmla="*/ 2147483646 w 269"/>
                <a:gd name="T17" fmla="*/ 2147483646 h 247"/>
                <a:gd name="T18" fmla="*/ 2147483646 w 269"/>
                <a:gd name="T19" fmla="*/ 2147483646 h 247"/>
                <a:gd name="T20" fmla="*/ 2147483646 w 269"/>
                <a:gd name="T21" fmla="*/ 2147483646 h 247"/>
                <a:gd name="T22" fmla="*/ 2147483646 w 269"/>
                <a:gd name="T23" fmla="*/ 2147483646 h 247"/>
                <a:gd name="T24" fmla="*/ 2147483646 w 269"/>
                <a:gd name="T25" fmla="*/ 2147483646 h 247"/>
                <a:gd name="T26" fmla="*/ 2147483646 w 269"/>
                <a:gd name="T27" fmla="*/ 2147483646 h 247"/>
                <a:gd name="T28" fmla="*/ 2147483646 w 269"/>
                <a:gd name="T29" fmla="*/ 2147483646 h 247"/>
                <a:gd name="T30" fmla="*/ 2147483646 w 269"/>
                <a:gd name="T31" fmla="*/ 2147483646 h 247"/>
                <a:gd name="T32" fmla="*/ 2147483646 w 269"/>
                <a:gd name="T33" fmla="*/ 2147483646 h 247"/>
                <a:gd name="T34" fmla="*/ 2147483646 w 269"/>
                <a:gd name="T35" fmla="*/ 2147483646 h 247"/>
                <a:gd name="T36" fmla="*/ 2147483646 w 269"/>
                <a:gd name="T37" fmla="*/ 2147483646 h 247"/>
                <a:gd name="T38" fmla="*/ 2147483646 w 269"/>
                <a:gd name="T39" fmla="*/ 2147483646 h 247"/>
                <a:gd name="T40" fmla="*/ 2147483646 w 269"/>
                <a:gd name="T41" fmla="*/ 2147483646 h 247"/>
                <a:gd name="T42" fmla="*/ 2147483646 w 269"/>
                <a:gd name="T43" fmla="*/ 2147483646 h 247"/>
                <a:gd name="T44" fmla="*/ 2147483646 w 269"/>
                <a:gd name="T45" fmla="*/ 2147483646 h 247"/>
                <a:gd name="T46" fmla="*/ 2147483646 w 269"/>
                <a:gd name="T47" fmla="*/ 2147483646 h 247"/>
                <a:gd name="T48" fmla="*/ 2147483646 w 269"/>
                <a:gd name="T49" fmla="*/ 2147483646 h 247"/>
                <a:gd name="T50" fmla="*/ 2147483646 w 269"/>
                <a:gd name="T51" fmla="*/ 2147483646 h 247"/>
                <a:gd name="T52" fmla="*/ 2147483646 w 269"/>
                <a:gd name="T53" fmla="*/ 2147483646 h 247"/>
                <a:gd name="T54" fmla="*/ 2147483646 w 269"/>
                <a:gd name="T55" fmla="*/ 2147483646 h 247"/>
                <a:gd name="T56" fmla="*/ 2147483646 w 269"/>
                <a:gd name="T57" fmla="*/ 2147483646 h 247"/>
                <a:gd name="T58" fmla="*/ 2147483646 w 269"/>
                <a:gd name="T59" fmla="*/ 2147483646 h 247"/>
                <a:gd name="T60" fmla="*/ 2147483646 w 269"/>
                <a:gd name="T61" fmla="*/ 2147483646 h 247"/>
                <a:gd name="T62" fmla="*/ 2147483646 w 269"/>
                <a:gd name="T63" fmla="*/ 2147483646 h 247"/>
                <a:gd name="T64" fmla="*/ 2147483646 w 269"/>
                <a:gd name="T65" fmla="*/ 2147483646 h 247"/>
                <a:gd name="T66" fmla="*/ 2147483646 w 269"/>
                <a:gd name="T67" fmla="*/ 2147483646 h 247"/>
                <a:gd name="T68" fmla="*/ 2147483646 w 269"/>
                <a:gd name="T69" fmla="*/ 2147483646 h 247"/>
                <a:gd name="T70" fmla="*/ 2147483646 w 269"/>
                <a:gd name="T71" fmla="*/ 2147483646 h 247"/>
                <a:gd name="T72" fmla="*/ 2147483646 w 269"/>
                <a:gd name="T73" fmla="*/ 0 h 24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69" h="247">
                  <a:moveTo>
                    <a:pt x="195" y="0"/>
                  </a:moveTo>
                  <a:cubicBezTo>
                    <a:pt x="194" y="0"/>
                    <a:pt x="193" y="0"/>
                    <a:pt x="192" y="0"/>
                  </a:cubicBezTo>
                  <a:cubicBezTo>
                    <a:pt x="164" y="1"/>
                    <a:pt x="145" y="24"/>
                    <a:pt x="144" y="24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0" y="172"/>
                    <a:pt x="0" y="208"/>
                    <a:pt x="21" y="230"/>
                  </a:cubicBezTo>
                  <a:cubicBezTo>
                    <a:pt x="32" y="241"/>
                    <a:pt x="46" y="247"/>
                    <a:pt x="60" y="247"/>
                  </a:cubicBezTo>
                  <a:cubicBezTo>
                    <a:pt x="75" y="247"/>
                    <a:pt x="89" y="241"/>
                    <a:pt x="99" y="230"/>
                  </a:cubicBezTo>
                  <a:cubicBezTo>
                    <a:pt x="217" y="111"/>
                    <a:pt x="217" y="111"/>
                    <a:pt x="217" y="111"/>
                  </a:cubicBezTo>
                  <a:cubicBezTo>
                    <a:pt x="235" y="91"/>
                    <a:pt x="238" y="63"/>
                    <a:pt x="223" y="47"/>
                  </a:cubicBezTo>
                  <a:cubicBezTo>
                    <a:pt x="216" y="40"/>
                    <a:pt x="207" y="37"/>
                    <a:pt x="197" y="37"/>
                  </a:cubicBezTo>
                  <a:cubicBezTo>
                    <a:pt x="185" y="37"/>
                    <a:pt x="171" y="42"/>
                    <a:pt x="161" y="53"/>
                  </a:cubicBezTo>
                  <a:cubicBezTo>
                    <a:pt x="46" y="170"/>
                    <a:pt x="46" y="170"/>
                    <a:pt x="46" y="170"/>
                  </a:cubicBezTo>
                  <a:cubicBezTo>
                    <a:pt x="43" y="174"/>
                    <a:pt x="43" y="179"/>
                    <a:pt x="46" y="182"/>
                  </a:cubicBezTo>
                  <a:cubicBezTo>
                    <a:pt x="48" y="183"/>
                    <a:pt x="50" y="184"/>
                    <a:pt x="52" y="184"/>
                  </a:cubicBezTo>
                  <a:cubicBezTo>
                    <a:pt x="54" y="184"/>
                    <a:pt x="56" y="183"/>
                    <a:pt x="57" y="182"/>
                  </a:cubicBezTo>
                  <a:cubicBezTo>
                    <a:pt x="172" y="65"/>
                    <a:pt x="172" y="65"/>
                    <a:pt x="172" y="65"/>
                  </a:cubicBezTo>
                  <a:cubicBezTo>
                    <a:pt x="179" y="57"/>
                    <a:pt x="189" y="53"/>
                    <a:pt x="197" y="53"/>
                  </a:cubicBezTo>
                  <a:cubicBezTo>
                    <a:pt x="203" y="53"/>
                    <a:pt x="208" y="55"/>
                    <a:pt x="211" y="59"/>
                  </a:cubicBezTo>
                  <a:cubicBezTo>
                    <a:pt x="221" y="68"/>
                    <a:pt x="218" y="86"/>
                    <a:pt x="205" y="99"/>
                  </a:cubicBezTo>
                  <a:cubicBezTo>
                    <a:pt x="88" y="219"/>
                    <a:pt x="88" y="219"/>
                    <a:pt x="88" y="219"/>
                  </a:cubicBezTo>
                  <a:cubicBezTo>
                    <a:pt x="81" y="227"/>
                    <a:pt x="70" y="231"/>
                    <a:pt x="60" y="231"/>
                  </a:cubicBezTo>
                  <a:cubicBezTo>
                    <a:pt x="50" y="231"/>
                    <a:pt x="40" y="227"/>
                    <a:pt x="32" y="219"/>
                  </a:cubicBezTo>
                  <a:cubicBezTo>
                    <a:pt x="17" y="203"/>
                    <a:pt x="17" y="177"/>
                    <a:pt x="32" y="162"/>
                  </a:cubicBezTo>
                  <a:cubicBezTo>
                    <a:pt x="156" y="35"/>
                    <a:pt x="156" y="35"/>
                    <a:pt x="156" y="35"/>
                  </a:cubicBezTo>
                  <a:cubicBezTo>
                    <a:pt x="156" y="35"/>
                    <a:pt x="171" y="17"/>
                    <a:pt x="193" y="16"/>
                  </a:cubicBezTo>
                  <a:cubicBezTo>
                    <a:pt x="194" y="16"/>
                    <a:pt x="194" y="16"/>
                    <a:pt x="195" y="16"/>
                  </a:cubicBezTo>
                  <a:cubicBezTo>
                    <a:pt x="208" y="16"/>
                    <a:pt x="221" y="23"/>
                    <a:pt x="234" y="36"/>
                  </a:cubicBezTo>
                  <a:cubicBezTo>
                    <a:pt x="247" y="49"/>
                    <a:pt x="253" y="63"/>
                    <a:pt x="253" y="77"/>
                  </a:cubicBezTo>
                  <a:cubicBezTo>
                    <a:pt x="252" y="99"/>
                    <a:pt x="234" y="115"/>
                    <a:pt x="234" y="116"/>
                  </a:cubicBezTo>
                  <a:cubicBezTo>
                    <a:pt x="165" y="186"/>
                    <a:pt x="165" y="186"/>
                    <a:pt x="165" y="186"/>
                  </a:cubicBezTo>
                  <a:cubicBezTo>
                    <a:pt x="162" y="189"/>
                    <a:pt x="162" y="194"/>
                    <a:pt x="165" y="198"/>
                  </a:cubicBezTo>
                  <a:cubicBezTo>
                    <a:pt x="167" y="199"/>
                    <a:pt x="169" y="200"/>
                    <a:pt x="171" y="200"/>
                  </a:cubicBezTo>
                  <a:cubicBezTo>
                    <a:pt x="173" y="200"/>
                    <a:pt x="175" y="199"/>
                    <a:pt x="176" y="198"/>
                  </a:cubicBezTo>
                  <a:cubicBezTo>
                    <a:pt x="244" y="128"/>
                    <a:pt x="244" y="128"/>
                    <a:pt x="244" y="128"/>
                  </a:cubicBezTo>
                  <a:cubicBezTo>
                    <a:pt x="245" y="127"/>
                    <a:pt x="267" y="107"/>
                    <a:pt x="269" y="78"/>
                  </a:cubicBezTo>
                  <a:cubicBezTo>
                    <a:pt x="269" y="59"/>
                    <a:pt x="261" y="41"/>
                    <a:pt x="245" y="24"/>
                  </a:cubicBezTo>
                  <a:cubicBezTo>
                    <a:pt x="229" y="8"/>
                    <a:pt x="212" y="0"/>
                    <a:pt x="1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ea typeface="+mn-ea"/>
                <a:cs typeface="+mn-ea"/>
              </a:endParaRPr>
            </a:p>
          </p:txBody>
        </p:sp>
        <p:sp>
          <p:nvSpPr>
            <p:cNvPr id="47" name="KSO_Shape"/>
            <p:cNvSpPr>
              <a:spLocks/>
            </p:cNvSpPr>
            <p:nvPr/>
          </p:nvSpPr>
          <p:spPr bwMode="auto">
            <a:xfrm>
              <a:off x="1770489" y="2550603"/>
              <a:ext cx="269273" cy="270226"/>
            </a:xfrm>
            <a:custGeom>
              <a:avLst/>
              <a:gdLst>
                <a:gd name="T0" fmla="*/ 1572253 w 2913"/>
                <a:gd name="T1" fmla="*/ 556386 h 2922"/>
                <a:gd name="T2" fmla="*/ 1238334 w 2913"/>
                <a:gd name="T3" fmla="*/ 222431 h 2922"/>
                <a:gd name="T4" fmla="*/ 1405293 w 2913"/>
                <a:gd name="T5" fmla="*/ 54838 h 2922"/>
                <a:gd name="T6" fmla="*/ 1606138 w 2913"/>
                <a:gd name="T7" fmla="*/ 54838 h 2922"/>
                <a:gd name="T8" fmla="*/ 1739212 w 2913"/>
                <a:gd name="T9" fmla="*/ 188543 h 2922"/>
                <a:gd name="T10" fmla="*/ 1739212 w 2913"/>
                <a:gd name="T11" fmla="*/ 389408 h 2922"/>
                <a:gd name="T12" fmla="*/ 1572253 w 2913"/>
                <a:gd name="T13" fmla="*/ 556386 h 2922"/>
                <a:gd name="T14" fmla="*/ 602533 w 2913"/>
                <a:gd name="T15" fmla="*/ 1526209 h 2922"/>
                <a:gd name="T16" fmla="*/ 268614 w 2913"/>
                <a:gd name="T17" fmla="*/ 1192255 h 2922"/>
                <a:gd name="T18" fmla="*/ 1176109 w 2913"/>
                <a:gd name="T19" fmla="*/ 291440 h 2922"/>
                <a:gd name="T20" fmla="*/ 1510028 w 2913"/>
                <a:gd name="T21" fmla="*/ 625395 h 2922"/>
                <a:gd name="T22" fmla="*/ 602533 w 2913"/>
                <a:gd name="T23" fmla="*/ 1526209 h 2922"/>
                <a:gd name="T24" fmla="*/ 0 w 2913"/>
                <a:gd name="T25" fmla="*/ 1800397 h 2922"/>
                <a:gd name="T26" fmla="*/ 203309 w 2913"/>
                <a:gd name="T27" fmla="*/ 1257567 h 2922"/>
                <a:gd name="T28" fmla="*/ 534147 w 2913"/>
                <a:gd name="T29" fmla="*/ 1588441 h 2922"/>
                <a:gd name="T30" fmla="*/ 0 w 2913"/>
                <a:gd name="T31" fmla="*/ 1800397 h 29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13" h="2922">
                  <a:moveTo>
                    <a:pt x="2552" y="903"/>
                  </a:moveTo>
                  <a:cubicBezTo>
                    <a:pt x="2010" y="361"/>
                    <a:pt x="2010" y="361"/>
                    <a:pt x="2010" y="361"/>
                  </a:cubicBezTo>
                  <a:cubicBezTo>
                    <a:pt x="2281" y="89"/>
                    <a:pt x="2281" y="89"/>
                    <a:pt x="2281" y="89"/>
                  </a:cubicBezTo>
                  <a:cubicBezTo>
                    <a:pt x="2371" y="0"/>
                    <a:pt x="2517" y="0"/>
                    <a:pt x="2607" y="89"/>
                  </a:cubicBezTo>
                  <a:cubicBezTo>
                    <a:pt x="2823" y="306"/>
                    <a:pt x="2823" y="306"/>
                    <a:pt x="2823" y="306"/>
                  </a:cubicBezTo>
                  <a:cubicBezTo>
                    <a:pt x="2913" y="396"/>
                    <a:pt x="2913" y="542"/>
                    <a:pt x="2823" y="632"/>
                  </a:cubicBezTo>
                  <a:lnTo>
                    <a:pt x="2552" y="903"/>
                  </a:lnTo>
                  <a:close/>
                  <a:moveTo>
                    <a:pt x="978" y="2477"/>
                  </a:moveTo>
                  <a:cubicBezTo>
                    <a:pt x="436" y="1935"/>
                    <a:pt x="436" y="1935"/>
                    <a:pt x="436" y="1935"/>
                  </a:cubicBezTo>
                  <a:cubicBezTo>
                    <a:pt x="1909" y="473"/>
                    <a:pt x="1909" y="473"/>
                    <a:pt x="1909" y="473"/>
                  </a:cubicBezTo>
                  <a:cubicBezTo>
                    <a:pt x="2451" y="1015"/>
                    <a:pt x="2451" y="1015"/>
                    <a:pt x="2451" y="1015"/>
                  </a:cubicBezTo>
                  <a:lnTo>
                    <a:pt x="978" y="2477"/>
                  </a:lnTo>
                  <a:close/>
                  <a:moveTo>
                    <a:pt x="0" y="2922"/>
                  </a:moveTo>
                  <a:cubicBezTo>
                    <a:pt x="330" y="2041"/>
                    <a:pt x="330" y="2041"/>
                    <a:pt x="330" y="2041"/>
                  </a:cubicBezTo>
                  <a:cubicBezTo>
                    <a:pt x="867" y="2578"/>
                    <a:pt x="867" y="2578"/>
                    <a:pt x="867" y="2578"/>
                  </a:cubicBezTo>
                  <a:lnTo>
                    <a:pt x="0" y="29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 anchorCtr="1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>
                <a:ea typeface="+mn-ea"/>
                <a:cs typeface="+mn-ea"/>
              </a:endParaRPr>
            </a:p>
          </p:txBody>
        </p:sp>
        <p:sp>
          <p:nvSpPr>
            <p:cNvPr id="48" name="KSO_Shape"/>
            <p:cNvSpPr/>
            <p:nvPr/>
          </p:nvSpPr>
          <p:spPr>
            <a:xfrm>
              <a:off x="9538043" y="2578460"/>
              <a:ext cx="304428" cy="192297"/>
            </a:xfrm>
            <a:custGeom>
              <a:avLst/>
              <a:gdLst/>
              <a:ahLst/>
              <a:cxnLst/>
              <a:rect l="l" t="t" r="r" b="b"/>
              <a:pathLst>
                <a:path w="683211" h="432048">
                  <a:moveTo>
                    <a:pt x="512137" y="280189"/>
                  </a:moveTo>
                  <a:cubicBezTo>
                    <a:pt x="588167" y="280189"/>
                    <a:pt x="653655" y="340557"/>
                    <a:pt x="683040" y="427518"/>
                  </a:cubicBezTo>
                  <a:lnTo>
                    <a:pt x="683211" y="432048"/>
                  </a:lnTo>
                  <a:lnTo>
                    <a:pt x="518050" y="432048"/>
                  </a:lnTo>
                  <a:lnTo>
                    <a:pt x="517720" y="423301"/>
                  </a:lnTo>
                  <a:cubicBezTo>
                    <a:pt x="501526" y="375376"/>
                    <a:pt x="479652" y="331635"/>
                    <a:pt x="452572" y="294062"/>
                  </a:cubicBezTo>
                  <a:cubicBezTo>
                    <a:pt x="471023" y="284776"/>
                    <a:pt x="491179" y="280189"/>
                    <a:pt x="512137" y="280189"/>
                  </a:cubicBezTo>
                  <a:close/>
                  <a:moveTo>
                    <a:pt x="242652" y="216651"/>
                  </a:moveTo>
                  <a:cubicBezTo>
                    <a:pt x="350494" y="216651"/>
                    <a:pt x="443383" y="302276"/>
                    <a:pt x="485063" y="425622"/>
                  </a:cubicBezTo>
                  <a:lnTo>
                    <a:pt x="485305" y="432048"/>
                  </a:lnTo>
                  <a:lnTo>
                    <a:pt x="0" y="432048"/>
                  </a:lnTo>
                  <a:lnTo>
                    <a:pt x="242" y="425623"/>
                  </a:lnTo>
                  <a:cubicBezTo>
                    <a:pt x="41922" y="302276"/>
                    <a:pt x="134811" y="216651"/>
                    <a:pt x="242652" y="216651"/>
                  </a:cubicBezTo>
                  <a:close/>
                  <a:moveTo>
                    <a:pt x="512137" y="127447"/>
                  </a:moveTo>
                  <a:cubicBezTo>
                    <a:pt x="549644" y="127447"/>
                    <a:pt x="580050" y="157437"/>
                    <a:pt x="580050" y="194431"/>
                  </a:cubicBezTo>
                  <a:cubicBezTo>
                    <a:pt x="580050" y="231425"/>
                    <a:pt x="549644" y="261414"/>
                    <a:pt x="512137" y="261414"/>
                  </a:cubicBezTo>
                  <a:cubicBezTo>
                    <a:pt x="474630" y="261414"/>
                    <a:pt x="444224" y="231425"/>
                    <a:pt x="444224" y="194431"/>
                  </a:cubicBezTo>
                  <a:cubicBezTo>
                    <a:pt x="444224" y="157437"/>
                    <a:pt x="474630" y="127447"/>
                    <a:pt x="512137" y="127447"/>
                  </a:cubicBezTo>
                  <a:close/>
                  <a:moveTo>
                    <a:pt x="242652" y="0"/>
                  </a:moveTo>
                  <a:cubicBezTo>
                    <a:pt x="295853" y="0"/>
                    <a:pt x="338980" y="42537"/>
                    <a:pt x="338980" y="95010"/>
                  </a:cubicBezTo>
                  <a:cubicBezTo>
                    <a:pt x="338980" y="147482"/>
                    <a:pt x="295853" y="190020"/>
                    <a:pt x="242652" y="190020"/>
                  </a:cubicBezTo>
                  <a:cubicBezTo>
                    <a:pt x="189452" y="190020"/>
                    <a:pt x="146324" y="147482"/>
                    <a:pt x="146324" y="95010"/>
                  </a:cubicBezTo>
                  <a:cubicBezTo>
                    <a:pt x="146324" y="42537"/>
                    <a:pt x="189452" y="0"/>
                    <a:pt x="2426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49" name="KSO_Shape"/>
            <p:cNvSpPr>
              <a:spLocks/>
            </p:cNvSpPr>
            <p:nvPr/>
          </p:nvSpPr>
          <p:spPr bwMode="auto">
            <a:xfrm>
              <a:off x="7775554" y="4676447"/>
              <a:ext cx="260309" cy="384693"/>
            </a:xfrm>
            <a:custGeom>
              <a:avLst/>
              <a:gdLst/>
              <a:ahLst/>
              <a:cxnLst/>
              <a:rect l="0" t="0" r="r" b="b"/>
              <a:pathLst>
                <a:path w="1646238" h="2433638">
                  <a:moveTo>
                    <a:pt x="577732" y="161925"/>
                  </a:moveTo>
                  <a:lnTo>
                    <a:pt x="586070" y="162719"/>
                  </a:lnTo>
                  <a:lnTo>
                    <a:pt x="593614" y="163910"/>
                  </a:lnTo>
                  <a:lnTo>
                    <a:pt x="597585" y="164703"/>
                  </a:lnTo>
                  <a:lnTo>
                    <a:pt x="601953" y="165894"/>
                  </a:lnTo>
                  <a:lnTo>
                    <a:pt x="605526" y="167482"/>
                  </a:lnTo>
                  <a:lnTo>
                    <a:pt x="609100" y="169069"/>
                  </a:lnTo>
                  <a:lnTo>
                    <a:pt x="612674" y="171053"/>
                  </a:lnTo>
                  <a:lnTo>
                    <a:pt x="616247" y="173435"/>
                  </a:lnTo>
                  <a:lnTo>
                    <a:pt x="619821" y="176610"/>
                  </a:lnTo>
                  <a:lnTo>
                    <a:pt x="623394" y="179388"/>
                  </a:lnTo>
                  <a:lnTo>
                    <a:pt x="626968" y="182563"/>
                  </a:lnTo>
                  <a:lnTo>
                    <a:pt x="630145" y="186135"/>
                  </a:lnTo>
                  <a:lnTo>
                    <a:pt x="633321" y="190103"/>
                  </a:lnTo>
                  <a:lnTo>
                    <a:pt x="636498" y="194469"/>
                  </a:lnTo>
                  <a:lnTo>
                    <a:pt x="639674" y="199232"/>
                  </a:lnTo>
                  <a:lnTo>
                    <a:pt x="642454" y="204788"/>
                  </a:lnTo>
                  <a:lnTo>
                    <a:pt x="645233" y="210344"/>
                  </a:lnTo>
                  <a:lnTo>
                    <a:pt x="648013" y="216297"/>
                  </a:lnTo>
                  <a:lnTo>
                    <a:pt x="650792" y="222647"/>
                  </a:lnTo>
                  <a:lnTo>
                    <a:pt x="653969" y="229394"/>
                  </a:lnTo>
                  <a:lnTo>
                    <a:pt x="656351" y="237332"/>
                  </a:lnTo>
                  <a:lnTo>
                    <a:pt x="658733" y="245269"/>
                  </a:lnTo>
                  <a:lnTo>
                    <a:pt x="838208" y="927100"/>
                  </a:lnTo>
                  <a:lnTo>
                    <a:pt x="840193" y="928291"/>
                  </a:lnTo>
                  <a:lnTo>
                    <a:pt x="841781" y="933450"/>
                  </a:lnTo>
                  <a:lnTo>
                    <a:pt x="899356" y="921941"/>
                  </a:lnTo>
                  <a:lnTo>
                    <a:pt x="911665" y="922338"/>
                  </a:lnTo>
                  <a:lnTo>
                    <a:pt x="923180" y="923529"/>
                  </a:lnTo>
                  <a:lnTo>
                    <a:pt x="935489" y="924719"/>
                  </a:lnTo>
                  <a:lnTo>
                    <a:pt x="946607" y="926704"/>
                  </a:lnTo>
                  <a:lnTo>
                    <a:pt x="957725" y="929482"/>
                  </a:lnTo>
                  <a:lnTo>
                    <a:pt x="969240" y="932657"/>
                  </a:lnTo>
                  <a:lnTo>
                    <a:pt x="979960" y="936229"/>
                  </a:lnTo>
                  <a:lnTo>
                    <a:pt x="991078" y="939800"/>
                  </a:lnTo>
                  <a:lnTo>
                    <a:pt x="1001402" y="944166"/>
                  </a:lnTo>
                  <a:lnTo>
                    <a:pt x="1011726" y="948929"/>
                  </a:lnTo>
                  <a:lnTo>
                    <a:pt x="1022049" y="954485"/>
                  </a:lnTo>
                  <a:lnTo>
                    <a:pt x="1031976" y="960438"/>
                  </a:lnTo>
                  <a:lnTo>
                    <a:pt x="1041506" y="966788"/>
                  </a:lnTo>
                  <a:lnTo>
                    <a:pt x="1051432" y="973535"/>
                  </a:lnTo>
                  <a:lnTo>
                    <a:pt x="1060565" y="980679"/>
                  </a:lnTo>
                  <a:lnTo>
                    <a:pt x="1069697" y="988616"/>
                  </a:lnTo>
                  <a:lnTo>
                    <a:pt x="1076050" y="994172"/>
                  </a:lnTo>
                  <a:lnTo>
                    <a:pt x="1081212" y="999729"/>
                  </a:lnTo>
                  <a:lnTo>
                    <a:pt x="1086374" y="1005682"/>
                  </a:lnTo>
                  <a:lnTo>
                    <a:pt x="1090345" y="1012032"/>
                  </a:lnTo>
                  <a:lnTo>
                    <a:pt x="1126478" y="1071960"/>
                  </a:lnTo>
                  <a:lnTo>
                    <a:pt x="1183258" y="1074341"/>
                  </a:lnTo>
                  <a:lnTo>
                    <a:pt x="1184847" y="1075532"/>
                  </a:lnTo>
                  <a:lnTo>
                    <a:pt x="1199538" y="1077913"/>
                  </a:lnTo>
                  <a:lnTo>
                    <a:pt x="1214230" y="1081088"/>
                  </a:lnTo>
                  <a:lnTo>
                    <a:pt x="1228524" y="1085057"/>
                  </a:lnTo>
                  <a:lnTo>
                    <a:pt x="1242818" y="1089422"/>
                  </a:lnTo>
                  <a:lnTo>
                    <a:pt x="1256716" y="1094582"/>
                  </a:lnTo>
                  <a:lnTo>
                    <a:pt x="1271010" y="1100932"/>
                  </a:lnTo>
                  <a:lnTo>
                    <a:pt x="1284510" y="1106885"/>
                  </a:lnTo>
                  <a:lnTo>
                    <a:pt x="1298011" y="1114029"/>
                  </a:lnTo>
                  <a:lnTo>
                    <a:pt x="1310717" y="1121172"/>
                  </a:lnTo>
                  <a:lnTo>
                    <a:pt x="1323820" y="1129507"/>
                  </a:lnTo>
                  <a:lnTo>
                    <a:pt x="1336129" y="1137444"/>
                  </a:lnTo>
                  <a:lnTo>
                    <a:pt x="1348041" y="1146175"/>
                  </a:lnTo>
                  <a:lnTo>
                    <a:pt x="1359953" y="1155700"/>
                  </a:lnTo>
                  <a:lnTo>
                    <a:pt x="1371071" y="1165225"/>
                  </a:lnTo>
                  <a:lnTo>
                    <a:pt x="1381792" y="1175147"/>
                  </a:lnTo>
                  <a:lnTo>
                    <a:pt x="1392115" y="1185863"/>
                  </a:lnTo>
                  <a:lnTo>
                    <a:pt x="1408792" y="1204119"/>
                  </a:lnTo>
                  <a:lnTo>
                    <a:pt x="1424278" y="1223566"/>
                  </a:lnTo>
                  <a:lnTo>
                    <a:pt x="1439763" y="1243410"/>
                  </a:lnTo>
                  <a:lnTo>
                    <a:pt x="1454058" y="1263254"/>
                  </a:lnTo>
                  <a:lnTo>
                    <a:pt x="1467955" y="1283891"/>
                  </a:lnTo>
                  <a:lnTo>
                    <a:pt x="1480264" y="1305322"/>
                  </a:lnTo>
                  <a:lnTo>
                    <a:pt x="1492970" y="1327150"/>
                  </a:lnTo>
                  <a:lnTo>
                    <a:pt x="1504088" y="1348582"/>
                  </a:lnTo>
                  <a:lnTo>
                    <a:pt x="1505279" y="1351360"/>
                  </a:lnTo>
                  <a:lnTo>
                    <a:pt x="1506471" y="1352154"/>
                  </a:lnTo>
                  <a:lnTo>
                    <a:pt x="1508059" y="1352550"/>
                  </a:lnTo>
                  <a:lnTo>
                    <a:pt x="1518780" y="1353344"/>
                  </a:lnTo>
                  <a:lnTo>
                    <a:pt x="1528309" y="1355329"/>
                  </a:lnTo>
                  <a:lnTo>
                    <a:pt x="1537839" y="1357710"/>
                  </a:lnTo>
                  <a:lnTo>
                    <a:pt x="1546971" y="1360885"/>
                  </a:lnTo>
                  <a:lnTo>
                    <a:pt x="1555707" y="1364457"/>
                  </a:lnTo>
                  <a:lnTo>
                    <a:pt x="1563648" y="1368822"/>
                  </a:lnTo>
                  <a:lnTo>
                    <a:pt x="1571590" y="1373982"/>
                  </a:lnTo>
                  <a:lnTo>
                    <a:pt x="1578737" y="1379935"/>
                  </a:lnTo>
                  <a:lnTo>
                    <a:pt x="1585487" y="1385888"/>
                  </a:lnTo>
                  <a:lnTo>
                    <a:pt x="1591840" y="1392238"/>
                  </a:lnTo>
                  <a:lnTo>
                    <a:pt x="1597796" y="1398985"/>
                  </a:lnTo>
                  <a:lnTo>
                    <a:pt x="1603752" y="1406525"/>
                  </a:lnTo>
                  <a:lnTo>
                    <a:pt x="1608914" y="1413669"/>
                  </a:lnTo>
                  <a:lnTo>
                    <a:pt x="1613678" y="1421607"/>
                  </a:lnTo>
                  <a:lnTo>
                    <a:pt x="1618046" y="1429544"/>
                  </a:lnTo>
                  <a:lnTo>
                    <a:pt x="1622017" y="1437879"/>
                  </a:lnTo>
                  <a:lnTo>
                    <a:pt x="1625988" y="1446213"/>
                  </a:lnTo>
                  <a:lnTo>
                    <a:pt x="1629561" y="1454547"/>
                  </a:lnTo>
                  <a:lnTo>
                    <a:pt x="1632738" y="1463279"/>
                  </a:lnTo>
                  <a:lnTo>
                    <a:pt x="1635517" y="1471613"/>
                  </a:lnTo>
                  <a:lnTo>
                    <a:pt x="1637900" y="1479947"/>
                  </a:lnTo>
                  <a:lnTo>
                    <a:pt x="1639885" y="1488282"/>
                  </a:lnTo>
                  <a:lnTo>
                    <a:pt x="1641473" y="1497013"/>
                  </a:lnTo>
                  <a:lnTo>
                    <a:pt x="1643062" y="1504950"/>
                  </a:lnTo>
                  <a:lnTo>
                    <a:pt x="1644253" y="1512491"/>
                  </a:lnTo>
                  <a:lnTo>
                    <a:pt x="1645047" y="1520429"/>
                  </a:lnTo>
                  <a:lnTo>
                    <a:pt x="1645841" y="1527969"/>
                  </a:lnTo>
                  <a:lnTo>
                    <a:pt x="1646238" y="1534716"/>
                  </a:lnTo>
                  <a:lnTo>
                    <a:pt x="1646238" y="1541463"/>
                  </a:lnTo>
                  <a:lnTo>
                    <a:pt x="1646238" y="1548210"/>
                  </a:lnTo>
                  <a:lnTo>
                    <a:pt x="1645841" y="1553766"/>
                  </a:lnTo>
                  <a:lnTo>
                    <a:pt x="1645444" y="1558925"/>
                  </a:lnTo>
                  <a:lnTo>
                    <a:pt x="1643458" y="1570832"/>
                  </a:lnTo>
                  <a:lnTo>
                    <a:pt x="1642267" y="1583532"/>
                  </a:lnTo>
                  <a:lnTo>
                    <a:pt x="1641473" y="1595835"/>
                  </a:lnTo>
                  <a:lnTo>
                    <a:pt x="1640679" y="1608535"/>
                  </a:lnTo>
                  <a:lnTo>
                    <a:pt x="1634723" y="1749029"/>
                  </a:lnTo>
                  <a:lnTo>
                    <a:pt x="1628370" y="1889126"/>
                  </a:lnTo>
                  <a:lnTo>
                    <a:pt x="1627973" y="1902222"/>
                  </a:lnTo>
                  <a:lnTo>
                    <a:pt x="1626385" y="1915716"/>
                  </a:lnTo>
                  <a:lnTo>
                    <a:pt x="1625194" y="1928416"/>
                  </a:lnTo>
                  <a:lnTo>
                    <a:pt x="1623208" y="1941910"/>
                  </a:lnTo>
                  <a:lnTo>
                    <a:pt x="1621223" y="1954610"/>
                  </a:lnTo>
                  <a:lnTo>
                    <a:pt x="1618840" y="1968104"/>
                  </a:lnTo>
                  <a:lnTo>
                    <a:pt x="1616061" y="1980804"/>
                  </a:lnTo>
                  <a:lnTo>
                    <a:pt x="1612884" y="1993504"/>
                  </a:lnTo>
                  <a:lnTo>
                    <a:pt x="1604546" y="2026444"/>
                  </a:lnTo>
                  <a:lnTo>
                    <a:pt x="1595414" y="2058988"/>
                  </a:lnTo>
                  <a:lnTo>
                    <a:pt x="1586281" y="2091532"/>
                  </a:lnTo>
                  <a:lnTo>
                    <a:pt x="1577148" y="2123679"/>
                  </a:lnTo>
                  <a:lnTo>
                    <a:pt x="1579134" y="2125663"/>
                  </a:lnTo>
                  <a:lnTo>
                    <a:pt x="1617252" y="2294732"/>
                  </a:lnTo>
                  <a:lnTo>
                    <a:pt x="1571590" y="2303463"/>
                  </a:lnTo>
                  <a:lnTo>
                    <a:pt x="1487411" y="2318147"/>
                  </a:lnTo>
                  <a:lnTo>
                    <a:pt x="1251951" y="2359026"/>
                  </a:lnTo>
                  <a:lnTo>
                    <a:pt x="1000608" y="2402285"/>
                  </a:lnTo>
                  <a:lnTo>
                    <a:pt x="897370" y="2420541"/>
                  </a:lnTo>
                  <a:lnTo>
                    <a:pt x="824310" y="2433638"/>
                  </a:lnTo>
                  <a:lnTo>
                    <a:pt x="785398" y="2236391"/>
                  </a:lnTo>
                  <a:lnTo>
                    <a:pt x="781030" y="2228851"/>
                  </a:lnTo>
                  <a:lnTo>
                    <a:pt x="776662" y="2221707"/>
                  </a:lnTo>
                  <a:lnTo>
                    <a:pt x="771897" y="2214563"/>
                  </a:lnTo>
                  <a:lnTo>
                    <a:pt x="767133" y="2207816"/>
                  </a:lnTo>
                  <a:lnTo>
                    <a:pt x="761574" y="2201069"/>
                  </a:lnTo>
                  <a:lnTo>
                    <a:pt x="756015" y="2194719"/>
                  </a:lnTo>
                  <a:lnTo>
                    <a:pt x="750456" y="2188369"/>
                  </a:lnTo>
                  <a:lnTo>
                    <a:pt x="744897" y="2182416"/>
                  </a:lnTo>
                  <a:lnTo>
                    <a:pt x="738544" y="2176463"/>
                  </a:lnTo>
                  <a:lnTo>
                    <a:pt x="732191" y="2170907"/>
                  </a:lnTo>
                  <a:lnTo>
                    <a:pt x="725441" y="2165351"/>
                  </a:lnTo>
                  <a:lnTo>
                    <a:pt x="719088" y="2159794"/>
                  </a:lnTo>
                  <a:lnTo>
                    <a:pt x="711940" y="2155032"/>
                  </a:lnTo>
                  <a:lnTo>
                    <a:pt x="704396" y="2149873"/>
                  </a:lnTo>
                  <a:lnTo>
                    <a:pt x="697249" y="2145507"/>
                  </a:lnTo>
                  <a:lnTo>
                    <a:pt x="689705" y="2141141"/>
                  </a:lnTo>
                  <a:lnTo>
                    <a:pt x="678984" y="2135585"/>
                  </a:lnTo>
                  <a:lnTo>
                    <a:pt x="668660" y="2130029"/>
                  </a:lnTo>
                  <a:lnTo>
                    <a:pt x="648807" y="2118519"/>
                  </a:lnTo>
                  <a:lnTo>
                    <a:pt x="630145" y="2106216"/>
                  </a:lnTo>
                  <a:lnTo>
                    <a:pt x="611482" y="2093119"/>
                  </a:lnTo>
                  <a:lnTo>
                    <a:pt x="593217" y="2080022"/>
                  </a:lnTo>
                  <a:lnTo>
                    <a:pt x="576144" y="2065735"/>
                  </a:lnTo>
                  <a:lnTo>
                    <a:pt x="559070" y="2051447"/>
                  </a:lnTo>
                  <a:lnTo>
                    <a:pt x="543187" y="2035969"/>
                  </a:lnTo>
                  <a:lnTo>
                    <a:pt x="526907" y="2020491"/>
                  </a:lnTo>
                  <a:lnTo>
                    <a:pt x="511422" y="2004616"/>
                  </a:lnTo>
                  <a:lnTo>
                    <a:pt x="496333" y="1988344"/>
                  </a:lnTo>
                  <a:lnTo>
                    <a:pt x="481245" y="1971676"/>
                  </a:lnTo>
                  <a:lnTo>
                    <a:pt x="466951" y="1954610"/>
                  </a:lnTo>
                  <a:lnTo>
                    <a:pt x="452259" y="1937147"/>
                  </a:lnTo>
                  <a:lnTo>
                    <a:pt x="424067" y="1902222"/>
                  </a:lnTo>
                  <a:lnTo>
                    <a:pt x="418111" y="1894285"/>
                  </a:lnTo>
                  <a:lnTo>
                    <a:pt x="412552" y="1886744"/>
                  </a:lnTo>
                  <a:lnTo>
                    <a:pt x="401435" y="1870472"/>
                  </a:lnTo>
                  <a:lnTo>
                    <a:pt x="391508" y="1853804"/>
                  </a:lnTo>
                  <a:lnTo>
                    <a:pt x="381978" y="1837532"/>
                  </a:lnTo>
                  <a:lnTo>
                    <a:pt x="372846" y="1820069"/>
                  </a:lnTo>
                  <a:lnTo>
                    <a:pt x="364110" y="1803401"/>
                  </a:lnTo>
                  <a:lnTo>
                    <a:pt x="356169" y="1785541"/>
                  </a:lnTo>
                  <a:lnTo>
                    <a:pt x="348228" y="1768079"/>
                  </a:lnTo>
                  <a:lnTo>
                    <a:pt x="332345" y="1733551"/>
                  </a:lnTo>
                  <a:lnTo>
                    <a:pt x="324404" y="1716485"/>
                  </a:lnTo>
                  <a:lnTo>
                    <a:pt x="316065" y="1699022"/>
                  </a:lnTo>
                  <a:lnTo>
                    <a:pt x="307727" y="1682354"/>
                  </a:lnTo>
                  <a:lnTo>
                    <a:pt x="298991" y="1666082"/>
                  </a:lnTo>
                  <a:lnTo>
                    <a:pt x="289462" y="1649413"/>
                  </a:lnTo>
                  <a:lnTo>
                    <a:pt x="279535" y="1633935"/>
                  </a:lnTo>
                  <a:lnTo>
                    <a:pt x="275962" y="1624410"/>
                  </a:lnTo>
                  <a:lnTo>
                    <a:pt x="271594" y="1614885"/>
                  </a:lnTo>
                  <a:lnTo>
                    <a:pt x="266829" y="1605360"/>
                  </a:lnTo>
                  <a:lnTo>
                    <a:pt x="261667" y="1595835"/>
                  </a:lnTo>
                  <a:lnTo>
                    <a:pt x="256505" y="1586310"/>
                  </a:lnTo>
                  <a:lnTo>
                    <a:pt x="250946" y="1577182"/>
                  </a:lnTo>
                  <a:lnTo>
                    <a:pt x="239431" y="1558132"/>
                  </a:lnTo>
                  <a:lnTo>
                    <a:pt x="227122" y="1539479"/>
                  </a:lnTo>
                  <a:lnTo>
                    <a:pt x="214813" y="1521619"/>
                  </a:lnTo>
                  <a:lnTo>
                    <a:pt x="190592" y="1486694"/>
                  </a:lnTo>
                  <a:lnTo>
                    <a:pt x="185827" y="1479154"/>
                  </a:lnTo>
                  <a:lnTo>
                    <a:pt x="181063" y="1470422"/>
                  </a:lnTo>
                  <a:lnTo>
                    <a:pt x="170342" y="1450579"/>
                  </a:lnTo>
                  <a:lnTo>
                    <a:pt x="164783" y="1441054"/>
                  </a:lnTo>
                  <a:lnTo>
                    <a:pt x="159224" y="1431132"/>
                  </a:lnTo>
                  <a:lnTo>
                    <a:pt x="156444" y="1427163"/>
                  </a:lnTo>
                  <a:lnTo>
                    <a:pt x="153268" y="1423194"/>
                  </a:lnTo>
                  <a:lnTo>
                    <a:pt x="149694" y="1419622"/>
                  </a:lnTo>
                  <a:lnTo>
                    <a:pt x="146518" y="1416447"/>
                  </a:lnTo>
                  <a:lnTo>
                    <a:pt x="143738" y="1413272"/>
                  </a:lnTo>
                  <a:lnTo>
                    <a:pt x="140959" y="1409304"/>
                  </a:lnTo>
                  <a:lnTo>
                    <a:pt x="138576" y="1404541"/>
                  </a:lnTo>
                  <a:lnTo>
                    <a:pt x="136591" y="1398985"/>
                  </a:lnTo>
                  <a:lnTo>
                    <a:pt x="134209" y="1393429"/>
                  </a:lnTo>
                  <a:lnTo>
                    <a:pt x="132620" y="1387475"/>
                  </a:lnTo>
                  <a:lnTo>
                    <a:pt x="129047" y="1373982"/>
                  </a:lnTo>
                  <a:lnTo>
                    <a:pt x="125870" y="1360488"/>
                  </a:lnTo>
                  <a:lnTo>
                    <a:pt x="122694" y="1346994"/>
                  </a:lnTo>
                  <a:lnTo>
                    <a:pt x="120311" y="1335485"/>
                  </a:lnTo>
                  <a:lnTo>
                    <a:pt x="117532" y="1325563"/>
                  </a:lnTo>
                  <a:lnTo>
                    <a:pt x="109194" y="1300560"/>
                  </a:lnTo>
                  <a:lnTo>
                    <a:pt x="100458" y="1276350"/>
                  </a:lnTo>
                  <a:lnTo>
                    <a:pt x="95296" y="1264047"/>
                  </a:lnTo>
                  <a:lnTo>
                    <a:pt x="90531" y="1252538"/>
                  </a:lnTo>
                  <a:lnTo>
                    <a:pt x="85767" y="1241425"/>
                  </a:lnTo>
                  <a:lnTo>
                    <a:pt x="80208" y="1229916"/>
                  </a:lnTo>
                  <a:lnTo>
                    <a:pt x="77031" y="1223566"/>
                  </a:lnTo>
                  <a:lnTo>
                    <a:pt x="73458" y="1217216"/>
                  </a:lnTo>
                  <a:lnTo>
                    <a:pt x="65119" y="1203722"/>
                  </a:lnTo>
                  <a:lnTo>
                    <a:pt x="55987" y="1190625"/>
                  </a:lnTo>
                  <a:lnTo>
                    <a:pt x="46457" y="1177132"/>
                  </a:lnTo>
                  <a:lnTo>
                    <a:pt x="26207" y="1150938"/>
                  </a:lnTo>
                  <a:lnTo>
                    <a:pt x="6353" y="1125538"/>
                  </a:lnTo>
                  <a:lnTo>
                    <a:pt x="3574" y="1121172"/>
                  </a:lnTo>
                  <a:lnTo>
                    <a:pt x="1589" y="1116410"/>
                  </a:lnTo>
                  <a:lnTo>
                    <a:pt x="397" y="1111250"/>
                  </a:lnTo>
                  <a:lnTo>
                    <a:pt x="0" y="1106091"/>
                  </a:lnTo>
                  <a:lnTo>
                    <a:pt x="0" y="1100535"/>
                  </a:lnTo>
                  <a:lnTo>
                    <a:pt x="794" y="1094582"/>
                  </a:lnTo>
                  <a:lnTo>
                    <a:pt x="1986" y="1088629"/>
                  </a:lnTo>
                  <a:lnTo>
                    <a:pt x="3574" y="1083072"/>
                  </a:lnTo>
                  <a:lnTo>
                    <a:pt x="5559" y="1077516"/>
                  </a:lnTo>
                  <a:lnTo>
                    <a:pt x="8339" y="1071960"/>
                  </a:lnTo>
                  <a:lnTo>
                    <a:pt x="11118" y="1066404"/>
                  </a:lnTo>
                  <a:lnTo>
                    <a:pt x="14295" y="1061641"/>
                  </a:lnTo>
                  <a:lnTo>
                    <a:pt x="17868" y="1056879"/>
                  </a:lnTo>
                  <a:lnTo>
                    <a:pt x="21045" y="1052910"/>
                  </a:lnTo>
                  <a:lnTo>
                    <a:pt x="24618" y="1048941"/>
                  </a:lnTo>
                  <a:lnTo>
                    <a:pt x="28192" y="1045766"/>
                  </a:lnTo>
                  <a:lnTo>
                    <a:pt x="33751" y="1041400"/>
                  </a:lnTo>
                  <a:lnTo>
                    <a:pt x="39310" y="1037432"/>
                  </a:lnTo>
                  <a:lnTo>
                    <a:pt x="45663" y="1034257"/>
                  </a:lnTo>
                  <a:lnTo>
                    <a:pt x="52016" y="1031479"/>
                  </a:lnTo>
                  <a:lnTo>
                    <a:pt x="58369" y="1029097"/>
                  </a:lnTo>
                  <a:lnTo>
                    <a:pt x="64722" y="1027113"/>
                  </a:lnTo>
                  <a:lnTo>
                    <a:pt x="71869" y="1025922"/>
                  </a:lnTo>
                  <a:lnTo>
                    <a:pt x="78619" y="1024732"/>
                  </a:lnTo>
                  <a:lnTo>
                    <a:pt x="85767" y="1023938"/>
                  </a:lnTo>
                  <a:lnTo>
                    <a:pt x="92517" y="1023541"/>
                  </a:lnTo>
                  <a:lnTo>
                    <a:pt x="100061" y="1023938"/>
                  </a:lnTo>
                  <a:lnTo>
                    <a:pt x="107208" y="1024335"/>
                  </a:lnTo>
                  <a:lnTo>
                    <a:pt x="114355" y="1024732"/>
                  </a:lnTo>
                  <a:lnTo>
                    <a:pt x="121503" y="1025922"/>
                  </a:lnTo>
                  <a:lnTo>
                    <a:pt x="129047" y="1027510"/>
                  </a:lnTo>
                  <a:lnTo>
                    <a:pt x="136194" y="1029097"/>
                  </a:lnTo>
                  <a:lnTo>
                    <a:pt x="143341" y="1031082"/>
                  </a:lnTo>
                  <a:lnTo>
                    <a:pt x="150488" y="1033066"/>
                  </a:lnTo>
                  <a:lnTo>
                    <a:pt x="157636" y="1035844"/>
                  </a:lnTo>
                  <a:lnTo>
                    <a:pt x="164783" y="1038622"/>
                  </a:lnTo>
                  <a:lnTo>
                    <a:pt x="171533" y="1041400"/>
                  </a:lnTo>
                  <a:lnTo>
                    <a:pt x="177886" y="1044972"/>
                  </a:lnTo>
                  <a:lnTo>
                    <a:pt x="185033" y="1048544"/>
                  </a:lnTo>
                  <a:lnTo>
                    <a:pt x="191386" y="1052116"/>
                  </a:lnTo>
                  <a:lnTo>
                    <a:pt x="197739" y="1055688"/>
                  </a:lnTo>
                  <a:lnTo>
                    <a:pt x="203695" y="1059657"/>
                  </a:lnTo>
                  <a:lnTo>
                    <a:pt x="209651" y="1064022"/>
                  </a:lnTo>
                  <a:lnTo>
                    <a:pt x="215210" y="1067991"/>
                  </a:lnTo>
                  <a:lnTo>
                    <a:pt x="220769" y="1072754"/>
                  </a:lnTo>
                  <a:lnTo>
                    <a:pt x="225534" y="1077516"/>
                  </a:lnTo>
                  <a:lnTo>
                    <a:pt x="230299" y="1081882"/>
                  </a:lnTo>
                  <a:lnTo>
                    <a:pt x="235064" y="1086644"/>
                  </a:lnTo>
                  <a:lnTo>
                    <a:pt x="239828" y="1092200"/>
                  </a:lnTo>
                  <a:lnTo>
                    <a:pt x="244593" y="1097757"/>
                  </a:lnTo>
                  <a:lnTo>
                    <a:pt x="252932" y="1109663"/>
                  </a:lnTo>
                  <a:lnTo>
                    <a:pt x="260873" y="1121966"/>
                  </a:lnTo>
                  <a:lnTo>
                    <a:pt x="268814" y="1135063"/>
                  </a:lnTo>
                  <a:lnTo>
                    <a:pt x="283903" y="1160463"/>
                  </a:lnTo>
                  <a:lnTo>
                    <a:pt x="291447" y="1173163"/>
                  </a:lnTo>
                  <a:lnTo>
                    <a:pt x="299388" y="1185069"/>
                  </a:lnTo>
                  <a:lnTo>
                    <a:pt x="306139" y="1195785"/>
                  </a:lnTo>
                  <a:lnTo>
                    <a:pt x="312889" y="1206897"/>
                  </a:lnTo>
                  <a:lnTo>
                    <a:pt x="327580" y="1230710"/>
                  </a:lnTo>
                  <a:lnTo>
                    <a:pt x="342272" y="1255713"/>
                  </a:lnTo>
                  <a:lnTo>
                    <a:pt x="357757" y="1281113"/>
                  </a:lnTo>
                  <a:lnTo>
                    <a:pt x="365699" y="1293416"/>
                  </a:lnTo>
                  <a:lnTo>
                    <a:pt x="373640" y="1305719"/>
                  </a:lnTo>
                  <a:lnTo>
                    <a:pt x="382375" y="1317229"/>
                  </a:lnTo>
                  <a:lnTo>
                    <a:pt x="390714" y="1328738"/>
                  </a:lnTo>
                  <a:lnTo>
                    <a:pt x="399846" y="1339454"/>
                  </a:lnTo>
                  <a:lnTo>
                    <a:pt x="409376" y="1348979"/>
                  </a:lnTo>
                  <a:lnTo>
                    <a:pt x="418905" y="1358504"/>
                  </a:lnTo>
                  <a:lnTo>
                    <a:pt x="423670" y="1362472"/>
                  </a:lnTo>
                  <a:lnTo>
                    <a:pt x="428832" y="1366441"/>
                  </a:lnTo>
                  <a:lnTo>
                    <a:pt x="437171" y="1372791"/>
                  </a:lnTo>
                  <a:lnTo>
                    <a:pt x="445112" y="1378744"/>
                  </a:lnTo>
                  <a:lnTo>
                    <a:pt x="453450" y="1383904"/>
                  </a:lnTo>
                  <a:lnTo>
                    <a:pt x="462186" y="1388666"/>
                  </a:lnTo>
                  <a:lnTo>
                    <a:pt x="470921" y="1392635"/>
                  </a:lnTo>
                  <a:lnTo>
                    <a:pt x="479260" y="1396207"/>
                  </a:lnTo>
                  <a:lnTo>
                    <a:pt x="488789" y="1399382"/>
                  </a:lnTo>
                  <a:lnTo>
                    <a:pt x="497525" y="1402160"/>
                  </a:lnTo>
                  <a:lnTo>
                    <a:pt x="506657" y="1404144"/>
                  </a:lnTo>
                  <a:lnTo>
                    <a:pt x="516187" y="1405732"/>
                  </a:lnTo>
                  <a:lnTo>
                    <a:pt x="525716" y="1407319"/>
                  </a:lnTo>
                  <a:lnTo>
                    <a:pt x="535246" y="1408113"/>
                  </a:lnTo>
                  <a:lnTo>
                    <a:pt x="545172" y="1408113"/>
                  </a:lnTo>
                  <a:lnTo>
                    <a:pt x="555099" y="1407716"/>
                  </a:lnTo>
                  <a:lnTo>
                    <a:pt x="565423" y="1406922"/>
                  </a:lnTo>
                  <a:lnTo>
                    <a:pt x="575746" y="1404938"/>
                  </a:lnTo>
                  <a:lnTo>
                    <a:pt x="578923" y="1404541"/>
                  </a:lnTo>
                  <a:lnTo>
                    <a:pt x="582497" y="1402954"/>
                  </a:lnTo>
                  <a:lnTo>
                    <a:pt x="586467" y="1401366"/>
                  </a:lnTo>
                  <a:lnTo>
                    <a:pt x="590041" y="1398985"/>
                  </a:lnTo>
                  <a:lnTo>
                    <a:pt x="594012" y="1395810"/>
                  </a:lnTo>
                  <a:lnTo>
                    <a:pt x="597585" y="1392635"/>
                  </a:lnTo>
                  <a:lnTo>
                    <a:pt x="601556" y="1389460"/>
                  </a:lnTo>
                  <a:lnTo>
                    <a:pt x="604335" y="1385491"/>
                  </a:lnTo>
                  <a:lnTo>
                    <a:pt x="609894" y="1379141"/>
                  </a:lnTo>
                  <a:lnTo>
                    <a:pt x="614659" y="1372394"/>
                  </a:lnTo>
                  <a:lnTo>
                    <a:pt x="619424" y="1365647"/>
                  </a:lnTo>
                  <a:lnTo>
                    <a:pt x="623394" y="1358900"/>
                  </a:lnTo>
                  <a:lnTo>
                    <a:pt x="627762" y="1352154"/>
                  </a:lnTo>
                  <a:lnTo>
                    <a:pt x="631336" y="1344613"/>
                  </a:lnTo>
                  <a:lnTo>
                    <a:pt x="634512" y="1337469"/>
                  </a:lnTo>
                  <a:lnTo>
                    <a:pt x="637292" y="1330325"/>
                  </a:lnTo>
                  <a:lnTo>
                    <a:pt x="640071" y="1323182"/>
                  </a:lnTo>
                  <a:lnTo>
                    <a:pt x="642057" y="1315244"/>
                  </a:lnTo>
                  <a:lnTo>
                    <a:pt x="644042" y="1307704"/>
                  </a:lnTo>
                  <a:lnTo>
                    <a:pt x="645233" y="1299766"/>
                  </a:lnTo>
                  <a:lnTo>
                    <a:pt x="646424" y="1291829"/>
                  </a:lnTo>
                  <a:lnTo>
                    <a:pt x="647218" y="1283891"/>
                  </a:lnTo>
                  <a:lnTo>
                    <a:pt x="647616" y="1275557"/>
                  </a:lnTo>
                  <a:lnTo>
                    <a:pt x="648013" y="1267619"/>
                  </a:lnTo>
                  <a:lnTo>
                    <a:pt x="647616" y="1259682"/>
                  </a:lnTo>
                  <a:lnTo>
                    <a:pt x="647218" y="1252538"/>
                  </a:lnTo>
                  <a:lnTo>
                    <a:pt x="646424" y="1245394"/>
                  </a:lnTo>
                  <a:lnTo>
                    <a:pt x="645233" y="1237457"/>
                  </a:lnTo>
                  <a:lnTo>
                    <a:pt x="466951" y="280988"/>
                  </a:lnTo>
                  <a:lnTo>
                    <a:pt x="465362" y="271463"/>
                  </a:lnTo>
                  <a:lnTo>
                    <a:pt x="464568" y="263128"/>
                  </a:lnTo>
                  <a:lnTo>
                    <a:pt x="464568" y="254397"/>
                  </a:lnTo>
                  <a:lnTo>
                    <a:pt x="464965" y="246857"/>
                  </a:lnTo>
                  <a:lnTo>
                    <a:pt x="465759" y="239316"/>
                  </a:lnTo>
                  <a:lnTo>
                    <a:pt x="467348" y="232569"/>
                  </a:lnTo>
                  <a:lnTo>
                    <a:pt x="468936" y="225822"/>
                  </a:lnTo>
                  <a:lnTo>
                    <a:pt x="471318" y="219869"/>
                  </a:lnTo>
                  <a:lnTo>
                    <a:pt x="473701" y="214313"/>
                  </a:lnTo>
                  <a:lnTo>
                    <a:pt x="476480" y="209153"/>
                  </a:lnTo>
                  <a:lnTo>
                    <a:pt x="479657" y="204391"/>
                  </a:lnTo>
                  <a:lnTo>
                    <a:pt x="482833" y="199628"/>
                  </a:lnTo>
                  <a:lnTo>
                    <a:pt x="486407" y="195263"/>
                  </a:lnTo>
                  <a:lnTo>
                    <a:pt x="490775" y="191691"/>
                  </a:lnTo>
                  <a:lnTo>
                    <a:pt x="494348" y="188119"/>
                  </a:lnTo>
                  <a:lnTo>
                    <a:pt x="498319" y="184944"/>
                  </a:lnTo>
                  <a:lnTo>
                    <a:pt x="502289" y="182166"/>
                  </a:lnTo>
                  <a:lnTo>
                    <a:pt x="506657" y="179785"/>
                  </a:lnTo>
                  <a:lnTo>
                    <a:pt x="514201" y="175419"/>
                  </a:lnTo>
                  <a:lnTo>
                    <a:pt x="522143" y="171450"/>
                  </a:lnTo>
                  <a:lnTo>
                    <a:pt x="528893" y="169069"/>
                  </a:lnTo>
                  <a:lnTo>
                    <a:pt x="534849" y="167482"/>
                  </a:lnTo>
                  <a:lnTo>
                    <a:pt x="539614" y="166291"/>
                  </a:lnTo>
                  <a:lnTo>
                    <a:pt x="543981" y="165497"/>
                  </a:lnTo>
                  <a:lnTo>
                    <a:pt x="552320" y="163910"/>
                  </a:lnTo>
                  <a:lnTo>
                    <a:pt x="561055" y="162719"/>
                  </a:lnTo>
                  <a:lnTo>
                    <a:pt x="569393" y="162322"/>
                  </a:lnTo>
                  <a:lnTo>
                    <a:pt x="577732" y="161925"/>
                  </a:lnTo>
                  <a:close/>
                  <a:moveTo>
                    <a:pt x="576263" y="0"/>
                  </a:moveTo>
                  <a:lnTo>
                    <a:pt x="594539" y="397"/>
                  </a:lnTo>
                  <a:lnTo>
                    <a:pt x="612419" y="1589"/>
                  </a:lnTo>
                  <a:lnTo>
                    <a:pt x="630298" y="3973"/>
                  </a:lnTo>
                  <a:lnTo>
                    <a:pt x="647780" y="7151"/>
                  </a:lnTo>
                  <a:lnTo>
                    <a:pt x="664864" y="10727"/>
                  </a:lnTo>
                  <a:lnTo>
                    <a:pt x="681551" y="15098"/>
                  </a:lnTo>
                  <a:lnTo>
                    <a:pt x="697841" y="20263"/>
                  </a:lnTo>
                  <a:lnTo>
                    <a:pt x="714131" y="26620"/>
                  </a:lnTo>
                  <a:lnTo>
                    <a:pt x="729626" y="33374"/>
                  </a:lnTo>
                  <a:lnTo>
                    <a:pt x="745122" y="41321"/>
                  </a:lnTo>
                  <a:lnTo>
                    <a:pt x="759822" y="50062"/>
                  </a:lnTo>
                  <a:lnTo>
                    <a:pt x="774920" y="59200"/>
                  </a:lnTo>
                  <a:lnTo>
                    <a:pt x="788826" y="69530"/>
                  </a:lnTo>
                  <a:lnTo>
                    <a:pt x="803130" y="80655"/>
                  </a:lnTo>
                  <a:lnTo>
                    <a:pt x="816638" y="92575"/>
                  </a:lnTo>
                  <a:lnTo>
                    <a:pt x="830147" y="105289"/>
                  </a:lnTo>
                  <a:lnTo>
                    <a:pt x="842464" y="118798"/>
                  </a:lnTo>
                  <a:lnTo>
                    <a:pt x="854780" y="132307"/>
                  </a:lnTo>
                  <a:lnTo>
                    <a:pt x="865508" y="146610"/>
                  </a:lnTo>
                  <a:lnTo>
                    <a:pt x="876235" y="160516"/>
                  </a:lnTo>
                  <a:lnTo>
                    <a:pt x="885374" y="175615"/>
                  </a:lnTo>
                  <a:lnTo>
                    <a:pt x="894115" y="190315"/>
                  </a:lnTo>
                  <a:lnTo>
                    <a:pt x="901664" y="205811"/>
                  </a:lnTo>
                  <a:lnTo>
                    <a:pt x="908815" y="221306"/>
                  </a:lnTo>
                  <a:lnTo>
                    <a:pt x="915172" y="237596"/>
                  </a:lnTo>
                  <a:lnTo>
                    <a:pt x="920337" y="253886"/>
                  </a:lnTo>
                  <a:lnTo>
                    <a:pt x="924708" y="270574"/>
                  </a:lnTo>
                  <a:lnTo>
                    <a:pt x="928284" y="287658"/>
                  </a:lnTo>
                  <a:lnTo>
                    <a:pt x="931462" y="304743"/>
                  </a:lnTo>
                  <a:lnTo>
                    <a:pt x="933449" y="322622"/>
                  </a:lnTo>
                  <a:lnTo>
                    <a:pt x="934641" y="340502"/>
                  </a:lnTo>
                  <a:lnTo>
                    <a:pt x="935038" y="359175"/>
                  </a:lnTo>
                  <a:lnTo>
                    <a:pt x="934641" y="377452"/>
                  </a:lnTo>
                  <a:lnTo>
                    <a:pt x="933449" y="395331"/>
                  </a:lnTo>
                  <a:lnTo>
                    <a:pt x="931462" y="413211"/>
                  </a:lnTo>
                  <a:lnTo>
                    <a:pt x="928284" y="430693"/>
                  </a:lnTo>
                  <a:lnTo>
                    <a:pt x="924708" y="447777"/>
                  </a:lnTo>
                  <a:lnTo>
                    <a:pt x="920337" y="464465"/>
                  </a:lnTo>
                  <a:lnTo>
                    <a:pt x="915172" y="480755"/>
                  </a:lnTo>
                  <a:lnTo>
                    <a:pt x="908815" y="496647"/>
                  </a:lnTo>
                  <a:lnTo>
                    <a:pt x="901664" y="512540"/>
                  </a:lnTo>
                  <a:lnTo>
                    <a:pt x="894115" y="527638"/>
                  </a:lnTo>
                  <a:lnTo>
                    <a:pt x="885374" y="543134"/>
                  </a:lnTo>
                  <a:lnTo>
                    <a:pt x="876235" y="557437"/>
                  </a:lnTo>
                  <a:lnTo>
                    <a:pt x="865508" y="572138"/>
                  </a:lnTo>
                  <a:lnTo>
                    <a:pt x="854780" y="585647"/>
                  </a:lnTo>
                  <a:lnTo>
                    <a:pt x="842464" y="599553"/>
                  </a:lnTo>
                  <a:lnTo>
                    <a:pt x="830147" y="612664"/>
                  </a:lnTo>
                  <a:lnTo>
                    <a:pt x="830147" y="613061"/>
                  </a:lnTo>
                  <a:lnTo>
                    <a:pt x="822201" y="620611"/>
                  </a:lnTo>
                  <a:lnTo>
                    <a:pt x="813857" y="628160"/>
                  </a:lnTo>
                  <a:lnTo>
                    <a:pt x="805911" y="634914"/>
                  </a:lnTo>
                  <a:lnTo>
                    <a:pt x="797964" y="641668"/>
                  </a:lnTo>
                  <a:lnTo>
                    <a:pt x="791607" y="619419"/>
                  </a:lnTo>
                  <a:lnTo>
                    <a:pt x="785250" y="597963"/>
                  </a:lnTo>
                  <a:lnTo>
                    <a:pt x="778496" y="576111"/>
                  </a:lnTo>
                  <a:lnTo>
                    <a:pt x="771344" y="553861"/>
                  </a:lnTo>
                  <a:lnTo>
                    <a:pt x="780880" y="543928"/>
                  </a:lnTo>
                  <a:lnTo>
                    <a:pt x="790018" y="533201"/>
                  </a:lnTo>
                  <a:lnTo>
                    <a:pt x="798759" y="522473"/>
                  </a:lnTo>
                  <a:lnTo>
                    <a:pt x="806705" y="511745"/>
                  </a:lnTo>
                  <a:lnTo>
                    <a:pt x="813857" y="500223"/>
                  </a:lnTo>
                  <a:lnTo>
                    <a:pt x="820611" y="488701"/>
                  </a:lnTo>
                  <a:lnTo>
                    <a:pt x="826571" y="476782"/>
                  </a:lnTo>
                  <a:lnTo>
                    <a:pt x="831736" y="464862"/>
                  </a:lnTo>
                  <a:lnTo>
                    <a:pt x="836504" y="452545"/>
                  </a:lnTo>
                  <a:lnTo>
                    <a:pt x="840477" y="439831"/>
                  </a:lnTo>
                  <a:lnTo>
                    <a:pt x="844053" y="427117"/>
                  </a:lnTo>
                  <a:lnTo>
                    <a:pt x="846834" y="414005"/>
                  </a:lnTo>
                  <a:lnTo>
                    <a:pt x="849218" y="400894"/>
                  </a:lnTo>
                  <a:lnTo>
                    <a:pt x="850807" y="386988"/>
                  </a:lnTo>
                  <a:lnTo>
                    <a:pt x="851602" y="373479"/>
                  </a:lnTo>
                  <a:lnTo>
                    <a:pt x="851999" y="359175"/>
                  </a:lnTo>
                  <a:lnTo>
                    <a:pt x="851602" y="344872"/>
                  </a:lnTo>
                  <a:lnTo>
                    <a:pt x="850807" y="330966"/>
                  </a:lnTo>
                  <a:lnTo>
                    <a:pt x="849218" y="317457"/>
                  </a:lnTo>
                  <a:lnTo>
                    <a:pt x="846834" y="303948"/>
                  </a:lnTo>
                  <a:lnTo>
                    <a:pt x="844053" y="291234"/>
                  </a:lnTo>
                  <a:lnTo>
                    <a:pt x="840477" y="278123"/>
                  </a:lnTo>
                  <a:lnTo>
                    <a:pt x="836504" y="265806"/>
                  </a:lnTo>
                  <a:lnTo>
                    <a:pt x="831736" y="253092"/>
                  </a:lnTo>
                  <a:lnTo>
                    <a:pt x="826571" y="241172"/>
                  </a:lnTo>
                  <a:lnTo>
                    <a:pt x="820611" y="229253"/>
                  </a:lnTo>
                  <a:lnTo>
                    <a:pt x="813460" y="217730"/>
                  </a:lnTo>
                  <a:lnTo>
                    <a:pt x="806308" y="206605"/>
                  </a:lnTo>
                  <a:lnTo>
                    <a:pt x="798759" y="195481"/>
                  </a:lnTo>
                  <a:lnTo>
                    <a:pt x="789621" y="185150"/>
                  </a:lnTo>
                  <a:lnTo>
                    <a:pt x="780880" y="174820"/>
                  </a:lnTo>
                  <a:lnTo>
                    <a:pt x="770947" y="164092"/>
                  </a:lnTo>
                  <a:lnTo>
                    <a:pt x="760617" y="154556"/>
                  </a:lnTo>
                  <a:lnTo>
                    <a:pt x="750287" y="145021"/>
                  </a:lnTo>
                  <a:lnTo>
                    <a:pt x="739559" y="136677"/>
                  </a:lnTo>
                  <a:lnTo>
                    <a:pt x="728434" y="129128"/>
                  </a:lnTo>
                  <a:lnTo>
                    <a:pt x="717310" y="121976"/>
                  </a:lnTo>
                  <a:lnTo>
                    <a:pt x="705788" y="114825"/>
                  </a:lnTo>
                  <a:lnTo>
                    <a:pt x="693868" y="108865"/>
                  </a:lnTo>
                  <a:lnTo>
                    <a:pt x="682346" y="103700"/>
                  </a:lnTo>
                  <a:lnTo>
                    <a:pt x="669632" y="98932"/>
                  </a:lnTo>
                  <a:lnTo>
                    <a:pt x="657315" y="94959"/>
                  </a:lnTo>
                  <a:lnTo>
                    <a:pt x="644204" y="91383"/>
                  </a:lnTo>
                  <a:lnTo>
                    <a:pt x="631490" y="88204"/>
                  </a:lnTo>
                  <a:lnTo>
                    <a:pt x="617584" y="86218"/>
                  </a:lnTo>
                  <a:lnTo>
                    <a:pt x="604472" y="84628"/>
                  </a:lnTo>
                  <a:lnTo>
                    <a:pt x="590169" y="83436"/>
                  </a:lnTo>
                  <a:lnTo>
                    <a:pt x="576263" y="83436"/>
                  </a:lnTo>
                  <a:lnTo>
                    <a:pt x="561960" y="83436"/>
                  </a:lnTo>
                  <a:lnTo>
                    <a:pt x="548451" y="84628"/>
                  </a:lnTo>
                  <a:lnTo>
                    <a:pt x="534545" y="86218"/>
                  </a:lnTo>
                  <a:lnTo>
                    <a:pt x="521434" y="88204"/>
                  </a:lnTo>
                  <a:lnTo>
                    <a:pt x="507925" y="91383"/>
                  </a:lnTo>
                  <a:lnTo>
                    <a:pt x="495211" y="94959"/>
                  </a:lnTo>
                  <a:lnTo>
                    <a:pt x="482497" y="98932"/>
                  </a:lnTo>
                  <a:lnTo>
                    <a:pt x="470578" y="103700"/>
                  </a:lnTo>
                  <a:lnTo>
                    <a:pt x="458658" y="108865"/>
                  </a:lnTo>
                  <a:lnTo>
                    <a:pt x="446341" y="114825"/>
                  </a:lnTo>
                  <a:lnTo>
                    <a:pt x="435217" y="121976"/>
                  </a:lnTo>
                  <a:lnTo>
                    <a:pt x="423694" y="129128"/>
                  </a:lnTo>
                  <a:lnTo>
                    <a:pt x="412967" y="136677"/>
                  </a:lnTo>
                  <a:lnTo>
                    <a:pt x="401842" y="145021"/>
                  </a:lnTo>
                  <a:lnTo>
                    <a:pt x="391512" y="154556"/>
                  </a:lnTo>
                  <a:lnTo>
                    <a:pt x="381579" y="164092"/>
                  </a:lnTo>
                  <a:lnTo>
                    <a:pt x="381182" y="164092"/>
                  </a:lnTo>
                  <a:lnTo>
                    <a:pt x="371249" y="174820"/>
                  </a:lnTo>
                  <a:lnTo>
                    <a:pt x="362111" y="185150"/>
                  </a:lnTo>
                  <a:lnTo>
                    <a:pt x="353767" y="195481"/>
                  </a:lnTo>
                  <a:lnTo>
                    <a:pt x="345821" y="207003"/>
                  </a:lnTo>
                  <a:lnTo>
                    <a:pt x="338669" y="218128"/>
                  </a:lnTo>
                  <a:lnTo>
                    <a:pt x="331915" y="229253"/>
                  </a:lnTo>
                  <a:lnTo>
                    <a:pt x="325955" y="241172"/>
                  </a:lnTo>
                  <a:lnTo>
                    <a:pt x="320790" y="253092"/>
                  </a:lnTo>
                  <a:lnTo>
                    <a:pt x="315625" y="265806"/>
                  </a:lnTo>
                  <a:lnTo>
                    <a:pt x="311652" y="278123"/>
                  </a:lnTo>
                  <a:lnTo>
                    <a:pt x="308473" y="291234"/>
                  </a:lnTo>
                  <a:lnTo>
                    <a:pt x="305692" y="303948"/>
                  </a:lnTo>
                  <a:lnTo>
                    <a:pt x="303308" y="317457"/>
                  </a:lnTo>
                  <a:lnTo>
                    <a:pt x="301719" y="330966"/>
                  </a:lnTo>
                  <a:lnTo>
                    <a:pt x="300924" y="345269"/>
                  </a:lnTo>
                  <a:lnTo>
                    <a:pt x="300527" y="359175"/>
                  </a:lnTo>
                  <a:lnTo>
                    <a:pt x="300924" y="373479"/>
                  </a:lnTo>
                  <a:lnTo>
                    <a:pt x="301719" y="386988"/>
                  </a:lnTo>
                  <a:lnTo>
                    <a:pt x="303308" y="400894"/>
                  </a:lnTo>
                  <a:lnTo>
                    <a:pt x="305692" y="414005"/>
                  </a:lnTo>
                  <a:lnTo>
                    <a:pt x="308473" y="427514"/>
                  </a:lnTo>
                  <a:lnTo>
                    <a:pt x="311652" y="440228"/>
                  </a:lnTo>
                  <a:lnTo>
                    <a:pt x="315625" y="452545"/>
                  </a:lnTo>
                  <a:lnTo>
                    <a:pt x="320790" y="464862"/>
                  </a:lnTo>
                  <a:lnTo>
                    <a:pt x="325955" y="476782"/>
                  </a:lnTo>
                  <a:lnTo>
                    <a:pt x="331915" y="489098"/>
                  </a:lnTo>
                  <a:lnTo>
                    <a:pt x="338669" y="500223"/>
                  </a:lnTo>
                  <a:lnTo>
                    <a:pt x="345821" y="511745"/>
                  </a:lnTo>
                  <a:lnTo>
                    <a:pt x="353767" y="522870"/>
                  </a:lnTo>
                  <a:lnTo>
                    <a:pt x="362111" y="533201"/>
                  </a:lnTo>
                  <a:lnTo>
                    <a:pt x="371249" y="543928"/>
                  </a:lnTo>
                  <a:lnTo>
                    <a:pt x="381182" y="554258"/>
                  </a:lnTo>
                  <a:lnTo>
                    <a:pt x="387539" y="560218"/>
                  </a:lnTo>
                  <a:lnTo>
                    <a:pt x="393896" y="566575"/>
                  </a:lnTo>
                  <a:lnTo>
                    <a:pt x="400650" y="572138"/>
                  </a:lnTo>
                  <a:lnTo>
                    <a:pt x="407405" y="577700"/>
                  </a:lnTo>
                  <a:lnTo>
                    <a:pt x="414159" y="582468"/>
                  </a:lnTo>
                  <a:lnTo>
                    <a:pt x="420913" y="587633"/>
                  </a:lnTo>
                  <a:lnTo>
                    <a:pt x="428065" y="592401"/>
                  </a:lnTo>
                  <a:lnTo>
                    <a:pt x="435614" y="597169"/>
                  </a:lnTo>
                  <a:lnTo>
                    <a:pt x="442368" y="601142"/>
                  </a:lnTo>
                  <a:lnTo>
                    <a:pt x="449917" y="605115"/>
                  </a:lnTo>
                  <a:lnTo>
                    <a:pt x="457069" y="608691"/>
                  </a:lnTo>
                  <a:lnTo>
                    <a:pt x="465015" y="612267"/>
                  </a:lnTo>
                  <a:lnTo>
                    <a:pt x="472564" y="615445"/>
                  </a:lnTo>
                  <a:lnTo>
                    <a:pt x="480113" y="618227"/>
                  </a:lnTo>
                  <a:lnTo>
                    <a:pt x="488457" y="621008"/>
                  </a:lnTo>
                  <a:lnTo>
                    <a:pt x="496403" y="623789"/>
                  </a:lnTo>
                  <a:lnTo>
                    <a:pt x="498787" y="634914"/>
                  </a:lnTo>
                  <a:lnTo>
                    <a:pt x="501171" y="645642"/>
                  </a:lnTo>
                  <a:lnTo>
                    <a:pt x="505541" y="667891"/>
                  </a:lnTo>
                  <a:lnTo>
                    <a:pt x="508720" y="690141"/>
                  </a:lnTo>
                  <a:lnTo>
                    <a:pt x="511501" y="712788"/>
                  </a:lnTo>
                  <a:lnTo>
                    <a:pt x="498390" y="710404"/>
                  </a:lnTo>
                  <a:lnTo>
                    <a:pt x="484881" y="707226"/>
                  </a:lnTo>
                  <a:lnTo>
                    <a:pt x="472167" y="703253"/>
                  </a:lnTo>
                  <a:lnTo>
                    <a:pt x="459453" y="699279"/>
                  </a:lnTo>
                  <a:lnTo>
                    <a:pt x="446739" y="694909"/>
                  </a:lnTo>
                  <a:lnTo>
                    <a:pt x="434819" y="690141"/>
                  </a:lnTo>
                  <a:lnTo>
                    <a:pt x="422503" y="684579"/>
                  </a:lnTo>
                  <a:lnTo>
                    <a:pt x="410583" y="678619"/>
                  </a:lnTo>
                  <a:lnTo>
                    <a:pt x="398664" y="671864"/>
                  </a:lnTo>
                  <a:lnTo>
                    <a:pt x="387142" y="665110"/>
                  </a:lnTo>
                  <a:lnTo>
                    <a:pt x="376017" y="657561"/>
                  </a:lnTo>
                  <a:lnTo>
                    <a:pt x="364892" y="649615"/>
                  </a:lnTo>
                  <a:lnTo>
                    <a:pt x="354164" y="641271"/>
                  </a:lnTo>
                  <a:lnTo>
                    <a:pt x="343040" y="632133"/>
                  </a:lnTo>
                  <a:lnTo>
                    <a:pt x="332709" y="622994"/>
                  </a:lnTo>
                  <a:lnTo>
                    <a:pt x="322379" y="612664"/>
                  </a:lnTo>
                  <a:lnTo>
                    <a:pt x="309665" y="599553"/>
                  </a:lnTo>
                  <a:lnTo>
                    <a:pt x="297746" y="585647"/>
                  </a:lnTo>
                  <a:lnTo>
                    <a:pt x="286621" y="572138"/>
                  </a:lnTo>
                  <a:lnTo>
                    <a:pt x="276291" y="557437"/>
                  </a:lnTo>
                  <a:lnTo>
                    <a:pt x="267153" y="543134"/>
                  </a:lnTo>
                  <a:lnTo>
                    <a:pt x="258412" y="527638"/>
                  </a:lnTo>
                  <a:lnTo>
                    <a:pt x="250465" y="512540"/>
                  </a:lnTo>
                  <a:lnTo>
                    <a:pt x="243711" y="496647"/>
                  </a:lnTo>
                  <a:lnTo>
                    <a:pt x="237751" y="480755"/>
                  </a:lnTo>
                  <a:lnTo>
                    <a:pt x="231792" y="464465"/>
                  </a:lnTo>
                  <a:lnTo>
                    <a:pt x="227421" y="447777"/>
                  </a:lnTo>
                  <a:lnTo>
                    <a:pt x="223845" y="430693"/>
                  </a:lnTo>
                  <a:lnTo>
                    <a:pt x="221064" y="413211"/>
                  </a:lnTo>
                  <a:lnTo>
                    <a:pt x="219078" y="395331"/>
                  </a:lnTo>
                  <a:lnTo>
                    <a:pt x="217886" y="377452"/>
                  </a:lnTo>
                  <a:lnTo>
                    <a:pt x="217488" y="359175"/>
                  </a:lnTo>
                  <a:lnTo>
                    <a:pt x="217886" y="340502"/>
                  </a:lnTo>
                  <a:lnTo>
                    <a:pt x="219078" y="322622"/>
                  </a:lnTo>
                  <a:lnTo>
                    <a:pt x="221064" y="304743"/>
                  </a:lnTo>
                  <a:lnTo>
                    <a:pt x="223845" y="287658"/>
                  </a:lnTo>
                  <a:lnTo>
                    <a:pt x="227421" y="270574"/>
                  </a:lnTo>
                  <a:lnTo>
                    <a:pt x="231792" y="253886"/>
                  </a:lnTo>
                  <a:lnTo>
                    <a:pt x="237751" y="237596"/>
                  </a:lnTo>
                  <a:lnTo>
                    <a:pt x="243711" y="221306"/>
                  </a:lnTo>
                  <a:lnTo>
                    <a:pt x="250465" y="205811"/>
                  </a:lnTo>
                  <a:lnTo>
                    <a:pt x="258412" y="190315"/>
                  </a:lnTo>
                  <a:lnTo>
                    <a:pt x="267153" y="175615"/>
                  </a:lnTo>
                  <a:lnTo>
                    <a:pt x="276291" y="160516"/>
                  </a:lnTo>
                  <a:lnTo>
                    <a:pt x="286621" y="146610"/>
                  </a:lnTo>
                  <a:lnTo>
                    <a:pt x="297746" y="132307"/>
                  </a:lnTo>
                  <a:lnTo>
                    <a:pt x="309665" y="118798"/>
                  </a:lnTo>
                  <a:lnTo>
                    <a:pt x="322379" y="105289"/>
                  </a:lnTo>
                  <a:lnTo>
                    <a:pt x="335491" y="92575"/>
                  </a:lnTo>
                  <a:lnTo>
                    <a:pt x="349397" y="80655"/>
                  </a:lnTo>
                  <a:lnTo>
                    <a:pt x="363303" y="69530"/>
                  </a:lnTo>
                  <a:lnTo>
                    <a:pt x="378003" y="59200"/>
                  </a:lnTo>
                  <a:lnTo>
                    <a:pt x="392307" y="50062"/>
                  </a:lnTo>
                  <a:lnTo>
                    <a:pt x="407405" y="41321"/>
                  </a:lnTo>
                  <a:lnTo>
                    <a:pt x="422900" y="33374"/>
                  </a:lnTo>
                  <a:lnTo>
                    <a:pt x="438395" y="26620"/>
                  </a:lnTo>
                  <a:lnTo>
                    <a:pt x="454288" y="20263"/>
                  </a:lnTo>
                  <a:lnTo>
                    <a:pt x="470975" y="15098"/>
                  </a:lnTo>
                  <a:lnTo>
                    <a:pt x="487662" y="10727"/>
                  </a:lnTo>
                  <a:lnTo>
                    <a:pt x="504747" y="7151"/>
                  </a:lnTo>
                  <a:lnTo>
                    <a:pt x="522228" y="3973"/>
                  </a:lnTo>
                  <a:lnTo>
                    <a:pt x="539710" y="1589"/>
                  </a:lnTo>
                  <a:lnTo>
                    <a:pt x="557589" y="397"/>
                  </a:lnTo>
                  <a:lnTo>
                    <a:pt x="5762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  <a:ea typeface="+mn-ea"/>
                <a:cs typeface="+mn-ea"/>
              </a:endParaRPr>
            </a:p>
          </p:txBody>
        </p:sp>
      </p:grpSp>
      <p:sp>
        <p:nvSpPr>
          <p:cNvPr id="50" name="矩形 49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78850" y="423500"/>
            <a:ext cx="3300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前后端数据库交互流程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55" name="Picture 3" descr="校标"/>
            <p:cNvPicPr>
              <a:picLocks noChangeAspect="1" noChangeArrowheads="1"/>
            </p:cNvPicPr>
            <p:nvPr/>
          </p:nvPicPr>
          <p:blipFill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4" descr="校名 标准色"/>
            <p:cNvPicPr>
              <a:picLocks noChangeAspect="1" noChangeArrowheads="1"/>
            </p:cNvPicPr>
            <p:nvPr/>
          </p:nvPicPr>
          <p:blipFill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972670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0"/>
            <a:ext cx="12192000" cy="69278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5" name="矩形 34"/>
          <p:cNvSpPr/>
          <p:nvPr/>
        </p:nvSpPr>
        <p:spPr>
          <a:xfrm>
            <a:off x="0" y="488393"/>
            <a:ext cx="290945" cy="582807"/>
          </a:xfrm>
          <a:prstGeom prst="rect">
            <a:avLst/>
          </a:prstGeom>
          <a:solidFill>
            <a:srgbClr val="005D97"/>
          </a:solidFill>
          <a:ln>
            <a:solidFill>
              <a:srgbClr val="005D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378850" y="423500"/>
            <a:ext cx="4420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前端、后端、数据库交互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40" name="Picture 3" descr="校标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" name="Picture 4" descr="校名 标准色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BA7670E9-A3B1-4CFC-9883-353448772E0C}"/>
              </a:ext>
            </a:extLst>
          </p:cNvPr>
          <p:cNvSpPr txBox="1"/>
          <p:nvPr/>
        </p:nvSpPr>
        <p:spPr>
          <a:xfrm>
            <a:off x="464359" y="1541256"/>
            <a:ext cx="102179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以获取数据库中所有</a:t>
            </a:r>
            <a:r>
              <a:rPr lang="en-US" altLang="zh-CN" dirty="0" err="1"/>
              <a:t>todos</a:t>
            </a:r>
            <a:r>
              <a:rPr lang="zh-CN" altLang="en-US" dirty="0"/>
              <a:t>为例，说明前端、后端、数据库交互的过程</a:t>
            </a:r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进入页面，获取</a:t>
            </a:r>
            <a:r>
              <a:rPr lang="en-US" altLang="zh-CN" dirty="0"/>
              <a:t>button</a:t>
            </a:r>
            <a:r>
              <a:rPr lang="zh-CN" altLang="en-US" dirty="0"/>
              <a:t>元素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点击</a:t>
            </a:r>
            <a:r>
              <a:rPr lang="en-US" altLang="zh-CN" dirty="0"/>
              <a:t>button</a:t>
            </a:r>
            <a:r>
              <a:rPr lang="zh-CN" altLang="en-US" dirty="0"/>
              <a:t>，执行绑定在</a:t>
            </a:r>
            <a:r>
              <a:rPr lang="en-US" altLang="zh-CN" dirty="0"/>
              <a:t>button</a:t>
            </a:r>
            <a:r>
              <a:rPr lang="zh-CN" altLang="en-US" dirty="0"/>
              <a:t>上的函数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函数中发起</a:t>
            </a:r>
            <a:r>
              <a:rPr lang="en-US" altLang="zh-CN" dirty="0"/>
              <a:t>http</a:t>
            </a:r>
            <a:r>
              <a:rPr lang="zh-CN" altLang="en-US" dirty="0"/>
              <a:t>请求（包含请求路径、请求方法、参数类型、请求体等）</a:t>
            </a:r>
          </a:p>
          <a:p>
            <a:r>
              <a:rPr lang="en-US" altLang="zh-CN" dirty="0"/>
              <a:t>4. </a:t>
            </a:r>
            <a:r>
              <a:rPr lang="zh-CN" altLang="en-US" dirty="0"/>
              <a:t>前后端建立连接（三次握手）</a:t>
            </a:r>
          </a:p>
          <a:p>
            <a:r>
              <a:rPr lang="en-US" altLang="zh-CN" dirty="0"/>
              <a:t>5. </a:t>
            </a:r>
            <a:r>
              <a:rPr lang="zh-CN" altLang="en-US" dirty="0"/>
              <a:t>后端根据请求路径路由到对应的</a:t>
            </a:r>
            <a:r>
              <a:rPr lang="en-US" altLang="zh-CN" dirty="0"/>
              <a:t>controller</a:t>
            </a:r>
            <a:r>
              <a:rPr lang="zh-CN" altLang="en-US" dirty="0"/>
              <a:t>函数，并执行该函数</a:t>
            </a:r>
          </a:p>
          <a:p>
            <a:r>
              <a:rPr lang="en-US" altLang="zh-CN" dirty="0"/>
              <a:t>6. </a:t>
            </a:r>
            <a:r>
              <a:rPr lang="zh-CN" altLang="en-US" dirty="0"/>
              <a:t>如果函数中包含了对数据库的操作，则后端将与数据库建立连接</a:t>
            </a:r>
          </a:p>
          <a:p>
            <a:r>
              <a:rPr lang="en-US" altLang="zh-CN" dirty="0"/>
              <a:t>7. </a:t>
            </a:r>
            <a:r>
              <a:rPr lang="zh-CN" altLang="en-US" dirty="0"/>
              <a:t>后端从数据库中拿到对应数据（或修改数据库中的数据）</a:t>
            </a:r>
          </a:p>
          <a:p>
            <a:r>
              <a:rPr lang="en-US" altLang="zh-CN" dirty="0"/>
              <a:t>8. </a:t>
            </a:r>
            <a:r>
              <a:rPr lang="zh-CN" altLang="en-US" dirty="0"/>
              <a:t>后端拿到数据后设置状态码与响应体，并返回响应</a:t>
            </a:r>
          </a:p>
          <a:p>
            <a:r>
              <a:rPr lang="en-US" altLang="zh-CN" dirty="0"/>
              <a:t>9. </a:t>
            </a:r>
            <a:r>
              <a:rPr lang="zh-CN" altLang="en-US" dirty="0"/>
              <a:t>前端收到响应</a:t>
            </a:r>
          </a:p>
          <a:p>
            <a:r>
              <a:rPr lang="en-US" altLang="zh-CN" dirty="0"/>
              <a:t>10. </a:t>
            </a:r>
            <a:r>
              <a:rPr lang="zh-CN" altLang="en-US" dirty="0"/>
              <a:t>前后端关闭连接（四次挥手）</a:t>
            </a:r>
          </a:p>
          <a:p>
            <a:r>
              <a:rPr lang="en-US" altLang="zh-CN" dirty="0"/>
              <a:t>11. </a:t>
            </a:r>
            <a:r>
              <a:rPr lang="zh-CN" altLang="en-US" dirty="0"/>
              <a:t>前端将数据插入</a:t>
            </a:r>
            <a:r>
              <a:rPr lang="en-US" altLang="zh-CN" dirty="0"/>
              <a:t>html</a:t>
            </a:r>
            <a:r>
              <a:rPr lang="zh-CN" altLang="en-US" dirty="0"/>
              <a:t>，并触发浏览器的重新渲染</a:t>
            </a:r>
          </a:p>
        </p:txBody>
      </p:sp>
    </p:spTree>
    <p:extLst>
      <p:ext uri="{BB962C8B-B14F-4D97-AF65-F5344CB8AC3E}">
        <p14:creationId xmlns:p14="http://schemas.microsoft.com/office/powerpoint/2010/main" val="25478153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7" y="309314"/>
            <a:ext cx="5613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进入页面，获取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AD6C23A-8531-41B2-BE0B-9ABC445E7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144" y="920903"/>
            <a:ext cx="5049784" cy="41698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AFFD852-F0D9-42D8-8A76-E85688C8D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254" y="5240724"/>
            <a:ext cx="99822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7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7" y="309314"/>
            <a:ext cx="616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点击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，执行绑定在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button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上的函数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5B1BF3-0766-4B66-9B1F-AEE0AF442F25}"/>
              </a:ext>
            </a:extLst>
          </p:cNvPr>
          <p:cNvSpPr txBox="1"/>
          <p:nvPr/>
        </p:nvSpPr>
        <p:spPr>
          <a:xfrm>
            <a:off x="1180254" y="1110138"/>
            <a:ext cx="6164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这是getTodos方法：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7DDCDF-0EC7-46CA-8729-44CADA009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73" y="1810274"/>
            <a:ext cx="9401175" cy="1647825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9F342B2-7ACD-403F-B360-1112F1A59C9C}"/>
              </a:ext>
            </a:extLst>
          </p:cNvPr>
          <p:cNvSpPr txBox="1"/>
          <p:nvPr/>
        </p:nvSpPr>
        <p:spPr>
          <a:xfrm>
            <a:off x="1180254" y="3827841"/>
            <a:ext cx="10146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可以从这个函数中看到，函数通过axios方法向</a:t>
            </a:r>
            <a:r>
              <a:rPr lang="zh-CN" altLang="en-US" dirty="0">
                <a:solidFill>
                  <a:srgbClr val="FF0000"/>
                </a:solidFill>
              </a:rPr>
              <a:t>http://127.0.0.1:7001/api/getTodos</a:t>
            </a:r>
            <a:r>
              <a:rPr lang="zh-CN" altLang="en-US" dirty="0"/>
              <a:t>发起GET请求</a:t>
            </a:r>
          </a:p>
        </p:txBody>
      </p:sp>
      <p:sp>
        <p:nvSpPr>
          <p:cNvPr id="20" name="正圆 29">
            <a:extLst>
              <a:ext uri="{FF2B5EF4-FFF2-40B4-BE49-F238E27FC236}">
                <a16:creationId xmlns:a16="http://schemas.microsoft.com/office/drawing/2014/main" id="{A8B60A72-C46F-430F-B3B9-8DE118BEC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66558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265004-157F-48CB-A76A-3A365F2ACB4F}"/>
              </a:ext>
            </a:extLst>
          </p:cNvPr>
          <p:cNvSpPr txBox="1"/>
          <p:nvPr/>
        </p:nvSpPr>
        <p:spPr>
          <a:xfrm>
            <a:off x="1425367" y="4497394"/>
            <a:ext cx="1022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函数中发起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请求（包含请求路径、请求方法、参数类型、请求体等）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473BD9-1544-45CA-A7C4-9A4E74875836}"/>
              </a:ext>
            </a:extLst>
          </p:cNvPr>
          <p:cNvSpPr txBox="1"/>
          <p:nvPr/>
        </p:nvSpPr>
        <p:spPr>
          <a:xfrm>
            <a:off x="1212473" y="5129585"/>
            <a:ext cx="61000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请求路径：</a:t>
            </a:r>
            <a:r>
              <a:rPr lang="en-US" altLang="zh-CN" dirty="0"/>
              <a:t>http://127.0.0.1:7001/api/getTodos</a:t>
            </a:r>
          </a:p>
          <a:p>
            <a:endParaRPr lang="en-US" altLang="zh-CN" dirty="0"/>
          </a:p>
          <a:p>
            <a:r>
              <a:rPr lang="zh-CN" altLang="en-US" dirty="0"/>
              <a:t>请求方法：</a:t>
            </a:r>
            <a:r>
              <a:rPr lang="en-US" altLang="zh-CN" dirty="0"/>
              <a:t>GET</a:t>
            </a:r>
          </a:p>
          <a:p>
            <a:endParaRPr lang="en-US" altLang="zh-CN" dirty="0"/>
          </a:p>
          <a:p>
            <a:r>
              <a:rPr lang="zh-CN" altLang="en-US" dirty="0"/>
              <a:t>参数类型：这次请求没有参数</a:t>
            </a:r>
          </a:p>
        </p:txBody>
      </p:sp>
    </p:spTree>
    <p:extLst>
      <p:ext uri="{BB962C8B-B14F-4D97-AF65-F5344CB8AC3E}">
        <p14:creationId xmlns:p14="http://schemas.microsoft.com/office/powerpoint/2010/main" val="616002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7" y="309314"/>
            <a:ext cx="616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前后端建立连接（三次握手）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2B09F3-52C0-40F9-A728-77F584351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367" y="921185"/>
            <a:ext cx="5306826" cy="400613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25FD604-4049-4716-9AC9-080FEFEDE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67" y="5189102"/>
            <a:ext cx="97155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008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7" y="309314"/>
            <a:ext cx="7657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后端根据请求路径路由到对应的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controller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函数，并执行该函数</a:t>
            </a:r>
          </a:p>
        </p:txBody>
      </p:sp>
      <p:sp>
        <p:nvSpPr>
          <p:cNvPr id="20" name="正圆 29">
            <a:extLst>
              <a:ext uri="{FF2B5EF4-FFF2-40B4-BE49-F238E27FC236}">
                <a16:creationId xmlns:a16="http://schemas.microsoft.com/office/drawing/2014/main" id="{A8B60A72-C46F-430F-B3B9-8DE118BEC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3681311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8265004-157F-48CB-A76A-3A365F2ACB4F}"/>
              </a:ext>
            </a:extLst>
          </p:cNvPr>
          <p:cNvSpPr txBox="1"/>
          <p:nvPr/>
        </p:nvSpPr>
        <p:spPr>
          <a:xfrm>
            <a:off x="1425367" y="3513118"/>
            <a:ext cx="1022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如果函数中包含了对数据库的操作，则后端将与数据库建立连接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A113AB-D18F-4228-9D03-3E86D025D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254" y="1196771"/>
            <a:ext cx="8349110" cy="21481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4D089F-BDEA-4360-BAE5-61E278204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254" y="4098761"/>
            <a:ext cx="8301276" cy="265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28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后端拿到数据后设置状态码与响应体，并返回响应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769D6D-10C7-4DEB-950D-A5F2DA331C56}"/>
              </a:ext>
            </a:extLst>
          </p:cNvPr>
          <p:cNvSpPr txBox="1"/>
          <p:nvPr/>
        </p:nvSpPr>
        <p:spPr>
          <a:xfrm>
            <a:off x="1380806" y="1609543"/>
            <a:ext cx="61000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设置状态码200，表示请求成功处理</a:t>
            </a:r>
          </a:p>
          <a:p>
            <a:endParaRPr lang="zh-CN" altLang="en-US" dirty="0"/>
          </a:p>
          <a:p>
            <a:r>
              <a:rPr lang="zh-CN" altLang="en-US" dirty="0"/>
              <a:t>并将</a:t>
            </a:r>
            <a:r>
              <a:rPr lang="zh-CN" altLang="en-US" dirty="0">
                <a:solidFill>
                  <a:srgbClr val="FF0000"/>
                </a:solidFill>
              </a:rPr>
              <a:t>res</a:t>
            </a:r>
            <a:r>
              <a:rPr lang="zh-CN" altLang="en-US" dirty="0"/>
              <a:t>作为请求体返回给前端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C51EB5-64F5-45AA-A1D9-420E63070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366" y="2800607"/>
            <a:ext cx="90868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40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前端收到响应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769D6D-10C7-4DEB-950D-A5F2DA331C56}"/>
              </a:ext>
            </a:extLst>
          </p:cNvPr>
          <p:cNvSpPr txBox="1"/>
          <p:nvPr/>
        </p:nvSpPr>
        <p:spPr>
          <a:xfrm>
            <a:off x="1256373" y="95021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通过浏览器控制台，我们可以看到后台响应头部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61DD45-D945-4D2A-9F09-7985166BA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20" y="1600711"/>
            <a:ext cx="11071280" cy="459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14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前端收到响应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D769D6D-10C7-4DEB-950D-A5F2DA331C56}"/>
              </a:ext>
            </a:extLst>
          </p:cNvPr>
          <p:cNvSpPr txBox="1"/>
          <p:nvPr/>
        </p:nvSpPr>
        <p:spPr>
          <a:xfrm>
            <a:off x="1256373" y="95021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前端收到后台返回的响应体：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0CE078A-01B0-4A1F-B653-DDE36E24F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812" y="1671637"/>
            <a:ext cx="98583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49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前后端关闭连接（四次挥手）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C663EB-30C1-4A30-A1FE-280EBBB5E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470" y="1106401"/>
            <a:ext cx="40386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60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前端将数据插入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，并触发浏览器的重新渲染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86061D-6F21-4F97-B032-CAB3A8B49833}"/>
              </a:ext>
            </a:extLst>
          </p:cNvPr>
          <p:cNvSpPr txBox="1"/>
          <p:nvPr/>
        </p:nvSpPr>
        <p:spPr>
          <a:xfrm>
            <a:off x="1180254" y="102123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如果数据获取成功，将执行以下代码：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620225E-63F0-453B-B670-D1871E571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156" y="1640827"/>
            <a:ext cx="8210550" cy="23812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6F35A81-4EAF-4CE4-8FDB-15E0BA31B752}"/>
              </a:ext>
            </a:extLst>
          </p:cNvPr>
          <p:cNvSpPr txBox="1"/>
          <p:nvPr/>
        </p:nvSpPr>
        <p:spPr>
          <a:xfrm>
            <a:off x="1180254" y="437710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页面渲染：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BF1503-D1ED-4135-92DD-213AB27453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492" y="4927798"/>
            <a:ext cx="38766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07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5" y="189"/>
            <a:ext cx="701999" cy="6857623"/>
          </a:xfrm>
          <a:prstGeom prst="rect">
            <a:avLst/>
          </a:prstGeom>
          <a:solidFill>
            <a:srgbClr val="1F608B"/>
          </a:solidFill>
          <a:ln>
            <a:solidFill>
              <a:srgbClr val="1F6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正圆 29">
            <a:extLst>
              <a:ext uri="{FF2B5EF4-FFF2-40B4-BE49-F238E27FC236}">
                <a16:creationId xmlns:a16="http://schemas.microsoft.com/office/drawing/2014/main" id="{67F850FB-695D-462E-911A-AAE7F6066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54" y="477507"/>
            <a:ext cx="152238" cy="162112"/>
          </a:xfrm>
          <a:prstGeom prst="ellipse">
            <a:avLst/>
          </a:prstGeom>
          <a:solidFill>
            <a:srgbClr val="1F608B"/>
          </a:solidFill>
          <a:ln>
            <a:noFill/>
          </a:ln>
          <a:effectLst/>
        </p:spPr>
        <p:txBody>
          <a:bodyPr anchor="ctr"/>
          <a:lstStyle/>
          <a:p>
            <a:endParaRPr lang="zh-CN" altLang="zh-CN" sz="948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255810" y="309314"/>
            <a:ext cx="2334353" cy="425792"/>
            <a:chOff x="8482002" y="88145"/>
            <a:chExt cx="3125988" cy="570188"/>
          </a:xfrm>
        </p:grpSpPr>
        <p:pic>
          <p:nvPicPr>
            <p:cNvPr id="29" name="Picture 3" descr="校标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482002" y="88145"/>
              <a:ext cx="570188" cy="570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4" descr="校名 标准色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6561" y="131232"/>
              <a:ext cx="2431429" cy="462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2" name="文本框 31"/>
          <p:cNvSpPr txBox="1"/>
          <p:nvPr/>
        </p:nvSpPr>
        <p:spPr>
          <a:xfrm>
            <a:off x="1425366" y="309314"/>
            <a:ext cx="7200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前端将数据插入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，并触发浏览器的重新渲染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86061D-6F21-4F97-B032-CAB3A8B49833}"/>
              </a:ext>
            </a:extLst>
          </p:cNvPr>
          <p:cNvSpPr txBox="1"/>
          <p:nvPr/>
        </p:nvSpPr>
        <p:spPr>
          <a:xfrm>
            <a:off x="1180254" y="102123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如果数据获取失败，将执行以下代码：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F35A81-4EAF-4CE4-8FDB-15E0BA31B752}"/>
              </a:ext>
            </a:extLst>
          </p:cNvPr>
          <p:cNvSpPr txBox="1"/>
          <p:nvPr/>
        </p:nvSpPr>
        <p:spPr>
          <a:xfrm>
            <a:off x="1180254" y="4377107"/>
            <a:ext cx="6100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页面渲染：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A1CF42-BCD5-4F97-8822-8D52A1991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73" y="1640827"/>
            <a:ext cx="8772525" cy="220027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EB789E-9C39-4768-81FB-9BE8B1174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373" y="4979497"/>
            <a:ext cx="35147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62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2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SubTitle"/>
  <p:tag name="MH_ORDER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Other"/>
  <p:tag name="MH_ORDER" val="1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508130916"/>
  <p:tag name="MH_LIBRARY" val="GRAPHIC"/>
  <p:tag name="MH_TYPE" val="Text"/>
  <p:tag name="MH_ORDER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2539</Words>
  <Application>Microsoft Office PowerPoint</Application>
  <PresentationFormat>宽屏</PresentationFormat>
  <Paragraphs>163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黑体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 Zhou</dc:creator>
  <cp:lastModifiedBy>陆 凌波</cp:lastModifiedBy>
  <cp:revision>145</cp:revision>
  <dcterms:created xsi:type="dcterms:W3CDTF">2018-12-13T02:58:28Z</dcterms:created>
  <dcterms:modified xsi:type="dcterms:W3CDTF">2021-11-22T12:55:35Z</dcterms:modified>
</cp:coreProperties>
</file>