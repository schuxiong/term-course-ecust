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1002" r:id="rId4"/>
    <p:sldId id="284" r:id="rId6"/>
    <p:sldId id="1004" r:id="rId7"/>
    <p:sldId id="1003" r:id="rId8"/>
    <p:sldId id="1005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991"/>
    <a:srgbClr val="92B6CA"/>
    <a:srgbClr val="1A6790"/>
    <a:srgbClr val="1B6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1" d="100"/>
          <a:sy n="61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3C807-1D87-4F05-90CC-E538AA7A23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60B0C-61EF-4FE3-AD9D-DCE9E4DE9E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89129" y="282574"/>
            <a:ext cx="9144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297581" y="228600"/>
            <a:ext cx="34787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  <a:endParaRPr sz="3600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447366"/>
            <a:ext cx="48768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6504" y="2447366"/>
            <a:ext cx="48768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7EAC-45CD-4686-8391-398DF0989F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6485F-6397-4E48-865F-E7A57534367E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70848"/>
            <a:ext cx="48768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6504" y="2070848"/>
            <a:ext cx="48768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</p:spTree>
  </p:cSld>
  <p:clrMapOvr>
    <a:masterClrMapping/>
  </p:clrMapOvr>
  <p:transition advTm="30000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10800000">
            <a:off x="7" y="3"/>
            <a:ext cx="607671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6076709" y="3"/>
            <a:ext cx="611529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/>
        </p:nvSpPr>
        <p:spPr>
          <a:xfrm rot="10800000">
            <a:off x="7" y="3"/>
            <a:ext cx="607671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 userDrawn="1"/>
        </p:nvSpPr>
        <p:spPr>
          <a:xfrm>
            <a:off x="6076709" y="3"/>
            <a:ext cx="611529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10800000">
            <a:off x="1" y="2"/>
            <a:ext cx="607671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6076709" y="2"/>
            <a:ext cx="6115291" cy="10179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2" y="0"/>
            <a:ext cx="6115291" cy="6858000"/>
          </a:xfrm>
          <a:prstGeom prst="rect">
            <a:avLst/>
          </a:prstGeom>
          <a:gradFill flip="none" rotWithShape="1">
            <a:gsLst>
              <a:gs pos="0">
                <a:srgbClr val="163048"/>
              </a:gs>
              <a:gs pos="100000">
                <a:srgbClr val="0A17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10800000">
            <a:off x="6115290" y="0"/>
            <a:ext cx="6076711" cy="6858000"/>
          </a:xfrm>
          <a:prstGeom prst="rect">
            <a:avLst/>
          </a:prstGeom>
          <a:gradFill flip="none" rotWithShape="1">
            <a:gsLst>
              <a:gs pos="0">
                <a:srgbClr val="163048"/>
              </a:gs>
              <a:gs pos="100000">
                <a:srgbClr val="0A17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2" y="0"/>
            <a:ext cx="6115291" cy="6858000"/>
          </a:xfrm>
          <a:prstGeom prst="rect">
            <a:avLst/>
          </a:prstGeom>
          <a:gradFill flip="none" rotWithShape="1">
            <a:gsLst>
              <a:gs pos="0">
                <a:srgbClr val="163048"/>
              </a:gs>
              <a:gs pos="100000">
                <a:srgbClr val="0A17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 userDrawn="1"/>
        </p:nvCxnSpPr>
        <p:spPr>
          <a:xfrm flipV="1">
            <a:off x="879895" y="1268763"/>
            <a:ext cx="10221152" cy="252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方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  <a:endParaRPr lang="zh-CN" alt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成果与应用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 userDrawn="1"/>
        </p:nvCxnSpPr>
        <p:spPr>
          <a:xfrm>
            <a:off x="2788986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/>
        </p:nvGrpSpPr>
        <p:grpSpPr>
          <a:xfrm>
            <a:off x="0" y="2060848"/>
            <a:ext cx="1691680" cy="788186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152F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研究方法与思路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2" name="直角三角形 11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五边形 17"/>
          <p:cNvSpPr/>
          <p:nvPr userDrawn="1"/>
        </p:nvSpPr>
        <p:spPr>
          <a:xfrm flipH="1">
            <a:off x="11382167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技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  <a:endParaRPr lang="zh-CN" alt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成果与应用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 userDrawn="1"/>
        </p:nvCxnSpPr>
        <p:spPr>
          <a:xfrm>
            <a:off x="2788986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/>
        </p:nvGrpSpPr>
        <p:grpSpPr>
          <a:xfrm>
            <a:off x="0" y="2854273"/>
            <a:ext cx="1691680" cy="788186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152F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关键技术与难点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五边形 10"/>
          <p:cNvSpPr/>
          <p:nvPr userDrawn="1"/>
        </p:nvSpPr>
        <p:spPr>
          <a:xfrm flipH="1">
            <a:off x="11382167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果与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  <a:endParaRPr lang="zh-CN" alt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成果与应用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 userDrawn="1"/>
        </p:nvCxnSpPr>
        <p:spPr>
          <a:xfrm>
            <a:off x="2788986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0" y="3648260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152F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成果与应用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五边形 14"/>
          <p:cNvSpPr/>
          <p:nvPr userDrawn="1"/>
        </p:nvSpPr>
        <p:spPr>
          <a:xfrm flipH="1">
            <a:off x="11382167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关建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  <a:endParaRPr lang="zh-CN" alt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 userDrawn="1"/>
        </p:nvCxnSpPr>
        <p:spPr>
          <a:xfrm>
            <a:off x="2788986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/>
        </p:nvGrpSpPr>
        <p:grpSpPr>
          <a:xfrm>
            <a:off x="0" y="4439981"/>
            <a:ext cx="1691680" cy="788186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152F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相关建议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五边形 10"/>
          <p:cNvSpPr/>
          <p:nvPr userDrawn="1"/>
        </p:nvSpPr>
        <p:spPr>
          <a:xfrm flipH="1">
            <a:off x="11382167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论文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绪论</a:t>
                      </a:r>
                      <a:endParaRPr lang="zh-CN" alt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研究方法与思路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相关建议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论文总结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 userDrawn="1"/>
        </p:nvCxnSpPr>
        <p:spPr>
          <a:xfrm>
            <a:off x="2788986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/>
        </p:nvGrpSpPr>
        <p:grpSpPr>
          <a:xfrm>
            <a:off x="0" y="5231615"/>
            <a:ext cx="1691680" cy="788186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152F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11277601" y="6019803"/>
            <a:ext cx="950295" cy="853427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五边形 10"/>
          <p:cNvSpPr/>
          <p:nvPr userDrawn="1"/>
        </p:nvSpPr>
        <p:spPr>
          <a:xfrm flipH="1">
            <a:off x="11382167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mtClean="0">
                <a:solidFill>
                  <a:prstClr val="white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190500"/>
          </a:xfrm>
          <a:prstGeom prst="rect">
            <a:avLst/>
          </a:prstGeom>
          <a:solidFill>
            <a:srgbClr val="B92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533403" y="0"/>
            <a:ext cx="209548" cy="76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4F518-1F8B-D049-ACC1-BFC2E0E3F1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8EDA4-F126-F84C-8B92-1FCCFBE3301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tags" Target="../tags/tag9.xml"/><Relationship Id="rId7" Type="http://schemas.openxmlformats.org/officeDocument/2006/relationships/image" Target="../media/image7.png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0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t="-2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/>
          <p:nvPr/>
        </p:nvSpPr>
        <p:spPr>
          <a:xfrm>
            <a:off x="1371601" y="1983105"/>
            <a:ext cx="957707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人工智能实验说明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59"/>
          <p:cNvSpPr txBox="1">
            <a:spLocks noChangeArrowheads="1"/>
          </p:cNvSpPr>
          <p:nvPr/>
        </p:nvSpPr>
        <p:spPr bwMode="auto">
          <a:xfrm flipH="1">
            <a:off x="338454" y="191770"/>
            <a:ext cx="852724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实验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3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遗传算法求最值问题实验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017" y="1589109"/>
            <a:ext cx="10654748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熟悉和掌握遗传算法的原理、流程和编码策略，并利用遗传求解函数优化问题，理解求解流程并测试主要参数对结果的影响。</a:t>
            </a:r>
            <a:endParaRPr lang="zh-CN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6955" y="1178292"/>
            <a:ext cx="10654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实验目的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6955" y="2477005"/>
            <a:ext cx="10654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实验要求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705" y="3413760"/>
            <a:ext cx="5890260" cy="13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5373370"/>
            <a:ext cx="737425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868016" y="3014768"/>
            <a:ext cx="936266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用遗传算法求解下列函数的最大值，设定求解精度到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位小数。</a:t>
            </a:r>
            <a:endParaRPr lang="zh-CN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8045" y="4926965"/>
            <a:ext cx="103555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用遗传算法求解下面一个函数的最小值，设定求解精度到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位小数。</a:t>
            </a:r>
            <a:endParaRPr lang="zh-CN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59"/>
          <p:cNvSpPr txBox="1">
            <a:spLocks noChangeArrowheads="1"/>
          </p:cNvSpPr>
          <p:nvPr/>
        </p:nvSpPr>
        <p:spPr bwMode="auto">
          <a:xfrm flipH="1">
            <a:off x="338455" y="191770"/>
            <a:ext cx="947478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实验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3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遗传算法求最值问题实验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702" y="998605"/>
            <a:ext cx="10654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实验操作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7400" y="1362075"/>
            <a:ext cx="6553835" cy="549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在下图所示位置设置遗传算法的相关参数，以及自变量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的区间，用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X_BOIND,Y_BOUND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表示</a:t>
            </a:r>
            <a:endParaRPr lang="en-US" altLang="zh-CN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下图所示为所需要计算最大值的数学函数对应的适应度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函数，通过改变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后括号内的公式可以更改数学函数</a:t>
            </a: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安装所需要的依赖包之后，在命令行（终端）或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PyCharm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等集成开发环境下运行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ga_max.py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ga_min.py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）文件。</a:t>
            </a: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根据参数填写表格，每次运行结果都会不一致，请多次运行保证正确性，并填写表格。</a:t>
            </a:r>
            <a:endParaRPr lang="zh-CN" altLang="en-US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19812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设置不同的种群规模，例如，求得相应的最佳适应度，并给出算法的运行时间，分析种群规模对算法性能的影响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3181985"/>
            <a:ext cx="10803255" cy="846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4028440"/>
            <a:ext cx="4979670" cy="2908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9490"/>
          <a:stretch>
            <a:fillRect/>
          </a:stretch>
        </p:blipFill>
        <p:spPr>
          <a:xfrm>
            <a:off x="8164830" y="1221740"/>
            <a:ext cx="3203575" cy="21494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59"/>
          <p:cNvSpPr txBox="1">
            <a:spLocks noChangeArrowheads="1"/>
          </p:cNvSpPr>
          <p:nvPr/>
        </p:nvSpPr>
        <p:spPr bwMode="auto">
          <a:xfrm flipH="1">
            <a:off x="338455" y="191771"/>
            <a:ext cx="11184310" cy="645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实验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4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基于神经网络的模式识别实验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68017" y="1589109"/>
            <a:ext cx="10654748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fontAlgn="auto">
              <a:tabLst>
                <a:tab pos="2197100" algn="l"/>
              </a:tabLst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理解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神经网络的机构和原理，掌握反向传播学习算法对神经元的训练过程，了解反向传播公式。通过构建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网络识别实例，熟悉前馈网络和反馈网络的原理及结构。</a:t>
            </a:r>
            <a:endParaRPr lang="zh-CN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96955" y="1178292"/>
            <a:ext cx="106547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实验目的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96955" y="2477005"/>
            <a:ext cx="106547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实验要求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868017" y="2938670"/>
            <a:ext cx="10654748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20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tensorflow</a:t>
            </a:r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框架，以</a:t>
            </a:r>
            <a:r>
              <a:rPr lang="en-US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MNIST</a:t>
            </a:r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数据集为数据，实现对</a:t>
            </a:r>
            <a:r>
              <a:rPr lang="en-US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MNIST</a:t>
            </a:r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数据集分类的操作，其中</a:t>
            </a:r>
            <a:r>
              <a:rPr lang="en-US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MNIST</a:t>
            </a:r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数据集由</a:t>
            </a:r>
            <a:r>
              <a:rPr lang="en-US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类，分别为手写数字</a:t>
            </a:r>
            <a:r>
              <a:rPr lang="en-US" altLang="zh-CN" sz="20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0-9.</a:t>
            </a:r>
            <a:endParaRPr lang="en-US" altLang="zh-CN" sz="20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868017" y="4365439"/>
            <a:ext cx="10654748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当前在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conda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库中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tensorflow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安装版本都在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2.20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以上，所以需要手动导入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1.14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版本。该依赖包已经放在文件夹下，使用以下命令安装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tensorflow1.14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版本。请注意安装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tensorflow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时注意对应的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96955" y="3903774"/>
            <a:ext cx="106547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实验操作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100" y="5381625"/>
            <a:ext cx="11299190" cy="4762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45850" y="5972032"/>
            <a:ext cx="10654748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也有同学反映可以直接安装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tf1.14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版本。两种方式都可以，能用即可。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59"/>
          <p:cNvSpPr txBox="1">
            <a:spLocks noChangeArrowheads="1"/>
          </p:cNvSpPr>
          <p:nvPr/>
        </p:nvSpPr>
        <p:spPr bwMode="auto">
          <a:xfrm flipH="1">
            <a:off x="338454" y="191770"/>
            <a:ext cx="10362675" cy="645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实验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4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ea"/>
                <a:sym typeface="+mn-lt"/>
              </a:rPr>
              <a:t>基于神经网络的模式识别实验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3459" y="1067809"/>
            <a:ext cx="10654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实验操作</a:t>
            </a:r>
            <a:endParaRPr lang="zh-CN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1512" y="1529474"/>
            <a:ext cx="10654748" cy="532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观察数据集导入。在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tensorflow1.x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版本下可通过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input_data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来加载。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在命令行终端输入命令“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python3 bp.py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”，运行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bp.py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每过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批，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会显示模型在训练集和测试集上的准确率。训练完所有样本之后，最后一行显示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BP</a:t>
            </a: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神经网络在测试集上最终的分类准确率。</a:t>
            </a:r>
            <a:endParaRPr lang="zh-CN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04800"/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改变卷积神经网络的参数，观察分类准确率。思考网络层数或参数对分类准确率的影响。 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2553" y="4072205"/>
            <a:ext cx="3544045" cy="22324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15" y="4134485"/>
            <a:ext cx="4214495" cy="21704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540" y="2040255"/>
            <a:ext cx="6362065" cy="8280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timeline"/>
</p:tagLst>
</file>

<file path=ppt/tags/tag2.xml><?xml version="1.0" encoding="utf-8"?>
<p:tagLst xmlns:p="http://schemas.openxmlformats.org/presentationml/2006/main">
  <p:tag name="KSO_WM_SLIDE_MODEL_TYPE" val="timeline"/>
</p:tagLst>
</file>

<file path=ppt/tags/tag3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4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5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6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7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8.xml><?xml version="1.0" encoding="utf-8"?>
<p:tagLst xmlns:p="http://schemas.openxmlformats.org/presentationml/2006/main">
  <p:tag name="KSO_WM_DIAGRAM_VIRTUALLY_FRAME" val="{&quot;height&quot;:405.4986614173227,&quot;left&quot;:39.13031496062992,&quot;top&quot;:92.77889763779525,&quot;width&quot;:868.1740157480315}"/>
</p:tagLst>
</file>

<file path=ppt/tags/tag9.xml><?xml version="1.0" encoding="utf-8"?>
<p:tagLst xmlns:p="http://schemas.openxmlformats.org/presentationml/2006/main">
  <p:tag name="KSO_WM_SLIDE_MODEL_TYPE" val="timeline"/>
</p:tagLst>
</file>

<file path=ppt/tags/tag10.xml><?xml version="1.0" encoding="utf-8"?>
<p:tagLst xmlns:p="http://schemas.openxmlformats.org/presentationml/2006/main">
  <p:tag name="KSO_WM_SLIDE_MODEL_TYPE" val="timeline"/>
</p:tagLst>
</file>

<file path=ppt/tags/tag11.xml><?xml version="1.0" encoding="utf-8"?>
<p:tagLst xmlns:p="http://schemas.openxmlformats.org/presentationml/2006/main">
  <p:tag name="COMMONDATA" val="eyJoZGlkIjoiYTUyMTI4YmNkOTIyNDlmNjY5Y2I2ZmJlYzNmNTlmMmEifQ=="/>
  <p:tag name="commondata" val="eyJoZGlkIjoiNGYzY2Y3YjdlNWFjYjUyMzFlMzhhZDRhYWUxOTExNjUifQ==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5">
            <a:lumMod val="75000"/>
          </a:schemeClr>
        </a:solidFill>
      </a:spPr>
      <a:bodyPr wrap="square" rtlCol="0">
        <a:spAutoFit/>
      </a:bodyPr>
      <a:lstStyle>
        <a:defPPr algn="ctr">
          <a:defRPr lang="zh-CN" altLang="en-US" sz="2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WPS 演示</Application>
  <PresentationFormat>宽屏</PresentationFormat>
  <Paragraphs>63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等线</vt:lpstr>
      <vt:lpstr>Times New Roman</vt:lpstr>
      <vt:lpstr>Arial Unicode MS</vt:lpstr>
      <vt:lpstr>等线 Light</vt:lpstr>
      <vt:lpstr>Calibri Light</vt:lpstr>
      <vt:lpstr>1_Office 主题​​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2645858448@qq.com</dc:creator>
  <cp:lastModifiedBy>trying</cp:lastModifiedBy>
  <cp:revision>147</cp:revision>
  <dcterms:created xsi:type="dcterms:W3CDTF">2022-11-12T11:53:00Z</dcterms:created>
  <dcterms:modified xsi:type="dcterms:W3CDTF">2024-06-05T14:59:43Z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4BB1A203F02F4EB4A0D602C7F375511C</vt:lpwstr>
  </property>
  <property fmtid="{D5CDD505-2E9C-101B-9397-08002B2CF9AE}" pid="3" name="KSOProductBuildVer">
    <vt:lpwstr>2052-12.1.0.16929</vt:lpwstr>
  </property>
</Properties>
</file>