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4" r:id="rId19"/>
  </p:sldIdLst>
  <p:sldSz cx="14630400" cy="8229600"/>
  <p:notesSz cx="8229600" cy="14630400"/>
  <p:embeddedFontLst>
    <p:embeddedFont>
      <p:font typeface="微软雅黑" panose="020B0503020204020204" pitchFamily="34" charset="-122"/>
      <p:regular r:id="rId21"/>
      <p:bold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87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70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60C7-4FA0-0AA8-E2E4-0B313B24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B01CF-F929-535C-518C-F43A4A3DC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3B396-7E62-BAE4-01AF-CEE71B189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710EC-AB80-47E8-71D4-DCAB6EFE6E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84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62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基于智能与移动技术的国际象棋教学与对弈系统</a:t>
            </a:r>
            <a:endParaRPr lang="en-US" sz="44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3039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本系统聚焦于国际象棋教学与对弈的智能化、移动化需求，成功开发了集"教、学、练、赛"于一体的跨平台系统。通过uni-app框架实现iOS、Android、小程序、H5等多端兼容，突破了传统棋类软件的设备限制，使用户能够在不同终端无缝切换，显著提升了使用便捷性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1625019" y="6201310"/>
            <a:ext cx="721625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答辩人 ：单楚雄  </a:t>
            </a:r>
            <a:endParaRPr 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625019" y="6909970"/>
            <a:ext cx="721625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指导教师：徐贤</a:t>
            </a:r>
            <a:endParaRPr lang="en-US" sz="2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1284858" y="5946159"/>
            <a:ext cx="30480" cy="1672471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9441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目录</a:t>
            </a:r>
            <a:endParaRPr lang="en-US" sz="61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6712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713792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749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1.研究背景与意义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23957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传统国际象棋教学面临的挑战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57003" y="26712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74" y="2713792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4119" y="27491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2.系统设计与实现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194119" y="3239572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前后端分离架构、通信机制及功能模块设计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93790" y="405610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4098608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4133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2.智能技术应用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530906" y="462438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智能对弈实现与大语言模型在国际象棋中的应用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57003" y="405610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2074" y="4098608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94119" y="4133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4.系统测试与优化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194119" y="462438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系统测试、优化方案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93790" y="54409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60" y="5483423"/>
            <a:ext cx="340162" cy="42529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30906" y="5518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5. 项目成本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530906" y="600920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项目成本与花费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7457003" y="54409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2074" y="5483423"/>
            <a:ext cx="340162" cy="42529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94119" y="55187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6.结论与未来展望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8194119" y="6009203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毕设工作结果与未来规划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793790" y="66272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54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1.1研究背景与意义</a:t>
            </a:r>
            <a:endParaRPr lang="en-US" sz="44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87873"/>
            <a:ext cx="3260646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235291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教育领域现状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0604" y="4725710"/>
            <a:ext cx="280701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智能与移动技术引发教育深刻变革。教学模式正从"以教师为中心"转向"以学习者为中心"。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35" y="2987873"/>
            <a:ext cx="3260765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1249" y="4235291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国际象棋教学挑战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4281249" y="4725710"/>
            <a:ext cx="28071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优质教练资源稀缺，教学方式单一，难以提供个性化辅导。现有平台功能单一，缺乏学练结合。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987873"/>
            <a:ext cx="3260646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2014" y="4235291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系统创新价值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542014" y="4725710"/>
            <a:ext cx="280701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集"教学+对弈+社交"于一体，提高学习互动性。运用大模型与AI算法提升智能辅助教学水平。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846" y="2987873"/>
            <a:ext cx="3260765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02660" y="4235291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意义与价值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802660" y="4725710"/>
            <a:ext cx="28071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打破时空限制，推动国际象棋文化广泛传播。提升学习效率，实现个性化学习体验。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2125"/>
            <a:ext cx="6457950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1.2 现有工作对比与需求分析</a:t>
            </a:r>
            <a:endParaRPr 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58328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随着国际象棋活动数字化转型，市场上已有多种在线平台，但普遍存在"功能偏科"现象。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414588"/>
            <a:ext cx="13042821" cy="2688908"/>
          </a:xfrm>
          <a:prstGeom prst="roundRect">
            <a:avLst>
              <a:gd name="adj" fmla="val 11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422208"/>
            <a:ext cx="13027581" cy="586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721" y="2552224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平台名称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6367" y="2552224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主要教学特色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23202" y="2552224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AI集成应用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0038" y="2552224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用户群体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1410" y="3008948"/>
            <a:ext cx="13027581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721" y="3138964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Lichess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66367" y="3138964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互动课程、"学习"创建工具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23202" y="3138964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引擎分析工具，自适应AI对手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0038" y="3138964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初级至高级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1410" y="3595688"/>
            <a:ext cx="13027581" cy="9134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721" y="3725704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Chess.com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66367" y="3725704"/>
            <a:ext cx="2841069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教学模块，视频讲解和战术练习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23202" y="3725704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引擎分析、AI驱动反馈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780038" y="3725704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全球用户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1410" y="4509135"/>
            <a:ext cx="13027581" cy="586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5721" y="4639151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Chessable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266367" y="4639151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间隔重复算法、大师级课程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23202" y="4639151"/>
            <a:ext cx="284106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基于引擎分析的AI反馈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780038" y="4639151"/>
            <a:ext cx="2844879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中高级学习者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3790" y="5333048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87" y="5371267"/>
            <a:ext cx="306110" cy="38266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57087" y="540317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现有平台问题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457087" y="5844421"/>
            <a:ext cx="57305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教学与对弈割裂，缺乏"学练结合"能力。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7442835" y="5333048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333" y="5371267"/>
            <a:ext cx="306110" cy="38266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106132" y="5403175"/>
            <a:ext cx="258603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Nova-Chess核心目标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8106132" y="5844421"/>
            <a:ext cx="57305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融合教学、训练、对战、社交于一体的多端智能国际象棋平台。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793790" y="657939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87" y="6617613"/>
            <a:ext cx="306110" cy="382667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457087" y="664952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系统设计重点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1457087" y="7090767"/>
            <a:ext cx="57305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系统化教学内容，多样化对战模式，智能辅助功能。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7442835" y="6579394"/>
            <a:ext cx="459224" cy="459224"/>
          </a:xfrm>
          <a:prstGeom prst="roundRect">
            <a:avLst>
              <a:gd name="adj" fmla="val 6668"/>
            </a:avLst>
          </a:prstGeom>
          <a:solidFill>
            <a:srgbClr val="F0EAEA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333" y="6617613"/>
            <a:ext cx="306110" cy="382667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8106132" y="6649522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本土化体验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8106132" y="7090767"/>
            <a:ext cx="573059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适应国内用户习惯，界面简洁，操作流畅，支持中文教学。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8226"/>
            <a:ext cx="6286262" cy="831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0"/>
              </a:lnSpc>
              <a:buNone/>
            </a:pPr>
            <a:r>
              <a:rPr lang="en-US" sz="52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2.系统实现</a:t>
            </a:r>
            <a:endParaRPr lang="en-US" sz="5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57968" y="1028938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3B0970A-A56E-9AAD-696A-8BACBFD0C180}"/>
              </a:ext>
            </a:extLst>
          </p:cNvPr>
          <p:cNvGrpSpPr/>
          <p:nvPr/>
        </p:nvGrpSpPr>
        <p:grpSpPr>
          <a:xfrm>
            <a:off x="1425161" y="2403039"/>
            <a:ext cx="4292084" cy="725210"/>
            <a:chOff x="793790" y="2944059"/>
            <a:chExt cx="4292084" cy="725210"/>
          </a:xfrm>
        </p:grpSpPr>
        <p:sp>
          <p:nvSpPr>
            <p:cNvPr id="4" name="Text 2"/>
            <p:cNvSpPr/>
            <p:nvPr/>
          </p:nvSpPr>
          <p:spPr>
            <a:xfrm>
              <a:off x="2389108" y="2944059"/>
              <a:ext cx="2696766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35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移动端（</a:t>
              </a:r>
              <a:r>
                <a:rPr lang="en-US" sz="2400" dirty="0">
                  <a:solidFill>
                    <a:srgbClr val="5CC9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Vue:uni-app</a:t>
              </a: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）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793790" y="3360897"/>
              <a:ext cx="4292084" cy="3083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40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" pitchFamily="34" charset="-120"/>
                </a:rPr>
                <a:t>充分利用uni-app框架实现多端兼容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077" y="2289215"/>
            <a:ext cx="3880128" cy="38801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657" y="3088719"/>
            <a:ext cx="288369" cy="360521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FD304168-5C90-6D10-C123-F5F116950A1A}"/>
              </a:ext>
            </a:extLst>
          </p:cNvPr>
          <p:cNvGrpSpPr/>
          <p:nvPr/>
        </p:nvGrpSpPr>
        <p:grpSpPr>
          <a:xfrm>
            <a:off x="9454055" y="1644194"/>
            <a:ext cx="4292203" cy="1026438"/>
            <a:chOff x="9552027" y="2447806"/>
            <a:chExt cx="4292203" cy="1026438"/>
          </a:xfrm>
        </p:grpSpPr>
        <p:sp>
          <p:nvSpPr>
            <p:cNvPr id="8" name="Text 4"/>
            <p:cNvSpPr/>
            <p:nvPr/>
          </p:nvSpPr>
          <p:spPr>
            <a:xfrm>
              <a:off x="9552027" y="2447806"/>
              <a:ext cx="4292203" cy="602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400" dirty="0" err="1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智能对弈实现（Minimax，</a:t>
              </a:r>
              <a:r>
                <a:rPr lang="en-US" sz="2400" dirty="0" err="1">
                  <a:solidFill>
                    <a:srgbClr val="957D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Stockfish</a:t>
              </a: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）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5"/>
            <p:cNvSpPr/>
            <p:nvPr/>
          </p:nvSpPr>
          <p:spPr>
            <a:xfrm>
              <a:off x="9552027" y="3165872"/>
              <a:ext cx="4292203" cy="3083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400" dirty="0" err="1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" pitchFamily="34" charset="-120"/>
                </a:rPr>
                <a:t>深入优化Minimax和</a:t>
              </a:r>
              <a:endParaRPr lang="en-US" sz="24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endParaRPr>
            </a:p>
            <a:p>
              <a:pPr marL="0" indent="0" algn="l">
                <a:lnSpc>
                  <a:spcPts val="240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" pitchFamily="34" charset="-120"/>
                </a:rPr>
                <a:t>Alpha-</a:t>
              </a:r>
              <a:r>
                <a:rPr lang="en-US" sz="2400" dirty="0" err="1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" pitchFamily="34" charset="-120"/>
                </a:rPr>
                <a:t>Beta剪枝算法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077" y="2289215"/>
            <a:ext cx="3880128" cy="388012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1135" y="3088719"/>
            <a:ext cx="288369" cy="360521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FB5E61C3-20E3-9499-2661-7D587AC9F7BA}"/>
              </a:ext>
            </a:extLst>
          </p:cNvPr>
          <p:cNvGrpSpPr/>
          <p:nvPr/>
        </p:nvGrpSpPr>
        <p:grpSpPr>
          <a:xfrm>
            <a:off x="9322297" y="5231053"/>
            <a:ext cx="4292203" cy="725210"/>
            <a:chOff x="9544407" y="4984313"/>
            <a:chExt cx="4292203" cy="725210"/>
          </a:xfrm>
        </p:grpSpPr>
        <p:sp>
          <p:nvSpPr>
            <p:cNvPr id="12" name="Text 6"/>
            <p:cNvSpPr/>
            <p:nvPr/>
          </p:nvSpPr>
          <p:spPr>
            <a:xfrm>
              <a:off x="9544407" y="4984313"/>
              <a:ext cx="3685580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35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大模型集成（</a:t>
              </a:r>
              <a:r>
                <a:rPr lang="en-US" sz="2400" dirty="0">
                  <a:solidFill>
                    <a:srgbClr val="5E98F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Deepseek</a:t>
              </a: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，</a:t>
              </a:r>
              <a:r>
                <a:rPr lang="en-US" sz="2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Kimi</a:t>
              </a: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）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7"/>
            <p:cNvSpPr/>
            <p:nvPr/>
          </p:nvSpPr>
          <p:spPr>
            <a:xfrm>
              <a:off x="9544407" y="5401151"/>
              <a:ext cx="4292203" cy="3083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" pitchFamily="34" charset="-120"/>
                </a:rPr>
                <a:t>通过提示词工程引入并精调大模型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077" y="2289215"/>
            <a:ext cx="3880128" cy="388012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1135" y="5009198"/>
            <a:ext cx="288369" cy="360521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E1F1E2CC-7277-11D9-EFCB-FDBAFAFD142F}"/>
              </a:ext>
            </a:extLst>
          </p:cNvPr>
          <p:cNvGrpSpPr/>
          <p:nvPr/>
        </p:nvGrpSpPr>
        <p:grpSpPr>
          <a:xfrm>
            <a:off x="874437" y="5332146"/>
            <a:ext cx="4292084" cy="725210"/>
            <a:chOff x="793790" y="4984313"/>
            <a:chExt cx="4292084" cy="725210"/>
          </a:xfrm>
        </p:grpSpPr>
        <p:sp>
          <p:nvSpPr>
            <p:cNvPr id="16" name="Text 8"/>
            <p:cNvSpPr/>
            <p:nvPr/>
          </p:nvSpPr>
          <p:spPr>
            <a:xfrm>
              <a:off x="2675930" y="4984313"/>
              <a:ext cx="2409944" cy="3012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35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 Semi Bold" pitchFamily="34" charset="-120"/>
                </a:rPr>
                <a:t>个性化教学 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9"/>
            <p:cNvSpPr/>
            <p:nvPr/>
          </p:nvSpPr>
          <p:spPr>
            <a:xfrm>
              <a:off x="793790" y="5401151"/>
              <a:ext cx="4292084" cy="30837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400"/>
                </a:lnSpc>
                <a:buNone/>
              </a:pPr>
              <a:r>
                <a:rPr lang="en-US" sz="2400" dirty="0">
                  <a:solidFill>
                    <a:srgbClr val="61615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omorrow" pitchFamily="34" charset="-120"/>
                </a:rPr>
                <a:t>根据用户数据量身定制教学方案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5077" y="2289215"/>
            <a:ext cx="3880128" cy="388012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657" y="5009198"/>
            <a:ext cx="288369" cy="3605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93790" y="7019377"/>
            <a:ext cx="3853815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 2.1系统功能亮点</a:t>
            </a:r>
            <a:endParaRPr lang="en-US" sz="37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895910" y="6989446"/>
            <a:ext cx="871859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本系统采用uni-app实现跨平台兼容,为用户提供流畅的使用体验。同时,优化智能对弈算法,模拟人类思维,提高系统的理解和应对能力,实现更智能的对弈和教学。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D3AE07B-552A-863A-D36F-019C5D645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08" y="321013"/>
            <a:ext cx="12991857" cy="747031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57808" y="438269"/>
            <a:ext cx="2590086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2.2 </a:t>
            </a:r>
            <a:r>
              <a:rPr lang="en-US" sz="2000" b="1" dirty="0" err="1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系统架构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AACC25-4B9C-E84A-8E60-41441464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04" y="918150"/>
            <a:ext cx="14060791" cy="652974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59356" y="240803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20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2.3 移动端界面开发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755A4E3-E903-B3DE-2900-C83856E0B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58" y="284966"/>
            <a:ext cx="13407314" cy="765966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37223" y="500658"/>
            <a:ext cx="2958822" cy="36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2.4 数据库设计</a:t>
            </a:r>
            <a:endParaRPr lang="en-US" sz="23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D8FEC23-C76D-29BF-68A9-E6EC4419F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665440"/>
            <a:ext cx="14636955" cy="689563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11190" y="251380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2.5系统主要功能模块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3.智能技术应用</a:t>
            </a:r>
            <a:endParaRPr lang="en-US" sz="44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30182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3.1 智能对弈算法的实现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374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基于Minimax和Alpha-Beta剪枝技术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6D0D0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30091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3.2 集成Stockfish引擎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311598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通过UCI协议实现专业引擎接入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6D0D0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36662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3.3 LLM在国际象棋中的应用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4015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从初级(深度2)到专家级(深度8)梯度设计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55BBBB9-19C6-C561-AE71-E9F4A8FAD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20389"/>
            <a:ext cx="14173200" cy="760921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42900" y="222420"/>
            <a:ext cx="3505914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3.1智能对弈算法的实现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526" y="383382"/>
            <a:ext cx="1306734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150" b="1" dirty="0"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3.2集成Stockfish引擎：强大的国际象棋对弈技术</a:t>
            </a:r>
            <a:endParaRPr lang="en-US" sz="2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D00B1D-EE4B-0484-5860-EE610E590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90" y="956866"/>
            <a:ext cx="14228620" cy="6760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570" y="349727"/>
            <a:ext cx="5984796" cy="47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3.3大语言模型在国际象棋中的应用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449157" y="792123"/>
            <a:ext cx="4400074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AF874A-B0C7-0171-7686-7816D01BC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5356"/>
            <a:ext cx="14630400" cy="66777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33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4. 系统测试与优化</a:t>
            </a:r>
            <a:endParaRPr lang="en-US" sz="44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7414"/>
            <a:ext cx="8827889" cy="49435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82701" y="2116336"/>
            <a:ext cx="366141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系统测试围绕功能、性能、安全性和用户体验四个维度，设计并实施了系统测试方案。测试结果表明，系统各模块功能完整，能够提供流畅的用户体验。用户模块、游戏回放功能和消息系统测试全部通过，实时对弈功能、人机对战模块和课程模块也达到了较高的通过率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182701" y="5223629"/>
            <a:ext cx="36614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5660112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5.项目成本</a:t>
            </a:r>
            <a:endParaRPr lang="en-US" sz="44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2361" y="1782842"/>
            <a:ext cx="13045678" cy="5207318"/>
          </a:xfrm>
          <a:prstGeom prst="roundRect">
            <a:avLst>
              <a:gd name="adj" fmla="val 6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9981" y="1790462"/>
            <a:ext cx="13029128" cy="6490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7748" y="1933813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项目内容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74124" y="1933813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费用明细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16691" y="1933813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周期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9981" y="2439472"/>
            <a:ext cx="13029128" cy="6490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7748" y="2582823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关系型数据库RDS (MySQL)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74124" y="2582823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86元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16691" y="2582823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每月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9981" y="3088481"/>
            <a:ext cx="13029128" cy="6490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7748" y="3231833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ECS云服务器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74124" y="3231833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300元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16691" y="3231833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3个月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9981" y="3737491"/>
            <a:ext cx="13029128" cy="6490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7748" y="3880842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Redis开源版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74124" y="3880842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72元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16691" y="3880842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每年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9981" y="4386501"/>
            <a:ext cx="13029128" cy="6490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7748" y="4529852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Deepseek-V3&amp;R1 API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74124" y="4529852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20元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16691" y="4529852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-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9981" y="5035510"/>
            <a:ext cx="13029128" cy="6490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7748" y="5178862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Kimi-1.5 API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74124" y="5178862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15元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16691" y="5178862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-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9981" y="5684520"/>
            <a:ext cx="13029128" cy="6490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27748" y="5827871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研发人员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74124" y="5827871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自主开发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16691" y="5827871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-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99981" y="6333530"/>
            <a:ext cx="13029128" cy="6490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27748" y="6476881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UI/UX设计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74124" y="6476881"/>
            <a:ext cx="388227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自主设计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16691" y="6476881"/>
            <a:ext cx="3886081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-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2361" y="7244834"/>
            <a:ext cx="1304567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基础设施成本控制得当，主要依靠自主开发力量。云服务采用按需付费模式，大语言模型API费用低廉。</a:t>
            </a:r>
            <a:endParaRPr lang="en-US" sz="1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9629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6. 结论与未来展望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508653"/>
            <a:ext cx="13042821" cy="30480"/>
          </a:xfrm>
          <a:prstGeom prst="roundRect">
            <a:avLst>
              <a:gd name="adj" fmla="val 106046"/>
            </a:avLst>
          </a:prstGeom>
          <a:solidFill>
            <a:srgbClr val="D6D0D0"/>
          </a:solidFill>
          <a:ln/>
        </p:spPr>
      </p:sp>
      <p:sp>
        <p:nvSpPr>
          <p:cNvPr id="4" name="Shape 2"/>
          <p:cNvSpPr/>
          <p:nvPr/>
        </p:nvSpPr>
        <p:spPr>
          <a:xfrm>
            <a:off x="2862501" y="2862263"/>
            <a:ext cx="30480" cy="646390"/>
          </a:xfrm>
          <a:prstGeom prst="roundRect">
            <a:avLst>
              <a:gd name="adj" fmla="val 106046"/>
            </a:avLst>
          </a:prstGeom>
          <a:solidFill>
            <a:srgbClr val="D6D0D0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635329" y="326624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6" name="Text 4"/>
          <p:cNvSpPr/>
          <p:nvPr/>
        </p:nvSpPr>
        <p:spPr>
          <a:xfrm>
            <a:off x="2716173" y="3306663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1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31025" y="183618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学习效率提升</a:t>
            </a:r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9174" y="2301954"/>
            <a:ext cx="37372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新手掌握基础规则的时间缩短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81230" y="3508653"/>
            <a:ext cx="30480" cy="646390"/>
          </a:xfrm>
          <a:prstGeom prst="roundRect">
            <a:avLst>
              <a:gd name="adj" fmla="val 106046"/>
            </a:avLst>
          </a:prstGeom>
          <a:solidFill>
            <a:srgbClr val="D6D0D0"/>
          </a:solidFill>
          <a:ln/>
        </p:spPr>
      </p:sp>
      <p:sp>
        <p:nvSpPr>
          <p:cNvPr id="10" name="Shape 8"/>
          <p:cNvSpPr/>
          <p:nvPr/>
        </p:nvSpPr>
        <p:spPr>
          <a:xfrm>
            <a:off x="4854059" y="326624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1" name="Text 9"/>
          <p:cNvSpPr/>
          <p:nvPr/>
        </p:nvSpPr>
        <p:spPr>
          <a:xfrm>
            <a:off x="4934903" y="3306663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2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49635" y="437054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战术应用提升</a:t>
            </a:r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27784" y="4836319"/>
            <a:ext cx="373737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人机对战中战术应用正确率提升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299841" y="2862263"/>
            <a:ext cx="30480" cy="646390"/>
          </a:xfrm>
          <a:prstGeom prst="roundRect">
            <a:avLst>
              <a:gd name="adj" fmla="val 106046"/>
            </a:avLst>
          </a:prstGeom>
          <a:solidFill>
            <a:srgbClr val="D6D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2670" y="326624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7153513" y="3306663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3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68365" y="183618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多端支持</a:t>
            </a:r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46514" y="2301954"/>
            <a:ext cx="37372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支持iOS、Android、小程序等平台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518571" y="3508653"/>
            <a:ext cx="30480" cy="646390"/>
          </a:xfrm>
          <a:prstGeom prst="roundRect">
            <a:avLst>
              <a:gd name="adj" fmla="val 106046"/>
            </a:avLst>
          </a:prstGeom>
          <a:solidFill>
            <a:srgbClr val="447ED7"/>
          </a:solidFill>
          <a:ln/>
        </p:spPr>
      </p:sp>
      <p:sp>
        <p:nvSpPr>
          <p:cNvPr id="20" name="Shape 18"/>
          <p:cNvSpPr/>
          <p:nvPr/>
        </p:nvSpPr>
        <p:spPr>
          <a:xfrm>
            <a:off x="9291399" y="326624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5E98F1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243" y="3306663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4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87095" y="437054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5E98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智能升级</a:t>
            </a:r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65244" y="4836319"/>
            <a:ext cx="373725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5E98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自建模型加棋谱录入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737300" y="2862263"/>
            <a:ext cx="30480" cy="646390"/>
          </a:xfrm>
          <a:prstGeom prst="roundRect">
            <a:avLst>
              <a:gd name="adj" fmla="val 106046"/>
            </a:avLst>
          </a:prstGeom>
          <a:solidFill>
            <a:srgbClr val="94CAA3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10129" y="326624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AEE4BD"/>
          </a:solidFill>
          <a:ln/>
        </p:spPr>
      </p:sp>
      <p:sp>
        <p:nvSpPr>
          <p:cNvPr id="26" name="Text 24"/>
          <p:cNvSpPr/>
          <p:nvPr/>
        </p:nvSpPr>
        <p:spPr>
          <a:xfrm>
            <a:off x="11590973" y="3306663"/>
            <a:ext cx="323136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5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405705" y="183618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5CC9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生态建设</a:t>
            </a:r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83854" y="2301954"/>
            <a:ext cx="3737372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650" dirty="0">
                <a:solidFill>
                  <a:srgbClr val="5CC9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UG</a:t>
            </a:r>
            <a:r>
              <a:rPr lang="en-US" altLang="zh-CN" sz="1650" dirty="0">
                <a:solidFill>
                  <a:srgbClr val="5CC9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C</a:t>
            </a:r>
            <a:r>
              <a:rPr lang="en-US" sz="1650" dirty="0">
                <a:solidFill>
                  <a:srgbClr val="5CC9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-用户生成内容社区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93790" y="5423535"/>
            <a:ext cx="130428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未来工作将从技术深化与生态拓展两大维度推进系统升级。在技术创新方面，计划引入强化学习算法构建自进化AI模型，通过百万次自我对弈动态优化战术策略，使AI对手能根据用户风格调整攻防偏好，进一步提升对弈体验的真实性。同时，结合计算机视觉技术开发"智能棋谱录入"功能，支持用户通过手机摄像头实时识别实体棋盘。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3790" y="6700361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" pitchFamily="34" charset="-120"/>
              </a:rPr>
              <a:t>在功能拓展与生态构建上，系统拟深化教学资源的多元化建设，与国际象棋协会、职业棋手合作开发进阶课程，融入大师对局解析、赛事战术拆解等内容，并开放用户生成内容平台鼓励用户分享自定义残局与策略心得，形成"专业内容+用户共创"的立体化学习库。</a:t>
            </a:r>
            <a:endParaRPr lang="en-US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>
              <a:alpha val="85000"/>
            </a:srgbClr>
          </a:solidFill>
          <a:ln/>
        </p:spPr>
        <p:txBody>
          <a:bodyPr/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1720810" y="27866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540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</a:t>
            </a:r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FF46141-6407-CB50-CDFC-2CF5751EFEAF}"/>
              </a:ext>
            </a:extLst>
          </p:cNvPr>
          <p:cNvSpPr/>
          <p:nvPr/>
        </p:nvSpPr>
        <p:spPr>
          <a:xfrm>
            <a:off x="1720810" y="37604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zh-CN" altLang="en-US" sz="28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79E1-33A2-DA69-1301-5F8F786A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4561F648-BFEB-5F39-3959-A5DA34201B07}"/>
              </a:ext>
            </a:extLst>
          </p:cNvPr>
          <p:cNvSpPr/>
          <p:nvPr/>
        </p:nvSpPr>
        <p:spPr>
          <a:xfrm>
            <a:off x="1418755" y="24283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zh-CN" sz="4450" b="1" dirty="0" err="1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NovaChess</a:t>
            </a:r>
            <a:r>
              <a:rPr lang="zh-CN" altLang="en-US" sz="4450" b="1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omorrow Semi Bold" pitchFamily="34" charset="-120"/>
              </a:rPr>
              <a:t>线上体验</a:t>
            </a:r>
            <a:endParaRPr lang="en-US" altLang="zh-CN" sz="4450" b="1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omorrow Semi Bold" pitchFamily="34" charset="-12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27A4AF-2BE7-FDF5-EA17-8B9A0AE4D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28" y="2009901"/>
            <a:ext cx="3898458" cy="3898458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968CC154-3952-ACFD-4A16-C04979BB6C56}"/>
              </a:ext>
            </a:extLst>
          </p:cNvPr>
          <p:cNvSpPr/>
          <p:nvPr/>
        </p:nvSpPr>
        <p:spPr>
          <a:xfrm>
            <a:off x="1439146" y="50439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人机对战系统立即可用，无需等待匹配对手。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7DF22F1-C8A7-8B2F-73F5-2065D81CB6F9}"/>
              </a:ext>
            </a:extLst>
          </p:cNvPr>
          <p:cNvSpPr/>
          <p:nvPr/>
        </p:nvSpPr>
        <p:spPr>
          <a:xfrm>
            <a:off x="1418755" y="43351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直接注册即可开始棋局。</a:t>
            </a:r>
          </a:p>
        </p:txBody>
      </p:sp>
    </p:spTree>
    <p:extLst>
      <p:ext uri="{BB962C8B-B14F-4D97-AF65-F5344CB8AC3E}">
        <p14:creationId xmlns:p14="http://schemas.microsoft.com/office/powerpoint/2010/main" val="3259449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505</Words>
  <Application>Microsoft Office PowerPoint</Application>
  <PresentationFormat>自定义</PresentationFormat>
  <Paragraphs>147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楚雄 单</cp:lastModifiedBy>
  <cp:revision>7</cp:revision>
  <dcterms:created xsi:type="dcterms:W3CDTF">2025-06-05T12:16:52Z</dcterms:created>
  <dcterms:modified xsi:type="dcterms:W3CDTF">2025-06-07T01:50:08Z</dcterms:modified>
</cp:coreProperties>
</file>