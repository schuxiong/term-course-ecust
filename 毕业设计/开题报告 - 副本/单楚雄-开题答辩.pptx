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2" r:id="rId16"/>
    <p:sldId id="268" r:id="rId17"/>
  </p:sldIdLst>
  <p:sldSz cx="14630400" cy="8229600"/>
  <p:notesSz cx="8229600" cy="14630400"/>
  <p:embeddedFontLst>
    <p:embeddedFont>
      <p:font typeface="IBM Plex Sans Medium" panose="020B0603050203000203" pitchFamily="34" charset="0"/>
      <p:regular r:id="rId19"/>
    </p:embeddedFont>
    <p:embeddedFont>
      <p:font typeface="微软雅黑" panose="020B0503020204020204" pitchFamily="34" charset="-122"/>
      <p:regular r:id="rId20"/>
      <p:bold r:id="rId2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62"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67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extLst>
      <p:ext uri="{BB962C8B-B14F-4D97-AF65-F5344CB8AC3E}">
        <p14:creationId xmlns:p14="http://schemas.microsoft.com/office/powerpoint/2010/main" val="2492483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spTree>
    <p:extLst>
      <p:ext uri="{BB962C8B-B14F-4D97-AF65-F5344CB8AC3E}">
        <p14:creationId xmlns:p14="http://schemas.microsoft.com/office/powerpoint/2010/main" val="401853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Lst>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92022"/>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F3F3F2"/>
                </a:solidFill>
                <a:latin typeface="微软雅黑" panose="020B0503020204020204" pitchFamily="34" charset="-122"/>
                <a:ea typeface="微软雅黑" panose="020B0503020204020204" pitchFamily="34" charset="-122"/>
                <a:cs typeface="IBM Plex Sans Medium" pitchFamily="34" charset="-120"/>
              </a:rPr>
              <a:t>基于智能与移动技术的国际象棋教学与对弈系统</a:t>
            </a:r>
            <a:endParaRPr lang="en-US" sz="4450" b="1" dirty="0">
              <a:latin typeface="微软雅黑" panose="020B0503020204020204" pitchFamily="34" charset="-122"/>
              <a:ea typeface="微软雅黑" panose="020B0503020204020204" pitchFamily="34" charset="-122"/>
            </a:endParaRPr>
          </a:p>
        </p:txBody>
      </p:sp>
      <p:sp>
        <p:nvSpPr>
          <p:cNvPr id="4" name="Text 1"/>
          <p:cNvSpPr/>
          <p:nvPr/>
        </p:nvSpPr>
        <p:spPr>
          <a:xfrm>
            <a:off x="6280190" y="3649742"/>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随着人工智能和移动技术的快速发展，国际象棋教学和对弈系统正朝着智能化、个性化和移动便捷化的方向发展。</a:t>
            </a:r>
            <a:endParaRPr lang="en-US" sz="1750" dirty="0">
              <a:latin typeface="微软雅黑" panose="020B0503020204020204" pitchFamily="34" charset="-122"/>
              <a:ea typeface="微软雅黑" panose="020B0503020204020204" pitchFamily="34" charset="-122"/>
            </a:endParaRPr>
          </a:p>
        </p:txBody>
      </p:sp>
      <p:sp>
        <p:nvSpPr>
          <p:cNvPr id="5" name="Text 2"/>
          <p:cNvSpPr/>
          <p:nvPr/>
        </p:nvSpPr>
        <p:spPr>
          <a:xfrm>
            <a:off x="6280190" y="4946893"/>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本研究旨在开发一个基于智能与移动技术的国际象棋教学与对弈系统，结合基于规则的AI博弈引擎、Minimax和Alpha-Beta剪枝优化算法，为用户提供高效的对弈训练、战术教学和棋局复盘功能。</a:t>
            </a:r>
            <a:endParaRPr lang="en-US" sz="1750" dirty="0">
              <a:latin typeface="微软雅黑" panose="020B0503020204020204" pitchFamily="34" charset="-122"/>
              <a:ea typeface="微软雅黑" panose="020B0503020204020204" pitchFamily="34" charset="-122"/>
            </a:endParaRPr>
          </a:p>
        </p:txBody>
      </p:sp>
      <p:sp>
        <p:nvSpPr>
          <p:cNvPr id="6" name="Text 3"/>
          <p:cNvSpPr/>
          <p:nvPr/>
        </p:nvSpPr>
        <p:spPr>
          <a:xfrm>
            <a:off x="6280190" y="5974556"/>
            <a:ext cx="7556421" cy="362903"/>
          </a:xfrm>
          <a:prstGeom prst="rect">
            <a:avLst/>
          </a:prstGeom>
          <a:noFill/>
          <a:ln/>
        </p:spPr>
        <p:txBody>
          <a:bodyPr wrap="none" lIns="0" tIns="0" rIns="0" bIns="0" rtlCol="0" anchor="t"/>
          <a:lstStyle/>
          <a:p>
            <a:pPr marL="0" indent="0">
              <a:lnSpc>
                <a:spcPts val="2850"/>
              </a:lnSpc>
              <a:buNone/>
            </a:pPr>
            <a:endParaRPr lang="en-US" sz="175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7137BC5-E274-C790-F3EE-E0B1221A820C}"/>
              </a:ext>
            </a:extLst>
          </p:cNvPr>
          <p:cNvSpPr txBox="1"/>
          <p:nvPr/>
        </p:nvSpPr>
        <p:spPr>
          <a:xfrm>
            <a:off x="10912979" y="7063264"/>
            <a:ext cx="2820113" cy="426207"/>
          </a:xfrm>
          <a:prstGeom prst="rect">
            <a:avLst/>
          </a:prstGeom>
          <a:noFill/>
        </p:spPr>
        <p:txBody>
          <a:bodyPr wrap="square">
            <a:spAutoFit/>
          </a:bodyPr>
          <a:lstStyle/>
          <a:p>
            <a:pPr marL="0" indent="0">
              <a:lnSpc>
                <a:spcPts val="2850"/>
              </a:lnSpc>
              <a:buNone/>
            </a:pPr>
            <a:r>
              <a:rPr lang="zh-CN" altLang="en-US" sz="1800" b="1" dirty="0">
                <a:solidFill>
                  <a:schemeClr val="bg1"/>
                </a:solidFill>
                <a:latin typeface="微软雅黑" panose="020B0503020204020204" pitchFamily="34" charset="-122"/>
                <a:ea typeface="微软雅黑" panose="020B0503020204020204" pitchFamily="34" charset="-122"/>
              </a:rPr>
              <a:t>计</a:t>
            </a:r>
            <a:r>
              <a:rPr lang="en-US" altLang="zh-CN" sz="1800" b="1" dirty="0">
                <a:solidFill>
                  <a:schemeClr val="bg1"/>
                </a:solidFill>
                <a:latin typeface="微软雅黑" panose="020B0503020204020204" pitchFamily="34" charset="-122"/>
                <a:ea typeface="微软雅黑" panose="020B0503020204020204" pitchFamily="34" charset="-122"/>
              </a:rPr>
              <a:t>211 21013025 </a:t>
            </a:r>
            <a:r>
              <a:rPr lang="zh-CN" altLang="en-US" sz="1800" b="1" dirty="0">
                <a:solidFill>
                  <a:schemeClr val="bg1"/>
                </a:solidFill>
                <a:latin typeface="微软雅黑" panose="020B0503020204020204" pitchFamily="34" charset="-122"/>
                <a:ea typeface="微软雅黑" panose="020B0503020204020204" pitchFamily="34" charset="-122"/>
              </a:rPr>
              <a:t>单楚雄</a:t>
            </a:r>
            <a:endParaRPr lang="en-US" altLang="zh-CN" sz="1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29539"/>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F3F3F2"/>
                </a:solidFill>
                <a:latin typeface="微软雅黑" panose="020B0503020204020204" pitchFamily="34" charset="-122"/>
                <a:ea typeface="微软雅黑" panose="020B0503020204020204" pitchFamily="34" charset="-122"/>
                <a:cs typeface="IBM Plex Sans Medium" pitchFamily="34" charset="-120"/>
              </a:rPr>
              <a:t>1.研究背景</a:t>
            </a:r>
            <a:endParaRPr lang="en-US" sz="4450" dirty="0">
              <a:latin typeface="微软雅黑" panose="020B0503020204020204" pitchFamily="34" charset="-122"/>
              <a:ea typeface="微软雅黑" panose="020B0503020204020204" pitchFamily="34" charset="-122"/>
            </a:endParaRPr>
          </a:p>
        </p:txBody>
      </p:sp>
      <p:sp>
        <p:nvSpPr>
          <p:cNvPr id="3" name="Shape 1"/>
          <p:cNvSpPr/>
          <p:nvPr/>
        </p:nvSpPr>
        <p:spPr>
          <a:xfrm>
            <a:off x="793790" y="3078480"/>
            <a:ext cx="4196358" cy="3121462"/>
          </a:xfrm>
          <a:prstGeom prst="roundRect">
            <a:avLst>
              <a:gd name="adj" fmla="val 1090"/>
            </a:avLst>
          </a:prstGeom>
          <a:solidFill>
            <a:srgbClr val="484B51"/>
          </a:solidFill>
          <a:ln/>
        </p:spPr>
      </p:sp>
      <p:sp>
        <p:nvSpPr>
          <p:cNvPr id="4" name="Text 2"/>
          <p:cNvSpPr/>
          <p:nvPr/>
        </p:nvSpPr>
        <p:spPr>
          <a:xfrm>
            <a:off x="1020604" y="330529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国际象棋的教育价值</a:t>
            </a:r>
            <a:endParaRPr lang="en-US" sz="2200" dirty="0">
              <a:latin typeface="微软雅黑" panose="020B0503020204020204" pitchFamily="34" charset="-122"/>
              <a:ea typeface="微软雅黑" panose="020B0503020204020204" pitchFamily="34" charset="-122"/>
            </a:endParaRPr>
          </a:p>
        </p:txBody>
      </p:sp>
      <p:sp>
        <p:nvSpPr>
          <p:cNvPr id="5" name="Text 3"/>
          <p:cNvSpPr/>
          <p:nvPr/>
        </p:nvSpPr>
        <p:spPr>
          <a:xfrm>
            <a:off x="1020604" y="3795713"/>
            <a:ext cx="3742730" cy="1814513"/>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国际象棋作为一项历史悠久的智力竞技游戏，素有"智慧的体操"之美誉。研究表明，国际象棋对学生的认知能力有积极的影响，如决策能力、批判性思维、合作和创造性思维等。</a:t>
            </a:r>
            <a:endParaRPr lang="en-US" sz="1750" dirty="0">
              <a:latin typeface="微软雅黑" panose="020B0503020204020204" pitchFamily="34" charset="-122"/>
              <a:ea typeface="微软雅黑" panose="020B0503020204020204" pitchFamily="34" charset="-122"/>
            </a:endParaRPr>
          </a:p>
        </p:txBody>
      </p:sp>
      <p:sp>
        <p:nvSpPr>
          <p:cNvPr id="6" name="Shape 4"/>
          <p:cNvSpPr/>
          <p:nvPr/>
        </p:nvSpPr>
        <p:spPr>
          <a:xfrm>
            <a:off x="5216962" y="3078480"/>
            <a:ext cx="4196358" cy="3121462"/>
          </a:xfrm>
          <a:prstGeom prst="roundRect">
            <a:avLst>
              <a:gd name="adj" fmla="val 1090"/>
            </a:avLst>
          </a:prstGeom>
          <a:solidFill>
            <a:srgbClr val="484B51"/>
          </a:solidFill>
          <a:ln/>
        </p:spPr>
      </p:sp>
      <p:sp>
        <p:nvSpPr>
          <p:cNvPr id="7" name="Text 5"/>
          <p:cNvSpPr/>
          <p:nvPr/>
        </p:nvSpPr>
        <p:spPr>
          <a:xfrm>
            <a:off x="5443776" y="330529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AI技术的突破</a:t>
            </a:r>
            <a:endParaRPr lang="en-US" sz="2200" dirty="0">
              <a:latin typeface="微软雅黑" panose="020B0503020204020204" pitchFamily="34" charset="-122"/>
              <a:ea typeface="微软雅黑" panose="020B0503020204020204" pitchFamily="34" charset="-122"/>
            </a:endParaRPr>
          </a:p>
        </p:txBody>
      </p:sp>
      <p:sp>
        <p:nvSpPr>
          <p:cNvPr id="8" name="Text 6"/>
          <p:cNvSpPr/>
          <p:nvPr/>
        </p:nvSpPr>
        <p:spPr>
          <a:xfrm>
            <a:off x="5443776" y="3795713"/>
            <a:ext cx="3742730" cy="1814513"/>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随着人工智能技术的爆发式发展，计算机在棋类对弈领域取得了重大突破。以AlphaZero、Stockfish为代表的国际象棋AI的出现，改写了人类与机器在棋类竞技中的格局。</a:t>
            </a:r>
            <a:endParaRPr lang="en-US" sz="1750" dirty="0">
              <a:latin typeface="微软雅黑" panose="020B0503020204020204" pitchFamily="34" charset="-122"/>
              <a:ea typeface="微软雅黑" panose="020B0503020204020204" pitchFamily="34" charset="-122"/>
            </a:endParaRPr>
          </a:p>
        </p:txBody>
      </p:sp>
      <p:sp>
        <p:nvSpPr>
          <p:cNvPr id="9" name="Shape 7"/>
          <p:cNvSpPr/>
          <p:nvPr/>
        </p:nvSpPr>
        <p:spPr>
          <a:xfrm>
            <a:off x="9640133" y="3078480"/>
            <a:ext cx="4196358" cy="3121462"/>
          </a:xfrm>
          <a:prstGeom prst="roundRect">
            <a:avLst>
              <a:gd name="adj" fmla="val 1090"/>
            </a:avLst>
          </a:prstGeom>
          <a:solidFill>
            <a:srgbClr val="484B51"/>
          </a:solidFill>
          <a:ln/>
        </p:spPr>
      </p:sp>
      <p:sp>
        <p:nvSpPr>
          <p:cNvPr id="10" name="Text 8"/>
          <p:cNvSpPr/>
          <p:nvPr/>
        </p:nvSpPr>
        <p:spPr>
          <a:xfrm>
            <a:off x="9866948" y="330529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现有平台的不足</a:t>
            </a:r>
            <a:endParaRPr lang="en-US" sz="2200" dirty="0">
              <a:latin typeface="微软雅黑" panose="020B0503020204020204" pitchFamily="34" charset="-122"/>
              <a:ea typeface="微软雅黑" panose="020B0503020204020204" pitchFamily="34" charset="-122"/>
            </a:endParaRPr>
          </a:p>
        </p:txBody>
      </p:sp>
      <p:sp>
        <p:nvSpPr>
          <p:cNvPr id="11" name="Text 9"/>
          <p:cNvSpPr/>
          <p:nvPr/>
        </p:nvSpPr>
        <p:spPr>
          <a:xfrm>
            <a:off x="9866948" y="3795713"/>
            <a:ext cx="3742730" cy="217741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现有国际象棋AI多服务于顶级赛事，面向普通用户的智能教学模式严重缺失；多数平台教学方式单一，缺乏个性化学习路径规划；现有的棋局分析工具操作复杂，交互界面不够直观友好。</a:t>
            </a: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37103"/>
            <a:ext cx="5103614" cy="637937"/>
          </a:xfrm>
          <a:prstGeom prst="rect">
            <a:avLst/>
          </a:prstGeom>
          <a:noFill/>
          <a:ln/>
        </p:spPr>
        <p:txBody>
          <a:bodyPr wrap="none" lIns="0" tIns="0" rIns="0" bIns="0" rtlCol="0" anchor="t"/>
          <a:lstStyle/>
          <a:p>
            <a:pPr marL="0" indent="0">
              <a:lnSpc>
                <a:spcPts val="5000"/>
              </a:lnSpc>
              <a:buNone/>
            </a:pPr>
            <a:r>
              <a:rPr lang="en-US" sz="4000" dirty="0">
                <a:solidFill>
                  <a:srgbClr val="F3F3F2"/>
                </a:solidFill>
                <a:latin typeface="微软雅黑" panose="020B0503020204020204" pitchFamily="34" charset="-122"/>
                <a:ea typeface="微软雅黑" panose="020B0503020204020204" pitchFamily="34" charset="-122"/>
                <a:cs typeface="IBM Plex Sans Medium" pitchFamily="34" charset="-120"/>
              </a:rPr>
              <a:t>课题研究方向和意义</a:t>
            </a:r>
            <a:endParaRPr lang="en-US" sz="4000" dirty="0">
              <a:latin typeface="微软雅黑" panose="020B0503020204020204" pitchFamily="34" charset="-122"/>
              <a:ea typeface="微软雅黑" panose="020B0503020204020204" pitchFamily="34" charset="-122"/>
            </a:endParaRPr>
          </a:p>
        </p:txBody>
      </p:sp>
      <p:pic>
        <p:nvPicPr>
          <p:cNvPr id="3" name="Image 0" descr="preencoded.png"/>
          <p:cNvPicPr>
            <a:picLocks noChangeAspect="1"/>
          </p:cNvPicPr>
          <p:nvPr/>
        </p:nvPicPr>
        <p:blipFill>
          <a:blip r:embed="rId3"/>
          <a:stretch>
            <a:fillRect/>
          </a:stretch>
        </p:blipFill>
        <p:spPr>
          <a:xfrm>
            <a:off x="793790" y="1581150"/>
            <a:ext cx="1020723" cy="1502807"/>
          </a:xfrm>
          <a:prstGeom prst="rect">
            <a:avLst/>
          </a:prstGeom>
        </p:spPr>
      </p:pic>
      <p:sp>
        <p:nvSpPr>
          <p:cNvPr id="4" name="Text 1"/>
          <p:cNvSpPr/>
          <p:nvPr/>
        </p:nvSpPr>
        <p:spPr>
          <a:xfrm>
            <a:off x="2120622" y="1785223"/>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微软雅黑" panose="020B0503020204020204" pitchFamily="34" charset="-122"/>
                <a:ea typeface="微软雅黑" panose="020B0503020204020204" pitchFamily="34" charset="-122"/>
                <a:cs typeface="IBM Plex Sans Medium" pitchFamily="34" charset="-120"/>
              </a:rPr>
              <a:t>优化AI对弈能力</a:t>
            </a:r>
            <a:endParaRPr lang="en-US" sz="2000" dirty="0">
              <a:latin typeface="微软雅黑" panose="020B0503020204020204" pitchFamily="34" charset="-122"/>
              <a:ea typeface="微软雅黑" panose="020B0503020204020204" pitchFamily="34" charset="-122"/>
            </a:endParaRPr>
          </a:p>
        </p:txBody>
      </p:sp>
      <p:sp>
        <p:nvSpPr>
          <p:cNvPr id="5" name="Text 2"/>
          <p:cNvSpPr/>
          <p:nvPr/>
        </p:nvSpPr>
        <p:spPr>
          <a:xfrm>
            <a:off x="2120622" y="2226469"/>
            <a:ext cx="11715988"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运用Minimax和Alpha-Beta剪枝优化算法，构建强大的AI对弈引擎。Minimax算法通过递归评估博弈树节点，寻找最优策略；Alpha-Beta剪枝则在搜索过程中减少不必要的计算，大幅提高AI的决策效率和对弈水平。</a:t>
            </a:r>
            <a:endParaRPr lang="en-US" sz="1600" dirty="0">
              <a:latin typeface="微软雅黑" panose="020B0503020204020204" pitchFamily="34" charset="-122"/>
              <a:ea typeface="微软雅黑" panose="020B0503020204020204" pitchFamily="34" charset="-122"/>
            </a:endParaRPr>
          </a:p>
        </p:txBody>
      </p:sp>
      <p:pic>
        <p:nvPicPr>
          <p:cNvPr id="6" name="Image 1" descr="preencoded.png"/>
          <p:cNvPicPr>
            <a:picLocks noChangeAspect="1"/>
          </p:cNvPicPr>
          <p:nvPr/>
        </p:nvPicPr>
        <p:blipFill>
          <a:blip r:embed="rId4"/>
          <a:stretch>
            <a:fillRect/>
          </a:stretch>
        </p:blipFill>
        <p:spPr>
          <a:xfrm>
            <a:off x="793790" y="3083957"/>
            <a:ext cx="1020723" cy="1502807"/>
          </a:xfrm>
          <a:prstGeom prst="rect">
            <a:avLst/>
          </a:prstGeom>
        </p:spPr>
      </p:pic>
      <p:sp>
        <p:nvSpPr>
          <p:cNvPr id="7" name="Text 3"/>
          <p:cNvSpPr/>
          <p:nvPr/>
        </p:nvSpPr>
        <p:spPr>
          <a:xfrm>
            <a:off x="2120622" y="3288030"/>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微软雅黑" panose="020B0503020204020204" pitchFamily="34" charset="-122"/>
                <a:ea typeface="微软雅黑" panose="020B0503020204020204" pitchFamily="34" charset="-122"/>
                <a:cs typeface="IBM Plex Sans Medium" pitchFamily="34" charset="-120"/>
              </a:rPr>
              <a:t>设计可视化教学模块</a:t>
            </a:r>
            <a:endParaRPr lang="en-US" sz="2000" dirty="0">
              <a:latin typeface="微软雅黑" panose="020B0503020204020204" pitchFamily="34" charset="-122"/>
              <a:ea typeface="微软雅黑" panose="020B0503020204020204" pitchFamily="34" charset="-122"/>
            </a:endParaRPr>
          </a:p>
        </p:txBody>
      </p:sp>
      <p:sp>
        <p:nvSpPr>
          <p:cNvPr id="8" name="Text 4"/>
          <p:cNvSpPr/>
          <p:nvPr/>
        </p:nvSpPr>
        <p:spPr>
          <a:xfrm>
            <a:off x="2120622" y="3729276"/>
            <a:ext cx="11715988"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打造直观、易用的可视化教学模块，涵盖国际象棋规则讲解、经典战术演示、残局专项练习等功能。采用动画演示、案例分析等多种形式，帮助用户深入理解规则和战术，提升学习效果。</a:t>
            </a:r>
            <a:endParaRPr lang="en-US" sz="1600" dirty="0">
              <a:latin typeface="微软雅黑" panose="020B0503020204020204" pitchFamily="34" charset="-122"/>
              <a:ea typeface="微软雅黑" panose="020B0503020204020204" pitchFamily="34" charset="-122"/>
            </a:endParaRPr>
          </a:p>
        </p:txBody>
      </p:sp>
      <p:pic>
        <p:nvPicPr>
          <p:cNvPr id="9" name="Image 2" descr="preencoded.png"/>
          <p:cNvPicPr>
            <a:picLocks noChangeAspect="1"/>
          </p:cNvPicPr>
          <p:nvPr/>
        </p:nvPicPr>
        <p:blipFill>
          <a:blip r:embed="rId5"/>
          <a:stretch>
            <a:fillRect/>
          </a:stretch>
        </p:blipFill>
        <p:spPr>
          <a:xfrm>
            <a:off x="793790" y="4586764"/>
            <a:ext cx="1020723" cy="1502807"/>
          </a:xfrm>
          <a:prstGeom prst="rect">
            <a:avLst/>
          </a:prstGeom>
        </p:spPr>
      </p:pic>
      <p:sp>
        <p:nvSpPr>
          <p:cNvPr id="10" name="Text 5"/>
          <p:cNvSpPr/>
          <p:nvPr/>
        </p:nvSpPr>
        <p:spPr>
          <a:xfrm>
            <a:off x="2120622" y="4790837"/>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微软雅黑" panose="020B0503020204020204" pitchFamily="34" charset="-122"/>
                <a:ea typeface="微软雅黑" panose="020B0503020204020204" pitchFamily="34" charset="-122"/>
                <a:cs typeface="IBM Plex Sans Medium" pitchFamily="34" charset="-120"/>
              </a:rPr>
              <a:t>构建实时在线对战系统</a:t>
            </a:r>
            <a:endParaRPr lang="en-US" sz="2000" dirty="0">
              <a:latin typeface="微软雅黑" panose="020B0503020204020204" pitchFamily="34" charset="-122"/>
              <a:ea typeface="微软雅黑" panose="020B0503020204020204" pitchFamily="34" charset="-122"/>
            </a:endParaRPr>
          </a:p>
        </p:txBody>
      </p:sp>
      <p:sp>
        <p:nvSpPr>
          <p:cNvPr id="11" name="Text 6"/>
          <p:cNvSpPr/>
          <p:nvPr/>
        </p:nvSpPr>
        <p:spPr>
          <a:xfrm>
            <a:off x="2120622" y="5232083"/>
            <a:ext cx="11715988"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开发实时在线对战平台，支持玩家快速匹配、好友之间轻松对局，并实现棋谱自动存储与便捷复盘功能。玩家可以随时回顾对局过程，总结经验教训，促进棋艺提升。</a:t>
            </a:r>
            <a:endParaRPr lang="en-US" sz="1600" dirty="0">
              <a:latin typeface="微软雅黑" panose="020B0503020204020204" pitchFamily="34" charset="-122"/>
              <a:ea typeface="微软雅黑" panose="020B0503020204020204" pitchFamily="34" charset="-122"/>
            </a:endParaRPr>
          </a:p>
        </p:txBody>
      </p:sp>
      <p:pic>
        <p:nvPicPr>
          <p:cNvPr id="12" name="Image 3" descr="preencoded.png"/>
          <p:cNvPicPr>
            <a:picLocks noChangeAspect="1"/>
          </p:cNvPicPr>
          <p:nvPr/>
        </p:nvPicPr>
        <p:blipFill>
          <a:blip r:embed="rId6"/>
          <a:stretch>
            <a:fillRect/>
          </a:stretch>
        </p:blipFill>
        <p:spPr>
          <a:xfrm>
            <a:off x="793790" y="6089571"/>
            <a:ext cx="1020723" cy="1502807"/>
          </a:xfrm>
          <a:prstGeom prst="rect">
            <a:avLst/>
          </a:prstGeom>
        </p:spPr>
      </p:pic>
      <p:sp>
        <p:nvSpPr>
          <p:cNvPr id="13" name="Text 7"/>
          <p:cNvSpPr/>
          <p:nvPr/>
        </p:nvSpPr>
        <p:spPr>
          <a:xfrm>
            <a:off x="2120622" y="629364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D4D4D1"/>
                </a:solidFill>
                <a:latin typeface="微软雅黑" panose="020B0503020204020204" pitchFamily="34" charset="-122"/>
                <a:ea typeface="微软雅黑" panose="020B0503020204020204" pitchFamily="34" charset="-122"/>
                <a:cs typeface="IBM Plex Sans Medium" pitchFamily="34" charset="-120"/>
              </a:rPr>
              <a:t>优化移动学习体验</a:t>
            </a:r>
            <a:endParaRPr lang="en-US" sz="2000" dirty="0">
              <a:latin typeface="微软雅黑" panose="020B0503020204020204" pitchFamily="34" charset="-122"/>
              <a:ea typeface="微软雅黑" panose="020B0503020204020204" pitchFamily="34" charset="-122"/>
            </a:endParaRPr>
          </a:p>
        </p:txBody>
      </p:sp>
      <p:sp>
        <p:nvSpPr>
          <p:cNvPr id="14" name="Text 8"/>
          <p:cNvSpPr/>
          <p:nvPr/>
        </p:nvSpPr>
        <p:spPr>
          <a:xfrm>
            <a:off x="2120622" y="6734889"/>
            <a:ext cx="11715988" cy="653415"/>
          </a:xfrm>
          <a:prstGeom prst="rect">
            <a:avLst/>
          </a:prstGeom>
          <a:noFill/>
          <a:ln/>
        </p:spPr>
        <p:txBody>
          <a:bodyPr wrap="square" lIns="0" tIns="0" rIns="0" bIns="0" rtlCol="0" anchor="t"/>
          <a:lstStyle/>
          <a:p>
            <a:pPr marL="0" indent="0" algn="l">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充分利用移动技术，对教学系统进行深度适配。优化界面设计，提升触屏操作的流畅性和精准度，使用户能够在手机、平板等移动设备上享受与桌面端一致的优质学习和对弈体验。</a:t>
            </a:r>
            <a:endParaRPr lang="en-US" sz="16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4384" y="616268"/>
            <a:ext cx="5799296" cy="724853"/>
          </a:xfrm>
          <a:prstGeom prst="rect">
            <a:avLst/>
          </a:prstGeom>
          <a:noFill/>
          <a:ln/>
        </p:spPr>
        <p:txBody>
          <a:bodyPr wrap="none" lIns="0" tIns="0" rIns="0" bIns="0" rtlCol="0" anchor="t"/>
          <a:lstStyle/>
          <a:p>
            <a:pPr marL="0" indent="0">
              <a:lnSpc>
                <a:spcPts val="5700"/>
              </a:lnSpc>
              <a:buNone/>
            </a:pPr>
            <a:r>
              <a:rPr lang="en-US" sz="4550" b="1" dirty="0">
                <a:solidFill>
                  <a:srgbClr val="F3F3F2"/>
                </a:solidFill>
                <a:latin typeface="微软雅黑" panose="020B0503020204020204" pitchFamily="34" charset="-122"/>
                <a:ea typeface="微软雅黑" panose="020B0503020204020204" pitchFamily="34" charset="-122"/>
                <a:cs typeface="IBM Plex Sans Medium" pitchFamily="34" charset="-120"/>
              </a:rPr>
              <a:t>2.文献综述</a:t>
            </a:r>
            <a:endParaRPr lang="en-US" sz="4550" dirty="0">
              <a:latin typeface="微软雅黑" panose="020B0503020204020204" pitchFamily="34" charset="-122"/>
              <a:ea typeface="微软雅黑" panose="020B0503020204020204" pitchFamily="34" charset="-122"/>
            </a:endParaRPr>
          </a:p>
        </p:txBody>
      </p:sp>
      <p:sp>
        <p:nvSpPr>
          <p:cNvPr id="3" name="Text 1"/>
          <p:cNvSpPr/>
          <p:nvPr/>
        </p:nvSpPr>
        <p:spPr>
          <a:xfrm>
            <a:off x="784384" y="1593175"/>
            <a:ext cx="2521387" cy="315158"/>
          </a:xfrm>
          <a:prstGeom prst="rect">
            <a:avLst/>
          </a:prstGeom>
          <a:noFill/>
          <a:ln/>
        </p:spPr>
        <p:txBody>
          <a:bodyPr wrap="none" lIns="0" tIns="0" rIns="0" bIns="0" rtlCol="0" anchor="t"/>
          <a:lstStyle/>
          <a:p>
            <a:pPr marL="0" indent="0">
              <a:lnSpc>
                <a:spcPts val="2450"/>
              </a:lnSpc>
              <a:buNone/>
            </a:pPr>
            <a:r>
              <a:rPr lang="en-US" sz="1950" dirty="0">
                <a:solidFill>
                  <a:srgbClr val="F3F3F2"/>
                </a:solidFill>
                <a:latin typeface="微软雅黑" panose="020B0503020204020204" pitchFamily="34" charset="-122"/>
                <a:ea typeface="微软雅黑" panose="020B0503020204020204" pitchFamily="34" charset="-122"/>
                <a:cs typeface="IBM Plex Sans Medium" pitchFamily="34" charset="-120"/>
              </a:rPr>
              <a:t>现有国际象棋AI研究</a:t>
            </a:r>
            <a:endParaRPr lang="en-US" sz="1950" dirty="0">
              <a:latin typeface="微软雅黑" panose="020B0503020204020204" pitchFamily="34" charset="-122"/>
              <a:ea typeface="微软雅黑" panose="020B0503020204020204" pitchFamily="34" charset="-122"/>
            </a:endParaRPr>
          </a:p>
        </p:txBody>
      </p:sp>
      <p:sp>
        <p:nvSpPr>
          <p:cNvPr id="4" name="Shape 2"/>
          <p:cNvSpPr/>
          <p:nvPr/>
        </p:nvSpPr>
        <p:spPr>
          <a:xfrm>
            <a:off x="973455" y="2160389"/>
            <a:ext cx="22860" cy="5453658"/>
          </a:xfrm>
          <a:prstGeom prst="roundRect">
            <a:avLst>
              <a:gd name="adj" fmla="val 110300"/>
            </a:avLst>
          </a:prstGeom>
          <a:solidFill>
            <a:srgbClr val="61646A"/>
          </a:solidFill>
          <a:ln/>
        </p:spPr>
      </p:sp>
      <p:sp>
        <p:nvSpPr>
          <p:cNvPr id="5" name="Shape 3"/>
          <p:cNvSpPr/>
          <p:nvPr/>
        </p:nvSpPr>
        <p:spPr>
          <a:xfrm>
            <a:off x="1139666" y="2527102"/>
            <a:ext cx="504230" cy="22860"/>
          </a:xfrm>
          <a:prstGeom prst="roundRect">
            <a:avLst>
              <a:gd name="adj" fmla="val 110300"/>
            </a:avLst>
          </a:prstGeom>
          <a:solidFill>
            <a:srgbClr val="61646A"/>
          </a:solidFill>
          <a:ln/>
        </p:spPr>
      </p:sp>
      <p:sp>
        <p:nvSpPr>
          <p:cNvPr id="6" name="Shape 4"/>
          <p:cNvSpPr/>
          <p:nvPr/>
        </p:nvSpPr>
        <p:spPr>
          <a:xfrm>
            <a:off x="784384" y="2349460"/>
            <a:ext cx="378143" cy="378143"/>
          </a:xfrm>
          <a:prstGeom prst="roundRect">
            <a:avLst>
              <a:gd name="adj" fmla="val 6668"/>
            </a:avLst>
          </a:prstGeom>
          <a:solidFill>
            <a:srgbClr val="484B51"/>
          </a:solidFill>
          <a:ln/>
        </p:spPr>
      </p:sp>
      <p:sp>
        <p:nvSpPr>
          <p:cNvPr id="7" name="Text 5"/>
          <p:cNvSpPr/>
          <p:nvPr/>
        </p:nvSpPr>
        <p:spPr>
          <a:xfrm>
            <a:off x="847427" y="2380952"/>
            <a:ext cx="252055" cy="315158"/>
          </a:xfrm>
          <a:prstGeom prst="rect">
            <a:avLst/>
          </a:prstGeom>
          <a:noFill/>
          <a:ln/>
        </p:spPr>
        <p:txBody>
          <a:bodyPr wrap="none" lIns="0" tIns="0" rIns="0" bIns="0" rtlCol="0" anchor="t"/>
          <a:lstStyle/>
          <a:p>
            <a:pPr marL="0" indent="0" algn="ctr">
              <a:lnSpc>
                <a:spcPts val="1950"/>
              </a:lnSpc>
              <a:buNone/>
            </a:pPr>
            <a:r>
              <a:rPr lang="en-US" sz="1950" dirty="0">
                <a:solidFill>
                  <a:srgbClr val="D4D4D1"/>
                </a:solidFill>
                <a:latin typeface="微软雅黑" panose="020B0503020204020204" pitchFamily="34" charset="-122"/>
                <a:ea typeface="微软雅黑" panose="020B0503020204020204" pitchFamily="34" charset="-122"/>
                <a:cs typeface="IBM Plex Sans Medium" pitchFamily="34" charset="-120"/>
              </a:rPr>
              <a:t>1</a:t>
            </a:r>
            <a:endParaRPr lang="en-US" sz="1950" dirty="0">
              <a:latin typeface="微软雅黑" panose="020B0503020204020204" pitchFamily="34" charset="-122"/>
              <a:ea typeface="微软雅黑" panose="020B0503020204020204" pitchFamily="34" charset="-122"/>
            </a:endParaRPr>
          </a:p>
        </p:txBody>
      </p:sp>
      <p:sp>
        <p:nvSpPr>
          <p:cNvPr id="8" name="Text 6"/>
          <p:cNvSpPr/>
          <p:nvPr/>
        </p:nvSpPr>
        <p:spPr>
          <a:xfrm>
            <a:off x="1813917" y="2328386"/>
            <a:ext cx="2101215" cy="262652"/>
          </a:xfrm>
          <a:prstGeom prst="rect">
            <a:avLst/>
          </a:prstGeom>
          <a:noFill/>
          <a:ln/>
        </p:spPr>
        <p:txBody>
          <a:bodyPr wrap="none" lIns="0" tIns="0" rIns="0" bIns="0" rtlCol="0" anchor="t"/>
          <a:lstStyle/>
          <a:p>
            <a:pPr marL="0" indent="0" algn="l">
              <a:lnSpc>
                <a:spcPts val="2050"/>
              </a:lnSpc>
              <a:buNone/>
            </a:pPr>
            <a:r>
              <a:rPr lang="en-US" sz="1650" dirty="0">
                <a:solidFill>
                  <a:srgbClr val="D4D4D1"/>
                </a:solidFill>
                <a:latin typeface="微软雅黑" panose="020B0503020204020204" pitchFamily="34" charset="-122"/>
                <a:ea typeface="微软雅黑" panose="020B0503020204020204" pitchFamily="34" charset="-122"/>
                <a:cs typeface="IBM Plex Sans Medium" pitchFamily="34" charset="-120"/>
              </a:rPr>
              <a:t>Minimax算法</a:t>
            </a:r>
            <a:endParaRPr lang="en-US" sz="1650" dirty="0">
              <a:latin typeface="微软雅黑" panose="020B0503020204020204" pitchFamily="34" charset="-122"/>
              <a:ea typeface="微软雅黑" panose="020B0503020204020204" pitchFamily="34" charset="-122"/>
            </a:endParaRPr>
          </a:p>
        </p:txBody>
      </p:sp>
      <p:sp>
        <p:nvSpPr>
          <p:cNvPr id="9" name="Text 7"/>
          <p:cNvSpPr/>
          <p:nvPr/>
        </p:nvSpPr>
        <p:spPr>
          <a:xfrm>
            <a:off x="1813917" y="2691884"/>
            <a:ext cx="12032099" cy="537924"/>
          </a:xfrm>
          <a:prstGeom prst="rect">
            <a:avLst/>
          </a:prstGeom>
          <a:noFill/>
          <a:ln/>
        </p:spPr>
        <p:txBody>
          <a:bodyPr wrap="square" lIns="0" tIns="0" rIns="0" bIns="0" rtlCol="0" anchor="t"/>
          <a:lstStyle/>
          <a:p>
            <a:pPr marL="0" indent="0" algn="l">
              <a:lnSpc>
                <a:spcPts val="2100"/>
              </a:lnSpc>
              <a:buNone/>
            </a:pPr>
            <a:r>
              <a:rPr lang="en-US" sz="1300" dirty="0">
                <a:solidFill>
                  <a:srgbClr val="D4D4D1"/>
                </a:solidFill>
                <a:latin typeface="微软雅黑" panose="020B0503020204020204" pitchFamily="34" charset="-122"/>
                <a:ea typeface="微软雅黑" panose="020B0503020204020204" pitchFamily="34" charset="-122"/>
                <a:cs typeface="Roboto" pitchFamily="34" charset="-120"/>
              </a:rPr>
              <a:t>Minimax算法通过对当前棋局进行评估，为计算机提供了一个量化的价值判断。在国际象棋中，这个价值可以基于多种因素，如棋子的数量、位置、控制的格子数量等。然而，其主要缺点是计算复杂度较高，随着博弈树规模增大，算法需要搜索的状态空间呈指数增长。</a:t>
            </a:r>
            <a:endParaRPr lang="en-US" sz="1300" dirty="0">
              <a:latin typeface="微软雅黑" panose="020B0503020204020204" pitchFamily="34" charset="-122"/>
              <a:ea typeface="微软雅黑" panose="020B0503020204020204" pitchFamily="34" charset="-122"/>
            </a:endParaRPr>
          </a:p>
        </p:txBody>
      </p:sp>
      <p:sp>
        <p:nvSpPr>
          <p:cNvPr id="10" name="Shape 8"/>
          <p:cNvSpPr/>
          <p:nvPr/>
        </p:nvSpPr>
        <p:spPr>
          <a:xfrm>
            <a:off x="1139666" y="3932515"/>
            <a:ext cx="504230" cy="22860"/>
          </a:xfrm>
          <a:prstGeom prst="roundRect">
            <a:avLst>
              <a:gd name="adj" fmla="val 110300"/>
            </a:avLst>
          </a:prstGeom>
          <a:solidFill>
            <a:srgbClr val="61646A"/>
          </a:solidFill>
          <a:ln/>
        </p:spPr>
      </p:sp>
      <p:sp>
        <p:nvSpPr>
          <p:cNvPr id="11" name="Shape 9"/>
          <p:cNvSpPr/>
          <p:nvPr/>
        </p:nvSpPr>
        <p:spPr>
          <a:xfrm>
            <a:off x="784384" y="3754874"/>
            <a:ext cx="378143" cy="378143"/>
          </a:xfrm>
          <a:prstGeom prst="roundRect">
            <a:avLst>
              <a:gd name="adj" fmla="val 6668"/>
            </a:avLst>
          </a:prstGeom>
          <a:solidFill>
            <a:srgbClr val="484B51"/>
          </a:solidFill>
          <a:ln/>
        </p:spPr>
      </p:sp>
      <p:sp>
        <p:nvSpPr>
          <p:cNvPr id="12" name="Text 10"/>
          <p:cNvSpPr/>
          <p:nvPr/>
        </p:nvSpPr>
        <p:spPr>
          <a:xfrm>
            <a:off x="847427" y="3786366"/>
            <a:ext cx="252055" cy="315158"/>
          </a:xfrm>
          <a:prstGeom prst="rect">
            <a:avLst/>
          </a:prstGeom>
          <a:noFill/>
          <a:ln/>
        </p:spPr>
        <p:txBody>
          <a:bodyPr wrap="none" lIns="0" tIns="0" rIns="0" bIns="0" rtlCol="0" anchor="t"/>
          <a:lstStyle/>
          <a:p>
            <a:pPr marL="0" indent="0" algn="ctr">
              <a:lnSpc>
                <a:spcPts val="1950"/>
              </a:lnSpc>
              <a:buNone/>
            </a:pPr>
            <a:r>
              <a:rPr lang="en-US" sz="1950" dirty="0">
                <a:solidFill>
                  <a:srgbClr val="D4D4D1"/>
                </a:solidFill>
                <a:latin typeface="微软雅黑" panose="020B0503020204020204" pitchFamily="34" charset="-122"/>
                <a:ea typeface="微软雅黑" panose="020B0503020204020204" pitchFamily="34" charset="-122"/>
                <a:cs typeface="IBM Plex Sans Medium" pitchFamily="34" charset="-120"/>
              </a:rPr>
              <a:t>2</a:t>
            </a:r>
            <a:endParaRPr lang="en-US" sz="1950" dirty="0">
              <a:latin typeface="微软雅黑" panose="020B0503020204020204" pitchFamily="34" charset="-122"/>
              <a:ea typeface="微软雅黑" panose="020B0503020204020204" pitchFamily="34" charset="-122"/>
            </a:endParaRPr>
          </a:p>
        </p:txBody>
      </p:sp>
      <p:sp>
        <p:nvSpPr>
          <p:cNvPr id="13" name="Text 11"/>
          <p:cNvSpPr/>
          <p:nvPr/>
        </p:nvSpPr>
        <p:spPr>
          <a:xfrm>
            <a:off x="1813917" y="3733800"/>
            <a:ext cx="2101215" cy="262652"/>
          </a:xfrm>
          <a:prstGeom prst="rect">
            <a:avLst/>
          </a:prstGeom>
          <a:noFill/>
          <a:ln/>
        </p:spPr>
        <p:txBody>
          <a:bodyPr wrap="none" lIns="0" tIns="0" rIns="0" bIns="0" rtlCol="0" anchor="t"/>
          <a:lstStyle/>
          <a:p>
            <a:pPr marL="0" indent="0" algn="l">
              <a:lnSpc>
                <a:spcPts val="2050"/>
              </a:lnSpc>
              <a:buNone/>
            </a:pPr>
            <a:r>
              <a:rPr lang="en-US" sz="1650" dirty="0">
                <a:solidFill>
                  <a:srgbClr val="D4D4D1"/>
                </a:solidFill>
                <a:latin typeface="微软雅黑" panose="020B0503020204020204" pitchFamily="34" charset="-122"/>
                <a:ea typeface="微软雅黑" panose="020B0503020204020204" pitchFamily="34" charset="-122"/>
                <a:cs typeface="IBM Plex Sans Medium" pitchFamily="34" charset="-120"/>
              </a:rPr>
              <a:t>Stockfish</a:t>
            </a:r>
            <a:endParaRPr lang="en-US" sz="1650" dirty="0">
              <a:latin typeface="微软雅黑" panose="020B0503020204020204" pitchFamily="34" charset="-122"/>
              <a:ea typeface="微软雅黑" panose="020B0503020204020204" pitchFamily="34" charset="-122"/>
            </a:endParaRPr>
          </a:p>
        </p:txBody>
      </p:sp>
      <p:sp>
        <p:nvSpPr>
          <p:cNvPr id="14" name="Text 12"/>
          <p:cNvSpPr/>
          <p:nvPr/>
        </p:nvSpPr>
        <p:spPr>
          <a:xfrm>
            <a:off x="1813917" y="4097298"/>
            <a:ext cx="12032099" cy="537924"/>
          </a:xfrm>
          <a:prstGeom prst="rect">
            <a:avLst/>
          </a:prstGeom>
          <a:noFill/>
          <a:ln/>
        </p:spPr>
        <p:txBody>
          <a:bodyPr wrap="square" lIns="0" tIns="0" rIns="0" bIns="0" rtlCol="0" anchor="t"/>
          <a:lstStyle/>
          <a:p>
            <a:pPr marL="0" indent="0" algn="l">
              <a:lnSpc>
                <a:spcPts val="2100"/>
              </a:lnSpc>
              <a:buNone/>
            </a:pPr>
            <a:r>
              <a:rPr lang="en-US" sz="1300" dirty="0">
                <a:solidFill>
                  <a:srgbClr val="D4D4D1"/>
                </a:solidFill>
                <a:latin typeface="微软雅黑" panose="020B0503020204020204" pitchFamily="34" charset="-122"/>
                <a:ea typeface="微软雅黑" panose="020B0503020204020204" pitchFamily="34" charset="-122"/>
                <a:cs typeface="Roboto" pitchFamily="34" charset="-120"/>
              </a:rPr>
              <a:t>基于Alpha-Beta剪枝优化的搜索引擎，在计算速度上具有显著优势。通过重构移动搜索和评估算法，Stockfish能够根据局面的具体性质和棋手的训练能力有选择地分析潜在的后续走法，并进行动态评估，被广泛应用于棋类分析软件和在线对弈平台。</a:t>
            </a:r>
            <a:endParaRPr lang="en-US" sz="1300" dirty="0">
              <a:latin typeface="微软雅黑" panose="020B0503020204020204" pitchFamily="34" charset="-122"/>
              <a:ea typeface="微软雅黑" panose="020B0503020204020204" pitchFamily="34" charset="-122"/>
            </a:endParaRPr>
          </a:p>
        </p:txBody>
      </p:sp>
      <p:sp>
        <p:nvSpPr>
          <p:cNvPr id="15" name="Shape 13"/>
          <p:cNvSpPr/>
          <p:nvPr/>
        </p:nvSpPr>
        <p:spPr>
          <a:xfrm>
            <a:off x="1139666" y="5337929"/>
            <a:ext cx="504230" cy="22860"/>
          </a:xfrm>
          <a:prstGeom prst="roundRect">
            <a:avLst>
              <a:gd name="adj" fmla="val 110300"/>
            </a:avLst>
          </a:prstGeom>
          <a:solidFill>
            <a:srgbClr val="61646A"/>
          </a:solidFill>
          <a:ln/>
        </p:spPr>
      </p:sp>
      <p:sp>
        <p:nvSpPr>
          <p:cNvPr id="16" name="Shape 14"/>
          <p:cNvSpPr/>
          <p:nvPr/>
        </p:nvSpPr>
        <p:spPr>
          <a:xfrm>
            <a:off x="784384" y="5160288"/>
            <a:ext cx="378143" cy="378143"/>
          </a:xfrm>
          <a:prstGeom prst="roundRect">
            <a:avLst>
              <a:gd name="adj" fmla="val 6668"/>
            </a:avLst>
          </a:prstGeom>
          <a:solidFill>
            <a:srgbClr val="484B51"/>
          </a:solidFill>
          <a:ln/>
        </p:spPr>
      </p:sp>
      <p:sp>
        <p:nvSpPr>
          <p:cNvPr id="17" name="Text 15"/>
          <p:cNvSpPr/>
          <p:nvPr/>
        </p:nvSpPr>
        <p:spPr>
          <a:xfrm>
            <a:off x="847427" y="5191780"/>
            <a:ext cx="252055" cy="315158"/>
          </a:xfrm>
          <a:prstGeom prst="rect">
            <a:avLst/>
          </a:prstGeom>
          <a:noFill/>
          <a:ln/>
        </p:spPr>
        <p:txBody>
          <a:bodyPr wrap="none" lIns="0" tIns="0" rIns="0" bIns="0" rtlCol="0" anchor="t"/>
          <a:lstStyle/>
          <a:p>
            <a:pPr marL="0" indent="0" algn="ctr">
              <a:lnSpc>
                <a:spcPts val="1950"/>
              </a:lnSpc>
              <a:buNone/>
            </a:pPr>
            <a:r>
              <a:rPr lang="en-US" sz="1950" dirty="0">
                <a:solidFill>
                  <a:srgbClr val="D4D4D1"/>
                </a:solidFill>
                <a:latin typeface="微软雅黑" panose="020B0503020204020204" pitchFamily="34" charset="-122"/>
                <a:ea typeface="微软雅黑" panose="020B0503020204020204" pitchFamily="34" charset="-122"/>
                <a:cs typeface="IBM Plex Sans Medium" pitchFamily="34" charset="-120"/>
              </a:rPr>
              <a:t>3</a:t>
            </a:r>
            <a:endParaRPr lang="en-US" sz="1950" dirty="0">
              <a:latin typeface="微软雅黑" panose="020B0503020204020204" pitchFamily="34" charset="-122"/>
              <a:ea typeface="微软雅黑" panose="020B0503020204020204" pitchFamily="34" charset="-122"/>
            </a:endParaRPr>
          </a:p>
        </p:txBody>
      </p:sp>
      <p:sp>
        <p:nvSpPr>
          <p:cNvPr id="18" name="Text 16"/>
          <p:cNvSpPr/>
          <p:nvPr/>
        </p:nvSpPr>
        <p:spPr>
          <a:xfrm>
            <a:off x="1813917" y="5139214"/>
            <a:ext cx="2101215" cy="262652"/>
          </a:xfrm>
          <a:prstGeom prst="rect">
            <a:avLst/>
          </a:prstGeom>
          <a:noFill/>
          <a:ln/>
        </p:spPr>
        <p:txBody>
          <a:bodyPr wrap="none" lIns="0" tIns="0" rIns="0" bIns="0" rtlCol="0" anchor="t"/>
          <a:lstStyle/>
          <a:p>
            <a:pPr marL="0" indent="0" algn="l">
              <a:lnSpc>
                <a:spcPts val="2050"/>
              </a:lnSpc>
              <a:buNone/>
            </a:pPr>
            <a:r>
              <a:rPr lang="en-US" sz="1650" dirty="0">
                <a:solidFill>
                  <a:srgbClr val="D4D4D1"/>
                </a:solidFill>
                <a:latin typeface="微软雅黑" panose="020B0503020204020204" pitchFamily="34" charset="-122"/>
                <a:ea typeface="微软雅黑" panose="020B0503020204020204" pitchFamily="34" charset="-122"/>
                <a:cs typeface="IBM Plex Sans Medium" pitchFamily="34" charset="-120"/>
              </a:rPr>
              <a:t>AlphaZero</a:t>
            </a:r>
            <a:endParaRPr lang="en-US" sz="1650" dirty="0">
              <a:latin typeface="微软雅黑" panose="020B0503020204020204" pitchFamily="34" charset="-122"/>
              <a:ea typeface="微软雅黑" panose="020B0503020204020204" pitchFamily="34" charset="-122"/>
            </a:endParaRPr>
          </a:p>
        </p:txBody>
      </p:sp>
      <p:sp>
        <p:nvSpPr>
          <p:cNvPr id="19" name="Text 17"/>
          <p:cNvSpPr/>
          <p:nvPr/>
        </p:nvSpPr>
        <p:spPr>
          <a:xfrm>
            <a:off x="1813917" y="5502712"/>
            <a:ext cx="12032099" cy="537924"/>
          </a:xfrm>
          <a:prstGeom prst="rect">
            <a:avLst/>
          </a:prstGeom>
          <a:noFill/>
          <a:ln/>
        </p:spPr>
        <p:txBody>
          <a:bodyPr wrap="square" lIns="0" tIns="0" rIns="0" bIns="0" rtlCol="0" anchor="t"/>
          <a:lstStyle/>
          <a:p>
            <a:pPr marL="0" indent="0" algn="l">
              <a:lnSpc>
                <a:spcPts val="2100"/>
              </a:lnSpc>
              <a:buNone/>
            </a:pPr>
            <a:r>
              <a:rPr lang="en-US" sz="1300" dirty="0">
                <a:solidFill>
                  <a:srgbClr val="D4D4D1"/>
                </a:solidFill>
                <a:latin typeface="微软雅黑" panose="020B0503020204020204" pitchFamily="34" charset="-122"/>
                <a:ea typeface="微软雅黑" panose="020B0503020204020204" pitchFamily="34" charset="-122"/>
                <a:cs typeface="Roboto" pitchFamily="34" charset="-120"/>
              </a:rPr>
              <a:t>由DeepMind开发，运用强化学习技术。AlphaZero不需要通过学习人类的棋谱或由人类专家指导来学习下棋。它通过自我对弈，从随机的走法开始，逐渐优化自己的策略，最终达到超人类水平的棋艺。仅用4小时训练就击败了世界顶级的国际象棋程序Stockfish。</a:t>
            </a:r>
            <a:endParaRPr lang="en-US" sz="1300" dirty="0">
              <a:latin typeface="微软雅黑" panose="020B0503020204020204" pitchFamily="34" charset="-122"/>
              <a:ea typeface="微软雅黑" panose="020B0503020204020204" pitchFamily="34" charset="-122"/>
            </a:endParaRPr>
          </a:p>
        </p:txBody>
      </p:sp>
      <p:sp>
        <p:nvSpPr>
          <p:cNvPr id="20" name="Shape 18"/>
          <p:cNvSpPr/>
          <p:nvPr/>
        </p:nvSpPr>
        <p:spPr>
          <a:xfrm>
            <a:off x="1139666" y="6743343"/>
            <a:ext cx="504230" cy="22860"/>
          </a:xfrm>
          <a:prstGeom prst="roundRect">
            <a:avLst>
              <a:gd name="adj" fmla="val 110300"/>
            </a:avLst>
          </a:prstGeom>
          <a:solidFill>
            <a:srgbClr val="61646A"/>
          </a:solidFill>
          <a:ln/>
        </p:spPr>
      </p:sp>
      <p:sp>
        <p:nvSpPr>
          <p:cNvPr id="21" name="Shape 19"/>
          <p:cNvSpPr/>
          <p:nvPr/>
        </p:nvSpPr>
        <p:spPr>
          <a:xfrm>
            <a:off x="784384" y="6565702"/>
            <a:ext cx="378143" cy="378143"/>
          </a:xfrm>
          <a:prstGeom prst="roundRect">
            <a:avLst>
              <a:gd name="adj" fmla="val 6668"/>
            </a:avLst>
          </a:prstGeom>
          <a:solidFill>
            <a:srgbClr val="484B51"/>
          </a:solidFill>
          <a:ln/>
        </p:spPr>
      </p:sp>
      <p:sp>
        <p:nvSpPr>
          <p:cNvPr id="22" name="Text 20"/>
          <p:cNvSpPr/>
          <p:nvPr/>
        </p:nvSpPr>
        <p:spPr>
          <a:xfrm>
            <a:off x="847427" y="6597194"/>
            <a:ext cx="252055" cy="315158"/>
          </a:xfrm>
          <a:prstGeom prst="rect">
            <a:avLst/>
          </a:prstGeom>
          <a:noFill/>
          <a:ln/>
        </p:spPr>
        <p:txBody>
          <a:bodyPr wrap="none" lIns="0" tIns="0" rIns="0" bIns="0" rtlCol="0" anchor="t"/>
          <a:lstStyle/>
          <a:p>
            <a:pPr marL="0" indent="0" algn="ctr">
              <a:lnSpc>
                <a:spcPts val="1950"/>
              </a:lnSpc>
              <a:buNone/>
            </a:pPr>
            <a:r>
              <a:rPr lang="en-US" sz="1950" dirty="0">
                <a:solidFill>
                  <a:srgbClr val="D4D4D1"/>
                </a:solidFill>
                <a:latin typeface="微软雅黑" panose="020B0503020204020204" pitchFamily="34" charset="-122"/>
                <a:ea typeface="微软雅黑" panose="020B0503020204020204" pitchFamily="34" charset="-122"/>
                <a:cs typeface="IBM Plex Sans Medium" pitchFamily="34" charset="-120"/>
              </a:rPr>
              <a:t>4</a:t>
            </a:r>
            <a:endParaRPr lang="en-US" sz="1950" dirty="0">
              <a:latin typeface="微软雅黑" panose="020B0503020204020204" pitchFamily="34" charset="-122"/>
              <a:ea typeface="微软雅黑" panose="020B0503020204020204" pitchFamily="34" charset="-122"/>
            </a:endParaRPr>
          </a:p>
        </p:txBody>
      </p:sp>
      <p:sp>
        <p:nvSpPr>
          <p:cNvPr id="23" name="Text 21"/>
          <p:cNvSpPr/>
          <p:nvPr/>
        </p:nvSpPr>
        <p:spPr>
          <a:xfrm>
            <a:off x="1813917" y="6544628"/>
            <a:ext cx="2178725" cy="262652"/>
          </a:xfrm>
          <a:prstGeom prst="rect">
            <a:avLst/>
          </a:prstGeom>
          <a:noFill/>
          <a:ln/>
        </p:spPr>
        <p:txBody>
          <a:bodyPr wrap="none" lIns="0" tIns="0" rIns="0" bIns="0" rtlCol="0" anchor="t"/>
          <a:lstStyle/>
          <a:p>
            <a:pPr marL="0" indent="0" algn="l">
              <a:lnSpc>
                <a:spcPts val="2050"/>
              </a:lnSpc>
              <a:buNone/>
            </a:pPr>
            <a:r>
              <a:rPr lang="en-US" sz="1650" dirty="0">
                <a:solidFill>
                  <a:srgbClr val="D4D4D1"/>
                </a:solidFill>
                <a:latin typeface="微软雅黑" panose="020B0503020204020204" pitchFamily="34" charset="-122"/>
                <a:ea typeface="微软雅黑" panose="020B0503020204020204" pitchFamily="34" charset="-122"/>
                <a:cs typeface="IBM Plex Sans Medium" pitchFamily="34" charset="-120"/>
              </a:rPr>
              <a:t>Leela Chess Zero (LC0)</a:t>
            </a:r>
            <a:endParaRPr lang="en-US" sz="1650" dirty="0">
              <a:latin typeface="微软雅黑" panose="020B0503020204020204" pitchFamily="34" charset="-122"/>
              <a:ea typeface="微软雅黑" panose="020B0503020204020204" pitchFamily="34" charset="-122"/>
            </a:endParaRPr>
          </a:p>
        </p:txBody>
      </p:sp>
      <p:sp>
        <p:nvSpPr>
          <p:cNvPr id="24" name="Text 22"/>
          <p:cNvSpPr/>
          <p:nvPr/>
        </p:nvSpPr>
        <p:spPr>
          <a:xfrm>
            <a:off x="1813917" y="6908125"/>
            <a:ext cx="12032099" cy="537924"/>
          </a:xfrm>
          <a:prstGeom prst="rect">
            <a:avLst/>
          </a:prstGeom>
          <a:noFill/>
          <a:ln/>
        </p:spPr>
        <p:txBody>
          <a:bodyPr wrap="square" lIns="0" tIns="0" rIns="0" bIns="0" rtlCol="0" anchor="t"/>
          <a:lstStyle/>
          <a:p>
            <a:pPr marL="0" indent="0" algn="l">
              <a:lnSpc>
                <a:spcPts val="2100"/>
              </a:lnSpc>
              <a:buNone/>
            </a:pPr>
            <a:r>
              <a:rPr lang="en-US" sz="1300" dirty="0">
                <a:solidFill>
                  <a:srgbClr val="D4D4D1"/>
                </a:solidFill>
                <a:latin typeface="微软雅黑" panose="020B0503020204020204" pitchFamily="34" charset="-122"/>
                <a:ea typeface="微软雅黑" panose="020B0503020204020204" pitchFamily="34" charset="-122"/>
                <a:cs typeface="Roboto" pitchFamily="34" charset="-120"/>
              </a:rPr>
              <a:t>借鉴AlphaZero的思路，采用神经网络进行策略学习。通过大量的自我博弈数据训练神经网络，使AI能够不断优化下棋策略，提升棋艺水平。与Stockfish相比，LC0更明智地确定走法，并对少数走法进行更深入的探索。</a:t>
            </a:r>
            <a:endParaRPr lang="en-US" sz="13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2851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微软雅黑" panose="020B0503020204020204" pitchFamily="34" charset="-122"/>
                <a:ea typeface="微软雅黑" panose="020B0503020204020204" pitchFamily="34" charset="-122"/>
                <a:cs typeface="IBM Plex Sans Medium" pitchFamily="34" charset="-120"/>
              </a:rPr>
              <a:t>现有棋类教学系统</a:t>
            </a:r>
            <a:endParaRPr lang="en-US" sz="4450" dirty="0">
              <a:latin typeface="微软雅黑" panose="020B0503020204020204" pitchFamily="34" charset="-122"/>
              <a:ea typeface="微软雅黑" panose="020B0503020204020204" pitchFamily="34" charset="-122"/>
            </a:endParaRPr>
          </a:p>
        </p:txBody>
      </p:sp>
      <p:pic>
        <p:nvPicPr>
          <p:cNvPr id="3" name="Image 0" descr="preencoded.png"/>
          <p:cNvPicPr>
            <a:picLocks noChangeAspect="1"/>
          </p:cNvPicPr>
          <p:nvPr/>
        </p:nvPicPr>
        <p:blipFill>
          <a:blip r:embed="rId3"/>
          <a:stretch>
            <a:fillRect/>
          </a:stretch>
        </p:blipFill>
        <p:spPr>
          <a:xfrm>
            <a:off x="793790" y="2477453"/>
            <a:ext cx="566976" cy="566976"/>
          </a:xfrm>
          <a:prstGeom prst="rect">
            <a:avLst/>
          </a:prstGeom>
        </p:spPr>
      </p:pic>
      <p:sp>
        <p:nvSpPr>
          <p:cNvPr id="4" name="Text 1"/>
          <p:cNvSpPr/>
          <p:nvPr/>
        </p:nvSpPr>
        <p:spPr>
          <a:xfrm>
            <a:off x="793790" y="32712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AI教学功能不足</a:t>
            </a:r>
            <a:endParaRPr lang="en-US" sz="2200" dirty="0">
              <a:latin typeface="微软雅黑" panose="020B0503020204020204" pitchFamily="34" charset="-122"/>
              <a:ea typeface="微软雅黑" panose="020B0503020204020204" pitchFamily="34" charset="-122"/>
            </a:endParaRPr>
          </a:p>
        </p:txBody>
      </p:sp>
      <p:sp>
        <p:nvSpPr>
          <p:cNvPr id="5" name="Text 2"/>
          <p:cNvSpPr/>
          <p:nvPr/>
        </p:nvSpPr>
        <p:spPr>
          <a:xfrm>
            <a:off x="793790" y="3761661"/>
            <a:ext cx="3005495" cy="1451610"/>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Chess.com的AI对弈功能仅提供固定难度设置，缺乏动态调整能力；其复盘分析以静态数据为主，缺少具体战术解释。</a:t>
            </a:r>
            <a:endParaRPr lang="en-US" sz="1750" dirty="0">
              <a:latin typeface="微软雅黑" panose="020B0503020204020204" pitchFamily="34" charset="-122"/>
              <a:ea typeface="微软雅黑" panose="020B0503020204020204" pitchFamily="34" charset="-122"/>
            </a:endParaRPr>
          </a:p>
        </p:txBody>
      </p:sp>
      <p:sp>
        <p:nvSpPr>
          <p:cNvPr id="6" name="Text 3"/>
          <p:cNvSpPr/>
          <p:nvPr/>
        </p:nvSpPr>
        <p:spPr>
          <a:xfrm>
            <a:off x="793790" y="5349359"/>
            <a:ext cx="3005495" cy="1451610"/>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Lichess虽开源且支持多模式对战，但其战术训练模块仅提供标准化题库，无法基于用户历史对局推荐个性化练习题。</a:t>
            </a:r>
            <a:endParaRPr lang="en-US" sz="1750" dirty="0">
              <a:latin typeface="微软雅黑" panose="020B0503020204020204" pitchFamily="34" charset="-122"/>
              <a:ea typeface="微软雅黑" panose="020B0503020204020204" pitchFamily="34" charset="-122"/>
            </a:endParaRPr>
          </a:p>
        </p:txBody>
      </p:sp>
      <p:pic>
        <p:nvPicPr>
          <p:cNvPr id="7" name="Image 1" descr="preencoded.png"/>
          <p:cNvPicPr>
            <a:picLocks noChangeAspect="1"/>
          </p:cNvPicPr>
          <p:nvPr/>
        </p:nvPicPr>
        <p:blipFill>
          <a:blip r:embed="rId4"/>
          <a:stretch>
            <a:fillRect/>
          </a:stretch>
        </p:blipFill>
        <p:spPr>
          <a:xfrm>
            <a:off x="4139446" y="2477453"/>
            <a:ext cx="566976" cy="566976"/>
          </a:xfrm>
          <a:prstGeom prst="rect">
            <a:avLst/>
          </a:prstGeom>
        </p:spPr>
      </p:pic>
      <p:sp>
        <p:nvSpPr>
          <p:cNvPr id="8" name="Text 4"/>
          <p:cNvSpPr/>
          <p:nvPr/>
        </p:nvSpPr>
        <p:spPr>
          <a:xfrm>
            <a:off x="4139446" y="32712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个性化学习路径缺失</a:t>
            </a:r>
            <a:endParaRPr lang="en-US" sz="2200" dirty="0">
              <a:latin typeface="微软雅黑" panose="020B0503020204020204" pitchFamily="34" charset="-122"/>
              <a:ea typeface="微软雅黑" panose="020B0503020204020204" pitchFamily="34" charset="-122"/>
            </a:endParaRPr>
          </a:p>
        </p:txBody>
      </p:sp>
      <p:sp>
        <p:nvSpPr>
          <p:cNvPr id="9" name="Text 5"/>
          <p:cNvSpPr/>
          <p:nvPr/>
        </p:nvSpPr>
        <p:spPr>
          <a:xfrm>
            <a:off x="4139446" y="3761661"/>
            <a:ext cx="3005614" cy="1814513"/>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Chess.com与Lichess的教学内容以通用课程为主，未结合用户行为数据制定学习计划。用户需手动选择学习模块，缺乏自动化引导</a:t>
            </a:r>
            <a:endParaRPr lang="en-US" sz="1750" dirty="0">
              <a:latin typeface="微软雅黑" panose="020B0503020204020204" pitchFamily="34" charset="-122"/>
              <a:ea typeface="微软雅黑" panose="020B0503020204020204" pitchFamily="34" charset="-122"/>
            </a:endParaRPr>
          </a:p>
        </p:txBody>
      </p:sp>
      <p:pic>
        <p:nvPicPr>
          <p:cNvPr id="10" name="Image 2" descr="preencoded.png"/>
          <p:cNvPicPr>
            <a:picLocks noChangeAspect="1"/>
          </p:cNvPicPr>
          <p:nvPr/>
        </p:nvPicPr>
        <p:blipFill>
          <a:blip r:embed="rId5"/>
          <a:stretch>
            <a:fillRect/>
          </a:stretch>
        </p:blipFill>
        <p:spPr>
          <a:xfrm>
            <a:off x="7485221" y="2477453"/>
            <a:ext cx="566976" cy="566976"/>
          </a:xfrm>
          <a:prstGeom prst="rect">
            <a:avLst/>
          </a:prstGeom>
        </p:spPr>
      </p:pic>
      <p:sp>
        <p:nvSpPr>
          <p:cNvPr id="11" name="Text 6"/>
          <p:cNvSpPr/>
          <p:nvPr/>
        </p:nvSpPr>
        <p:spPr>
          <a:xfrm>
            <a:off x="7485221" y="32712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移动端体验不佳</a:t>
            </a:r>
            <a:endParaRPr lang="en-US" sz="2200" dirty="0">
              <a:latin typeface="微软雅黑" panose="020B0503020204020204" pitchFamily="34" charset="-122"/>
              <a:ea typeface="微软雅黑" panose="020B0503020204020204" pitchFamily="34" charset="-122"/>
            </a:endParaRPr>
          </a:p>
        </p:txBody>
      </p:sp>
      <p:sp>
        <p:nvSpPr>
          <p:cNvPr id="12" name="Text 7"/>
          <p:cNvSpPr/>
          <p:nvPr/>
        </p:nvSpPr>
        <p:spPr>
          <a:xfrm>
            <a:off x="7485221" y="3761661"/>
            <a:ext cx="3005614" cy="2540318"/>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Chess.com与Lichess的移动端适配存在界面拥挤、触控操作不精准、加载速度慢等问题。改良方案应采用响应式设计，优化移动端布局，并通过WebSocket压缩传输数据，减少移动端流量消耗。</a:t>
            </a:r>
            <a:endParaRPr lang="en-US" sz="1750" dirty="0">
              <a:latin typeface="微软雅黑" panose="020B0503020204020204" pitchFamily="34" charset="-122"/>
              <a:ea typeface="微软雅黑" panose="020B0503020204020204" pitchFamily="34" charset="-122"/>
            </a:endParaRPr>
          </a:p>
        </p:txBody>
      </p:sp>
      <p:pic>
        <p:nvPicPr>
          <p:cNvPr id="13" name="Image 3" descr="preencoded.png"/>
          <p:cNvPicPr>
            <a:picLocks noChangeAspect="1"/>
          </p:cNvPicPr>
          <p:nvPr/>
        </p:nvPicPr>
        <p:blipFill>
          <a:blip r:embed="rId6"/>
          <a:stretch>
            <a:fillRect/>
          </a:stretch>
        </p:blipFill>
        <p:spPr>
          <a:xfrm>
            <a:off x="10830997" y="2477453"/>
            <a:ext cx="566976" cy="566976"/>
          </a:xfrm>
          <a:prstGeom prst="rect">
            <a:avLst/>
          </a:prstGeom>
        </p:spPr>
      </p:pic>
      <p:sp>
        <p:nvSpPr>
          <p:cNvPr id="14" name="Text 8"/>
          <p:cNvSpPr/>
          <p:nvPr/>
        </p:nvSpPr>
        <p:spPr>
          <a:xfrm>
            <a:off x="10830997" y="32712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社交互动性弱</a:t>
            </a:r>
            <a:endParaRPr lang="en-US" sz="2200" dirty="0">
              <a:latin typeface="微软雅黑" panose="020B0503020204020204" pitchFamily="34" charset="-122"/>
              <a:ea typeface="微软雅黑" panose="020B0503020204020204" pitchFamily="34" charset="-122"/>
            </a:endParaRPr>
          </a:p>
        </p:txBody>
      </p:sp>
      <p:sp>
        <p:nvSpPr>
          <p:cNvPr id="15" name="Text 9"/>
          <p:cNvSpPr/>
          <p:nvPr/>
        </p:nvSpPr>
        <p:spPr>
          <a:xfrm>
            <a:off x="10830997" y="3761661"/>
            <a:ext cx="3005614" cy="1088708"/>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现有平台的社交功能局限于好友对局与文字聊天，缺乏深度互动设计。</a:t>
            </a: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918341"/>
            <a:ext cx="5670590" cy="708779"/>
          </a:xfrm>
          <a:prstGeom prst="rect">
            <a:avLst/>
          </a:prstGeom>
          <a:noFill/>
          <a:ln/>
        </p:spPr>
        <p:txBody>
          <a:bodyPr wrap="none" lIns="0" tIns="0" rIns="0" bIns="0" rtlCol="0" anchor="t"/>
          <a:lstStyle/>
          <a:p>
            <a:pPr marL="0" indent="0">
              <a:lnSpc>
                <a:spcPts val="5550"/>
              </a:lnSpc>
              <a:buNone/>
            </a:pPr>
            <a:r>
              <a:rPr lang="en-US" sz="4450" b="1" dirty="0">
                <a:solidFill>
                  <a:srgbClr val="F3F3F2"/>
                </a:solidFill>
                <a:latin typeface="微软雅黑" panose="020B0503020204020204" pitchFamily="34" charset="-122"/>
                <a:ea typeface="微软雅黑" panose="020B0503020204020204" pitchFamily="34" charset="-122"/>
                <a:cs typeface="IBM Plex Sans Medium" pitchFamily="34" charset="-120"/>
              </a:rPr>
              <a:t>3.技术路线</a:t>
            </a:r>
            <a:endParaRPr lang="en-US" sz="4450" dirty="0">
              <a:latin typeface="微软雅黑" panose="020B0503020204020204" pitchFamily="34" charset="-122"/>
              <a:ea typeface="微软雅黑" panose="020B0503020204020204" pitchFamily="34" charset="-122"/>
            </a:endParaRPr>
          </a:p>
        </p:txBody>
      </p:sp>
      <p:sp>
        <p:nvSpPr>
          <p:cNvPr id="3" name="Text 1"/>
          <p:cNvSpPr/>
          <p:nvPr/>
        </p:nvSpPr>
        <p:spPr>
          <a:xfrm>
            <a:off x="793790" y="3967282"/>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本系统的技术路线围绕智能化、个性化和移动便捷化三大核心目标展开，采用前后端分离的开发架构，结合先进的AI算法和移动技术，构建一个全面且易用的国际象棋教学与对弈平台。</a:t>
            </a:r>
            <a:endParaRPr lang="en-US" sz="1750" dirty="0">
              <a:latin typeface="微软雅黑" panose="020B0503020204020204" pitchFamily="34" charset="-122"/>
              <a:ea typeface="微软雅黑" panose="020B0503020204020204" pitchFamily="34" charset="-122"/>
            </a:endParaRPr>
          </a:p>
        </p:txBody>
      </p:sp>
      <p:sp>
        <p:nvSpPr>
          <p:cNvPr id="4" name="Text 2"/>
          <p:cNvSpPr/>
          <p:nvPr/>
        </p:nvSpPr>
        <p:spPr>
          <a:xfrm>
            <a:off x="793790" y="4948238"/>
            <a:ext cx="13042821" cy="362903"/>
          </a:xfrm>
          <a:prstGeom prst="rect">
            <a:avLst/>
          </a:prstGeom>
          <a:noFill/>
          <a:ln/>
        </p:spPr>
        <p:txBody>
          <a:bodyPr wrap="none" lIns="0" tIns="0" rIns="0" bIns="0" rtlCol="0" anchor="t"/>
          <a:lstStyle/>
          <a:p>
            <a:pPr marL="0" indent="0">
              <a:lnSpc>
                <a:spcPts val="2850"/>
              </a:lnSpc>
              <a:buNone/>
            </a:pP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4451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微软雅黑" panose="020B0503020204020204" pitchFamily="34" charset="-122"/>
                <a:ea typeface="微软雅黑" panose="020B0503020204020204" pitchFamily="34" charset="-122"/>
                <a:cs typeface="IBM Plex Sans Medium" pitchFamily="34" charset="-120"/>
              </a:rPr>
              <a:t>系统架构</a:t>
            </a:r>
            <a:endParaRPr lang="en-US" sz="4450" dirty="0">
              <a:latin typeface="微软雅黑" panose="020B0503020204020204" pitchFamily="34" charset="-122"/>
              <a:ea typeface="微软雅黑" panose="020B0503020204020204" pitchFamily="34" charset="-122"/>
            </a:endParaRPr>
          </a:p>
        </p:txBody>
      </p:sp>
      <p:pic>
        <p:nvPicPr>
          <p:cNvPr id="3" name="Image 0" descr="preencoded.png"/>
          <p:cNvPicPr>
            <a:picLocks noChangeAspect="1"/>
          </p:cNvPicPr>
          <p:nvPr/>
        </p:nvPicPr>
        <p:blipFill>
          <a:blip r:embed="rId3"/>
          <a:stretch>
            <a:fillRect/>
          </a:stretch>
        </p:blipFill>
        <p:spPr>
          <a:xfrm>
            <a:off x="2978348" y="2006917"/>
            <a:ext cx="2152055" cy="1306949"/>
          </a:xfrm>
          <a:prstGeom prst="rect">
            <a:avLst/>
          </a:prstGeom>
        </p:spPr>
      </p:pic>
      <p:sp>
        <p:nvSpPr>
          <p:cNvPr id="4" name="Text 1"/>
          <p:cNvSpPr/>
          <p:nvPr/>
        </p:nvSpPr>
        <p:spPr>
          <a:xfrm>
            <a:off x="3894892" y="2622947"/>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1</a:t>
            </a:r>
            <a:endParaRPr lang="en-US" sz="2500" dirty="0">
              <a:latin typeface="微软雅黑" panose="020B0503020204020204" pitchFamily="34" charset="-122"/>
              <a:ea typeface="微软雅黑" panose="020B0503020204020204" pitchFamily="34" charset="-122"/>
            </a:endParaRPr>
          </a:p>
        </p:txBody>
      </p:sp>
      <p:sp>
        <p:nvSpPr>
          <p:cNvPr id="5" name="Text 2"/>
          <p:cNvSpPr/>
          <p:nvPr/>
        </p:nvSpPr>
        <p:spPr>
          <a:xfrm>
            <a:off x="5357217" y="22337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前端（</a:t>
            </a:r>
            <a:r>
              <a:rPr lang="en-US" sz="2200" b="1" dirty="0">
                <a:solidFill>
                  <a:srgbClr val="5CC97B"/>
                </a:solidFill>
                <a:latin typeface="微软雅黑" panose="020B0503020204020204" pitchFamily="34" charset="-122"/>
                <a:ea typeface="微软雅黑" panose="020B0503020204020204" pitchFamily="34" charset="-122"/>
                <a:cs typeface="IBM Plex Sans Medium" pitchFamily="34" charset="-120"/>
              </a:rPr>
              <a:t>Vue3</a:t>
            </a: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t>
            </a:r>
            <a:endParaRPr lang="en-US" sz="2200" dirty="0">
              <a:latin typeface="微软雅黑" panose="020B0503020204020204" pitchFamily="34" charset="-122"/>
              <a:ea typeface="微软雅黑" panose="020B0503020204020204" pitchFamily="34" charset="-122"/>
            </a:endParaRPr>
          </a:p>
        </p:txBody>
      </p:sp>
      <p:sp>
        <p:nvSpPr>
          <p:cNvPr id="6" name="Text 3"/>
          <p:cNvSpPr/>
          <p:nvPr/>
        </p:nvSpPr>
        <p:spPr>
          <a:xfrm>
            <a:off x="5357217" y="2724150"/>
            <a:ext cx="4555688"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运用Vuetify组件库，打造简洁美观的用户界面</a:t>
            </a:r>
            <a:endParaRPr lang="en-US" sz="1750" dirty="0">
              <a:latin typeface="微软雅黑" panose="020B0503020204020204" pitchFamily="34" charset="-122"/>
              <a:ea typeface="微软雅黑" panose="020B0503020204020204" pitchFamily="34" charset="-122"/>
            </a:endParaRPr>
          </a:p>
        </p:txBody>
      </p:sp>
      <p:sp>
        <p:nvSpPr>
          <p:cNvPr id="7" name="Shape 4"/>
          <p:cNvSpPr/>
          <p:nvPr/>
        </p:nvSpPr>
        <p:spPr>
          <a:xfrm>
            <a:off x="5187077" y="3326963"/>
            <a:ext cx="8592860" cy="15240"/>
          </a:xfrm>
          <a:prstGeom prst="roundRect">
            <a:avLst>
              <a:gd name="adj" fmla="val 223256"/>
            </a:avLst>
          </a:prstGeom>
          <a:solidFill>
            <a:srgbClr val="61646A"/>
          </a:solidFill>
          <a:ln/>
        </p:spPr>
      </p:sp>
      <p:pic>
        <p:nvPicPr>
          <p:cNvPr id="8" name="Image 1" descr="preencoded.png"/>
          <p:cNvPicPr>
            <a:picLocks noChangeAspect="1"/>
          </p:cNvPicPr>
          <p:nvPr/>
        </p:nvPicPr>
        <p:blipFill>
          <a:blip r:embed="rId4"/>
          <a:stretch>
            <a:fillRect/>
          </a:stretch>
        </p:blipFill>
        <p:spPr>
          <a:xfrm>
            <a:off x="1902381" y="3370540"/>
            <a:ext cx="4304109" cy="1306949"/>
          </a:xfrm>
          <a:prstGeom prst="rect">
            <a:avLst/>
          </a:prstGeom>
        </p:spPr>
      </p:pic>
      <p:sp>
        <p:nvSpPr>
          <p:cNvPr id="9" name="Text 5"/>
          <p:cNvSpPr/>
          <p:nvPr/>
        </p:nvSpPr>
        <p:spPr>
          <a:xfrm>
            <a:off x="3894892" y="3824645"/>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2</a:t>
            </a:r>
            <a:endParaRPr lang="en-US" sz="2500" dirty="0">
              <a:latin typeface="微软雅黑" panose="020B0503020204020204" pitchFamily="34" charset="-122"/>
              <a:ea typeface="微软雅黑" panose="020B0503020204020204" pitchFamily="34" charset="-122"/>
            </a:endParaRPr>
          </a:p>
        </p:txBody>
      </p:sp>
      <p:sp>
        <p:nvSpPr>
          <p:cNvPr id="10" name="Text 6"/>
          <p:cNvSpPr/>
          <p:nvPr/>
        </p:nvSpPr>
        <p:spPr>
          <a:xfrm>
            <a:off x="6433304" y="3597354"/>
            <a:ext cx="3484602"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后端（</a:t>
            </a:r>
            <a:r>
              <a:rPr lang="en-US" sz="2200" b="1" dirty="0">
                <a:solidFill>
                  <a:srgbClr val="D4D4D1"/>
                </a:solidFill>
                <a:latin typeface="微软雅黑" panose="020B0503020204020204" pitchFamily="34" charset="-122"/>
                <a:ea typeface="微软雅黑" panose="020B0503020204020204" pitchFamily="34" charset="-122"/>
                <a:cs typeface="IBM Plex Sans Medium" pitchFamily="34" charset="-120"/>
              </a:rPr>
              <a:t>JAVA-</a:t>
            </a:r>
            <a:r>
              <a:rPr lang="en-US" sz="2200" b="1" dirty="0">
                <a:solidFill>
                  <a:srgbClr val="CEDEC6"/>
                </a:solidFill>
                <a:latin typeface="微软雅黑" panose="020B0503020204020204" pitchFamily="34" charset="-122"/>
                <a:ea typeface="微软雅黑" panose="020B0503020204020204" pitchFamily="34" charset="-122"/>
                <a:cs typeface="IBM Plex Sans Medium" pitchFamily="34" charset="-120"/>
              </a:rPr>
              <a:t>Spring Boot</a:t>
            </a: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t>
            </a:r>
            <a:endParaRPr lang="en-US" sz="2200" dirty="0">
              <a:latin typeface="微软雅黑" panose="020B0503020204020204" pitchFamily="34" charset="-122"/>
              <a:ea typeface="微软雅黑" panose="020B0503020204020204" pitchFamily="34" charset="-122"/>
            </a:endParaRPr>
          </a:p>
        </p:txBody>
      </p:sp>
      <p:sp>
        <p:nvSpPr>
          <p:cNvPr id="11" name="Text 7"/>
          <p:cNvSpPr/>
          <p:nvPr/>
        </p:nvSpPr>
        <p:spPr>
          <a:xfrm>
            <a:off x="6433304" y="4087773"/>
            <a:ext cx="4760714"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负责用户管理、对弈逻辑实现以及数据存储管理</a:t>
            </a:r>
            <a:endParaRPr lang="en-US" sz="1750" dirty="0">
              <a:latin typeface="微软雅黑" panose="020B0503020204020204" pitchFamily="34" charset="-122"/>
              <a:ea typeface="微软雅黑" panose="020B0503020204020204" pitchFamily="34" charset="-122"/>
            </a:endParaRPr>
          </a:p>
        </p:txBody>
      </p:sp>
      <p:sp>
        <p:nvSpPr>
          <p:cNvPr id="12" name="Shape 8"/>
          <p:cNvSpPr/>
          <p:nvPr/>
        </p:nvSpPr>
        <p:spPr>
          <a:xfrm>
            <a:off x="6263164" y="4690586"/>
            <a:ext cx="7516773" cy="15240"/>
          </a:xfrm>
          <a:prstGeom prst="roundRect">
            <a:avLst>
              <a:gd name="adj" fmla="val 223256"/>
            </a:avLst>
          </a:prstGeom>
          <a:solidFill>
            <a:srgbClr val="61646A"/>
          </a:solidFill>
          <a:ln/>
        </p:spPr>
      </p:sp>
      <p:pic>
        <p:nvPicPr>
          <p:cNvPr id="13" name="Image 2" descr="preencoded.png"/>
          <p:cNvPicPr>
            <a:picLocks noChangeAspect="1"/>
          </p:cNvPicPr>
          <p:nvPr/>
        </p:nvPicPr>
        <p:blipFill>
          <a:blip r:embed="rId5"/>
          <a:stretch>
            <a:fillRect/>
          </a:stretch>
        </p:blipFill>
        <p:spPr>
          <a:xfrm>
            <a:off x="826294" y="4734163"/>
            <a:ext cx="6456164" cy="1306949"/>
          </a:xfrm>
          <a:prstGeom prst="rect">
            <a:avLst/>
          </a:prstGeom>
        </p:spPr>
      </p:pic>
      <p:sp>
        <p:nvSpPr>
          <p:cNvPr id="14" name="Text 9"/>
          <p:cNvSpPr/>
          <p:nvPr/>
        </p:nvSpPr>
        <p:spPr>
          <a:xfrm>
            <a:off x="3894773" y="5188268"/>
            <a:ext cx="318968" cy="398621"/>
          </a:xfrm>
          <a:prstGeom prst="rect">
            <a:avLst/>
          </a:prstGeom>
          <a:noFill/>
          <a:ln/>
        </p:spPr>
        <p:txBody>
          <a:bodyPr wrap="none" lIns="0" tIns="0" rIns="0" bIns="0" rtlCol="0" anchor="t"/>
          <a:lstStyle/>
          <a:p>
            <a:pPr marL="0" indent="0" algn="ctr">
              <a:lnSpc>
                <a:spcPts val="40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3</a:t>
            </a:r>
            <a:endParaRPr lang="en-US" sz="2500" dirty="0">
              <a:latin typeface="微软雅黑" panose="020B0503020204020204" pitchFamily="34" charset="-122"/>
              <a:ea typeface="微软雅黑" panose="020B0503020204020204" pitchFamily="34" charset="-122"/>
            </a:endParaRPr>
          </a:p>
        </p:txBody>
      </p:sp>
      <p:sp>
        <p:nvSpPr>
          <p:cNvPr id="15" name="Text 10"/>
          <p:cNvSpPr/>
          <p:nvPr/>
        </p:nvSpPr>
        <p:spPr>
          <a:xfrm>
            <a:off x="7509272" y="49609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数据库（</a:t>
            </a:r>
            <a:r>
              <a:rPr lang="en-US" sz="2200" b="1" dirty="0">
                <a:solidFill>
                  <a:srgbClr val="AFCBF8"/>
                </a:solidFill>
                <a:latin typeface="微软雅黑" panose="020B0503020204020204" pitchFamily="34" charset="-122"/>
                <a:ea typeface="微软雅黑" panose="020B0503020204020204" pitchFamily="34" charset="-122"/>
                <a:cs typeface="IBM Plex Sans Medium" pitchFamily="34" charset="-120"/>
              </a:rPr>
              <a:t>MySQL</a:t>
            </a: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t>
            </a:r>
            <a:endParaRPr lang="en-US" sz="2200" dirty="0">
              <a:latin typeface="微软雅黑" panose="020B0503020204020204" pitchFamily="34" charset="-122"/>
              <a:ea typeface="微软雅黑" panose="020B0503020204020204" pitchFamily="34" charset="-122"/>
            </a:endParaRPr>
          </a:p>
        </p:txBody>
      </p:sp>
      <p:sp>
        <p:nvSpPr>
          <p:cNvPr id="16" name="Text 11"/>
          <p:cNvSpPr/>
          <p:nvPr/>
        </p:nvSpPr>
        <p:spPr>
          <a:xfrm>
            <a:off x="7509272" y="5451396"/>
            <a:ext cx="4760714" cy="362903"/>
          </a:xfrm>
          <a:prstGeom prst="rect">
            <a:avLst/>
          </a:prstGeom>
          <a:noFill/>
          <a:ln/>
        </p:spPr>
        <p:txBody>
          <a:bodyPr wrap="non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存储用户数据、棋局记录、教学进度等关键信息</a:t>
            </a:r>
            <a:endParaRPr lang="en-US" sz="1750" dirty="0">
              <a:latin typeface="微软雅黑" panose="020B0503020204020204" pitchFamily="34" charset="-122"/>
              <a:ea typeface="微软雅黑" panose="020B0503020204020204" pitchFamily="34" charset="-122"/>
            </a:endParaRPr>
          </a:p>
        </p:txBody>
      </p:sp>
      <p:sp>
        <p:nvSpPr>
          <p:cNvPr id="17" name="Text 12"/>
          <p:cNvSpPr/>
          <p:nvPr/>
        </p:nvSpPr>
        <p:spPr>
          <a:xfrm>
            <a:off x="793790" y="6296263"/>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本项目采用Spring Boot + MySQL + Vue技术栈，构建前后端分离架构，确保系统的高扩展性、稳定性和可维护性。后端作为系统的核心处理层，提供RESTful API，为前端提供数据交互接口。前端提供在线对弈、棋局分析、战术训练等丰富功能，并针对移动端进行专项优化。数据库负责存储关键信息，采用Redis缓存技术优化查询性能。</a:t>
            </a: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0812" y="614005"/>
            <a:ext cx="5298757" cy="662226"/>
          </a:xfrm>
          <a:prstGeom prst="rect">
            <a:avLst/>
          </a:prstGeom>
          <a:noFill/>
          <a:ln/>
        </p:spPr>
        <p:txBody>
          <a:bodyPr wrap="none" lIns="0" tIns="0" rIns="0" bIns="0" rtlCol="0" anchor="t"/>
          <a:lstStyle/>
          <a:p>
            <a:pPr marL="0" indent="0">
              <a:lnSpc>
                <a:spcPts val="5200"/>
              </a:lnSpc>
              <a:buNone/>
            </a:pPr>
            <a:r>
              <a:rPr lang="en-US" sz="4150" b="1" dirty="0">
                <a:solidFill>
                  <a:srgbClr val="F3F3F2"/>
                </a:solidFill>
                <a:latin typeface="IBM Plex Sans Medium" pitchFamily="34" charset="0"/>
                <a:ea typeface="IBM Plex Sans Medium" pitchFamily="34" charset="-122"/>
                <a:cs typeface="IBM Plex Sans Medium" pitchFamily="34" charset="-120"/>
              </a:rPr>
              <a:t>核心微服务</a:t>
            </a:r>
            <a:endParaRPr lang="en-US" sz="4150" dirty="0"/>
          </a:p>
        </p:txBody>
      </p:sp>
      <p:pic>
        <p:nvPicPr>
          <p:cNvPr id="3" name="Image 0" descr="preencoded.png"/>
          <p:cNvPicPr>
            <a:picLocks noChangeAspect="1"/>
          </p:cNvPicPr>
          <p:nvPr/>
        </p:nvPicPr>
        <p:blipFill>
          <a:blip r:embed="rId3"/>
          <a:stretch>
            <a:fillRect/>
          </a:stretch>
        </p:blipFill>
        <p:spPr>
          <a:xfrm>
            <a:off x="780812" y="1700093"/>
            <a:ext cx="12184142" cy="5915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0425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微软雅黑" panose="020B0503020204020204" pitchFamily="34" charset="-122"/>
                <a:ea typeface="微软雅黑" panose="020B0503020204020204" pitchFamily="34" charset="-122"/>
                <a:cs typeface="IBM Plex Sans Medium" pitchFamily="34" charset="-120"/>
              </a:rPr>
              <a:t>模块化拓展</a:t>
            </a:r>
            <a:endParaRPr lang="en-US" sz="4450" dirty="0">
              <a:latin typeface="微软雅黑" panose="020B0503020204020204" pitchFamily="34" charset="-122"/>
              <a:ea typeface="微软雅黑" panose="020B0503020204020204" pitchFamily="34" charset="-122"/>
            </a:endParaRPr>
          </a:p>
        </p:txBody>
      </p:sp>
      <p:sp>
        <p:nvSpPr>
          <p:cNvPr id="3" name="Shape 1"/>
          <p:cNvSpPr/>
          <p:nvPr/>
        </p:nvSpPr>
        <p:spPr>
          <a:xfrm>
            <a:off x="793790" y="1753195"/>
            <a:ext cx="170021" cy="1216223"/>
          </a:xfrm>
          <a:prstGeom prst="roundRect">
            <a:avLst>
              <a:gd name="adj" fmla="val 20012"/>
            </a:avLst>
          </a:prstGeom>
          <a:solidFill>
            <a:srgbClr val="484B51"/>
          </a:solidFill>
          <a:ln/>
        </p:spPr>
      </p:sp>
      <p:sp>
        <p:nvSpPr>
          <p:cNvPr id="4" name="Text 2"/>
          <p:cNvSpPr/>
          <p:nvPr/>
        </p:nvSpPr>
        <p:spPr>
          <a:xfrm>
            <a:off x="1303973" y="17531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AI模块拓展</a:t>
            </a:r>
            <a:endParaRPr lang="en-US" sz="2200" dirty="0">
              <a:latin typeface="微软雅黑" panose="020B0503020204020204" pitchFamily="34" charset="-122"/>
              <a:ea typeface="微软雅黑" panose="020B0503020204020204" pitchFamily="34" charset="-122"/>
            </a:endParaRPr>
          </a:p>
        </p:txBody>
      </p:sp>
      <p:sp>
        <p:nvSpPr>
          <p:cNvPr id="5" name="Text 3"/>
          <p:cNvSpPr/>
          <p:nvPr/>
        </p:nvSpPr>
        <p:spPr>
          <a:xfrm>
            <a:off x="1303973" y="2243614"/>
            <a:ext cx="12532638"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接入Stockfish、AlphaZero等更多AI引擎，优化算法，提升对弈水平与决策效率，丰富人机对弈体验。通过集成Minimax与Alpha-Beta剪枝算法，系统可根据用户棋力动态调整AI难度，为不同水平的用户提供适合的挑战。</a:t>
            </a:r>
            <a:endParaRPr lang="en-US" sz="1750" dirty="0">
              <a:latin typeface="微软雅黑" panose="020B0503020204020204" pitchFamily="34" charset="-122"/>
              <a:ea typeface="微软雅黑" panose="020B0503020204020204" pitchFamily="34" charset="-122"/>
            </a:endParaRPr>
          </a:p>
        </p:txBody>
      </p:sp>
      <p:sp>
        <p:nvSpPr>
          <p:cNvPr id="6" name="Shape 4"/>
          <p:cNvSpPr/>
          <p:nvPr/>
        </p:nvSpPr>
        <p:spPr>
          <a:xfrm>
            <a:off x="1133951" y="3196233"/>
            <a:ext cx="170021" cy="1216223"/>
          </a:xfrm>
          <a:prstGeom prst="roundRect">
            <a:avLst>
              <a:gd name="adj" fmla="val 20012"/>
            </a:avLst>
          </a:prstGeom>
          <a:solidFill>
            <a:srgbClr val="484B51"/>
          </a:solidFill>
          <a:ln/>
        </p:spPr>
      </p:sp>
      <p:sp>
        <p:nvSpPr>
          <p:cNvPr id="7" name="Text 5"/>
          <p:cNvSpPr/>
          <p:nvPr/>
        </p:nvSpPr>
        <p:spPr>
          <a:xfrm>
            <a:off x="1644134" y="319623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移动端功能拓展</a:t>
            </a:r>
            <a:endParaRPr lang="en-US" sz="2200" dirty="0">
              <a:latin typeface="微软雅黑" panose="020B0503020204020204" pitchFamily="34" charset="-122"/>
              <a:ea typeface="微软雅黑" panose="020B0503020204020204" pitchFamily="34" charset="-122"/>
            </a:endParaRPr>
          </a:p>
        </p:txBody>
      </p:sp>
      <p:sp>
        <p:nvSpPr>
          <p:cNvPr id="8" name="Text 6"/>
          <p:cNvSpPr/>
          <p:nvPr/>
        </p:nvSpPr>
        <p:spPr>
          <a:xfrm>
            <a:off x="1644134" y="3686651"/>
            <a:ext cx="12192476"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优化界面设计适配更多设备，增设滑动撤销走棋、双指缩放棋盘等手势操作，增强操作便捷流畅性。采用响应式设计，优化移动端布局，通过WebSocket压缩传输数据，减少移动端流量消耗。</a:t>
            </a:r>
            <a:endParaRPr lang="en-US" sz="1750" dirty="0">
              <a:latin typeface="微软雅黑" panose="020B0503020204020204" pitchFamily="34" charset="-122"/>
              <a:ea typeface="微软雅黑" panose="020B0503020204020204" pitchFamily="34" charset="-122"/>
            </a:endParaRPr>
          </a:p>
        </p:txBody>
      </p:sp>
      <p:sp>
        <p:nvSpPr>
          <p:cNvPr id="9" name="Shape 7"/>
          <p:cNvSpPr/>
          <p:nvPr/>
        </p:nvSpPr>
        <p:spPr>
          <a:xfrm>
            <a:off x="1474232" y="4639270"/>
            <a:ext cx="170021" cy="1216223"/>
          </a:xfrm>
          <a:prstGeom prst="roundRect">
            <a:avLst>
              <a:gd name="adj" fmla="val 20012"/>
            </a:avLst>
          </a:prstGeom>
          <a:solidFill>
            <a:srgbClr val="484B51"/>
          </a:solidFill>
          <a:ln/>
        </p:spPr>
      </p:sp>
      <p:sp>
        <p:nvSpPr>
          <p:cNvPr id="10" name="Text 8"/>
          <p:cNvSpPr/>
          <p:nvPr/>
        </p:nvSpPr>
        <p:spPr>
          <a:xfrm>
            <a:off x="1984415" y="46392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教学内容拓展</a:t>
            </a:r>
            <a:endParaRPr lang="en-US" sz="2200" dirty="0">
              <a:latin typeface="微软雅黑" panose="020B0503020204020204" pitchFamily="34" charset="-122"/>
              <a:ea typeface="微软雅黑" panose="020B0503020204020204" pitchFamily="34" charset="-122"/>
            </a:endParaRPr>
          </a:p>
        </p:txBody>
      </p:sp>
      <p:sp>
        <p:nvSpPr>
          <p:cNvPr id="11" name="Text 9"/>
          <p:cNvSpPr/>
          <p:nvPr/>
        </p:nvSpPr>
        <p:spPr>
          <a:xfrm>
            <a:off x="1984415" y="5129689"/>
            <a:ext cx="11852196"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邀请专家教练制作多级别多专题课程，引入VR技术，打造沉浸式学习场景，提升学习趣味与效果。结合用户画像技术，通过记录对局数据生成个人能力雷达图，并据此推荐个性化学习路径。</a:t>
            </a:r>
            <a:endParaRPr lang="en-US" sz="1750" dirty="0">
              <a:latin typeface="微软雅黑" panose="020B0503020204020204" pitchFamily="34" charset="-122"/>
              <a:ea typeface="微软雅黑" panose="020B0503020204020204" pitchFamily="34" charset="-122"/>
            </a:endParaRPr>
          </a:p>
        </p:txBody>
      </p:sp>
      <p:sp>
        <p:nvSpPr>
          <p:cNvPr id="12" name="Shape 10"/>
          <p:cNvSpPr/>
          <p:nvPr/>
        </p:nvSpPr>
        <p:spPr>
          <a:xfrm>
            <a:off x="1814513" y="6082308"/>
            <a:ext cx="170021" cy="1216223"/>
          </a:xfrm>
          <a:prstGeom prst="roundRect">
            <a:avLst>
              <a:gd name="adj" fmla="val 20012"/>
            </a:avLst>
          </a:prstGeom>
          <a:solidFill>
            <a:srgbClr val="484B51"/>
          </a:solidFill>
          <a:ln/>
        </p:spPr>
      </p:sp>
      <p:sp>
        <p:nvSpPr>
          <p:cNvPr id="13" name="Text 11"/>
          <p:cNvSpPr/>
          <p:nvPr/>
        </p:nvSpPr>
        <p:spPr>
          <a:xfrm>
            <a:off x="2324695" y="60823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社交互动拓展</a:t>
            </a:r>
            <a:endParaRPr lang="en-US" sz="2200" dirty="0">
              <a:latin typeface="微软雅黑" panose="020B0503020204020204" pitchFamily="34" charset="-122"/>
              <a:ea typeface="微软雅黑" panose="020B0503020204020204" pitchFamily="34" charset="-122"/>
            </a:endParaRPr>
          </a:p>
        </p:txBody>
      </p:sp>
      <p:sp>
        <p:nvSpPr>
          <p:cNvPr id="14" name="Text 12"/>
          <p:cNvSpPr/>
          <p:nvPr/>
        </p:nvSpPr>
        <p:spPr>
          <a:xfrm>
            <a:off x="2324695" y="6572726"/>
            <a:ext cx="11511915" cy="725805"/>
          </a:xfrm>
          <a:prstGeom prst="rect">
            <a:avLst/>
          </a:prstGeom>
          <a:noFill/>
          <a:ln/>
        </p:spPr>
        <p:txBody>
          <a:bodyPr wrap="square" lIns="0" tIns="0" rIns="0" bIns="0" rtlCol="0" anchor="t"/>
          <a:lstStyle/>
          <a:p>
            <a:pPr marL="0" indent="0" algn="l">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新增棋友协作模式，支持多人共析棋局、标注分享，完善段位排行榜与成就系统，激励用户参与。支持用户将AI生成的战术分析一键分享至社区讨论，增强用户之间的互动性和社交粘性。</a:t>
            </a: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58448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微软雅黑" panose="020B0503020204020204" pitchFamily="34" charset="-122"/>
                <a:ea typeface="微软雅黑" panose="020B0503020204020204" pitchFamily="34" charset="-122"/>
                <a:cs typeface="IBM Plex Sans Medium" pitchFamily="34" charset="-120"/>
              </a:rPr>
              <a:t>AI引擎</a:t>
            </a:r>
            <a:endParaRPr lang="en-US" sz="4450" dirty="0">
              <a:latin typeface="微软雅黑" panose="020B0503020204020204" pitchFamily="34" charset="-122"/>
              <a:ea typeface="微软雅黑" panose="020B0503020204020204" pitchFamily="34" charset="-122"/>
            </a:endParaRPr>
          </a:p>
        </p:txBody>
      </p:sp>
      <p:sp>
        <p:nvSpPr>
          <p:cNvPr id="3" name="Shape 1"/>
          <p:cNvSpPr/>
          <p:nvPr/>
        </p:nvSpPr>
        <p:spPr>
          <a:xfrm>
            <a:off x="793790" y="2888575"/>
            <a:ext cx="510302" cy="510302"/>
          </a:xfrm>
          <a:prstGeom prst="roundRect">
            <a:avLst>
              <a:gd name="adj" fmla="val 6667"/>
            </a:avLst>
          </a:prstGeom>
          <a:solidFill>
            <a:srgbClr val="484B51"/>
          </a:solidFill>
          <a:ln/>
        </p:spPr>
      </p:sp>
      <p:sp>
        <p:nvSpPr>
          <p:cNvPr id="4" name="Text 2"/>
          <p:cNvSpPr/>
          <p:nvPr/>
        </p:nvSpPr>
        <p:spPr>
          <a:xfrm>
            <a:off x="878860" y="293108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微软雅黑" panose="020B0503020204020204" pitchFamily="34" charset="-122"/>
                <a:ea typeface="微软雅黑" panose="020B0503020204020204" pitchFamily="34" charset="-122"/>
                <a:cs typeface="IBM Plex Sans Medium" pitchFamily="34" charset="-120"/>
              </a:rPr>
              <a:t>1</a:t>
            </a:r>
            <a:endParaRPr lang="en-US" sz="2650" dirty="0">
              <a:latin typeface="微软雅黑" panose="020B0503020204020204" pitchFamily="34" charset="-122"/>
              <a:ea typeface="微软雅黑" panose="020B0503020204020204" pitchFamily="34" charset="-122"/>
            </a:endParaRPr>
          </a:p>
        </p:txBody>
      </p:sp>
      <p:sp>
        <p:nvSpPr>
          <p:cNvPr id="5" name="Text 3"/>
          <p:cNvSpPr/>
          <p:nvPr/>
        </p:nvSpPr>
        <p:spPr>
          <a:xfrm>
            <a:off x="1530906" y="288857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动态难度调整机制</a:t>
            </a:r>
            <a:endParaRPr lang="en-US" sz="2200" dirty="0">
              <a:latin typeface="微软雅黑" panose="020B0503020204020204" pitchFamily="34" charset="-122"/>
              <a:ea typeface="微软雅黑" panose="020B0503020204020204" pitchFamily="34" charset="-122"/>
            </a:endParaRPr>
          </a:p>
        </p:txBody>
      </p:sp>
      <p:sp>
        <p:nvSpPr>
          <p:cNvPr id="6" name="Text 4"/>
          <p:cNvSpPr/>
          <p:nvPr/>
        </p:nvSpPr>
        <p:spPr>
          <a:xfrm>
            <a:off x="1530906" y="3378994"/>
            <a:ext cx="3459242" cy="3266123"/>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采用参数化算法配置，根据用户ELO评分动态调整AI行为。系统会综合分析用户的对弈记录、胜负统计以及ELO评分，同时结合用户在对弈中的习惯与失误类型，全面刻画用户的棋力水平。基于此评估结果，AI引擎将灵活调整自身行为，确保对弈既具挑战性又不至于让用户感到挫败。</a:t>
            </a:r>
            <a:endParaRPr lang="en-US" sz="1750" dirty="0">
              <a:latin typeface="微软雅黑" panose="020B0503020204020204" pitchFamily="34" charset="-122"/>
              <a:ea typeface="微软雅黑" panose="020B0503020204020204" pitchFamily="34" charset="-122"/>
            </a:endParaRPr>
          </a:p>
        </p:txBody>
      </p:sp>
      <p:sp>
        <p:nvSpPr>
          <p:cNvPr id="7" name="Shape 5"/>
          <p:cNvSpPr/>
          <p:nvPr/>
        </p:nvSpPr>
        <p:spPr>
          <a:xfrm>
            <a:off x="5216962" y="2888575"/>
            <a:ext cx="510302" cy="510302"/>
          </a:xfrm>
          <a:prstGeom prst="roundRect">
            <a:avLst>
              <a:gd name="adj" fmla="val 6667"/>
            </a:avLst>
          </a:prstGeom>
          <a:solidFill>
            <a:srgbClr val="484B51"/>
          </a:solidFill>
          <a:ln/>
        </p:spPr>
      </p:sp>
      <p:sp>
        <p:nvSpPr>
          <p:cNvPr id="8" name="Text 6"/>
          <p:cNvSpPr/>
          <p:nvPr/>
        </p:nvSpPr>
        <p:spPr>
          <a:xfrm>
            <a:off x="5302032" y="293108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微软雅黑" panose="020B0503020204020204" pitchFamily="34" charset="-122"/>
                <a:ea typeface="微软雅黑" panose="020B0503020204020204" pitchFamily="34" charset="-122"/>
                <a:cs typeface="IBM Plex Sans Medium" pitchFamily="34" charset="-120"/>
              </a:rPr>
              <a:t>2</a:t>
            </a:r>
            <a:endParaRPr lang="en-US" sz="2650" dirty="0">
              <a:latin typeface="微软雅黑" panose="020B0503020204020204" pitchFamily="34" charset="-122"/>
              <a:ea typeface="微软雅黑" panose="020B0503020204020204" pitchFamily="34" charset="-122"/>
            </a:endParaRPr>
          </a:p>
        </p:txBody>
      </p:sp>
      <p:sp>
        <p:nvSpPr>
          <p:cNvPr id="9" name="Text 7"/>
          <p:cNvSpPr/>
          <p:nvPr/>
        </p:nvSpPr>
        <p:spPr>
          <a:xfrm>
            <a:off x="5954078" y="288857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算法优化策略</a:t>
            </a:r>
            <a:endParaRPr lang="en-US" sz="2200" dirty="0">
              <a:latin typeface="微软雅黑" panose="020B0503020204020204" pitchFamily="34" charset="-122"/>
              <a:ea typeface="微软雅黑" panose="020B0503020204020204" pitchFamily="34" charset="-122"/>
            </a:endParaRPr>
          </a:p>
        </p:txBody>
      </p:sp>
      <p:sp>
        <p:nvSpPr>
          <p:cNvPr id="10" name="Text 8"/>
          <p:cNvSpPr/>
          <p:nvPr/>
        </p:nvSpPr>
        <p:spPr>
          <a:xfrm>
            <a:off x="5954078" y="3378994"/>
            <a:ext cx="3459242" cy="3266123"/>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为提升AI的对弈效率与准确性，AI引擎融合多种算法优化策略。Minimax算法与Alpha-Beta剪枝技术的结合运用，能够有效减少不必要的计算。在面对复杂局面时，蒙特卡洛树搜索（MCTS）将发挥其高效搜索的优势。借鉴AlphaZero的思路，引入神经网络对棋局进行评估，提高评估的准确性。</a:t>
            </a:r>
            <a:endParaRPr lang="en-US" sz="1750" dirty="0">
              <a:latin typeface="微软雅黑" panose="020B0503020204020204" pitchFamily="34" charset="-122"/>
              <a:ea typeface="微软雅黑" panose="020B0503020204020204" pitchFamily="34" charset="-122"/>
            </a:endParaRPr>
          </a:p>
        </p:txBody>
      </p:sp>
      <p:sp>
        <p:nvSpPr>
          <p:cNvPr id="11" name="Shape 9"/>
          <p:cNvSpPr/>
          <p:nvPr/>
        </p:nvSpPr>
        <p:spPr>
          <a:xfrm>
            <a:off x="9640133" y="2888575"/>
            <a:ext cx="510302" cy="510302"/>
          </a:xfrm>
          <a:prstGeom prst="roundRect">
            <a:avLst>
              <a:gd name="adj" fmla="val 6667"/>
            </a:avLst>
          </a:prstGeom>
          <a:solidFill>
            <a:srgbClr val="484B51"/>
          </a:solidFill>
          <a:ln/>
        </p:spPr>
      </p:sp>
      <p:sp>
        <p:nvSpPr>
          <p:cNvPr id="12" name="Text 10"/>
          <p:cNvSpPr/>
          <p:nvPr/>
        </p:nvSpPr>
        <p:spPr>
          <a:xfrm>
            <a:off x="9725204" y="293108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4D4D1"/>
                </a:solidFill>
                <a:latin typeface="微软雅黑" panose="020B0503020204020204" pitchFamily="34" charset="-122"/>
                <a:ea typeface="微软雅黑" panose="020B0503020204020204" pitchFamily="34" charset="-122"/>
                <a:cs typeface="IBM Plex Sans Medium" pitchFamily="34" charset="-120"/>
              </a:rPr>
              <a:t>3</a:t>
            </a:r>
            <a:endParaRPr lang="en-US" sz="2650" dirty="0">
              <a:latin typeface="微软雅黑" panose="020B0503020204020204" pitchFamily="34" charset="-122"/>
              <a:ea typeface="微软雅黑" panose="020B0503020204020204" pitchFamily="34" charset="-122"/>
            </a:endParaRPr>
          </a:p>
        </p:txBody>
      </p:sp>
      <p:sp>
        <p:nvSpPr>
          <p:cNvPr id="13" name="Text 11"/>
          <p:cNvSpPr/>
          <p:nvPr/>
        </p:nvSpPr>
        <p:spPr>
          <a:xfrm>
            <a:off x="10377249" y="288857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大模型辅助教学</a:t>
            </a:r>
            <a:endParaRPr lang="en-US" sz="2200" dirty="0">
              <a:latin typeface="微软雅黑" panose="020B0503020204020204" pitchFamily="34" charset="-122"/>
              <a:ea typeface="微软雅黑" panose="020B0503020204020204" pitchFamily="34" charset="-122"/>
            </a:endParaRPr>
          </a:p>
        </p:txBody>
      </p:sp>
      <p:sp>
        <p:nvSpPr>
          <p:cNvPr id="14" name="Text 12"/>
          <p:cNvSpPr/>
          <p:nvPr/>
        </p:nvSpPr>
        <p:spPr>
          <a:xfrm>
            <a:off x="10377249" y="3378994"/>
            <a:ext cx="3459242" cy="2903220"/>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在教学方面，AI引擎集成大语言模型，如GPT-4、Claude，实现智能化的教学辅助。用户可以通过自然语言与AI交互，AI会结合用户的对局数据，生成图文并茂的解答，并标注棋局中的关键步骤。基于历史棋谱，AI能够模拟不同走法的后续演变，为用户提供动态策略推演。</a:t>
            </a:r>
            <a:endParaRPr lang="en-US" sz="17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50338"/>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3F3F2"/>
                </a:solidFill>
                <a:latin typeface="微软雅黑" panose="020B0503020204020204" pitchFamily="34" charset="-122"/>
                <a:ea typeface="微软雅黑" panose="020B0503020204020204" pitchFamily="34" charset="-122"/>
                <a:cs typeface="IBM Plex Sans Medium" pitchFamily="34" charset="-120"/>
              </a:rPr>
              <a:t>功能用例</a:t>
            </a:r>
            <a:endParaRPr lang="en-US" sz="4450" dirty="0">
              <a:latin typeface="微软雅黑" panose="020B0503020204020204" pitchFamily="34" charset="-122"/>
              <a:ea typeface="微软雅黑" panose="020B0503020204020204" pitchFamily="34" charset="-122"/>
            </a:endParaRPr>
          </a:p>
        </p:txBody>
      </p:sp>
      <p:sp>
        <p:nvSpPr>
          <p:cNvPr id="3" name="Shape 1"/>
          <p:cNvSpPr/>
          <p:nvPr/>
        </p:nvSpPr>
        <p:spPr>
          <a:xfrm>
            <a:off x="793790" y="2912745"/>
            <a:ext cx="6408063" cy="1669852"/>
          </a:xfrm>
          <a:prstGeom prst="roundRect">
            <a:avLst>
              <a:gd name="adj" fmla="val 2038"/>
            </a:avLst>
          </a:prstGeom>
          <a:solidFill>
            <a:srgbClr val="484B51"/>
          </a:solidFill>
          <a:ln/>
        </p:spPr>
        <p:txBody>
          <a:bodyPr/>
          <a:lstStyle/>
          <a:p>
            <a:endParaRPr lang="zh-CN" altLang="en-US" dirty="0"/>
          </a:p>
        </p:txBody>
      </p:sp>
      <p:sp>
        <p:nvSpPr>
          <p:cNvPr id="4" name="Text 2"/>
          <p:cNvSpPr/>
          <p:nvPr/>
        </p:nvSpPr>
        <p:spPr>
          <a:xfrm>
            <a:off x="1020604" y="31395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用户功能用例</a:t>
            </a:r>
            <a:endParaRPr lang="en-US" sz="2200" dirty="0">
              <a:latin typeface="微软雅黑" panose="020B0503020204020204" pitchFamily="34" charset="-122"/>
              <a:ea typeface="微软雅黑" panose="020B0503020204020204" pitchFamily="34" charset="-122"/>
            </a:endParaRPr>
          </a:p>
        </p:txBody>
      </p:sp>
      <p:sp>
        <p:nvSpPr>
          <p:cNvPr id="5" name="Text 3"/>
          <p:cNvSpPr/>
          <p:nvPr/>
        </p:nvSpPr>
        <p:spPr>
          <a:xfrm>
            <a:off x="1020604" y="3629978"/>
            <a:ext cx="5954435" cy="362903"/>
          </a:xfrm>
          <a:prstGeom prst="rect">
            <a:avLst/>
          </a:prstGeom>
          <a:noFill/>
          <a:ln/>
        </p:spPr>
        <p:txBody>
          <a:bodyPr wrap="none" lIns="0" tIns="0" rIns="0" bIns="0" rtlCol="0" anchor="t"/>
          <a:lstStyle/>
          <a:p>
            <a:pPr marL="0" indent="0">
              <a:lnSpc>
                <a:spcPts val="2850"/>
              </a:lnSpc>
              <a:buNone/>
            </a:pPr>
            <a:endParaRPr lang="en-US" sz="1750" dirty="0">
              <a:latin typeface="微软雅黑" panose="020B0503020204020204" pitchFamily="34" charset="-122"/>
              <a:ea typeface="微软雅黑" panose="020B0503020204020204" pitchFamily="34" charset="-122"/>
            </a:endParaRPr>
          </a:p>
        </p:txBody>
      </p:sp>
      <p:sp>
        <p:nvSpPr>
          <p:cNvPr id="6" name="Shape 4"/>
          <p:cNvSpPr/>
          <p:nvPr/>
        </p:nvSpPr>
        <p:spPr>
          <a:xfrm>
            <a:off x="7428667" y="2912745"/>
            <a:ext cx="6408063" cy="1669852"/>
          </a:xfrm>
          <a:prstGeom prst="roundRect">
            <a:avLst>
              <a:gd name="adj" fmla="val 2038"/>
            </a:avLst>
          </a:prstGeom>
          <a:solidFill>
            <a:srgbClr val="484B51"/>
          </a:solidFill>
          <a:ln/>
        </p:spPr>
      </p:sp>
      <p:sp>
        <p:nvSpPr>
          <p:cNvPr id="7" name="Text 5"/>
          <p:cNvSpPr/>
          <p:nvPr/>
        </p:nvSpPr>
        <p:spPr>
          <a:xfrm>
            <a:off x="7655481" y="313955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AI教学模块用例</a:t>
            </a:r>
            <a:endParaRPr lang="en-US" sz="2200" dirty="0">
              <a:latin typeface="微软雅黑" panose="020B0503020204020204" pitchFamily="34" charset="-122"/>
              <a:ea typeface="微软雅黑" panose="020B0503020204020204" pitchFamily="34" charset="-122"/>
            </a:endParaRPr>
          </a:p>
        </p:txBody>
      </p:sp>
      <p:sp>
        <p:nvSpPr>
          <p:cNvPr id="8" name="Text 6"/>
          <p:cNvSpPr/>
          <p:nvPr/>
        </p:nvSpPr>
        <p:spPr>
          <a:xfrm>
            <a:off x="7655481" y="3629978"/>
            <a:ext cx="5954435"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AI教学模块为不同水平的用户提供个性化的学习路径。初学者可以通过互动式学习了解棋盘结构和棋子移动规则。</a:t>
            </a:r>
            <a:endParaRPr lang="en-US" sz="1750" dirty="0">
              <a:latin typeface="微软雅黑" panose="020B0503020204020204" pitchFamily="34" charset="-122"/>
              <a:ea typeface="微软雅黑" panose="020B0503020204020204" pitchFamily="34" charset="-122"/>
            </a:endParaRPr>
          </a:p>
        </p:txBody>
      </p:sp>
      <p:sp>
        <p:nvSpPr>
          <p:cNvPr id="9" name="Shape 7"/>
          <p:cNvSpPr/>
          <p:nvPr/>
        </p:nvSpPr>
        <p:spPr>
          <a:xfrm>
            <a:off x="793790" y="4809411"/>
            <a:ext cx="6408063" cy="1669852"/>
          </a:xfrm>
          <a:prstGeom prst="roundRect">
            <a:avLst>
              <a:gd name="adj" fmla="val 2038"/>
            </a:avLst>
          </a:prstGeom>
          <a:solidFill>
            <a:srgbClr val="484B51"/>
          </a:solidFill>
          <a:ln/>
        </p:spPr>
      </p:sp>
      <p:sp>
        <p:nvSpPr>
          <p:cNvPr id="10" name="Text 8"/>
          <p:cNvSpPr/>
          <p:nvPr/>
        </p:nvSpPr>
        <p:spPr>
          <a:xfrm>
            <a:off x="1020604" y="503622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在线对战系统用例</a:t>
            </a:r>
            <a:endParaRPr lang="en-US" sz="2200" dirty="0">
              <a:latin typeface="微软雅黑" panose="020B0503020204020204" pitchFamily="34" charset="-122"/>
              <a:ea typeface="微软雅黑" panose="020B0503020204020204" pitchFamily="34" charset="-122"/>
            </a:endParaRPr>
          </a:p>
        </p:txBody>
      </p:sp>
      <p:sp>
        <p:nvSpPr>
          <p:cNvPr id="11" name="Text 9"/>
          <p:cNvSpPr/>
          <p:nvPr/>
        </p:nvSpPr>
        <p:spPr>
          <a:xfrm>
            <a:off x="1020604" y="5526643"/>
            <a:ext cx="5954435"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在线对战系统支持用户选择AI对弈或匹配真人玩家，系统会根据用户的ELO评分匹配水平相近的玩家。</a:t>
            </a:r>
            <a:endParaRPr lang="en-US" sz="1750" dirty="0">
              <a:latin typeface="微软雅黑" panose="020B0503020204020204" pitchFamily="34" charset="-122"/>
              <a:ea typeface="微软雅黑" panose="020B0503020204020204" pitchFamily="34" charset="-122"/>
            </a:endParaRPr>
          </a:p>
        </p:txBody>
      </p:sp>
      <p:sp>
        <p:nvSpPr>
          <p:cNvPr id="12" name="Shape 10"/>
          <p:cNvSpPr/>
          <p:nvPr/>
        </p:nvSpPr>
        <p:spPr>
          <a:xfrm>
            <a:off x="7428667" y="4809411"/>
            <a:ext cx="6408063" cy="1669852"/>
          </a:xfrm>
          <a:prstGeom prst="roundRect">
            <a:avLst>
              <a:gd name="adj" fmla="val 2038"/>
            </a:avLst>
          </a:prstGeom>
          <a:solidFill>
            <a:srgbClr val="484B51"/>
          </a:solidFill>
          <a:ln/>
        </p:spPr>
      </p:sp>
      <p:sp>
        <p:nvSpPr>
          <p:cNvPr id="13" name="Text 11"/>
          <p:cNvSpPr/>
          <p:nvPr/>
        </p:nvSpPr>
        <p:spPr>
          <a:xfrm>
            <a:off x="7655481" y="5036225"/>
            <a:ext cx="2835235" cy="354330"/>
          </a:xfrm>
          <a:prstGeom prst="rect">
            <a:avLst/>
          </a:prstGeom>
          <a:noFill/>
          <a:ln/>
        </p:spPr>
        <p:txBody>
          <a:bodyPr wrap="none" lIns="0" tIns="0" rIns="0" bIns="0" rtlCol="0" anchor="t"/>
          <a:lstStyle/>
          <a:p>
            <a:pPr marL="0" indent="0">
              <a:lnSpc>
                <a:spcPts val="2750"/>
              </a:lnSpc>
              <a:buNone/>
            </a:pPr>
            <a:r>
              <a:rPr lang="en-US" sz="2200" dirty="0">
                <a:solidFill>
                  <a:srgbClr val="D4D4D1"/>
                </a:solidFill>
                <a:latin typeface="微软雅黑" panose="020B0503020204020204" pitchFamily="34" charset="-122"/>
                <a:ea typeface="微软雅黑" panose="020B0503020204020204" pitchFamily="34" charset="-122"/>
                <a:cs typeface="IBM Plex Sans Medium" pitchFamily="34" charset="-120"/>
              </a:rPr>
              <a:t>其他功能用例</a:t>
            </a:r>
            <a:endParaRPr lang="en-US" sz="2200" dirty="0">
              <a:latin typeface="微软雅黑" panose="020B0503020204020204" pitchFamily="34" charset="-122"/>
              <a:ea typeface="微软雅黑" panose="020B0503020204020204" pitchFamily="34" charset="-122"/>
            </a:endParaRPr>
          </a:p>
        </p:txBody>
      </p:sp>
      <p:sp>
        <p:nvSpPr>
          <p:cNvPr id="14" name="Text 12"/>
          <p:cNvSpPr/>
          <p:nvPr/>
        </p:nvSpPr>
        <p:spPr>
          <a:xfrm>
            <a:off x="7655481" y="5526643"/>
            <a:ext cx="5954435" cy="725805"/>
          </a:xfrm>
          <a:prstGeom prst="rect">
            <a:avLst/>
          </a:prstGeom>
          <a:noFill/>
          <a:ln/>
        </p:spPr>
        <p:txBody>
          <a:bodyPr wrap="square" lIns="0" tIns="0" rIns="0" bIns="0" rtlCol="0" anchor="t"/>
          <a:lstStyle/>
          <a:p>
            <a:pPr marL="0" indent="0">
              <a:lnSpc>
                <a:spcPts val="2850"/>
              </a:lnSpc>
              <a:buNone/>
            </a:pPr>
            <a:r>
              <a:rPr lang="en-US" sz="1750" dirty="0">
                <a:solidFill>
                  <a:srgbClr val="D4D4D1"/>
                </a:solidFill>
                <a:latin typeface="微软雅黑" panose="020B0503020204020204" pitchFamily="34" charset="-122"/>
                <a:ea typeface="微软雅黑" panose="020B0503020204020204" pitchFamily="34" charset="-122"/>
                <a:cs typeface="Roboto" pitchFamily="34" charset="-120"/>
              </a:rPr>
              <a:t>系统增加了异常处理、个性化推荐、社交互动和多语言支持等功能。网络中断时，系统会自动保存对局进度。</a:t>
            </a:r>
            <a:endParaRPr lang="en-US" sz="1750" dirty="0">
              <a:latin typeface="微软雅黑" panose="020B0503020204020204" pitchFamily="34" charset="-122"/>
              <a:ea typeface="微软雅黑" panose="020B0503020204020204" pitchFamily="34" charset="-122"/>
            </a:endParaRPr>
          </a:p>
        </p:txBody>
      </p:sp>
      <p:sp>
        <p:nvSpPr>
          <p:cNvPr id="15" name="Text 6">
            <a:extLst>
              <a:ext uri="{FF2B5EF4-FFF2-40B4-BE49-F238E27FC236}">
                <a16:creationId xmlns:a16="http://schemas.microsoft.com/office/drawing/2014/main" id="{8E4FB8C0-6FAA-0806-F72A-28DDBAB4CF8B}"/>
              </a:ext>
            </a:extLst>
          </p:cNvPr>
          <p:cNvSpPr/>
          <p:nvPr/>
        </p:nvSpPr>
        <p:spPr>
          <a:xfrm>
            <a:off x="1020484" y="3652660"/>
            <a:ext cx="5954435" cy="725805"/>
          </a:xfrm>
          <a:prstGeom prst="rect">
            <a:avLst/>
          </a:prstGeom>
          <a:noFill/>
          <a:ln/>
        </p:spPr>
        <p:txBody>
          <a:bodyPr wrap="square" lIns="0" tIns="0" rIns="0" bIns="0" rtlCol="0" anchor="t"/>
          <a:lstStyle/>
          <a:p>
            <a:pPr marL="0" indent="0">
              <a:lnSpc>
                <a:spcPts val="2850"/>
              </a:lnSpc>
              <a:buNone/>
            </a:pPr>
            <a:r>
              <a:rPr lang="zh-CN" altLang="en-US" sz="1750" dirty="0">
                <a:solidFill>
                  <a:srgbClr val="D4D4D1"/>
                </a:solidFill>
                <a:latin typeface="微软雅黑" panose="020B0503020204020204" pitchFamily="34" charset="-122"/>
                <a:ea typeface="微软雅黑" panose="020B0503020204020204" pitchFamily="34" charset="-122"/>
                <a:cs typeface="Roboto" pitchFamily="34" charset="-120"/>
              </a:rPr>
              <a:t>平台给用户提供的主要功能。登录注册，</a:t>
            </a:r>
            <a:r>
              <a:rPr lang="en-US" altLang="zh-CN" sz="1750" dirty="0">
                <a:solidFill>
                  <a:srgbClr val="D4D4D1"/>
                </a:solidFill>
                <a:latin typeface="微软雅黑" panose="020B0503020204020204" pitchFamily="34" charset="-122"/>
                <a:ea typeface="微软雅黑" panose="020B0503020204020204" pitchFamily="34" charset="-122"/>
                <a:cs typeface="Roboto" pitchFamily="34" charset="-120"/>
              </a:rPr>
              <a:t>AI</a:t>
            </a:r>
            <a:r>
              <a:rPr lang="zh-CN" altLang="en-US" sz="1750" dirty="0">
                <a:solidFill>
                  <a:srgbClr val="D4D4D1"/>
                </a:solidFill>
                <a:latin typeface="微软雅黑" panose="020B0503020204020204" pitchFamily="34" charset="-122"/>
                <a:ea typeface="微软雅黑" panose="020B0503020204020204" pitchFamily="34" charset="-122"/>
                <a:cs typeface="Roboto" pitchFamily="34" charset="-120"/>
              </a:rPr>
              <a:t>对弈，实时对战，棋局复盘等相关学习和对弈操作。</a:t>
            </a:r>
            <a:endParaRPr lang="en-US" altLang="zh-CN" sz="1750" dirty="0">
              <a:solidFill>
                <a:srgbClr val="D4D4D1"/>
              </a:solidFill>
              <a:latin typeface="微软雅黑" panose="020B0503020204020204" pitchFamily="34" charset="-122"/>
              <a:ea typeface="微软雅黑" panose="020B0503020204020204" pitchFamily="34" charset="-122"/>
              <a:cs typeface="Roboto" pitchFamily="34" charset="-12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6288" y="943729"/>
            <a:ext cx="7660214" cy="6262191"/>
          </a:xfrm>
          <a:prstGeom prst="rect">
            <a:avLst/>
          </a:prstGeom>
        </p:spPr>
      </p:pic>
      <p:sp>
        <p:nvSpPr>
          <p:cNvPr id="3" name="Shape 0"/>
          <p:cNvSpPr/>
          <p:nvPr/>
        </p:nvSpPr>
        <p:spPr>
          <a:xfrm>
            <a:off x="9145191" y="830818"/>
            <a:ext cx="4698921" cy="871538"/>
          </a:xfrm>
          <a:prstGeom prst="roundRect">
            <a:avLst>
              <a:gd name="adj" fmla="val 2928"/>
            </a:avLst>
          </a:prstGeom>
          <a:solidFill>
            <a:srgbClr val="484B51"/>
          </a:solidFill>
          <a:ln/>
        </p:spPr>
      </p:sp>
      <p:sp>
        <p:nvSpPr>
          <p:cNvPr id="4" name="Text 1"/>
          <p:cNvSpPr/>
          <p:nvPr/>
        </p:nvSpPr>
        <p:spPr>
          <a:xfrm>
            <a:off x="9315212" y="1000839"/>
            <a:ext cx="4358878" cy="531495"/>
          </a:xfrm>
          <a:prstGeom prst="rect">
            <a:avLst/>
          </a:prstGeom>
          <a:noFill/>
          <a:ln/>
        </p:spPr>
        <p:txBody>
          <a:bodyPr wrap="square" lIns="0" tIns="0" rIns="0" bIns="0" rtlCol="0" anchor="t"/>
          <a:lstStyle/>
          <a:p>
            <a:pPr marL="0" indent="0">
              <a:lnSpc>
                <a:spcPts val="2050"/>
              </a:lnSpc>
              <a:buNone/>
            </a:pPr>
            <a:r>
              <a:rPr lang="en-US" sz="1650" b="1" dirty="0">
                <a:solidFill>
                  <a:srgbClr val="D4D4D1"/>
                </a:solidFill>
                <a:latin typeface="IBM Plex Sans Medium" pitchFamily="34" charset="0"/>
                <a:ea typeface="IBM Plex Sans Medium" pitchFamily="34" charset="-122"/>
                <a:cs typeface="IBM Plex Sans Medium" pitchFamily="34" charset="-120"/>
              </a:rPr>
              <a:t>账号注册/登录</a:t>
            </a:r>
            <a:r>
              <a:rPr lang="en-US" sz="1650" dirty="0">
                <a:solidFill>
                  <a:srgbClr val="D4D4D1"/>
                </a:solidFill>
                <a:latin typeface="IBM Plex Sans Medium" pitchFamily="34" charset="0"/>
                <a:ea typeface="IBM Plex Sans Medium" pitchFamily="34" charset="-122"/>
                <a:cs typeface="IBM Plex Sans Medium" pitchFamily="34" charset="-120"/>
              </a:rPr>
              <a:t>：通过邮箱、手机号或第三方登录,设置头像昵称。</a:t>
            </a:r>
            <a:endParaRPr lang="en-US" sz="1650" dirty="0"/>
          </a:p>
        </p:txBody>
      </p:sp>
      <p:sp>
        <p:nvSpPr>
          <p:cNvPr id="5" name="Shape 2"/>
          <p:cNvSpPr/>
          <p:nvPr/>
        </p:nvSpPr>
        <p:spPr>
          <a:xfrm>
            <a:off x="9145191" y="1872377"/>
            <a:ext cx="4698921" cy="871538"/>
          </a:xfrm>
          <a:prstGeom prst="roundRect">
            <a:avLst>
              <a:gd name="adj" fmla="val 2928"/>
            </a:avLst>
          </a:prstGeom>
          <a:solidFill>
            <a:srgbClr val="484B51"/>
          </a:solidFill>
          <a:ln/>
        </p:spPr>
      </p:sp>
      <p:sp>
        <p:nvSpPr>
          <p:cNvPr id="6" name="Text 3"/>
          <p:cNvSpPr/>
          <p:nvPr/>
        </p:nvSpPr>
        <p:spPr>
          <a:xfrm>
            <a:off x="9315212" y="2042398"/>
            <a:ext cx="4358878" cy="531495"/>
          </a:xfrm>
          <a:prstGeom prst="rect">
            <a:avLst/>
          </a:prstGeom>
          <a:noFill/>
          <a:ln/>
        </p:spPr>
        <p:txBody>
          <a:bodyPr wrap="squar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AI 对弈：选择难度级别,系统根据 ELO 评分调整。</a:t>
            </a:r>
            <a:endParaRPr lang="en-US" sz="1650" dirty="0"/>
          </a:p>
        </p:txBody>
      </p:sp>
      <p:sp>
        <p:nvSpPr>
          <p:cNvPr id="7" name="Shape 4"/>
          <p:cNvSpPr/>
          <p:nvPr/>
        </p:nvSpPr>
        <p:spPr>
          <a:xfrm>
            <a:off x="9145191" y="2913936"/>
            <a:ext cx="4698921" cy="605790"/>
          </a:xfrm>
          <a:prstGeom prst="roundRect">
            <a:avLst>
              <a:gd name="adj" fmla="val 4212"/>
            </a:avLst>
          </a:prstGeom>
          <a:solidFill>
            <a:srgbClr val="484B51"/>
          </a:solidFill>
          <a:ln/>
        </p:spPr>
      </p:sp>
      <p:sp>
        <p:nvSpPr>
          <p:cNvPr id="8" name="Text 5"/>
          <p:cNvSpPr/>
          <p:nvPr/>
        </p:nvSpPr>
        <p:spPr>
          <a:xfrm>
            <a:off x="9315212" y="3083957"/>
            <a:ext cx="4311848"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玩家对战：快速匹配或与好友对战,记录棋谱。</a:t>
            </a:r>
            <a:endParaRPr lang="en-US" sz="1650" dirty="0"/>
          </a:p>
        </p:txBody>
      </p:sp>
      <p:sp>
        <p:nvSpPr>
          <p:cNvPr id="9" name="Shape 6"/>
          <p:cNvSpPr/>
          <p:nvPr/>
        </p:nvSpPr>
        <p:spPr>
          <a:xfrm>
            <a:off x="9145191" y="3689747"/>
            <a:ext cx="4698921" cy="605790"/>
          </a:xfrm>
          <a:prstGeom prst="roundRect">
            <a:avLst>
              <a:gd name="adj" fmla="val 4212"/>
            </a:avLst>
          </a:prstGeom>
          <a:solidFill>
            <a:srgbClr val="484B51"/>
          </a:solidFill>
          <a:ln/>
        </p:spPr>
      </p:sp>
      <p:sp>
        <p:nvSpPr>
          <p:cNvPr id="10" name="Text 7"/>
          <p:cNvSpPr/>
          <p:nvPr/>
        </p:nvSpPr>
        <p:spPr>
          <a:xfrm>
            <a:off x="9315212" y="3859768"/>
            <a:ext cx="4099322"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观看教学：观看视频教程,收藏喜欢的内容。</a:t>
            </a:r>
            <a:endParaRPr lang="en-US" sz="1650" dirty="0"/>
          </a:p>
        </p:txBody>
      </p:sp>
      <p:sp>
        <p:nvSpPr>
          <p:cNvPr id="11" name="Shape 8"/>
          <p:cNvSpPr/>
          <p:nvPr/>
        </p:nvSpPr>
        <p:spPr>
          <a:xfrm>
            <a:off x="9145191" y="4465558"/>
            <a:ext cx="4698921" cy="605790"/>
          </a:xfrm>
          <a:prstGeom prst="roundRect">
            <a:avLst>
              <a:gd name="adj" fmla="val 4212"/>
            </a:avLst>
          </a:prstGeom>
          <a:solidFill>
            <a:srgbClr val="484B51"/>
          </a:solidFill>
          <a:ln/>
        </p:spPr>
      </p:sp>
      <p:sp>
        <p:nvSpPr>
          <p:cNvPr id="12" name="Text 9"/>
          <p:cNvSpPr/>
          <p:nvPr/>
        </p:nvSpPr>
        <p:spPr>
          <a:xfrm>
            <a:off x="9315212" y="4635579"/>
            <a:ext cx="3886795"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训练残局：挑战经典残局,获得分析建议。</a:t>
            </a:r>
            <a:endParaRPr lang="en-US" sz="1650" dirty="0"/>
          </a:p>
        </p:txBody>
      </p:sp>
      <p:sp>
        <p:nvSpPr>
          <p:cNvPr id="13" name="Shape 10"/>
          <p:cNvSpPr/>
          <p:nvPr/>
        </p:nvSpPr>
        <p:spPr>
          <a:xfrm>
            <a:off x="9145191" y="5241369"/>
            <a:ext cx="4698921" cy="605790"/>
          </a:xfrm>
          <a:prstGeom prst="roundRect">
            <a:avLst>
              <a:gd name="adj" fmla="val 4212"/>
            </a:avLst>
          </a:prstGeom>
          <a:solidFill>
            <a:srgbClr val="484B51"/>
          </a:solidFill>
          <a:ln/>
        </p:spPr>
      </p:sp>
      <p:sp>
        <p:nvSpPr>
          <p:cNvPr id="14" name="Text 11"/>
          <p:cNvSpPr/>
          <p:nvPr/>
        </p:nvSpPr>
        <p:spPr>
          <a:xfrm>
            <a:off x="9315212" y="5411391"/>
            <a:ext cx="3886795"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复盘棋局：查看对局记录,获得改进意见。</a:t>
            </a:r>
            <a:endParaRPr lang="en-US" sz="1650" dirty="0"/>
          </a:p>
        </p:txBody>
      </p:sp>
      <p:sp>
        <p:nvSpPr>
          <p:cNvPr id="15" name="Shape 12"/>
          <p:cNvSpPr/>
          <p:nvPr/>
        </p:nvSpPr>
        <p:spPr>
          <a:xfrm>
            <a:off x="9145191" y="6017181"/>
            <a:ext cx="4698921" cy="605790"/>
          </a:xfrm>
          <a:prstGeom prst="roundRect">
            <a:avLst>
              <a:gd name="adj" fmla="val 4212"/>
            </a:avLst>
          </a:prstGeom>
          <a:solidFill>
            <a:srgbClr val="484B51"/>
          </a:solidFill>
          <a:ln/>
        </p:spPr>
      </p:sp>
      <p:sp>
        <p:nvSpPr>
          <p:cNvPr id="16" name="Text 13"/>
          <p:cNvSpPr/>
          <p:nvPr/>
        </p:nvSpPr>
        <p:spPr>
          <a:xfrm>
            <a:off x="9315212" y="6187202"/>
            <a:ext cx="4099322"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社交互动：添加好友,创建或加入棋友群聊。</a:t>
            </a:r>
            <a:endParaRPr lang="en-US" sz="1650" dirty="0"/>
          </a:p>
        </p:txBody>
      </p:sp>
      <p:sp>
        <p:nvSpPr>
          <p:cNvPr id="17" name="Shape 14"/>
          <p:cNvSpPr/>
          <p:nvPr/>
        </p:nvSpPr>
        <p:spPr>
          <a:xfrm>
            <a:off x="9145191" y="6792992"/>
            <a:ext cx="4698921" cy="605790"/>
          </a:xfrm>
          <a:prstGeom prst="roundRect">
            <a:avLst>
              <a:gd name="adj" fmla="val 4212"/>
            </a:avLst>
          </a:prstGeom>
          <a:solidFill>
            <a:srgbClr val="484B51"/>
          </a:solidFill>
          <a:ln/>
        </p:spPr>
      </p:sp>
      <p:sp>
        <p:nvSpPr>
          <p:cNvPr id="18" name="Text 15"/>
          <p:cNvSpPr/>
          <p:nvPr/>
        </p:nvSpPr>
        <p:spPr>
          <a:xfrm>
            <a:off x="9315212" y="6963013"/>
            <a:ext cx="4250650" cy="265747"/>
          </a:xfrm>
          <a:prstGeom prst="rect">
            <a:avLst/>
          </a:prstGeom>
          <a:noFill/>
          <a:ln/>
        </p:spPr>
        <p:txBody>
          <a:bodyPr wrap="none" lIns="0" tIns="0" rIns="0" bIns="0" rtlCol="0" anchor="t"/>
          <a:lstStyle/>
          <a:p>
            <a:pPr marL="0" indent="0">
              <a:lnSpc>
                <a:spcPts val="2050"/>
              </a:lnSpc>
              <a:buNone/>
            </a:pPr>
            <a:r>
              <a:rPr lang="en-US" sz="1650" dirty="0">
                <a:solidFill>
                  <a:srgbClr val="D4D4D1"/>
                </a:solidFill>
                <a:latin typeface="IBM Plex Sans Medium" pitchFamily="34" charset="0"/>
                <a:ea typeface="IBM Plex Sans Medium" pitchFamily="34" charset="-122"/>
                <a:cs typeface="IBM Plex Sans Medium" pitchFamily="34" charset="-120"/>
              </a:rPr>
              <a:t>管理功能：管理用户、教学资源、数据分析。</a:t>
            </a:r>
            <a:endParaRPr lang="en-US" sz="16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07588"/>
            <a:ext cx="5387102" cy="673418"/>
          </a:xfrm>
          <a:prstGeom prst="rect">
            <a:avLst/>
          </a:prstGeom>
          <a:noFill/>
          <a:ln/>
        </p:spPr>
        <p:txBody>
          <a:bodyPr wrap="none" lIns="0" tIns="0" rIns="0" bIns="0" rtlCol="0" anchor="t"/>
          <a:lstStyle/>
          <a:p>
            <a:pPr marL="0" indent="0">
              <a:lnSpc>
                <a:spcPts val="5300"/>
              </a:lnSpc>
              <a:buNone/>
            </a:pPr>
            <a:r>
              <a:rPr lang="en-US" sz="4200" dirty="0">
                <a:solidFill>
                  <a:srgbClr val="F3F3F2"/>
                </a:solidFill>
                <a:latin typeface="微软雅黑" panose="020B0503020204020204" pitchFamily="34" charset="-122"/>
                <a:ea typeface="微软雅黑" panose="020B0503020204020204" pitchFamily="34" charset="-122"/>
                <a:cs typeface="IBM Plex Sans Medium" pitchFamily="34" charset="-120"/>
              </a:rPr>
              <a:t>4. 进度安排</a:t>
            </a:r>
            <a:endParaRPr lang="en-US" sz="4200" dirty="0">
              <a:latin typeface="微软雅黑" panose="020B0503020204020204" pitchFamily="34" charset="-122"/>
              <a:ea typeface="微软雅黑" panose="020B0503020204020204" pitchFamily="34" charset="-122"/>
            </a:endParaRPr>
          </a:p>
        </p:txBody>
      </p:sp>
      <p:sp>
        <p:nvSpPr>
          <p:cNvPr id="3" name="Shape 1"/>
          <p:cNvSpPr/>
          <p:nvPr/>
        </p:nvSpPr>
        <p:spPr>
          <a:xfrm>
            <a:off x="7299960" y="1811893"/>
            <a:ext cx="30480" cy="5709999"/>
          </a:xfrm>
          <a:prstGeom prst="roundRect">
            <a:avLst>
              <a:gd name="adj" fmla="val 106046"/>
            </a:avLst>
          </a:prstGeom>
          <a:solidFill>
            <a:srgbClr val="61646A"/>
          </a:solidFill>
          <a:ln/>
        </p:spPr>
      </p:sp>
      <p:sp>
        <p:nvSpPr>
          <p:cNvPr id="4" name="Shape 2"/>
          <p:cNvSpPr/>
          <p:nvPr/>
        </p:nvSpPr>
        <p:spPr>
          <a:xfrm>
            <a:off x="6456878" y="2281476"/>
            <a:ext cx="646390" cy="30480"/>
          </a:xfrm>
          <a:prstGeom prst="roundRect">
            <a:avLst>
              <a:gd name="adj" fmla="val 106046"/>
            </a:avLst>
          </a:prstGeom>
          <a:solidFill>
            <a:srgbClr val="61646A"/>
          </a:solidFill>
          <a:ln/>
        </p:spPr>
      </p:sp>
      <p:sp>
        <p:nvSpPr>
          <p:cNvPr id="5" name="Shape 3"/>
          <p:cNvSpPr/>
          <p:nvPr/>
        </p:nvSpPr>
        <p:spPr>
          <a:xfrm>
            <a:off x="7072789" y="2054304"/>
            <a:ext cx="484823" cy="484823"/>
          </a:xfrm>
          <a:prstGeom prst="roundRect">
            <a:avLst>
              <a:gd name="adj" fmla="val 6667"/>
            </a:avLst>
          </a:prstGeom>
          <a:solidFill>
            <a:srgbClr val="484B51"/>
          </a:solidFill>
          <a:ln/>
        </p:spPr>
      </p:sp>
      <p:sp>
        <p:nvSpPr>
          <p:cNvPr id="6" name="Text 4"/>
          <p:cNvSpPr/>
          <p:nvPr/>
        </p:nvSpPr>
        <p:spPr>
          <a:xfrm>
            <a:off x="7153632" y="2094726"/>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1</a:t>
            </a:r>
            <a:endParaRPr lang="en-US" sz="2500" dirty="0">
              <a:latin typeface="微软雅黑" panose="020B0503020204020204" pitchFamily="34" charset="-122"/>
              <a:ea typeface="微软雅黑" panose="020B0503020204020204" pitchFamily="34" charset="-122"/>
            </a:endParaRPr>
          </a:p>
        </p:txBody>
      </p:sp>
      <p:sp>
        <p:nvSpPr>
          <p:cNvPr id="7" name="Text 5"/>
          <p:cNvSpPr/>
          <p:nvPr/>
        </p:nvSpPr>
        <p:spPr>
          <a:xfrm>
            <a:off x="2118717" y="2027277"/>
            <a:ext cx="4119086" cy="336590"/>
          </a:xfrm>
          <a:prstGeom prst="rect">
            <a:avLst/>
          </a:prstGeom>
          <a:noFill/>
          <a:ln/>
        </p:spPr>
        <p:txBody>
          <a:bodyPr wrap="none" lIns="0" tIns="0" rIns="0" bIns="0" rtlCol="0" anchor="t"/>
          <a:lstStyle/>
          <a:p>
            <a:pPr marL="0" indent="0" algn="r">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2024.12-2025.2.28 文献调研阶段</a:t>
            </a:r>
            <a:endParaRPr lang="en-US" sz="2100" dirty="0">
              <a:latin typeface="微软雅黑" panose="020B0503020204020204" pitchFamily="34" charset="-122"/>
              <a:ea typeface="微软雅黑" panose="020B0503020204020204" pitchFamily="34" charset="-122"/>
            </a:endParaRPr>
          </a:p>
        </p:txBody>
      </p:sp>
      <p:sp>
        <p:nvSpPr>
          <p:cNvPr id="8" name="Text 6"/>
          <p:cNvSpPr/>
          <p:nvPr/>
        </p:nvSpPr>
        <p:spPr>
          <a:xfrm>
            <a:off x="793790" y="2493050"/>
            <a:ext cx="5444014" cy="689610"/>
          </a:xfrm>
          <a:prstGeom prst="rect">
            <a:avLst/>
          </a:prstGeom>
          <a:noFill/>
          <a:ln/>
        </p:spPr>
        <p:txBody>
          <a:bodyPr wrap="square" lIns="0" tIns="0" rIns="0" bIns="0" rtlCol="0" anchor="t"/>
          <a:lstStyle/>
          <a:p>
            <a:pPr marL="0" indent="0" algn="r">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查阅相关文献、了解前沿技术，完成文献翻译和开题报告。</a:t>
            </a:r>
            <a:endParaRPr lang="en-US" sz="1650" dirty="0">
              <a:latin typeface="微软雅黑" panose="020B0503020204020204" pitchFamily="34" charset="-122"/>
              <a:ea typeface="微软雅黑" panose="020B0503020204020204" pitchFamily="34" charset="-122"/>
            </a:endParaRPr>
          </a:p>
        </p:txBody>
      </p:sp>
      <p:sp>
        <p:nvSpPr>
          <p:cNvPr id="9" name="Shape 7"/>
          <p:cNvSpPr/>
          <p:nvPr/>
        </p:nvSpPr>
        <p:spPr>
          <a:xfrm>
            <a:off x="7527131" y="3358753"/>
            <a:ext cx="646390" cy="30480"/>
          </a:xfrm>
          <a:prstGeom prst="roundRect">
            <a:avLst>
              <a:gd name="adj" fmla="val 106046"/>
            </a:avLst>
          </a:prstGeom>
          <a:solidFill>
            <a:srgbClr val="61646A"/>
          </a:solidFill>
          <a:ln/>
        </p:spPr>
      </p:sp>
      <p:sp>
        <p:nvSpPr>
          <p:cNvPr id="10" name="Shape 8"/>
          <p:cNvSpPr/>
          <p:nvPr/>
        </p:nvSpPr>
        <p:spPr>
          <a:xfrm>
            <a:off x="7072789" y="3131582"/>
            <a:ext cx="484823" cy="484823"/>
          </a:xfrm>
          <a:prstGeom prst="roundRect">
            <a:avLst>
              <a:gd name="adj" fmla="val 6667"/>
            </a:avLst>
          </a:prstGeom>
          <a:solidFill>
            <a:srgbClr val="484B51"/>
          </a:solidFill>
          <a:ln/>
        </p:spPr>
      </p:sp>
      <p:sp>
        <p:nvSpPr>
          <p:cNvPr id="11" name="Text 9"/>
          <p:cNvSpPr/>
          <p:nvPr/>
        </p:nvSpPr>
        <p:spPr>
          <a:xfrm>
            <a:off x="7153632" y="3172004"/>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2</a:t>
            </a:r>
            <a:endParaRPr lang="en-US" sz="2500" dirty="0">
              <a:latin typeface="微软雅黑" panose="020B0503020204020204" pitchFamily="34" charset="-122"/>
              <a:ea typeface="微软雅黑" panose="020B0503020204020204" pitchFamily="34" charset="-122"/>
            </a:endParaRPr>
          </a:p>
        </p:txBody>
      </p:sp>
      <p:sp>
        <p:nvSpPr>
          <p:cNvPr id="12" name="Text 10"/>
          <p:cNvSpPr/>
          <p:nvPr/>
        </p:nvSpPr>
        <p:spPr>
          <a:xfrm>
            <a:off x="8392597" y="3104555"/>
            <a:ext cx="4196596"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2025.3.1-2025.3.15 系统设计阶段</a:t>
            </a:r>
            <a:endParaRPr lang="en-US" sz="2100" dirty="0">
              <a:latin typeface="微软雅黑" panose="020B0503020204020204" pitchFamily="34" charset="-122"/>
              <a:ea typeface="微软雅黑" panose="020B0503020204020204" pitchFamily="34" charset="-122"/>
            </a:endParaRPr>
          </a:p>
        </p:txBody>
      </p:sp>
      <p:sp>
        <p:nvSpPr>
          <p:cNvPr id="13" name="Text 11"/>
          <p:cNvSpPr/>
          <p:nvPr/>
        </p:nvSpPr>
        <p:spPr>
          <a:xfrm>
            <a:off x="8392597" y="3570327"/>
            <a:ext cx="5444014" cy="344805"/>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完成系统需求分析、概要设计，搭建开发环境。</a:t>
            </a:r>
            <a:endParaRPr lang="en-US" sz="1650" dirty="0">
              <a:latin typeface="微软雅黑" panose="020B0503020204020204" pitchFamily="34" charset="-122"/>
              <a:ea typeface="微软雅黑" panose="020B0503020204020204" pitchFamily="34" charset="-122"/>
            </a:endParaRPr>
          </a:p>
        </p:txBody>
      </p:sp>
      <p:sp>
        <p:nvSpPr>
          <p:cNvPr id="14" name="Shape 12"/>
          <p:cNvSpPr/>
          <p:nvPr/>
        </p:nvSpPr>
        <p:spPr>
          <a:xfrm>
            <a:off x="6456878" y="4328279"/>
            <a:ext cx="646390" cy="30480"/>
          </a:xfrm>
          <a:prstGeom prst="roundRect">
            <a:avLst>
              <a:gd name="adj" fmla="val 106046"/>
            </a:avLst>
          </a:prstGeom>
          <a:solidFill>
            <a:srgbClr val="61646A"/>
          </a:solidFill>
          <a:ln/>
        </p:spPr>
      </p:sp>
      <p:sp>
        <p:nvSpPr>
          <p:cNvPr id="15" name="Shape 13"/>
          <p:cNvSpPr/>
          <p:nvPr/>
        </p:nvSpPr>
        <p:spPr>
          <a:xfrm>
            <a:off x="7072789" y="4101108"/>
            <a:ext cx="484823" cy="484823"/>
          </a:xfrm>
          <a:prstGeom prst="roundRect">
            <a:avLst>
              <a:gd name="adj" fmla="val 6667"/>
            </a:avLst>
          </a:prstGeom>
          <a:solidFill>
            <a:srgbClr val="484B51"/>
          </a:solidFill>
          <a:ln/>
        </p:spPr>
      </p:sp>
      <p:sp>
        <p:nvSpPr>
          <p:cNvPr id="16" name="Text 14"/>
          <p:cNvSpPr/>
          <p:nvPr/>
        </p:nvSpPr>
        <p:spPr>
          <a:xfrm>
            <a:off x="7153632" y="4141530"/>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3</a:t>
            </a:r>
            <a:endParaRPr lang="en-US" sz="2500" dirty="0">
              <a:latin typeface="微软雅黑" panose="020B0503020204020204" pitchFamily="34" charset="-122"/>
              <a:ea typeface="微软雅黑" panose="020B0503020204020204" pitchFamily="34" charset="-122"/>
            </a:endParaRPr>
          </a:p>
        </p:txBody>
      </p:sp>
      <p:sp>
        <p:nvSpPr>
          <p:cNvPr id="17" name="Text 15"/>
          <p:cNvSpPr/>
          <p:nvPr/>
        </p:nvSpPr>
        <p:spPr>
          <a:xfrm>
            <a:off x="1879640" y="4074081"/>
            <a:ext cx="4358164" cy="336590"/>
          </a:xfrm>
          <a:prstGeom prst="rect">
            <a:avLst/>
          </a:prstGeom>
          <a:noFill/>
          <a:ln/>
        </p:spPr>
        <p:txBody>
          <a:bodyPr wrap="none" lIns="0" tIns="0" rIns="0" bIns="0" rtlCol="0" anchor="t"/>
          <a:lstStyle/>
          <a:p>
            <a:pPr marL="0" indent="0" algn="r">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2025.3.16-2025.4.15 开发实现阶段</a:t>
            </a:r>
            <a:endParaRPr lang="en-US" sz="2100" dirty="0">
              <a:latin typeface="微软雅黑" panose="020B0503020204020204" pitchFamily="34" charset="-122"/>
              <a:ea typeface="微软雅黑" panose="020B0503020204020204" pitchFamily="34" charset="-122"/>
            </a:endParaRPr>
          </a:p>
        </p:txBody>
      </p:sp>
      <p:sp>
        <p:nvSpPr>
          <p:cNvPr id="18" name="Text 16"/>
          <p:cNvSpPr/>
          <p:nvPr/>
        </p:nvSpPr>
        <p:spPr>
          <a:xfrm>
            <a:off x="793790" y="4539853"/>
            <a:ext cx="5444014" cy="344805"/>
          </a:xfrm>
          <a:prstGeom prst="rect">
            <a:avLst/>
          </a:prstGeom>
          <a:noFill/>
          <a:ln/>
        </p:spPr>
        <p:txBody>
          <a:bodyPr wrap="none" lIns="0" tIns="0" rIns="0" bIns="0" rtlCol="0" anchor="t"/>
          <a:lstStyle/>
          <a:p>
            <a:pPr marL="0" indent="0" algn="r">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进行系统详细设计与功能测试，实现核心模块。</a:t>
            </a:r>
            <a:endParaRPr lang="en-US" sz="1650" dirty="0">
              <a:latin typeface="微软雅黑" panose="020B0503020204020204" pitchFamily="34" charset="-122"/>
              <a:ea typeface="微软雅黑" panose="020B0503020204020204" pitchFamily="34" charset="-122"/>
            </a:endParaRPr>
          </a:p>
        </p:txBody>
      </p:sp>
      <p:sp>
        <p:nvSpPr>
          <p:cNvPr id="19" name="Shape 17"/>
          <p:cNvSpPr/>
          <p:nvPr/>
        </p:nvSpPr>
        <p:spPr>
          <a:xfrm>
            <a:off x="7527131" y="5297924"/>
            <a:ext cx="646390" cy="30480"/>
          </a:xfrm>
          <a:prstGeom prst="roundRect">
            <a:avLst>
              <a:gd name="adj" fmla="val 106046"/>
            </a:avLst>
          </a:prstGeom>
          <a:solidFill>
            <a:srgbClr val="61646A"/>
          </a:solidFill>
          <a:ln/>
        </p:spPr>
      </p:sp>
      <p:sp>
        <p:nvSpPr>
          <p:cNvPr id="20" name="Shape 18"/>
          <p:cNvSpPr/>
          <p:nvPr/>
        </p:nvSpPr>
        <p:spPr>
          <a:xfrm>
            <a:off x="7072789" y="5070753"/>
            <a:ext cx="484823" cy="484823"/>
          </a:xfrm>
          <a:prstGeom prst="roundRect">
            <a:avLst>
              <a:gd name="adj" fmla="val 6667"/>
            </a:avLst>
          </a:prstGeom>
          <a:solidFill>
            <a:srgbClr val="484B51"/>
          </a:solidFill>
          <a:ln/>
        </p:spPr>
      </p:sp>
      <p:sp>
        <p:nvSpPr>
          <p:cNvPr id="21" name="Text 19"/>
          <p:cNvSpPr/>
          <p:nvPr/>
        </p:nvSpPr>
        <p:spPr>
          <a:xfrm>
            <a:off x="7153632" y="5111175"/>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4</a:t>
            </a:r>
            <a:endParaRPr lang="en-US" sz="2500" dirty="0">
              <a:latin typeface="微软雅黑" panose="020B0503020204020204" pitchFamily="34" charset="-122"/>
              <a:ea typeface="微软雅黑" panose="020B0503020204020204" pitchFamily="34" charset="-122"/>
            </a:endParaRPr>
          </a:p>
        </p:txBody>
      </p:sp>
      <p:sp>
        <p:nvSpPr>
          <p:cNvPr id="22" name="Text 20"/>
          <p:cNvSpPr/>
          <p:nvPr/>
        </p:nvSpPr>
        <p:spPr>
          <a:xfrm>
            <a:off x="8392597" y="5043726"/>
            <a:ext cx="4627364"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2025.4.15-2025.5.10 验收与总结阶段</a:t>
            </a:r>
            <a:endParaRPr lang="en-US" sz="2100" dirty="0">
              <a:latin typeface="微软雅黑" panose="020B0503020204020204" pitchFamily="34" charset="-122"/>
              <a:ea typeface="微软雅黑" panose="020B0503020204020204" pitchFamily="34" charset="-122"/>
            </a:endParaRPr>
          </a:p>
        </p:txBody>
      </p:sp>
      <p:sp>
        <p:nvSpPr>
          <p:cNvPr id="23" name="Text 21"/>
          <p:cNvSpPr/>
          <p:nvPr/>
        </p:nvSpPr>
        <p:spPr>
          <a:xfrm>
            <a:off x="8392597" y="5509498"/>
            <a:ext cx="5444014" cy="344805"/>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完成系统验收测试，撰写毕业论文。</a:t>
            </a:r>
            <a:endParaRPr lang="en-US" sz="1650" dirty="0">
              <a:latin typeface="微软雅黑" panose="020B0503020204020204" pitchFamily="34" charset="-122"/>
              <a:ea typeface="微软雅黑" panose="020B0503020204020204" pitchFamily="34" charset="-122"/>
            </a:endParaRPr>
          </a:p>
        </p:txBody>
      </p:sp>
      <p:sp>
        <p:nvSpPr>
          <p:cNvPr id="24" name="Shape 22"/>
          <p:cNvSpPr/>
          <p:nvPr/>
        </p:nvSpPr>
        <p:spPr>
          <a:xfrm>
            <a:off x="6456878" y="6267569"/>
            <a:ext cx="646390" cy="30480"/>
          </a:xfrm>
          <a:prstGeom prst="roundRect">
            <a:avLst>
              <a:gd name="adj" fmla="val 106046"/>
            </a:avLst>
          </a:prstGeom>
          <a:solidFill>
            <a:srgbClr val="61646A"/>
          </a:solidFill>
          <a:ln/>
        </p:spPr>
      </p:sp>
      <p:sp>
        <p:nvSpPr>
          <p:cNvPr id="25" name="Shape 23"/>
          <p:cNvSpPr/>
          <p:nvPr/>
        </p:nvSpPr>
        <p:spPr>
          <a:xfrm>
            <a:off x="7072789" y="6040398"/>
            <a:ext cx="484823" cy="484823"/>
          </a:xfrm>
          <a:prstGeom prst="roundRect">
            <a:avLst>
              <a:gd name="adj" fmla="val 6667"/>
            </a:avLst>
          </a:prstGeom>
          <a:solidFill>
            <a:srgbClr val="484B51"/>
          </a:solidFill>
          <a:ln/>
        </p:spPr>
      </p:sp>
      <p:sp>
        <p:nvSpPr>
          <p:cNvPr id="26" name="Text 24"/>
          <p:cNvSpPr/>
          <p:nvPr/>
        </p:nvSpPr>
        <p:spPr>
          <a:xfrm>
            <a:off x="7153632" y="6080820"/>
            <a:ext cx="323136" cy="403979"/>
          </a:xfrm>
          <a:prstGeom prst="rect">
            <a:avLst/>
          </a:prstGeom>
          <a:noFill/>
          <a:ln/>
        </p:spPr>
        <p:txBody>
          <a:bodyPr wrap="none" lIns="0" tIns="0" rIns="0" bIns="0" rtlCol="0" anchor="t"/>
          <a:lstStyle/>
          <a:p>
            <a:pPr marL="0" indent="0" algn="ctr">
              <a:lnSpc>
                <a:spcPts val="2500"/>
              </a:lnSpc>
              <a:buNone/>
            </a:pPr>
            <a:r>
              <a:rPr lang="en-US" sz="2500" dirty="0">
                <a:solidFill>
                  <a:srgbClr val="D4D4D1"/>
                </a:solidFill>
                <a:latin typeface="微软雅黑" panose="020B0503020204020204" pitchFamily="34" charset="-122"/>
                <a:ea typeface="微软雅黑" panose="020B0503020204020204" pitchFamily="34" charset="-122"/>
                <a:cs typeface="IBM Plex Sans Medium" pitchFamily="34" charset="-120"/>
              </a:rPr>
              <a:t>5</a:t>
            </a:r>
            <a:endParaRPr lang="en-US" sz="2500" dirty="0">
              <a:latin typeface="微软雅黑" panose="020B0503020204020204" pitchFamily="34" charset="-122"/>
              <a:ea typeface="微软雅黑" panose="020B0503020204020204" pitchFamily="34" charset="-122"/>
            </a:endParaRPr>
          </a:p>
        </p:txBody>
      </p:sp>
      <p:sp>
        <p:nvSpPr>
          <p:cNvPr id="27" name="Text 25"/>
          <p:cNvSpPr/>
          <p:nvPr/>
        </p:nvSpPr>
        <p:spPr>
          <a:xfrm>
            <a:off x="2418040" y="6013371"/>
            <a:ext cx="3819763" cy="336590"/>
          </a:xfrm>
          <a:prstGeom prst="rect">
            <a:avLst/>
          </a:prstGeom>
          <a:noFill/>
          <a:ln/>
        </p:spPr>
        <p:txBody>
          <a:bodyPr wrap="none" lIns="0" tIns="0" rIns="0" bIns="0" rtlCol="0" anchor="t"/>
          <a:lstStyle/>
          <a:p>
            <a:pPr marL="0" indent="0" algn="r">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2025.5.10-2025.6.08 答辩阶段</a:t>
            </a:r>
            <a:endParaRPr lang="en-US" sz="2100" dirty="0">
              <a:latin typeface="微软雅黑" panose="020B0503020204020204" pitchFamily="34" charset="-122"/>
              <a:ea typeface="微软雅黑" panose="020B0503020204020204" pitchFamily="34" charset="-122"/>
            </a:endParaRPr>
          </a:p>
        </p:txBody>
      </p:sp>
      <p:sp>
        <p:nvSpPr>
          <p:cNvPr id="28" name="Text 26"/>
          <p:cNvSpPr/>
          <p:nvPr/>
        </p:nvSpPr>
        <p:spPr>
          <a:xfrm>
            <a:off x="793790" y="6479143"/>
            <a:ext cx="5444014" cy="344805"/>
          </a:xfrm>
          <a:prstGeom prst="rect">
            <a:avLst/>
          </a:prstGeom>
          <a:noFill/>
          <a:ln/>
        </p:spPr>
        <p:txBody>
          <a:bodyPr wrap="none" lIns="0" tIns="0" rIns="0" bIns="0" rtlCol="0" anchor="t"/>
          <a:lstStyle/>
          <a:p>
            <a:pPr marL="0" indent="0" algn="r">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准备答辩材料，完成最终答辩。</a:t>
            </a:r>
            <a:endParaRPr lang="en-US" sz="16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46046"/>
            <a:ext cx="5387102" cy="673418"/>
          </a:xfrm>
          <a:prstGeom prst="rect">
            <a:avLst/>
          </a:prstGeom>
          <a:noFill/>
          <a:ln/>
        </p:spPr>
        <p:txBody>
          <a:bodyPr wrap="none" lIns="0" tIns="0" rIns="0" bIns="0" rtlCol="0" anchor="t"/>
          <a:lstStyle/>
          <a:p>
            <a:pPr marL="0" indent="0">
              <a:lnSpc>
                <a:spcPts val="5300"/>
              </a:lnSpc>
              <a:buNone/>
            </a:pPr>
            <a:r>
              <a:rPr lang="en-US" sz="4200" dirty="0">
                <a:solidFill>
                  <a:srgbClr val="F3F3F2"/>
                </a:solidFill>
                <a:latin typeface="微软雅黑" panose="020B0503020204020204" pitchFamily="34" charset="-122"/>
                <a:ea typeface="微软雅黑" panose="020B0503020204020204" pitchFamily="34" charset="-122"/>
                <a:cs typeface="IBM Plex Sans Medium" pitchFamily="34" charset="-120"/>
              </a:rPr>
              <a:t>5. 目前进展</a:t>
            </a:r>
            <a:endParaRPr lang="en-US" sz="4200" dirty="0">
              <a:latin typeface="微软雅黑" panose="020B0503020204020204" pitchFamily="34" charset="-122"/>
              <a:ea typeface="微软雅黑" panose="020B0503020204020204" pitchFamily="34" charset="-122"/>
            </a:endParaRPr>
          </a:p>
        </p:txBody>
      </p:sp>
      <p:sp>
        <p:nvSpPr>
          <p:cNvPr id="3" name="Shape 1"/>
          <p:cNvSpPr/>
          <p:nvPr/>
        </p:nvSpPr>
        <p:spPr>
          <a:xfrm>
            <a:off x="793790" y="1850350"/>
            <a:ext cx="1630323" cy="1241346"/>
          </a:xfrm>
          <a:prstGeom prst="roundRect">
            <a:avLst>
              <a:gd name="adj" fmla="val 2604"/>
            </a:avLst>
          </a:prstGeom>
          <a:solidFill>
            <a:srgbClr val="484B51"/>
          </a:solidFill>
          <a:ln/>
        </p:spPr>
      </p:sp>
      <p:sp>
        <p:nvSpPr>
          <p:cNvPr id="4" name="Text 2"/>
          <p:cNvSpPr/>
          <p:nvPr/>
        </p:nvSpPr>
        <p:spPr>
          <a:xfrm>
            <a:off x="1457444" y="2281595"/>
            <a:ext cx="303014" cy="378738"/>
          </a:xfrm>
          <a:prstGeom prst="rect">
            <a:avLst/>
          </a:prstGeom>
          <a:noFill/>
          <a:ln/>
        </p:spPr>
        <p:txBody>
          <a:bodyPr wrap="none" lIns="0" tIns="0" rIns="0" bIns="0" rtlCol="0" anchor="t"/>
          <a:lstStyle/>
          <a:p>
            <a:pPr marL="0" indent="0" algn="ctr">
              <a:lnSpc>
                <a:spcPts val="3800"/>
              </a:lnSpc>
              <a:buNone/>
            </a:pPr>
            <a:r>
              <a:rPr lang="en-US" sz="2350" dirty="0">
                <a:solidFill>
                  <a:srgbClr val="D4D4D1"/>
                </a:solidFill>
                <a:latin typeface="微软雅黑" panose="020B0503020204020204" pitchFamily="34" charset="-122"/>
                <a:ea typeface="微软雅黑" panose="020B0503020204020204" pitchFamily="34" charset="-122"/>
                <a:cs typeface="IBM Plex Sans Medium" pitchFamily="34" charset="-120"/>
              </a:rPr>
              <a:t>1</a:t>
            </a:r>
            <a:endParaRPr lang="en-US" sz="2350" dirty="0">
              <a:latin typeface="微软雅黑" panose="020B0503020204020204" pitchFamily="34" charset="-122"/>
              <a:ea typeface="微软雅黑" panose="020B0503020204020204" pitchFamily="34" charset="-122"/>
            </a:endParaRPr>
          </a:p>
        </p:txBody>
      </p:sp>
      <p:sp>
        <p:nvSpPr>
          <p:cNvPr id="5" name="Text 3"/>
          <p:cNvSpPr/>
          <p:nvPr/>
        </p:nvSpPr>
        <p:spPr>
          <a:xfrm>
            <a:off x="2639497" y="2065734"/>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需求分析完成</a:t>
            </a:r>
            <a:endParaRPr lang="en-US" sz="2100" dirty="0">
              <a:latin typeface="微软雅黑" panose="020B0503020204020204" pitchFamily="34" charset="-122"/>
              <a:ea typeface="微软雅黑" panose="020B0503020204020204" pitchFamily="34" charset="-122"/>
            </a:endParaRPr>
          </a:p>
        </p:txBody>
      </p:sp>
      <p:sp>
        <p:nvSpPr>
          <p:cNvPr id="6" name="Text 4"/>
          <p:cNvSpPr/>
          <p:nvPr/>
        </p:nvSpPr>
        <p:spPr>
          <a:xfrm>
            <a:off x="2639497" y="2531507"/>
            <a:ext cx="7969329" cy="344805"/>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已明确用户需求和系统功能要点。完成了国际象棋教学与对弈系统的核心功能设计。</a:t>
            </a:r>
            <a:endParaRPr lang="en-US" sz="1650" dirty="0">
              <a:latin typeface="微软雅黑" panose="020B0503020204020204" pitchFamily="34" charset="-122"/>
              <a:ea typeface="微软雅黑" panose="020B0503020204020204" pitchFamily="34" charset="-122"/>
            </a:endParaRPr>
          </a:p>
        </p:txBody>
      </p:sp>
      <p:sp>
        <p:nvSpPr>
          <p:cNvPr id="7" name="Shape 5"/>
          <p:cNvSpPr/>
          <p:nvPr/>
        </p:nvSpPr>
        <p:spPr>
          <a:xfrm>
            <a:off x="2531745" y="3076456"/>
            <a:ext cx="11197233" cy="15240"/>
          </a:xfrm>
          <a:prstGeom prst="roundRect">
            <a:avLst>
              <a:gd name="adj" fmla="val 212093"/>
            </a:avLst>
          </a:prstGeom>
          <a:solidFill>
            <a:srgbClr val="61646A"/>
          </a:solidFill>
          <a:ln/>
        </p:spPr>
      </p:sp>
      <p:sp>
        <p:nvSpPr>
          <p:cNvPr id="8" name="Shape 6"/>
          <p:cNvSpPr/>
          <p:nvPr/>
        </p:nvSpPr>
        <p:spPr>
          <a:xfrm>
            <a:off x="793790" y="3199328"/>
            <a:ext cx="3260646" cy="1241346"/>
          </a:xfrm>
          <a:prstGeom prst="roundRect">
            <a:avLst>
              <a:gd name="adj" fmla="val 2604"/>
            </a:avLst>
          </a:prstGeom>
          <a:solidFill>
            <a:srgbClr val="484B51"/>
          </a:solidFill>
          <a:ln/>
        </p:spPr>
      </p:sp>
      <p:sp>
        <p:nvSpPr>
          <p:cNvPr id="9" name="Text 7"/>
          <p:cNvSpPr/>
          <p:nvPr/>
        </p:nvSpPr>
        <p:spPr>
          <a:xfrm>
            <a:off x="2272546" y="3630573"/>
            <a:ext cx="303014" cy="378738"/>
          </a:xfrm>
          <a:prstGeom prst="rect">
            <a:avLst/>
          </a:prstGeom>
          <a:noFill/>
          <a:ln/>
        </p:spPr>
        <p:txBody>
          <a:bodyPr wrap="none" lIns="0" tIns="0" rIns="0" bIns="0" rtlCol="0" anchor="t"/>
          <a:lstStyle/>
          <a:p>
            <a:pPr marL="0" indent="0" algn="ctr">
              <a:lnSpc>
                <a:spcPts val="3800"/>
              </a:lnSpc>
              <a:buNone/>
            </a:pPr>
            <a:r>
              <a:rPr lang="en-US" sz="2350" dirty="0">
                <a:solidFill>
                  <a:srgbClr val="D4D4D1"/>
                </a:solidFill>
                <a:latin typeface="微软雅黑" panose="020B0503020204020204" pitchFamily="34" charset="-122"/>
                <a:ea typeface="微软雅黑" panose="020B0503020204020204" pitchFamily="34" charset="-122"/>
                <a:cs typeface="IBM Plex Sans Medium" pitchFamily="34" charset="-120"/>
              </a:rPr>
              <a:t>2</a:t>
            </a:r>
            <a:endParaRPr lang="en-US" sz="2350" dirty="0">
              <a:latin typeface="微软雅黑" panose="020B0503020204020204" pitchFamily="34" charset="-122"/>
              <a:ea typeface="微软雅黑" panose="020B0503020204020204" pitchFamily="34" charset="-122"/>
            </a:endParaRPr>
          </a:p>
        </p:txBody>
      </p:sp>
      <p:sp>
        <p:nvSpPr>
          <p:cNvPr id="10" name="Text 8"/>
          <p:cNvSpPr/>
          <p:nvPr/>
        </p:nvSpPr>
        <p:spPr>
          <a:xfrm>
            <a:off x="4269819" y="3414713"/>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技术选型确定</a:t>
            </a:r>
            <a:endParaRPr lang="en-US" sz="2100" dirty="0">
              <a:latin typeface="微软雅黑" panose="020B0503020204020204" pitchFamily="34" charset="-122"/>
              <a:ea typeface="微软雅黑" panose="020B0503020204020204" pitchFamily="34" charset="-122"/>
            </a:endParaRPr>
          </a:p>
        </p:txBody>
      </p:sp>
      <p:sp>
        <p:nvSpPr>
          <p:cNvPr id="11" name="Text 9"/>
          <p:cNvSpPr/>
          <p:nvPr/>
        </p:nvSpPr>
        <p:spPr>
          <a:xfrm>
            <a:off x="4269819" y="3880485"/>
            <a:ext cx="7306866" cy="344805"/>
          </a:xfrm>
          <a:prstGeom prst="rect">
            <a:avLst/>
          </a:prstGeom>
          <a:noFill/>
          <a:ln/>
        </p:spPr>
        <p:txBody>
          <a:bodyPr wrap="none" lIns="0" tIns="0" rIns="0" bIns="0" rtlCol="0" anchor="t"/>
          <a:lstStyle/>
          <a:p>
            <a:pPr marL="0" indent="0" algn="l">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选择微服务架构，确定前后端技术栈。关键技术包括AI引擎和实时对战功能。</a:t>
            </a:r>
            <a:endParaRPr lang="en-US" sz="1650" dirty="0">
              <a:latin typeface="微软雅黑" panose="020B0503020204020204" pitchFamily="34" charset="-122"/>
              <a:ea typeface="微软雅黑" panose="020B0503020204020204" pitchFamily="34" charset="-122"/>
            </a:endParaRPr>
          </a:p>
        </p:txBody>
      </p:sp>
      <p:sp>
        <p:nvSpPr>
          <p:cNvPr id="12" name="Shape 10"/>
          <p:cNvSpPr/>
          <p:nvPr/>
        </p:nvSpPr>
        <p:spPr>
          <a:xfrm>
            <a:off x="4162068" y="4425434"/>
            <a:ext cx="9566910" cy="15240"/>
          </a:xfrm>
          <a:prstGeom prst="roundRect">
            <a:avLst>
              <a:gd name="adj" fmla="val 212093"/>
            </a:avLst>
          </a:prstGeom>
          <a:solidFill>
            <a:srgbClr val="61646A"/>
          </a:solidFill>
          <a:ln/>
        </p:spPr>
      </p:sp>
      <p:sp>
        <p:nvSpPr>
          <p:cNvPr id="13" name="Shape 11"/>
          <p:cNvSpPr/>
          <p:nvPr/>
        </p:nvSpPr>
        <p:spPr>
          <a:xfrm>
            <a:off x="793790" y="4548307"/>
            <a:ext cx="4890968" cy="1241346"/>
          </a:xfrm>
          <a:prstGeom prst="roundRect">
            <a:avLst>
              <a:gd name="adj" fmla="val 2604"/>
            </a:avLst>
          </a:prstGeom>
          <a:solidFill>
            <a:srgbClr val="484B51"/>
          </a:solidFill>
          <a:ln/>
        </p:spPr>
      </p:sp>
      <p:sp>
        <p:nvSpPr>
          <p:cNvPr id="14" name="Text 12"/>
          <p:cNvSpPr/>
          <p:nvPr/>
        </p:nvSpPr>
        <p:spPr>
          <a:xfrm>
            <a:off x="3087767" y="4979551"/>
            <a:ext cx="303014" cy="378738"/>
          </a:xfrm>
          <a:prstGeom prst="rect">
            <a:avLst/>
          </a:prstGeom>
          <a:noFill/>
          <a:ln/>
        </p:spPr>
        <p:txBody>
          <a:bodyPr wrap="none" lIns="0" tIns="0" rIns="0" bIns="0" rtlCol="0" anchor="t"/>
          <a:lstStyle/>
          <a:p>
            <a:pPr marL="0" indent="0" algn="ctr">
              <a:lnSpc>
                <a:spcPts val="3800"/>
              </a:lnSpc>
              <a:buNone/>
            </a:pPr>
            <a:r>
              <a:rPr lang="en-US" sz="2350" dirty="0">
                <a:solidFill>
                  <a:srgbClr val="D4D4D1"/>
                </a:solidFill>
                <a:latin typeface="微软雅黑" panose="020B0503020204020204" pitchFamily="34" charset="-122"/>
                <a:ea typeface="微软雅黑" panose="020B0503020204020204" pitchFamily="34" charset="-122"/>
                <a:cs typeface="IBM Plex Sans Medium" pitchFamily="34" charset="-120"/>
              </a:rPr>
              <a:t>3</a:t>
            </a:r>
            <a:endParaRPr lang="en-US" sz="2350" dirty="0">
              <a:latin typeface="微软雅黑" panose="020B0503020204020204" pitchFamily="34" charset="-122"/>
              <a:ea typeface="微软雅黑" panose="020B0503020204020204" pitchFamily="34" charset="-122"/>
            </a:endParaRPr>
          </a:p>
        </p:txBody>
      </p:sp>
      <p:sp>
        <p:nvSpPr>
          <p:cNvPr id="15" name="Text 13"/>
          <p:cNvSpPr/>
          <p:nvPr/>
        </p:nvSpPr>
        <p:spPr>
          <a:xfrm>
            <a:off x="5900142" y="4763691"/>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开发框架搭建</a:t>
            </a:r>
            <a:endParaRPr lang="en-US" sz="2100" dirty="0">
              <a:latin typeface="微软雅黑" panose="020B0503020204020204" pitchFamily="34" charset="-122"/>
              <a:ea typeface="微软雅黑" panose="020B0503020204020204" pitchFamily="34" charset="-122"/>
            </a:endParaRPr>
          </a:p>
        </p:txBody>
      </p:sp>
      <p:sp>
        <p:nvSpPr>
          <p:cNvPr id="16" name="Text 14"/>
          <p:cNvSpPr/>
          <p:nvPr/>
        </p:nvSpPr>
        <p:spPr>
          <a:xfrm>
            <a:off x="5900142" y="5229463"/>
            <a:ext cx="7442716" cy="344805"/>
          </a:xfrm>
          <a:prstGeom prst="rect">
            <a:avLst/>
          </a:prstGeom>
          <a:noFill/>
          <a:ln/>
        </p:spPr>
        <p:txBody>
          <a:bodyPr wrap="none" lIns="0" tIns="0" rIns="0" bIns="0" rtlCol="0" anchor="t"/>
          <a:lstStyle/>
          <a:p>
            <a:pPr marL="0" indent="0" algn="l">
              <a:lnSpc>
                <a:spcPts val="2700"/>
              </a:lnSpc>
              <a:buNone/>
            </a:pPr>
            <a:r>
              <a:rPr lang="en-US" sz="1650" dirty="0" err="1">
                <a:solidFill>
                  <a:srgbClr val="D4D4D1"/>
                </a:solidFill>
                <a:latin typeface="微软雅黑" panose="020B0503020204020204" pitchFamily="34" charset="-122"/>
                <a:ea typeface="微软雅黑" panose="020B0503020204020204" pitchFamily="34" charset="-122"/>
                <a:cs typeface="Roboto" pitchFamily="34" charset="-120"/>
              </a:rPr>
              <a:t>完成基础开发环境配置。数据库设计和接口规范定义，模块划分已完成</a:t>
            </a: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a:t>
            </a:r>
            <a:endParaRPr lang="en-US" sz="1650" dirty="0">
              <a:latin typeface="微软雅黑" panose="020B0503020204020204" pitchFamily="34" charset="-122"/>
              <a:ea typeface="微软雅黑" panose="020B0503020204020204" pitchFamily="34" charset="-122"/>
            </a:endParaRPr>
          </a:p>
        </p:txBody>
      </p:sp>
      <p:sp>
        <p:nvSpPr>
          <p:cNvPr id="17" name="Shape 15"/>
          <p:cNvSpPr/>
          <p:nvPr/>
        </p:nvSpPr>
        <p:spPr>
          <a:xfrm>
            <a:off x="5792391" y="5774412"/>
            <a:ext cx="7936587" cy="15240"/>
          </a:xfrm>
          <a:prstGeom prst="roundRect">
            <a:avLst>
              <a:gd name="adj" fmla="val 212093"/>
            </a:avLst>
          </a:prstGeom>
          <a:solidFill>
            <a:srgbClr val="61646A"/>
          </a:solidFill>
          <a:ln/>
        </p:spPr>
      </p:sp>
      <p:sp>
        <p:nvSpPr>
          <p:cNvPr id="18" name="Shape 16"/>
          <p:cNvSpPr/>
          <p:nvPr/>
        </p:nvSpPr>
        <p:spPr>
          <a:xfrm>
            <a:off x="793790" y="5897285"/>
            <a:ext cx="6521410" cy="1586151"/>
          </a:xfrm>
          <a:prstGeom prst="roundRect">
            <a:avLst>
              <a:gd name="adj" fmla="val 2038"/>
            </a:avLst>
          </a:prstGeom>
          <a:solidFill>
            <a:srgbClr val="484B51"/>
          </a:solidFill>
          <a:ln/>
        </p:spPr>
      </p:sp>
      <p:sp>
        <p:nvSpPr>
          <p:cNvPr id="19" name="Text 17"/>
          <p:cNvSpPr/>
          <p:nvPr/>
        </p:nvSpPr>
        <p:spPr>
          <a:xfrm>
            <a:off x="3902988" y="6500932"/>
            <a:ext cx="303014" cy="378738"/>
          </a:xfrm>
          <a:prstGeom prst="rect">
            <a:avLst/>
          </a:prstGeom>
          <a:noFill/>
          <a:ln/>
        </p:spPr>
        <p:txBody>
          <a:bodyPr wrap="none" lIns="0" tIns="0" rIns="0" bIns="0" rtlCol="0" anchor="t"/>
          <a:lstStyle/>
          <a:p>
            <a:pPr marL="0" indent="0" algn="ctr">
              <a:lnSpc>
                <a:spcPts val="3800"/>
              </a:lnSpc>
              <a:buNone/>
            </a:pPr>
            <a:r>
              <a:rPr lang="en-US" sz="2350" dirty="0">
                <a:solidFill>
                  <a:srgbClr val="D4D4D1"/>
                </a:solidFill>
                <a:latin typeface="微软雅黑" panose="020B0503020204020204" pitchFamily="34" charset="-122"/>
                <a:ea typeface="微软雅黑" panose="020B0503020204020204" pitchFamily="34" charset="-122"/>
                <a:cs typeface="IBM Plex Sans Medium" pitchFamily="34" charset="-120"/>
              </a:rPr>
              <a:t>4</a:t>
            </a:r>
            <a:endParaRPr lang="en-US" sz="2350" dirty="0">
              <a:latin typeface="微软雅黑" panose="020B0503020204020204" pitchFamily="34" charset="-122"/>
              <a:ea typeface="微软雅黑" panose="020B0503020204020204" pitchFamily="34" charset="-122"/>
            </a:endParaRPr>
          </a:p>
        </p:txBody>
      </p:sp>
      <p:sp>
        <p:nvSpPr>
          <p:cNvPr id="20" name="Text 18"/>
          <p:cNvSpPr/>
          <p:nvPr/>
        </p:nvSpPr>
        <p:spPr>
          <a:xfrm>
            <a:off x="7530584" y="6112669"/>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D4D4D1"/>
                </a:solidFill>
                <a:latin typeface="微软雅黑" panose="020B0503020204020204" pitchFamily="34" charset="-122"/>
                <a:ea typeface="微软雅黑" panose="020B0503020204020204" pitchFamily="34" charset="-122"/>
                <a:cs typeface="IBM Plex Sans Medium" pitchFamily="34" charset="-120"/>
              </a:rPr>
              <a:t>下一阶段计划</a:t>
            </a:r>
            <a:endParaRPr lang="en-US" sz="2100" dirty="0">
              <a:latin typeface="微软雅黑" panose="020B0503020204020204" pitchFamily="34" charset="-122"/>
              <a:ea typeface="微软雅黑" panose="020B0503020204020204" pitchFamily="34" charset="-122"/>
            </a:endParaRPr>
          </a:p>
        </p:txBody>
      </p:sp>
      <p:sp>
        <p:nvSpPr>
          <p:cNvPr id="21" name="Text 19"/>
          <p:cNvSpPr/>
          <p:nvPr/>
        </p:nvSpPr>
        <p:spPr>
          <a:xfrm>
            <a:off x="7530584" y="6578441"/>
            <a:ext cx="6090642" cy="689610"/>
          </a:xfrm>
          <a:prstGeom prst="rect">
            <a:avLst/>
          </a:prstGeom>
          <a:noFill/>
          <a:ln/>
        </p:spPr>
        <p:txBody>
          <a:bodyPr wrap="square" lIns="0" tIns="0" rIns="0" bIns="0" rtlCol="0" anchor="t"/>
          <a:lstStyle/>
          <a:p>
            <a:pPr marL="0" indent="0" algn="l">
              <a:lnSpc>
                <a:spcPts val="2700"/>
              </a:lnSpc>
              <a:buNone/>
            </a:pPr>
            <a:r>
              <a:rPr lang="en-US" sz="1650" dirty="0">
                <a:solidFill>
                  <a:srgbClr val="D4D4D1"/>
                </a:solidFill>
                <a:latin typeface="微软雅黑" panose="020B0503020204020204" pitchFamily="34" charset="-122"/>
                <a:ea typeface="微软雅黑" panose="020B0503020204020204" pitchFamily="34" charset="-122"/>
                <a:cs typeface="Roboto" pitchFamily="34" charset="-120"/>
              </a:rPr>
              <a:t>即将开始核心功能开发。优先实现用户注册、AI对弈模块和基础教学功能。</a:t>
            </a:r>
            <a:endParaRPr lang="en-US" sz="165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65559"/>
            <a:ext cx="5103614" cy="637937"/>
          </a:xfrm>
          <a:prstGeom prst="rect">
            <a:avLst/>
          </a:prstGeom>
          <a:noFill/>
          <a:ln/>
        </p:spPr>
        <p:txBody>
          <a:bodyPr wrap="none" lIns="0" tIns="0" rIns="0" bIns="0" rtlCol="0" anchor="t"/>
          <a:lstStyle/>
          <a:p>
            <a:pPr marL="0" indent="0">
              <a:lnSpc>
                <a:spcPts val="5000"/>
              </a:lnSpc>
              <a:buNone/>
            </a:pPr>
            <a:r>
              <a:rPr lang="en-US" sz="4000" dirty="0">
                <a:solidFill>
                  <a:srgbClr val="F3F3F2"/>
                </a:solidFill>
                <a:latin typeface="微软雅黑" panose="020B0503020204020204" pitchFamily="34" charset="-122"/>
                <a:ea typeface="微软雅黑" panose="020B0503020204020204" pitchFamily="34" charset="-122"/>
                <a:cs typeface="IBM Plex Sans Medium" pitchFamily="34" charset="-120"/>
              </a:rPr>
              <a:t>项目成本预算详细分析</a:t>
            </a:r>
            <a:endParaRPr lang="en-US" sz="4000" dirty="0">
              <a:latin typeface="微软雅黑" panose="020B0503020204020204" pitchFamily="34" charset="-122"/>
              <a:ea typeface="微软雅黑" panose="020B0503020204020204" pitchFamily="34" charset="-122"/>
            </a:endParaRPr>
          </a:p>
        </p:txBody>
      </p:sp>
      <p:sp>
        <p:nvSpPr>
          <p:cNvPr id="3" name="Text 1"/>
          <p:cNvSpPr/>
          <p:nvPr/>
        </p:nvSpPr>
        <p:spPr>
          <a:xfrm>
            <a:off x="793790" y="1711762"/>
            <a:ext cx="13042821"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以下是本项目的详细成本预算分析，涵盖各个方面的资金需求。预算合理分配，确保项目可持续发展。</a:t>
            </a:r>
            <a:endParaRPr lang="en-US" sz="1600" dirty="0">
              <a:latin typeface="微软雅黑" panose="020B0503020204020204" pitchFamily="34" charset="-122"/>
              <a:ea typeface="微软雅黑" panose="020B0503020204020204" pitchFamily="34" charset="-122"/>
            </a:endParaRPr>
          </a:p>
        </p:txBody>
      </p:sp>
      <p:sp>
        <p:nvSpPr>
          <p:cNvPr id="4" name="Shape 2"/>
          <p:cNvSpPr/>
          <p:nvPr/>
        </p:nvSpPr>
        <p:spPr>
          <a:xfrm>
            <a:off x="793790" y="2268022"/>
            <a:ext cx="13042821" cy="5295900"/>
          </a:xfrm>
          <a:prstGeom prst="roundRect">
            <a:avLst>
              <a:gd name="adj" fmla="val 578"/>
            </a:avLst>
          </a:prstGeom>
          <a:noFill/>
          <a:ln w="7620">
            <a:solidFill>
              <a:srgbClr val="FFFFFF">
                <a:alpha val="24000"/>
              </a:srgbClr>
            </a:solidFill>
            <a:prstDash val="solid"/>
          </a:ln>
        </p:spPr>
      </p:sp>
      <p:sp>
        <p:nvSpPr>
          <p:cNvPr id="5" name="Shape 3"/>
          <p:cNvSpPr/>
          <p:nvPr/>
        </p:nvSpPr>
        <p:spPr>
          <a:xfrm>
            <a:off x="801410" y="2275642"/>
            <a:ext cx="13027581" cy="586740"/>
          </a:xfrm>
          <a:prstGeom prst="rect">
            <a:avLst/>
          </a:prstGeom>
          <a:solidFill>
            <a:srgbClr val="FFFFFF">
              <a:alpha val="4000"/>
            </a:srgbClr>
          </a:solidFill>
          <a:ln/>
        </p:spPr>
      </p:sp>
      <p:sp>
        <p:nvSpPr>
          <p:cNvPr id="6" name="Text 4"/>
          <p:cNvSpPr/>
          <p:nvPr/>
        </p:nvSpPr>
        <p:spPr>
          <a:xfrm>
            <a:off x="1005483" y="2405658"/>
            <a:ext cx="6101834" cy="326708"/>
          </a:xfrm>
          <a:prstGeom prst="rect">
            <a:avLst/>
          </a:prstGeom>
          <a:noFill/>
          <a:ln/>
        </p:spPr>
        <p:txBody>
          <a:bodyPr wrap="none" lIns="0" tIns="0" rIns="0" bIns="0" rtlCol="0" anchor="t"/>
          <a:lstStyle/>
          <a:p>
            <a:pPr marL="0" indent="0">
              <a:lnSpc>
                <a:spcPts val="2550"/>
              </a:lnSpc>
              <a:buNone/>
            </a:pPr>
            <a:r>
              <a:rPr lang="en-US" sz="1600" b="1" dirty="0">
                <a:solidFill>
                  <a:srgbClr val="D4D4D1"/>
                </a:solidFill>
                <a:latin typeface="微软雅黑" panose="020B0503020204020204" pitchFamily="34" charset="-122"/>
                <a:ea typeface="微软雅黑" panose="020B0503020204020204" pitchFamily="34" charset="-122"/>
                <a:cs typeface="Roboto" pitchFamily="34" charset="-120"/>
              </a:rPr>
              <a:t>预算项目</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7523083" y="2405658"/>
            <a:ext cx="6101834" cy="326708"/>
          </a:xfrm>
          <a:prstGeom prst="rect">
            <a:avLst/>
          </a:prstGeom>
          <a:noFill/>
          <a:ln/>
        </p:spPr>
        <p:txBody>
          <a:bodyPr wrap="none" lIns="0" tIns="0" rIns="0" bIns="0" rtlCol="0" anchor="t"/>
          <a:lstStyle/>
          <a:p>
            <a:pPr marL="0" indent="0">
              <a:lnSpc>
                <a:spcPts val="2550"/>
              </a:lnSpc>
              <a:buNone/>
            </a:pPr>
            <a:r>
              <a:rPr lang="en-US" sz="1600" b="1" dirty="0">
                <a:solidFill>
                  <a:srgbClr val="D4D4D1"/>
                </a:solidFill>
                <a:latin typeface="微软雅黑" panose="020B0503020204020204" pitchFamily="34" charset="-122"/>
                <a:ea typeface="微软雅黑" panose="020B0503020204020204" pitchFamily="34" charset="-122"/>
                <a:cs typeface="Roboto" pitchFamily="34" charset="-120"/>
              </a:rPr>
              <a:t>具体内容</a:t>
            </a:r>
            <a:endParaRPr lang="en-US" sz="1600" dirty="0">
              <a:latin typeface="微软雅黑" panose="020B0503020204020204" pitchFamily="34" charset="-122"/>
              <a:ea typeface="微软雅黑" panose="020B0503020204020204" pitchFamily="34" charset="-122"/>
            </a:endParaRPr>
          </a:p>
        </p:txBody>
      </p:sp>
      <p:sp>
        <p:nvSpPr>
          <p:cNvPr id="8" name="Shape 6"/>
          <p:cNvSpPr/>
          <p:nvPr/>
        </p:nvSpPr>
        <p:spPr>
          <a:xfrm>
            <a:off x="801410" y="2862382"/>
            <a:ext cx="13027581" cy="586740"/>
          </a:xfrm>
          <a:prstGeom prst="rect">
            <a:avLst/>
          </a:prstGeom>
          <a:solidFill>
            <a:srgbClr val="000000">
              <a:alpha val="4000"/>
            </a:srgbClr>
          </a:solidFill>
          <a:ln/>
        </p:spPr>
      </p:sp>
      <p:sp>
        <p:nvSpPr>
          <p:cNvPr id="9" name="Text 7"/>
          <p:cNvSpPr/>
          <p:nvPr/>
        </p:nvSpPr>
        <p:spPr>
          <a:xfrm>
            <a:off x="1005483" y="299239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研发人员成本</a:t>
            </a:r>
            <a:endParaRPr lang="en-US" sz="1600" dirty="0">
              <a:latin typeface="微软雅黑" panose="020B0503020204020204" pitchFamily="34" charset="-122"/>
              <a:ea typeface="微软雅黑" panose="020B0503020204020204" pitchFamily="34" charset="-122"/>
            </a:endParaRPr>
          </a:p>
        </p:txBody>
      </p:sp>
      <p:sp>
        <p:nvSpPr>
          <p:cNvPr id="10" name="Text 8"/>
          <p:cNvSpPr/>
          <p:nvPr/>
        </p:nvSpPr>
        <p:spPr>
          <a:xfrm>
            <a:off x="7523083" y="299239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自主开发（500元/人天×250人天）</a:t>
            </a:r>
            <a:endParaRPr lang="en-US" sz="1600" dirty="0">
              <a:latin typeface="微软雅黑" panose="020B0503020204020204" pitchFamily="34" charset="-122"/>
              <a:ea typeface="微软雅黑" panose="020B0503020204020204" pitchFamily="34" charset="-122"/>
            </a:endParaRPr>
          </a:p>
        </p:txBody>
      </p:sp>
      <p:sp>
        <p:nvSpPr>
          <p:cNvPr id="11" name="Shape 9"/>
          <p:cNvSpPr/>
          <p:nvPr/>
        </p:nvSpPr>
        <p:spPr>
          <a:xfrm>
            <a:off x="801410" y="3449122"/>
            <a:ext cx="13027581" cy="586740"/>
          </a:xfrm>
          <a:prstGeom prst="rect">
            <a:avLst/>
          </a:prstGeom>
          <a:solidFill>
            <a:srgbClr val="FFFFFF">
              <a:alpha val="4000"/>
            </a:srgbClr>
          </a:solidFill>
          <a:ln/>
        </p:spPr>
      </p:sp>
      <p:sp>
        <p:nvSpPr>
          <p:cNvPr id="12" name="Text 10"/>
          <p:cNvSpPr/>
          <p:nvPr/>
        </p:nvSpPr>
        <p:spPr>
          <a:xfrm>
            <a:off x="1005483" y="357913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软件资源</a:t>
            </a:r>
            <a:endParaRPr lang="en-US" sz="1600" dirty="0">
              <a:latin typeface="微软雅黑" panose="020B0503020204020204" pitchFamily="34" charset="-122"/>
              <a:ea typeface="微软雅黑" panose="020B0503020204020204" pitchFamily="34" charset="-122"/>
            </a:endParaRPr>
          </a:p>
        </p:txBody>
      </p:sp>
      <p:sp>
        <p:nvSpPr>
          <p:cNvPr id="13" name="Text 11"/>
          <p:cNvSpPr/>
          <p:nvPr/>
        </p:nvSpPr>
        <p:spPr>
          <a:xfrm>
            <a:off x="7523083" y="357913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开发工具许可、API调用费、AI模型训练</a:t>
            </a:r>
            <a:endParaRPr lang="en-US" sz="1600" dirty="0">
              <a:latin typeface="微软雅黑" panose="020B0503020204020204" pitchFamily="34" charset="-122"/>
              <a:ea typeface="微软雅黑" panose="020B0503020204020204" pitchFamily="34" charset="-122"/>
            </a:endParaRPr>
          </a:p>
        </p:txBody>
      </p:sp>
      <p:sp>
        <p:nvSpPr>
          <p:cNvPr id="14" name="Shape 12"/>
          <p:cNvSpPr/>
          <p:nvPr/>
        </p:nvSpPr>
        <p:spPr>
          <a:xfrm>
            <a:off x="801410" y="4035862"/>
            <a:ext cx="13027581" cy="586740"/>
          </a:xfrm>
          <a:prstGeom prst="rect">
            <a:avLst/>
          </a:prstGeom>
          <a:solidFill>
            <a:srgbClr val="000000">
              <a:alpha val="4000"/>
            </a:srgbClr>
          </a:solidFill>
          <a:ln/>
        </p:spPr>
      </p:sp>
      <p:sp>
        <p:nvSpPr>
          <p:cNvPr id="15" name="Text 13"/>
          <p:cNvSpPr/>
          <p:nvPr/>
        </p:nvSpPr>
        <p:spPr>
          <a:xfrm>
            <a:off x="1005483" y="416587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硬件投入</a:t>
            </a:r>
            <a:endParaRPr lang="en-US" sz="1600" dirty="0">
              <a:latin typeface="微软雅黑" panose="020B0503020204020204" pitchFamily="34" charset="-122"/>
              <a:ea typeface="微软雅黑" panose="020B0503020204020204" pitchFamily="34" charset="-122"/>
            </a:endParaRPr>
          </a:p>
        </p:txBody>
      </p:sp>
      <p:sp>
        <p:nvSpPr>
          <p:cNvPr id="16" name="Text 14"/>
          <p:cNvSpPr/>
          <p:nvPr/>
        </p:nvSpPr>
        <p:spPr>
          <a:xfrm>
            <a:off x="7523083" y="416587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云服务器租赁、测试设备、开发硬件</a:t>
            </a:r>
            <a:endParaRPr lang="en-US" sz="1600" dirty="0">
              <a:latin typeface="微软雅黑" panose="020B0503020204020204" pitchFamily="34" charset="-122"/>
              <a:ea typeface="微软雅黑" panose="020B0503020204020204" pitchFamily="34" charset="-122"/>
            </a:endParaRPr>
          </a:p>
        </p:txBody>
      </p:sp>
      <p:sp>
        <p:nvSpPr>
          <p:cNvPr id="17" name="Shape 15"/>
          <p:cNvSpPr/>
          <p:nvPr/>
        </p:nvSpPr>
        <p:spPr>
          <a:xfrm>
            <a:off x="801410" y="4622602"/>
            <a:ext cx="13027581" cy="586740"/>
          </a:xfrm>
          <a:prstGeom prst="rect">
            <a:avLst/>
          </a:prstGeom>
          <a:solidFill>
            <a:srgbClr val="FFFFFF">
              <a:alpha val="4000"/>
            </a:srgbClr>
          </a:solidFill>
          <a:ln/>
        </p:spPr>
      </p:sp>
      <p:sp>
        <p:nvSpPr>
          <p:cNvPr id="18" name="Text 16"/>
          <p:cNvSpPr/>
          <p:nvPr/>
        </p:nvSpPr>
        <p:spPr>
          <a:xfrm>
            <a:off x="1005483" y="475261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运营推广</a:t>
            </a:r>
            <a:endParaRPr lang="en-US" sz="1600" dirty="0">
              <a:latin typeface="微软雅黑" panose="020B0503020204020204" pitchFamily="34" charset="-122"/>
              <a:ea typeface="微软雅黑" panose="020B0503020204020204" pitchFamily="34" charset="-122"/>
            </a:endParaRPr>
          </a:p>
        </p:txBody>
      </p:sp>
      <p:sp>
        <p:nvSpPr>
          <p:cNvPr id="19" name="Text 17"/>
          <p:cNvSpPr/>
          <p:nvPr/>
        </p:nvSpPr>
        <p:spPr>
          <a:xfrm>
            <a:off x="7523083" y="475261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市场宣传、用户获取、品牌建设</a:t>
            </a:r>
            <a:endParaRPr lang="en-US" sz="1600" dirty="0">
              <a:latin typeface="微软雅黑" panose="020B0503020204020204" pitchFamily="34" charset="-122"/>
              <a:ea typeface="微软雅黑" panose="020B0503020204020204" pitchFamily="34" charset="-122"/>
            </a:endParaRPr>
          </a:p>
        </p:txBody>
      </p:sp>
      <p:sp>
        <p:nvSpPr>
          <p:cNvPr id="20" name="Shape 18"/>
          <p:cNvSpPr/>
          <p:nvPr/>
        </p:nvSpPr>
        <p:spPr>
          <a:xfrm>
            <a:off x="801410" y="5209342"/>
            <a:ext cx="13027581" cy="586740"/>
          </a:xfrm>
          <a:prstGeom prst="rect">
            <a:avLst/>
          </a:prstGeom>
          <a:solidFill>
            <a:srgbClr val="000000">
              <a:alpha val="4000"/>
            </a:srgbClr>
          </a:solidFill>
          <a:ln/>
        </p:spPr>
      </p:sp>
      <p:sp>
        <p:nvSpPr>
          <p:cNvPr id="21" name="Text 19"/>
          <p:cNvSpPr/>
          <p:nvPr/>
        </p:nvSpPr>
        <p:spPr>
          <a:xfrm>
            <a:off x="1005483" y="533935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维护费用</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7523083" y="533935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系统维护、技术支持、服务器运行</a:t>
            </a:r>
            <a:endParaRPr lang="en-US" sz="1600" dirty="0">
              <a:latin typeface="微软雅黑" panose="020B0503020204020204" pitchFamily="34" charset="-122"/>
              <a:ea typeface="微软雅黑" panose="020B0503020204020204" pitchFamily="34" charset="-122"/>
            </a:endParaRPr>
          </a:p>
        </p:txBody>
      </p:sp>
      <p:sp>
        <p:nvSpPr>
          <p:cNvPr id="23" name="Shape 21"/>
          <p:cNvSpPr/>
          <p:nvPr/>
        </p:nvSpPr>
        <p:spPr>
          <a:xfrm>
            <a:off x="801410" y="5796082"/>
            <a:ext cx="13027581" cy="586740"/>
          </a:xfrm>
          <a:prstGeom prst="rect">
            <a:avLst/>
          </a:prstGeom>
          <a:solidFill>
            <a:srgbClr val="FFFFFF">
              <a:alpha val="4000"/>
            </a:srgbClr>
          </a:solidFill>
          <a:ln/>
        </p:spPr>
      </p:sp>
      <p:sp>
        <p:nvSpPr>
          <p:cNvPr id="24" name="Text 22"/>
          <p:cNvSpPr/>
          <p:nvPr/>
        </p:nvSpPr>
        <p:spPr>
          <a:xfrm>
            <a:off x="1005483" y="592609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测试费用</a:t>
            </a:r>
            <a:endParaRPr lang="en-US" sz="1600" dirty="0">
              <a:latin typeface="微软雅黑" panose="020B0503020204020204" pitchFamily="34" charset="-122"/>
              <a:ea typeface="微软雅黑" panose="020B0503020204020204" pitchFamily="34" charset="-122"/>
            </a:endParaRPr>
          </a:p>
        </p:txBody>
      </p:sp>
      <p:sp>
        <p:nvSpPr>
          <p:cNvPr id="25" name="Text 23"/>
          <p:cNvSpPr/>
          <p:nvPr/>
        </p:nvSpPr>
        <p:spPr>
          <a:xfrm>
            <a:off x="7523083" y="592609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用户测试、性能测试、安全测试</a:t>
            </a:r>
            <a:endParaRPr lang="en-US" sz="1600" dirty="0">
              <a:latin typeface="微软雅黑" panose="020B0503020204020204" pitchFamily="34" charset="-122"/>
              <a:ea typeface="微软雅黑" panose="020B0503020204020204" pitchFamily="34" charset="-122"/>
            </a:endParaRPr>
          </a:p>
        </p:txBody>
      </p:sp>
      <p:sp>
        <p:nvSpPr>
          <p:cNvPr id="26" name="Shape 24"/>
          <p:cNvSpPr/>
          <p:nvPr/>
        </p:nvSpPr>
        <p:spPr>
          <a:xfrm>
            <a:off x="801410" y="6382822"/>
            <a:ext cx="13027581" cy="586740"/>
          </a:xfrm>
          <a:prstGeom prst="rect">
            <a:avLst/>
          </a:prstGeom>
          <a:solidFill>
            <a:srgbClr val="000000">
              <a:alpha val="4000"/>
            </a:srgbClr>
          </a:solidFill>
          <a:ln/>
        </p:spPr>
      </p:sp>
      <p:sp>
        <p:nvSpPr>
          <p:cNvPr id="27" name="Text 25"/>
          <p:cNvSpPr/>
          <p:nvPr/>
        </p:nvSpPr>
        <p:spPr>
          <a:xfrm>
            <a:off x="1005483" y="651283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预备费</a:t>
            </a:r>
            <a:endParaRPr lang="en-US" sz="1600" dirty="0">
              <a:latin typeface="微软雅黑" panose="020B0503020204020204" pitchFamily="34" charset="-122"/>
              <a:ea typeface="微软雅黑" panose="020B0503020204020204" pitchFamily="34" charset="-122"/>
            </a:endParaRPr>
          </a:p>
        </p:txBody>
      </p:sp>
      <p:sp>
        <p:nvSpPr>
          <p:cNvPr id="28" name="Text 26"/>
          <p:cNvSpPr/>
          <p:nvPr/>
        </p:nvSpPr>
        <p:spPr>
          <a:xfrm>
            <a:off x="7523083" y="6512838"/>
            <a:ext cx="6101834" cy="326708"/>
          </a:xfrm>
          <a:prstGeom prst="rect">
            <a:avLst/>
          </a:prstGeom>
          <a:noFill/>
          <a:ln/>
        </p:spPr>
        <p:txBody>
          <a:bodyPr wrap="none" lIns="0" tIns="0" rIns="0" bIns="0" rtlCol="0" anchor="t"/>
          <a:lstStyle/>
          <a:p>
            <a:pPr marL="0" indent="0">
              <a:lnSpc>
                <a:spcPts val="2550"/>
              </a:lnSpc>
              <a:buNone/>
            </a:pPr>
            <a:r>
              <a:rPr lang="en-US" sz="1600" dirty="0">
                <a:solidFill>
                  <a:srgbClr val="D4D4D1"/>
                </a:solidFill>
                <a:latin typeface="微软雅黑" panose="020B0503020204020204" pitchFamily="34" charset="-122"/>
                <a:ea typeface="微软雅黑" panose="020B0503020204020204" pitchFamily="34" charset="-122"/>
                <a:cs typeface="Roboto" pitchFamily="34" charset="-120"/>
              </a:rPr>
              <a:t>应对开发过程中的风险与变更</a:t>
            </a:r>
            <a:endParaRPr lang="en-US" sz="1600" dirty="0">
              <a:latin typeface="微软雅黑" panose="020B0503020204020204" pitchFamily="34" charset="-122"/>
              <a:ea typeface="微软雅黑" panose="020B0503020204020204" pitchFamily="34" charset="-122"/>
            </a:endParaRPr>
          </a:p>
        </p:txBody>
      </p:sp>
      <p:sp>
        <p:nvSpPr>
          <p:cNvPr id="30" name="Text 28"/>
          <p:cNvSpPr/>
          <p:nvPr/>
        </p:nvSpPr>
        <p:spPr>
          <a:xfrm>
            <a:off x="1005483" y="7099578"/>
            <a:ext cx="6101834" cy="326708"/>
          </a:xfrm>
          <a:prstGeom prst="rect">
            <a:avLst/>
          </a:prstGeom>
          <a:noFill/>
          <a:ln/>
        </p:spPr>
        <p:txBody>
          <a:bodyPr wrap="none" lIns="0" tIns="0" rIns="0" bIns="0" rtlCol="0" anchor="t"/>
          <a:lstStyle/>
          <a:p>
            <a:pPr marL="0" indent="0">
              <a:lnSpc>
                <a:spcPts val="2550"/>
              </a:lnSpc>
              <a:buNone/>
            </a:pPr>
            <a:endParaRPr lang="en-US" sz="1600" dirty="0">
              <a:latin typeface="微软雅黑" panose="020B0503020204020204" pitchFamily="34" charset="-122"/>
              <a:ea typeface="微软雅黑" panose="020B0503020204020204" pitchFamily="34" charset="-122"/>
            </a:endParaRPr>
          </a:p>
        </p:txBody>
      </p:sp>
      <p:sp>
        <p:nvSpPr>
          <p:cNvPr id="31" name="Text 29"/>
          <p:cNvSpPr/>
          <p:nvPr/>
        </p:nvSpPr>
        <p:spPr>
          <a:xfrm>
            <a:off x="7523083" y="7099578"/>
            <a:ext cx="6101834" cy="326708"/>
          </a:xfrm>
          <a:prstGeom prst="rect">
            <a:avLst/>
          </a:prstGeom>
          <a:noFill/>
          <a:ln/>
        </p:spPr>
        <p:txBody>
          <a:bodyPr wrap="none" lIns="0" tIns="0" rIns="0" bIns="0" rtlCol="0" anchor="t"/>
          <a:lstStyle/>
          <a:p>
            <a:pPr marL="0" indent="0">
              <a:lnSpc>
                <a:spcPts val="2550"/>
              </a:lnSpc>
              <a:buNone/>
            </a:pPr>
            <a:endParaRPr 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3933349"/>
            <a:ext cx="13042821"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3" name="文本框 2">
            <a:extLst>
              <a:ext uri="{FF2B5EF4-FFF2-40B4-BE49-F238E27FC236}">
                <a16:creationId xmlns:a16="http://schemas.microsoft.com/office/drawing/2014/main" id="{BD62CA85-934B-C85D-E37E-6001B2FFEA34}"/>
              </a:ext>
            </a:extLst>
          </p:cNvPr>
          <p:cNvSpPr txBox="1"/>
          <p:nvPr/>
        </p:nvSpPr>
        <p:spPr>
          <a:xfrm>
            <a:off x="5349667" y="3379351"/>
            <a:ext cx="3555050" cy="1107996"/>
          </a:xfrm>
          <a:prstGeom prst="rect">
            <a:avLst/>
          </a:prstGeom>
          <a:noFill/>
        </p:spPr>
        <p:txBody>
          <a:bodyPr wrap="square" rtlCol="0">
            <a:spAutoFit/>
          </a:bodyPr>
          <a:lstStyle/>
          <a:p>
            <a:r>
              <a:rPr lang="zh-CN" altLang="en-US" sz="6600" b="1" dirty="0">
                <a:solidFill>
                  <a:schemeClr val="bg1"/>
                </a:solidFill>
                <a:latin typeface="微软雅黑" panose="020B0503020204020204" pitchFamily="34" charset="-122"/>
                <a:ea typeface="微软雅黑" panose="020B0503020204020204" pitchFamily="34" charset="-122"/>
              </a:rPr>
              <a:t>感谢聆听</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844</Words>
  <Application>Microsoft Office PowerPoint</Application>
  <PresentationFormat>自定义</PresentationFormat>
  <Paragraphs>158</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微软雅黑</vt:lpstr>
      <vt:lpstr>Arial</vt:lpstr>
      <vt:lpstr>IBM Plex Sans Medium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楚雄 单</cp:lastModifiedBy>
  <cp:revision>4</cp:revision>
  <dcterms:created xsi:type="dcterms:W3CDTF">2025-03-06T14:44:15Z</dcterms:created>
  <dcterms:modified xsi:type="dcterms:W3CDTF">2025-03-07T01:35:00Z</dcterms:modified>
</cp:coreProperties>
</file>